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88" r:id="rId26"/>
    <p:sldId id="285" r:id="rId27"/>
    <p:sldId id="276" r:id="rId28"/>
    <p:sldId id="28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2889D68-492C-45E9-B5D8-21F282B127A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タイトルなしのセクション" id="{B47305E1-D848-4038-B933-D9E01713979B}">
          <p14:sldIdLst>
            <p14:sldId id="272"/>
            <p14:sldId id="273"/>
            <p14:sldId id="274"/>
            <p14:sldId id="275"/>
            <p14:sldId id="288"/>
            <p14:sldId id="285"/>
            <p14:sldId id="276"/>
            <p14:sldId id="28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0A3760"/>
    <a:srgbClr val="CCCE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99" autoAdjust="0"/>
  </p:normalViewPr>
  <p:slideViewPr>
    <p:cSldViewPr snapToGrid="0">
      <p:cViewPr>
        <p:scale>
          <a:sx n="100" d="100"/>
          <a:sy n="100" d="100"/>
        </p:scale>
        <p:origin x="95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随着智能监控需求的增长，目标检测技术在火灾预警等领域的应用日益广泛。然而，这些技术高度依赖高质量的人工标注数据。火烟作为典型的非刚性目标，其标注过程不仅成本高昂、周期漫长，而且主观性强，严重制约了模型的开发效率。幸运的是，Grounding DINO和SAM等视觉大模型的出现，为我们自动化生成训练标签提供了新的技术机遇。因此，本研究的焦点不再是发明新的网络结构，而是如何建立一套稳定、可复现的伪标签生成与验证流程，并从工程角度明确不同环节的成本收益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具体来说，本研究面临三大挑战。第一，如何稳定地生成可用的伪标签？Grounding DINO的输出受多种因素影响，我们需要找到最优配置并验证其实际效果。第二，如何设计有效的SAM3后置处理策略？更精细的分割边界不一定对检测训练更有利，我们需要探索其在审核、补漏等方面的真实价值。第三，如何进行多规模流程选型？不同方案在成本、效率和质量上各有优劣，我们需要在不同数据规模下进行综合比较，为工程实践提供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挑战，本研究的总体目标是在减少对全量人工标注依赖的同时，确保标签的精度。为实现这一目标，我们将从方法、评价和工程三个层面展开工作。方法上，我们将构建并验证自动化的标签生成与优化流程。评价上，我们将建立一套结合标签层诊断和下游效用验证的双层评价体系。工程上，我们将引入阶段门控、Pareto分析等方法，确保研究成果的可落地性和综合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回顾国内外研究现状，我们发现几个明显的研究缺口。传统目标检测研究长期受困于数据标注瓶颈。虽然Grounding DINO等开放词汇检测模型和SAM系列分割模型为自动化标注带来了希望，但现有研究大多停留在验证模型本身能力的阶段，对于如何将其输出稳定、可靠地转化为下游检测器可用的训练标签，研究尚不充分。此外，在伪标签评价和不同数据规模下的流程选择方面，也缺乏系统性的探讨。这些缺口正是本研究旨在填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74231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5857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同样是黑色曲线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这里用了两个网络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预测未来的平均走势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估计预测的不确定性（标准差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蓝色曲线表示预测值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淡蓝色阴影区域表示预测区间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（±2个标准差，约 95%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置信区间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）：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结合历史、预测值以及不确定性带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特点：不仅给出预测值，还提供了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预测的不确定性范围，能更真实地反映模型对未来的信心程度</a:t>
            </a:r>
            <a:r>
              <a:rPr 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158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与E2A各跑3个随机种子。从原始结果看，E2A在3个seed下mAP50:95均略高于E1，方向稳定，说明Verifier带来的提升不是单次偶然。这一页用于证明结论的可复现性和稳健性，呼应论文中"以多种子均值判断、不以单次最优替代"的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自有点小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EC384CD-57EF-43FD-907F-029DF5E632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7C52C2F-0F0A-4498-8A70-B30F57DEB93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92B1D72-CE4E-4156-B42E-CB42F8310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CDE5C9-8DC4-4CE3-8FD2-C96064BCBF4A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809A646-E911-4D0D-ACEE-1BAE1526145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E2B24AD-3E94-4A39-985A-897339F5CDA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F8C43DB-9465-491F-A085-5696C2DBC62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40C1EA3-2CD2-4670-9ED1-F31CA8A7199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FBFE59F-575C-4ABB-87B8-5F4538859E0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BB03D7-7C23-4502-8454-1327DDE9FE3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EAEDB2-F17F-4003-933C-6749846023F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73F7704-67E6-463B-AA01-91680F0D660A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2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C3567A9-B702-4EEE-8421-77F68C0B04EC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ctr" defTabSz="914400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914400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A88DB3E2-B678-4B5E-B1F7-F478445931FE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715876E7-67F6-4709-B614-2B887129F4E5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0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1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2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4ED4803-3147-4436-A280-2F17AE386774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.jpe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CBEE5D-034C-4615-988D-E40B811DE78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blipFill dpi="0" rotWithShape="1">
          <a:blip r:embed="rId9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23E89D6-17A3-4E42-92DC-72F7BD07D676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1" r:id="rId1"/>
    <p:sldLayoutId id="2157483712" r:id="rId2"/>
    <p:sldLayoutId id="2157483713" r:id="rId3"/>
    <p:sldLayoutId id="2157483714" r:id="rId4"/>
    <p:sldLayoutId id="2157483715" r:id="rId5"/>
    <p:sldLayoutId id="2157483716" r:id="rId6"/>
    <p:sldLayoutId id="215748371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主题​​">
    <p:bg>
      <p:bgPr>
        <a:blipFill dpi="0" rotWithShape="1">
          <a:blip r:embed="rId5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8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8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546DF46-9398-4D1E-A2D7-6ED481BE143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8" r:id="rId1"/>
    <p:sldLayoutId id="2157483719" r:id="rId2"/>
    <p:sldLayoutId id="215748372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7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8730"/>
            <a:ext cx="12192000" cy="28575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7560" y="3716020"/>
            <a:ext cx="10930255" cy="768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1" i="0" u="none" strike="noStrike" spc="-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基于多模型弱监督学习的低成本火烟检测研究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53280" y="5403576"/>
            <a:ext cx="30607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</a:t>
            </a: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：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董秀丽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653280" y="4911574"/>
            <a:ext cx="30226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导师  ：高 明 教 授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54127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290327" y="1912895"/>
            <a:ext cx="2284189" cy="584775"/>
            <a:chOff x="6290327" y="1912895"/>
            <a:chExt cx="2284189" cy="584775"/>
          </a:xfrm>
        </p:grpSpPr>
        <p:grpSp>
          <p:nvGrpSpPr>
            <p:cNvPr id="5" name="Group 5"/>
            <p:cNvGrpSpPr/>
            <p:nvPr/>
          </p:nvGrpSpPr>
          <p:grpSpPr>
            <a:xfrm>
              <a:off x="6290327" y="1912895"/>
              <a:ext cx="2284189" cy="584775"/>
              <a:chOff x="6290327" y="1912895"/>
              <a:chExt cx="2284189" cy="58477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290327" y="1912895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7169896" y="1963818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研究背景</a:t>
                </a:r>
                <a:endParaRPr lang="en-US" sz="1100"/>
              </a:p>
            </p:txBody>
          </p:sp>
        </p:grpSp>
        <p:cxnSp>
          <p:nvCxnSpPr>
            <p:cNvPr id="8" name="Connector 8"/>
            <p:cNvCxnSpPr/>
            <p:nvPr/>
          </p:nvCxnSpPr>
          <p:spPr>
            <a:xfrm>
              <a:off x="7148631" y="1995717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9" name="Group 9"/>
          <p:cNvGrpSpPr/>
          <p:nvPr/>
        </p:nvGrpSpPr>
        <p:grpSpPr>
          <a:xfrm>
            <a:off x="6290327" y="2767134"/>
            <a:ext cx="3200494" cy="584775"/>
            <a:chOff x="6290327" y="2767134"/>
            <a:chExt cx="3200494" cy="584775"/>
          </a:xfrm>
        </p:grpSpPr>
        <p:grpSp>
          <p:nvGrpSpPr>
            <p:cNvPr id="10" name="Group 10"/>
            <p:cNvGrpSpPr/>
            <p:nvPr/>
          </p:nvGrpSpPr>
          <p:grpSpPr>
            <a:xfrm>
              <a:off x="6290327" y="2767134"/>
              <a:ext cx="3200494" cy="584775"/>
              <a:chOff x="6290327" y="2767134"/>
              <a:chExt cx="3200494" cy="58477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290327" y="276713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7169896" y="2818057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国内外研究现状</a:t>
                </a:r>
                <a:endParaRPr lang="en-US" sz="1100"/>
              </a:p>
            </p:txBody>
          </p:sp>
        </p:grpSp>
        <p:cxnSp>
          <p:nvCxnSpPr>
            <p:cNvPr id="13" name="Connector 13"/>
            <p:cNvCxnSpPr/>
            <p:nvPr/>
          </p:nvCxnSpPr>
          <p:spPr>
            <a:xfrm>
              <a:off x="7148631" y="284995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4" name="Group 14"/>
          <p:cNvGrpSpPr/>
          <p:nvPr/>
        </p:nvGrpSpPr>
        <p:grpSpPr>
          <a:xfrm>
            <a:off x="6290327" y="3600109"/>
            <a:ext cx="3200494" cy="584775"/>
            <a:chOff x="6290327" y="3600109"/>
            <a:chExt cx="3200494" cy="584775"/>
          </a:xfrm>
        </p:grpSpPr>
        <p:grpSp>
          <p:nvGrpSpPr>
            <p:cNvPr id="15" name="Group 15"/>
            <p:cNvGrpSpPr/>
            <p:nvPr/>
          </p:nvGrpSpPr>
          <p:grpSpPr>
            <a:xfrm>
              <a:off x="6290327" y="3600109"/>
              <a:ext cx="3200494" cy="584775"/>
              <a:chOff x="6290327" y="3600109"/>
              <a:chExt cx="3200494" cy="58477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290327" y="360010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7169896" y="3651032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研究内容与路线</a:t>
                </a:r>
                <a:endParaRPr lang="en-US" sz="1100"/>
              </a:p>
            </p:txBody>
          </p:sp>
        </p:grpSp>
        <p:cxnSp>
          <p:nvCxnSpPr>
            <p:cNvPr id="18" name="Connector 18"/>
            <p:cNvCxnSpPr/>
            <p:nvPr/>
          </p:nvCxnSpPr>
          <p:spPr>
            <a:xfrm>
              <a:off x="7148631" y="368293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9" name="Group 19"/>
          <p:cNvGrpSpPr/>
          <p:nvPr/>
        </p:nvGrpSpPr>
        <p:grpSpPr>
          <a:xfrm>
            <a:off x="6290327" y="4433084"/>
            <a:ext cx="4116799" cy="584775"/>
            <a:chOff x="6290327" y="4433084"/>
            <a:chExt cx="4116799" cy="584775"/>
          </a:xfrm>
        </p:grpSpPr>
        <p:grpSp>
          <p:nvGrpSpPr>
            <p:cNvPr id="20" name="Group 20"/>
            <p:cNvGrpSpPr/>
            <p:nvPr/>
          </p:nvGrpSpPr>
          <p:grpSpPr>
            <a:xfrm>
              <a:off x="6290327" y="4433084"/>
              <a:ext cx="4116799" cy="584775"/>
              <a:chOff x="6290327" y="4433084"/>
              <a:chExt cx="4116799" cy="584775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290327" y="443308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7169896" y="4484007"/>
                <a:ext cx="323723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研究创新点与预期贡献</a:t>
                </a:r>
                <a:endParaRPr lang="en-US" sz="1100"/>
              </a:p>
            </p:txBody>
          </p:sp>
        </p:grpSp>
        <p:cxnSp>
          <p:nvCxnSpPr>
            <p:cNvPr id="23" name="Connector 23"/>
            <p:cNvCxnSpPr/>
            <p:nvPr/>
          </p:nvCxnSpPr>
          <p:spPr>
            <a:xfrm>
              <a:off x="7148631" y="451590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9262" y="694952"/>
            <a:ext cx="2416036" cy="701166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25" name="Group 25"/>
          <p:cNvGrpSpPr/>
          <p:nvPr/>
        </p:nvGrpSpPr>
        <p:grpSpPr>
          <a:xfrm>
            <a:off x="6308177" y="5266059"/>
            <a:ext cx="2284189" cy="584775"/>
            <a:chOff x="6308177" y="5266059"/>
            <a:chExt cx="2284189" cy="584775"/>
          </a:xfrm>
        </p:grpSpPr>
        <p:grpSp>
          <p:nvGrpSpPr>
            <p:cNvPr id="26" name="Group 26"/>
            <p:cNvGrpSpPr/>
            <p:nvPr/>
          </p:nvGrpSpPr>
          <p:grpSpPr>
            <a:xfrm>
              <a:off x="6308177" y="5266059"/>
              <a:ext cx="2284189" cy="584775"/>
              <a:chOff x="6308177" y="5266059"/>
              <a:chExt cx="2284189" cy="584775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6308177" y="526605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7187746" y="5316982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写作计划</a:t>
                </a:r>
                <a:endParaRPr lang="en-US" sz="1100"/>
              </a:p>
            </p:txBody>
          </p:sp>
        </p:grpSp>
        <p:cxnSp>
          <p:nvCxnSpPr>
            <p:cNvPr id="29" name="Connector 29"/>
            <p:cNvCxnSpPr/>
            <p:nvPr/>
          </p:nvCxnSpPr>
          <p:spPr>
            <a:xfrm>
              <a:off x="7166481" y="534888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464810" cy="1324610"/>
          </a:xfrm>
          <a:custGeom>
            <a:avLst/>
            <a:gdLst/>
            <a:ahLst/>
            <a:cxnLst/>
            <a:rect l="l" t="t" r="r" b="b"/>
            <a:pathLst>
              <a:path w="5464810" h="1324610">
                <a:moveTo>
                  <a:pt x="588503" y="0"/>
                </a:moveTo>
                <a:lnTo>
                  <a:pt x="588512" y="1"/>
                </a:lnTo>
                <a:lnTo>
                  <a:pt x="4851343" y="1"/>
                </a:lnTo>
                <a:lnTo>
                  <a:pt x="4851343" y="2833"/>
                </a:lnTo>
                <a:lnTo>
                  <a:pt x="4876307" y="1"/>
                </a:lnTo>
                <a:cubicBezTo>
                  <a:pt x="5201328" y="1"/>
                  <a:pt x="5464810" y="296525"/>
                  <a:pt x="5464810" y="662305"/>
                </a:cubicBezTo>
                <a:cubicBezTo>
                  <a:pt x="5464810" y="1028087"/>
                  <a:pt x="5201328" y="1324610"/>
                  <a:pt x="4876307" y="1324610"/>
                </a:cubicBezTo>
                <a:lnTo>
                  <a:pt x="4851343" y="1321778"/>
                </a:lnTo>
                <a:lnTo>
                  <a:pt x="4851343" y="1324609"/>
                </a:lnTo>
                <a:lnTo>
                  <a:pt x="588503" y="1324609"/>
                </a:lnTo>
                <a:cubicBezTo>
                  <a:pt x="263482" y="1324609"/>
                  <a:pt x="0" y="1028085"/>
                  <a:pt x="0" y="662305"/>
                </a:cubicBezTo>
                <a:cubicBezTo>
                  <a:pt x="0" y="296523"/>
                  <a:pt x="263482" y="0"/>
                  <a:pt x="588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61570" y="3271730"/>
            <a:ext cx="271907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1.  研究背景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研究背景与动机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</a:t>
            </a:r>
            <a:r>
              <a:rPr lang="en-US" sz="1800" b="1" i="0" u="none" strike="noStrike" dirty="0" err="1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智能监控迫切需求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  <a:sym typeface="微软雅黑"/>
              </a:rPr>
              <a:t>在森林火灾、危化园区等高危场景中，智能监控是安防预警的核心。计算机视觉技术是实现目标精准识别与实时响应的关键支撑，对高效、准确的火情监测系统需求持续攀升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9A3412"/>
                </a:solidFill>
                <a:latin typeface="微软雅黑"/>
                <a:ea typeface="微软雅黑"/>
                <a:cs typeface="微软雅黑"/>
                <a:sym typeface="微软雅黑"/>
              </a:rPr>
              <a:t>02 </a:t>
            </a:r>
            <a:r>
              <a:rPr lang="en-US" sz="1800" b="1" i="0" u="none" strike="noStrike" dirty="0" err="1">
                <a:solidFill>
                  <a:srgbClr val="9A3412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人工标注痛点凸显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333"/>
              </a:lnSpc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主流检测算法依赖全监督学习，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需海量高质量人工标注。火烟作为非刚性目标，形态弥散且边界模糊，导致标注成本高、周期长，且易因主观判断引入偏差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，成为模型落地的瓶颈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。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254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微软雅黑"/>
                <a:ea typeface="微软雅黑"/>
                <a:cs typeface="微软雅黑"/>
                <a:sym typeface="微软雅黑"/>
              </a:rPr>
              <a:t>03 视觉大模型带来新契机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08333"/>
              </a:lnSpc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Grounding DINO 与 SAM 等视觉大模型的问世，凭借强大的零样本定位与通用分割能力，为自动化生成高质量训练标签提供了技术可能，为自动化生成训练标签提供了新的技术路径。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254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04 研究核心聚焦与突破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研究不追求新网络架构创新，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/>
              </a:rPr>
              <a:t>重点构建稳定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、可复现的伪标签生成与验证规范体系，量化后处理环节增益与成本，为同类非刚性目标的数据制备提供可复现的流程参考。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Connector 8">
            <a:extLst>
              <a:ext uri="{FF2B5EF4-FFF2-40B4-BE49-F238E27FC236}">
                <a16:creationId xmlns:a16="http://schemas.microsoft.com/office/drawing/2014/main" id="{DC63FCB9-A473-4B34-B4AA-5B9AABC6F109}"/>
              </a:ext>
            </a:extLst>
          </p:cNvPr>
          <p:cNvCxnSpPr>
            <a:cxnSpLocks/>
          </p:cNvCxnSpPr>
          <p:nvPr/>
        </p:nvCxnSpPr>
        <p:spPr>
          <a:xfrm>
            <a:off x="5974254" y="1541929"/>
            <a:ext cx="0" cy="458993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Connector 8">
            <a:extLst>
              <a:ext uri="{FF2B5EF4-FFF2-40B4-BE49-F238E27FC236}">
                <a16:creationId xmlns:a16="http://schemas.microsoft.com/office/drawing/2014/main" id="{4E7E6D87-53F6-4D71-B3BE-DE0ABD588878}"/>
              </a:ext>
            </a:extLst>
          </p:cNvPr>
          <p:cNvCxnSpPr>
            <a:cxnSpLocks/>
          </p:cNvCxnSpPr>
          <p:nvPr/>
        </p:nvCxnSpPr>
        <p:spPr>
          <a:xfrm>
            <a:off x="812800" y="3756212"/>
            <a:ext cx="1074420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43307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35687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研究面临的三大核心挑战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稳定生成可用伪标签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2">
            <a:off x="76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受文本提示词、置信度阈值及数据分布影响，火烟的非刚性、边界模糊特性易导致漏检与误检。需在低预算候选空间内筛选并冻结提示词与阈值参数，批量生成高质量基准伪标签V1，并验证其对下游检测任务的实际效用，夯实数据基础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C4A6E"/>
                </a:solidFill>
                <a:latin typeface="微软雅黑"/>
                <a:ea typeface="微软雅黑"/>
                <a:cs typeface="微软雅黑"/>
                <a:sym typeface="微软雅黑"/>
              </a:rPr>
              <a:t>02 后置处理策略设计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2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SAM3的细粒度分割边界未必直接适配检测训练需求。需针对火烟特性定制专属提示词与审核门槛，建立补漏规则与去重策略，严格限制重定位权限，重点验证其在标签审核、漏检补全及边界优化中的实际增量价值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03 多规模流程选型与权衡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2">
            <a:off x="838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人工标注与自动化方案在质量、效率与成本间存在博弈。需在千级、万级及十万级三种数据规模下，对比单级自动化、级联后处理等方案的综合效益，分析标签制备时间与实际交付周期及人工复审成本，在质量、成本和周期约束下提供流程选择建议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1E293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613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34155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核心目标：</a:t>
            </a:r>
            <a:r>
              <a:rPr lang="en-US" sz="1400" b="0" i="0" u="none" strike="noStrike" dirty="0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通过系统性的参数优化、策略定制与多维度评估，构建兼顾精度与效率的自动化标注体系，为大规模模型训练提供高质量、低成本的数据支撑。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24638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17018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致力于减少对全量人工逐框标注的依赖，打破“重数量轻质量”的传统困境，构建兼顾效率与精度的智能标注体系</a:t>
            </a:r>
            <a:r>
              <a:rPr lang="en-US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方法创新：可复现的伪标签生</a:t>
            </a:r>
            <a:r>
              <a:rPr lang="zh-CN" altLang="en-US" sz="18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成</a:t>
            </a:r>
            <a:r>
              <a:rPr lang="en-US" sz="1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与验证流程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构建基于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Grounding DINO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的伪标签自动生成流程，针对火焰与烟雾场景设计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SAM3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后置校验与候选治理策略。对比不同数据规模下的投入产出比，平衡自动化效率与标注精准度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02 评价体系：双重验证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建立“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标签层诊断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+ 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下游效用评估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”的双层体系。通过指标量化标签质量以定位问题，利用统一训练协议下的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YOLO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模型性能，客观判断标注流程的实际应用价值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工程落地：全链路保障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引入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Stage-Gate 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阶段门控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 与 Pareto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非支配分析，确保流程可控。建立全链路可复现机制，关注标注生产的稳定性、可扩展性及综合效益，实现技术向生产力的转化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核心愿景：以技术创新驱动标注流程升级，实现从“人工主导”向“智能驱动”的转变</a:t>
            </a:r>
            <a:r>
              <a:rPr lang="en-US" sz="1400" b="1" i="0" u="none" strike="noStrike" dirty="0">
                <a:solidFill>
                  <a:srgbClr val="4B55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6012180" cy="1212215"/>
          </a:xfrm>
          <a:custGeom>
            <a:avLst/>
            <a:gdLst/>
            <a:ahLst/>
            <a:cxnLst/>
            <a:rect l="l" t="t" r="r" b="b"/>
            <a:pathLst>
              <a:path w="6012180" h="1212215">
                <a:moveTo>
                  <a:pt x="647450" y="0"/>
                </a:moveTo>
                <a:lnTo>
                  <a:pt x="647459" y="1"/>
                </a:lnTo>
                <a:lnTo>
                  <a:pt x="5337266" y="1"/>
                </a:lnTo>
                <a:lnTo>
                  <a:pt x="5337266" y="2593"/>
                </a:lnTo>
                <a:lnTo>
                  <a:pt x="5364730" y="1"/>
                </a:lnTo>
                <a:cubicBezTo>
                  <a:pt x="5722308" y="1"/>
                  <a:pt x="6012180" y="271365"/>
                  <a:pt x="6012180" y="606108"/>
                </a:cubicBezTo>
                <a:cubicBezTo>
                  <a:pt x="6012180" y="940852"/>
                  <a:pt x="5722308" y="1212215"/>
                  <a:pt x="5364730" y="1212215"/>
                </a:cubicBezTo>
                <a:lnTo>
                  <a:pt x="5337266" y="1209624"/>
                </a:lnTo>
                <a:lnTo>
                  <a:pt x="5337266" y="1212214"/>
                </a:lnTo>
                <a:lnTo>
                  <a:pt x="647450" y="1212214"/>
                </a:lnTo>
                <a:cubicBezTo>
                  <a:pt x="289872" y="1212214"/>
                  <a:pt x="0" y="940850"/>
                  <a:pt x="0" y="606108"/>
                </a:cubicBezTo>
                <a:cubicBezTo>
                  <a:pt x="0" y="271363"/>
                  <a:pt x="289872" y="0"/>
                  <a:pt x="6474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79570" y="3271520"/>
            <a:ext cx="626110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 国内外研究现状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4474451" cy="6858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74295"/>
            <a:ext cx="3261360" cy="181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b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3600" b="1" i="0" u="none" strike="noStrike" spc="26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2.1 研究综述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3931" y="1142937"/>
            <a:ext cx="6498577" cy="53022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63500" tIns="25400" rIns="63500" bIns="25400" rtlCol="0" anchor="b">
            <a:normAutofit/>
          </a:bodyPr>
          <a:lstStyle/>
          <a:p>
            <a:pPr marL="0" indent="0" algn="ctr" defTabSz="913765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综述要点：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3460" y="1743710"/>
            <a:ext cx="7194550" cy="39712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t" anchorCtr="0"/>
          <a:lstStyle/>
          <a:p>
            <a:pPr marL="0" indent="0" algn="l" defTabSz="913765">
              <a:lnSpc>
                <a:spcPct val="83333"/>
              </a:lnSpc>
              <a:spcAft>
                <a:spcPts val="800"/>
              </a:spcAft>
              <a:defRPr/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1、转化不稳定：</a:t>
            </a:r>
            <a:endParaRPr lang="en-US" sz="1100" dirty="0"/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现有文献多关注零样本直接感知，较少研究其预测结果如何稳定转化为大规模闭集训练标签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2、后置规则不明：</a:t>
            </a:r>
          </a:p>
          <a:p>
            <a:pPr marL="0" indent="45720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分割边界更细并不一定更适合检测训练，火和烟是否需要不同后置规则尚缺分别验证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3、选型缺失：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现有研究较少从系统工程角度，讨论不同数据规模下人工标注、单模型伪标签和级联流程的</a:t>
            </a:r>
            <a:r>
              <a:rPr lang="en-US" sz="1800" b="1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动态选择</a:t>
            </a:r>
            <a:r>
              <a:rPr lang="en-US" sz="1800" b="0" i="0" u="none" strike="noStrike" spc="1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。本文围绕这三个问题展开研究</a:t>
            </a:r>
            <a:r>
              <a:rPr lang="en-US" sz="1800" b="0" i="0" u="none" strike="noStrike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9405" y="1143000"/>
            <a:ext cx="530860" cy="530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347012" cy="683895"/>
          </a:xfrm>
          <a:custGeom>
            <a:avLst/>
            <a:gdLst/>
            <a:ahLst/>
            <a:cxnLst/>
            <a:rect l="l" t="t" r="r" b="b"/>
            <a:pathLst>
              <a:path w="5035550" h="749935">
                <a:moveTo>
                  <a:pt x="542276" y="0"/>
                </a:moveTo>
                <a:lnTo>
                  <a:pt x="542285" y="0"/>
                </a:lnTo>
                <a:lnTo>
                  <a:pt x="4470270" y="0"/>
                </a:lnTo>
                <a:lnTo>
                  <a:pt x="4470270" y="1604"/>
                </a:lnTo>
                <a:lnTo>
                  <a:pt x="4493274" y="0"/>
                </a:lnTo>
                <a:cubicBezTo>
                  <a:pt x="4792764" y="0"/>
                  <a:pt x="5035550" y="167879"/>
                  <a:pt x="5035550" y="374968"/>
                </a:cubicBezTo>
                <a:cubicBezTo>
                  <a:pt x="5035550" y="582056"/>
                  <a:pt x="4792764" y="749935"/>
                  <a:pt x="4493274" y="749935"/>
                </a:cubicBezTo>
                <a:lnTo>
                  <a:pt x="4470270" y="748332"/>
                </a:lnTo>
                <a:lnTo>
                  <a:pt x="4470270" y="749935"/>
                </a:lnTo>
                <a:lnTo>
                  <a:pt x="542276" y="749935"/>
                </a:lnTo>
                <a:cubicBezTo>
                  <a:pt x="242786" y="749935"/>
                  <a:pt x="0" y="582056"/>
                  <a:pt x="0" y="374968"/>
                </a:cubicBezTo>
                <a:cubicBezTo>
                  <a:pt x="0" y="167879"/>
                  <a:pt x="242786" y="0"/>
                  <a:pt x="54227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685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2.2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基础模型：开放词汇检测与提示分割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265" y="948055"/>
          <a:ext cx="11916840" cy="59099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1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70"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开放词汇与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分割基础模型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Liu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DINO：语言表征与检测架构结合，文本短语开放世界定位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零样本定位，为低人工干预的数据初始化提供路径。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现有文献多关注零样本直接感知，较少研究其预测结果如何稳定转化为大规模闭集训练标签。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01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Kirillov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2023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SAM：通用提示驱动分割范式，支持对图像任意区域提示分割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为精细边界提取和未知目标发现提供补充。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2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Ravi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SAM2 将分割范式扩展到时序视频。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支持视频时序分割与跟踪。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38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Carion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SAM3 进一步支持概念提示驱动的检测、分割和跟踪。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本文将其定义为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V1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之后的可选后置校验模块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PET-DINO：统一视觉线索增强 Grounding DINO。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文本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—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视觉提示对齐仍是开放集检测的重要问题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2.3 标签噪声与伪标签评价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1137"/>
              </p:ext>
            </p:extLst>
          </p:nvPr>
        </p:nvGraphicFramePr>
        <p:xfrm>
          <a:off x="0" y="895350"/>
          <a:ext cx="12192000" cy="624431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2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3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3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87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标签噪声与数据质量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Frénay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等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标签噪声分类综述：类别错误、漏标和定位噪声会干扰深度模型特征学习与泛化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只靠标准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很难区分松紧风格与真实定位偏差，需结合边界敏感性与下游训练结果判断伪标签是否真正可用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63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Northcutt 等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测试集标签错误普遍存在：现有数据集多存在漏标、标签混淆和包围框尺度不一致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sz="16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5352" marB="453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216">
                <a:tc rowSpan="3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边界质量与下游效用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Cheng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Boundary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IoU：改进以对象为中心的图像分割评价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"/>
                          <a:sym typeface="Arial"/>
                        </a:rPr>
                        <a:t>以更精准的边界指标为评判标准，深入密集拥挤的极端场景，最终构建出无需人工参与的端到端全自动训练管线，实现了从数据清洗到下游模型落地的全栈式效用提升</a:t>
                      </a:r>
                      <a:endParaRPr lang="en-US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4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Dinh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多尺度 tiling 伪标签用于密集场景目标检测。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2545" marB="425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3411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Xin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DART：端到端自动检测标注与模型训练管线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096000" cy="68389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2.4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半监督</a:t>
            </a:r>
            <a:r>
              <a:rPr lang="zh-CN" alt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弱监督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与主动学习辅助标注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14646"/>
              </p:ext>
            </p:extLst>
          </p:nvPr>
        </p:nvGraphicFramePr>
        <p:xfrm>
          <a:off x="635" y="1380490"/>
          <a:ext cx="12191365" cy="5279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38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弱监督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半监督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主动学习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Burges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主动学习结合基础模型，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面向遥感目标检测的快速数据标注。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基础模型辅助标注可减少人工标注量，</a:t>
                      </a:r>
                      <a:r>
                        <a:rPr lang="en-US" sz="1600" b="1" i="0" u="none" strike="noStrike" dirty="0" err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但较少从系统工程角度讨论不同数据规模下标注范式的动态选择</a:t>
                      </a:r>
                      <a:r>
                        <a:rPr lang="en-US" sz="1600" b="1" i="0" u="none" strike="noStrike" dirty="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35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Zhang 等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高效半监督目标检测（Detection Transformer）。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5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Shehzadi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STEP-DETR：教师模型与伪标签引导文本查询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03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Amershi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2019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机器学习系统软件工程案例：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强调数据过程管理与可复现规范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478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7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7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21082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28956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2.5 火烟场景应用研究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7805" y="1330960"/>
          <a:ext cx="11756390" cy="50298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2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火烟检测与分割应用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Joshi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基础模型结合边界框的高效火焰检测。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本文落点不同：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已有工作多把分割质量本身当目标，分割更细不代表转换出的检测框更适合训练。</a:t>
                      </a:r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 </a:t>
                      </a: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驱动的密度感知渐进式烟雾分割框架</a:t>
                      </a: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21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Allabadi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在野外环境用 SAM 检测新目标物种。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4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面向遥感森林火烟检测的多面合成数据集</a:t>
                      </a:r>
                      <a:r>
                        <a:rPr lang="en-US" sz="1600" b="0" i="0" u="none" strike="noStrike" dirty="0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研究现状与缺口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01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传统目标检测：标注瓶颈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长期依赖全监督学习，算法效果高度依赖高质量人工标注。数据的“质”与“量”难以协同供给，成为模型规模化训练的核心制约因素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8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02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开放词汇检测：转化断层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0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Grounding </a:t>
            </a: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DINO等模型实现了开放世界定位，但缺乏将预测结果稳定转化为闭集训练标签的研究，对下游检测器的泛化效能评估不足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556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03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SAM系列：应用场景受限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虽提供细粒度空间信息，但鲜少验证其在审核、补漏及边界调整中的作用，且精细分割未必适配检测框的训练需求，存在转化鸿沟</a:t>
            </a: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064000"/>
            <a:ext cx="5461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79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04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自动标签评价：指标体系单一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98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仅依靠标准IoU指标难以有效区分标注风格差异与真实定位偏差，无法准确判断伪标签是否真正适用于下游训练，需建立结合实际训练效果的综合评价体系。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461000" cy="209550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25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94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05 </a:t>
            </a:r>
            <a:r>
              <a:rPr lang="en-US" sz="1600" b="1" i="0" u="none" strike="noStrike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数据制备：范式动态适配缺失</a:t>
            </a:r>
            <a:endParaRPr 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13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SC"/>
                <a:sym typeface="Noto Sans SC"/>
              </a:rPr>
              <a:t>现有研究虽证明基础模型可减轻标注负担，但缺乏从系统工程视角，针对不同数据规模探讨标注范式的动态选择与效率优化，难以适配多样化的训练场景需求。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3100" y="1143496"/>
            <a:ext cx="3696948" cy="5714503"/>
          </a:xfrm>
          <a:custGeom>
            <a:avLst/>
            <a:gdLst/>
            <a:ahLst/>
            <a:cxnLst/>
            <a:rect l="l" t="t" r="r" b="b"/>
            <a:pathLst>
              <a:path w="3696948" h="5714503">
                <a:moveTo>
                  <a:pt x="535568" y="5082275"/>
                </a:moveTo>
                <a:cubicBezTo>
                  <a:pt x="547809" y="5094491"/>
                  <a:pt x="553931" y="5125033"/>
                  <a:pt x="547809" y="5155576"/>
                </a:cubicBezTo>
                <a:cubicBezTo>
                  <a:pt x="541689" y="5180010"/>
                  <a:pt x="541689" y="5204443"/>
                  <a:pt x="535568" y="5241096"/>
                </a:cubicBezTo>
                <a:cubicBezTo>
                  <a:pt x="553931" y="5241096"/>
                  <a:pt x="581473" y="5253312"/>
                  <a:pt x="618198" y="5259421"/>
                </a:cubicBezTo>
                <a:cubicBezTo>
                  <a:pt x="648802" y="5268584"/>
                  <a:pt x="673285" y="5274692"/>
                  <a:pt x="691648" y="5274692"/>
                </a:cubicBezTo>
                <a:cubicBezTo>
                  <a:pt x="685527" y="5369373"/>
                  <a:pt x="673285" y="5515978"/>
                  <a:pt x="651863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67502" y="5668691"/>
                  <a:pt x="3179743" y="5638147"/>
                  <a:pt x="3185864" y="5625931"/>
                </a:cubicBezTo>
                <a:cubicBezTo>
                  <a:pt x="3198105" y="5552629"/>
                  <a:pt x="3216468" y="5439621"/>
                  <a:pt x="3228710" y="5280800"/>
                </a:cubicBezTo>
                <a:cubicBezTo>
                  <a:pt x="3240951" y="5118926"/>
                  <a:pt x="3259314" y="5005917"/>
                  <a:pt x="3277676" y="4932615"/>
                </a:cubicBezTo>
                <a:cubicBezTo>
                  <a:pt x="3292978" y="4865422"/>
                  <a:pt x="3323581" y="4776848"/>
                  <a:pt x="3366427" y="4673004"/>
                </a:cubicBezTo>
                <a:cubicBezTo>
                  <a:pt x="3436816" y="4492804"/>
                  <a:pt x="3473540" y="4398122"/>
                  <a:pt x="3473540" y="4398122"/>
                </a:cubicBezTo>
                <a:cubicBezTo>
                  <a:pt x="3534748" y="4220975"/>
                  <a:pt x="3565352" y="4126294"/>
                  <a:pt x="3571474" y="4126294"/>
                </a:cubicBezTo>
                <a:cubicBezTo>
                  <a:pt x="3611258" y="4028557"/>
                  <a:pt x="3654104" y="3952201"/>
                  <a:pt x="3696948" y="3903334"/>
                </a:cubicBezTo>
                <a:cubicBezTo>
                  <a:pt x="3690828" y="3555148"/>
                  <a:pt x="3678587" y="3307754"/>
                  <a:pt x="3660224" y="3167258"/>
                </a:cubicBezTo>
                <a:cubicBezTo>
                  <a:pt x="3635741" y="2922919"/>
                  <a:pt x="3571474" y="2745772"/>
                  <a:pt x="3473540" y="2614439"/>
                </a:cubicBezTo>
                <a:cubicBezTo>
                  <a:pt x="3455179" y="2590005"/>
                  <a:pt x="3415393" y="2553354"/>
                  <a:pt x="3366427" y="2513649"/>
                </a:cubicBezTo>
                <a:cubicBezTo>
                  <a:pt x="3305219" y="2458672"/>
                  <a:pt x="3265434" y="2422021"/>
                  <a:pt x="3247072" y="2403696"/>
                </a:cubicBezTo>
                <a:cubicBezTo>
                  <a:pt x="3103234" y="2260145"/>
                  <a:pt x="2986938" y="2162410"/>
                  <a:pt x="2892067" y="2107433"/>
                </a:cubicBezTo>
                <a:cubicBezTo>
                  <a:pt x="2892067" y="2079945"/>
                  <a:pt x="2873704" y="2031077"/>
                  <a:pt x="2836979" y="1969992"/>
                </a:cubicBezTo>
                <a:cubicBezTo>
                  <a:pt x="2836979" y="1963884"/>
                  <a:pt x="2830859" y="1957775"/>
                  <a:pt x="2830859" y="1951666"/>
                </a:cubicBezTo>
                <a:cubicBezTo>
                  <a:pt x="2791074" y="1875310"/>
                  <a:pt x="2766591" y="1814225"/>
                  <a:pt x="2766591" y="1771466"/>
                </a:cubicBezTo>
                <a:cubicBezTo>
                  <a:pt x="2754349" y="1759248"/>
                  <a:pt x="2742108" y="1759248"/>
                  <a:pt x="2723746" y="1759248"/>
                </a:cubicBezTo>
                <a:cubicBezTo>
                  <a:pt x="2711505" y="1759248"/>
                  <a:pt x="2693142" y="1753140"/>
                  <a:pt x="2665598" y="1753140"/>
                </a:cubicBezTo>
                <a:cubicBezTo>
                  <a:pt x="2772712" y="1676784"/>
                  <a:pt x="2849221" y="1554613"/>
                  <a:pt x="2904308" y="1380522"/>
                </a:cubicBezTo>
                <a:cubicBezTo>
                  <a:pt x="2953275" y="1212538"/>
                  <a:pt x="2971637" y="1038446"/>
                  <a:pt x="2959396" y="855190"/>
                </a:cubicBezTo>
                <a:cubicBezTo>
                  <a:pt x="2947154" y="662772"/>
                  <a:pt x="2904308" y="494788"/>
                  <a:pt x="2830859" y="369565"/>
                </a:cubicBezTo>
                <a:cubicBezTo>
                  <a:pt x="2742108" y="222960"/>
                  <a:pt x="2628873" y="134388"/>
                  <a:pt x="2485036" y="109953"/>
                </a:cubicBezTo>
                <a:cubicBezTo>
                  <a:pt x="2466673" y="109953"/>
                  <a:pt x="2466673" y="97737"/>
                  <a:pt x="2478914" y="85519"/>
                </a:cubicBezTo>
                <a:cubicBezTo>
                  <a:pt x="2485036" y="73302"/>
                  <a:pt x="2485036" y="67193"/>
                  <a:pt x="2472794" y="67193"/>
                </a:cubicBezTo>
                <a:cubicBezTo>
                  <a:pt x="2454431" y="61084"/>
                  <a:pt x="2442190" y="61084"/>
                  <a:pt x="2436070" y="73302"/>
                </a:cubicBezTo>
                <a:cubicBezTo>
                  <a:pt x="2429948" y="85519"/>
                  <a:pt x="2423828" y="97737"/>
                  <a:pt x="2417707" y="97737"/>
                </a:cubicBezTo>
                <a:cubicBezTo>
                  <a:pt x="2393224" y="67193"/>
                  <a:pt x="2335077" y="42760"/>
                  <a:pt x="2243264" y="24434"/>
                </a:cubicBezTo>
                <a:cubicBezTo>
                  <a:pt x="2160634" y="6109"/>
                  <a:pt x="2081064" y="0"/>
                  <a:pt x="2010675" y="0"/>
                </a:cubicBezTo>
                <a:cubicBezTo>
                  <a:pt x="1879078" y="18326"/>
                  <a:pt x="1729119" y="73302"/>
                  <a:pt x="1554677" y="171039"/>
                </a:cubicBezTo>
                <a:cubicBezTo>
                  <a:pt x="1459805" y="229069"/>
                  <a:pt x="1337390" y="302370"/>
                  <a:pt x="1181310" y="393998"/>
                </a:cubicBezTo>
                <a:cubicBezTo>
                  <a:pt x="1193551" y="427595"/>
                  <a:pt x="1187431" y="458137"/>
                  <a:pt x="1181310" y="488681"/>
                </a:cubicBezTo>
                <a:cubicBezTo>
                  <a:pt x="1169068" y="507006"/>
                  <a:pt x="1153766" y="531439"/>
                  <a:pt x="1141524" y="580307"/>
                </a:cubicBezTo>
                <a:cubicBezTo>
                  <a:pt x="1175189" y="586416"/>
                  <a:pt x="1205793" y="586416"/>
                  <a:pt x="1230276" y="580307"/>
                </a:cubicBezTo>
                <a:cubicBezTo>
                  <a:pt x="1260880" y="568091"/>
                  <a:pt x="1279242" y="568091"/>
                  <a:pt x="1285363" y="568091"/>
                </a:cubicBezTo>
                <a:cubicBezTo>
                  <a:pt x="1273122" y="616958"/>
                  <a:pt x="1248639" y="699423"/>
                  <a:pt x="1211914" y="803269"/>
                </a:cubicBezTo>
                <a:cubicBezTo>
                  <a:pt x="1187431" y="891841"/>
                  <a:pt x="1181310" y="989578"/>
                  <a:pt x="1181310" y="1078151"/>
                </a:cubicBezTo>
                <a:cubicBezTo>
                  <a:pt x="1267000" y="1127018"/>
                  <a:pt x="1291483" y="1200320"/>
                  <a:pt x="1254759" y="1301111"/>
                </a:cubicBezTo>
                <a:cubicBezTo>
                  <a:pt x="1236397" y="1356087"/>
                  <a:pt x="1193551" y="1441606"/>
                  <a:pt x="1129283" y="1560722"/>
                </a:cubicBezTo>
                <a:cubicBezTo>
                  <a:pt x="1129283" y="1585157"/>
                  <a:pt x="1147646" y="1597373"/>
                  <a:pt x="1181310" y="1609590"/>
                </a:cubicBezTo>
                <a:cubicBezTo>
                  <a:pt x="1193551" y="1615699"/>
                  <a:pt x="1218034" y="1621808"/>
                  <a:pt x="1260880" y="1621808"/>
                </a:cubicBezTo>
                <a:cubicBezTo>
                  <a:pt x="1260880" y="1698164"/>
                  <a:pt x="1267000" y="1753140"/>
                  <a:pt x="1279242" y="1795899"/>
                </a:cubicBezTo>
                <a:cubicBezTo>
                  <a:pt x="1291483" y="1820334"/>
                  <a:pt x="1319027" y="1856985"/>
                  <a:pt x="1355752" y="1908907"/>
                </a:cubicBezTo>
                <a:cubicBezTo>
                  <a:pt x="1123163" y="1856985"/>
                  <a:pt x="905874" y="1908907"/>
                  <a:pt x="691648" y="2055512"/>
                </a:cubicBezTo>
                <a:cubicBezTo>
                  <a:pt x="667164" y="2131868"/>
                  <a:pt x="630439" y="2272363"/>
                  <a:pt x="593715" y="2489215"/>
                </a:cubicBezTo>
                <a:cubicBezTo>
                  <a:pt x="553931" y="2699958"/>
                  <a:pt x="511085" y="2849616"/>
                  <a:pt x="468239" y="2941244"/>
                </a:cubicBezTo>
                <a:cubicBezTo>
                  <a:pt x="455997" y="2968732"/>
                  <a:pt x="437636" y="3005383"/>
                  <a:pt x="403972" y="3060360"/>
                </a:cubicBezTo>
                <a:cubicBezTo>
                  <a:pt x="391730" y="3084793"/>
                  <a:pt x="379489" y="3103119"/>
                  <a:pt x="367247" y="3121444"/>
                </a:cubicBezTo>
                <a:cubicBezTo>
                  <a:pt x="355006" y="3145879"/>
                  <a:pt x="342764" y="3173367"/>
                  <a:pt x="336643" y="3191693"/>
                </a:cubicBezTo>
                <a:cubicBezTo>
                  <a:pt x="330521" y="3203909"/>
                  <a:pt x="330521" y="3216126"/>
                  <a:pt x="324401" y="3228344"/>
                </a:cubicBezTo>
                <a:cubicBezTo>
                  <a:pt x="223408" y="3463521"/>
                  <a:pt x="162201" y="3607071"/>
                  <a:pt x="143838" y="3668156"/>
                </a:cubicBezTo>
                <a:cubicBezTo>
                  <a:pt x="73449" y="3854465"/>
                  <a:pt x="30604" y="4028557"/>
                  <a:pt x="18363" y="4187378"/>
                </a:cubicBezTo>
                <a:cubicBezTo>
                  <a:pt x="0" y="4450044"/>
                  <a:pt x="24483" y="4666896"/>
                  <a:pt x="79571" y="4819608"/>
                </a:cubicBezTo>
                <a:cubicBezTo>
                  <a:pt x="168321" y="5030352"/>
                  <a:pt x="318280" y="5118926"/>
                  <a:pt x="535568" y="5082275"/>
                </a:cubicBezTo>
                <a:close/>
                <a:moveTo>
                  <a:pt x="905874" y="2800749"/>
                </a:moveTo>
                <a:cubicBezTo>
                  <a:pt x="918116" y="2782423"/>
                  <a:pt x="954841" y="2751880"/>
                  <a:pt x="997687" y="2712175"/>
                </a:cubicBezTo>
                <a:cubicBezTo>
                  <a:pt x="1043592" y="2675524"/>
                  <a:pt x="1074196" y="2638873"/>
                  <a:pt x="1092558" y="2614439"/>
                </a:cubicBezTo>
                <a:cubicBezTo>
                  <a:pt x="1110921" y="2583896"/>
                  <a:pt x="1129283" y="2541137"/>
                  <a:pt x="1141524" y="2476998"/>
                </a:cubicBezTo>
                <a:cubicBezTo>
                  <a:pt x="1159887" y="2409805"/>
                  <a:pt x="1181310" y="2360936"/>
                  <a:pt x="1193551" y="2330394"/>
                </a:cubicBezTo>
                <a:cubicBezTo>
                  <a:pt x="1254759" y="2354828"/>
                  <a:pt x="1303725" y="2367045"/>
                  <a:pt x="1349632" y="2360936"/>
                </a:cubicBezTo>
                <a:cubicBezTo>
                  <a:pt x="1392476" y="2354828"/>
                  <a:pt x="1441442" y="2342610"/>
                  <a:pt x="1499591" y="2318177"/>
                </a:cubicBezTo>
                <a:cubicBezTo>
                  <a:pt x="1499591" y="2302905"/>
                  <a:pt x="1493469" y="2290689"/>
                  <a:pt x="1481228" y="2278471"/>
                </a:cubicBezTo>
                <a:cubicBezTo>
                  <a:pt x="1465925" y="2266254"/>
                  <a:pt x="1465925" y="2254038"/>
                  <a:pt x="1465925" y="2241821"/>
                </a:cubicBezTo>
                <a:cubicBezTo>
                  <a:pt x="1511832" y="2254038"/>
                  <a:pt x="1560798" y="2241821"/>
                  <a:pt x="1609764" y="2192952"/>
                </a:cubicBezTo>
                <a:cubicBezTo>
                  <a:pt x="1667911" y="2150193"/>
                  <a:pt x="1716877" y="2137976"/>
                  <a:pt x="1759723" y="2156301"/>
                </a:cubicBezTo>
                <a:cubicBezTo>
                  <a:pt x="1765844" y="2180735"/>
                  <a:pt x="1765844" y="2217387"/>
                  <a:pt x="1741360" y="2254038"/>
                </a:cubicBezTo>
                <a:cubicBezTo>
                  <a:pt x="1710757" y="2302905"/>
                  <a:pt x="1698516" y="2336502"/>
                  <a:pt x="1692394" y="2342610"/>
                </a:cubicBezTo>
                <a:cubicBezTo>
                  <a:pt x="1661791" y="2367045"/>
                  <a:pt x="1554677" y="2415912"/>
                  <a:pt x="1386356" y="2483107"/>
                </a:cubicBezTo>
                <a:cubicBezTo>
                  <a:pt x="1254759" y="2541137"/>
                  <a:pt x="1169068" y="2596114"/>
                  <a:pt x="1117041" y="2657198"/>
                </a:cubicBezTo>
                <a:cubicBezTo>
                  <a:pt x="1092558" y="2681633"/>
                  <a:pt x="1074196" y="2724393"/>
                  <a:pt x="1043592" y="2782423"/>
                </a:cubicBezTo>
                <a:cubicBezTo>
                  <a:pt x="1019109" y="2837400"/>
                  <a:pt x="991565" y="2880159"/>
                  <a:pt x="967082" y="2904593"/>
                </a:cubicBezTo>
                <a:cubicBezTo>
                  <a:pt x="960962" y="2956516"/>
                  <a:pt x="942599" y="3005383"/>
                  <a:pt x="918116" y="3048142"/>
                </a:cubicBezTo>
                <a:cubicBezTo>
                  <a:pt x="905874" y="3078686"/>
                  <a:pt x="875271" y="3115337"/>
                  <a:pt x="841606" y="3167258"/>
                </a:cubicBezTo>
                <a:cubicBezTo>
                  <a:pt x="817123" y="3145879"/>
                  <a:pt x="804882" y="3121444"/>
                  <a:pt x="798761" y="3097011"/>
                </a:cubicBezTo>
                <a:cubicBezTo>
                  <a:pt x="774278" y="3023709"/>
                  <a:pt x="811003" y="2922919"/>
                  <a:pt x="905874" y="2800749"/>
                </a:cubicBezTo>
                <a:close/>
              </a:path>
            </a:pathLst>
          </a:custGeom>
          <a:solidFill>
            <a:srgbClr val="BFBFB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5285" y="260350"/>
            <a:ext cx="4197350" cy="749935"/>
          </a:xfrm>
          <a:custGeom>
            <a:avLst/>
            <a:gdLst/>
            <a:ahLst/>
            <a:cxnLst/>
            <a:rect l="l" t="t" r="r" b="b"/>
            <a:pathLst>
              <a:path w="4197350" h="749935">
                <a:moveTo>
                  <a:pt x="452011" y="0"/>
                </a:moveTo>
                <a:lnTo>
                  <a:pt x="452017" y="0"/>
                </a:lnTo>
                <a:lnTo>
                  <a:pt x="3726165" y="0"/>
                </a:lnTo>
                <a:lnTo>
                  <a:pt x="3726165" y="1604"/>
                </a:lnTo>
                <a:lnTo>
                  <a:pt x="3745339" y="0"/>
                </a:lnTo>
                <a:cubicBezTo>
                  <a:pt x="3994978" y="0"/>
                  <a:pt x="4197350" y="167879"/>
                  <a:pt x="4197350" y="374968"/>
                </a:cubicBezTo>
                <a:cubicBezTo>
                  <a:pt x="4197350" y="582056"/>
                  <a:pt x="3994978" y="749935"/>
                  <a:pt x="3745339" y="749935"/>
                </a:cubicBezTo>
                <a:lnTo>
                  <a:pt x="3726165" y="748332"/>
                </a:lnTo>
                <a:lnTo>
                  <a:pt x="3726165" y="749935"/>
                </a:lnTo>
                <a:lnTo>
                  <a:pt x="452011" y="749935"/>
                </a:lnTo>
                <a:cubicBezTo>
                  <a:pt x="202372" y="749935"/>
                  <a:pt x="0" y="582056"/>
                  <a:pt x="0" y="374968"/>
                </a:cubicBezTo>
                <a:cubicBezTo>
                  <a:pt x="0" y="167879"/>
                  <a:pt x="202372" y="0"/>
                  <a:pt x="452011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8480" y="32639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09370" y="414655"/>
            <a:ext cx="294132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2.4 研究缺口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47249" y="1143496"/>
            <a:ext cx="10623712" cy="1761629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开放词汇检测转化不足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现有文献多关注零样本直接感知,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较少研究其预测结果如何稳定转化为大规模闭集训练标签,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也缺乏对伪标签驱动下游检测器训练后泛化效能的系统评估。</a:t>
            </a:r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本文把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Grounding DINO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检出框批量固化为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伪标签,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再用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YOLO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下游训练判断其是否真的有用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909490" y="3354485"/>
            <a:ext cx="10623712" cy="206121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marL="0" indent="0" algn="l" defTabSz="914400">
              <a:lnSpc>
                <a:spcPct val="150000"/>
              </a:lnSpc>
              <a:spcAft>
                <a:spcPts val="600"/>
              </a:spcAft>
              <a:buClr>
                <a:srgbClr val="0A3760"/>
              </a:buClr>
              <a:defRPr/>
            </a:pP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</a:t>
            </a:r>
            <a:r>
              <a:rPr lang="en-US" sz="20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后置操作不明</a:t>
            </a:r>
            <a:r>
              <a:rPr lang="en-US" sz="20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现有研究通常以分割边界更细</a:t>
            </a:r>
            <a:r>
              <a:rPr lang="zh-CN" alt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，分割质量作为研究，但更细的分割边界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并不一定更适合检测训练；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火和烟分别需要什么后置规则、是否要改框，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难以根据火和烟分别需要什么后置规则、是否要改框，现有研究尚缺分别验证。</a:t>
            </a:r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同时，数据规模扩大后，</a:t>
            </a:r>
            <a:r>
              <a:rPr lang="en-US" sz="16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人工、单模型伪标签与级联流程如何选择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无法依据同时，数据规模扩大后，人工、单模型伪标签与级联流程如何选择，也缺乏系统工程层面的讨论。</a:t>
            </a:r>
          </a:p>
          <a:p>
            <a:pPr marL="539750" indent="-254000" algn="l" defTabSz="914400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8" name="AutoShape 8"/>
          <p:cNvSpPr/>
          <p:nvPr/>
        </p:nvSpPr>
        <p:spPr>
          <a:xfrm>
            <a:off x="-635" y="5767070"/>
            <a:ext cx="12115165" cy="92900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457200" algn="just" defTabSz="914400">
              <a:lnSpc>
                <a:spcPct val="150000"/>
              </a:lnSpc>
              <a:defRPr/>
            </a:pP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本文把人工标注、V1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单级自动化和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SAM3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级联方案放在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1k、10k、100k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三种规模下比较，用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关系筛选流程</a:t>
            </a:r>
            <a:r>
              <a:rPr lang="en-US" sz="180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  <a:p>
            <a:pPr marL="0" indent="0" algn="l" defTabSz="914400">
              <a:lnSpc>
                <a:spcPct val="15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03370" y="3271520"/>
            <a:ext cx="593217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3. 研究内容与路线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78455" y="222170"/>
            <a:ext cx="2915285" cy="344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火烟伪标签级联生产与验证技术路线</a:t>
            </a:r>
            <a:endParaRPr lang="en-US" sz="1100" dirty="0"/>
          </a:p>
        </p:txBody>
      </p:sp>
      <p:sp>
        <p:nvSpPr>
          <p:cNvPr id="3" name="Freeform 3"/>
          <p:cNvSpPr/>
          <p:nvPr/>
        </p:nvSpPr>
        <p:spPr>
          <a:xfrm>
            <a:off x="115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4F8">
              <a:alpha val="100000"/>
            </a:srgbClr>
          </a:solidFill>
          <a:ln w="12700" cap="flat" cmpd="sng">
            <a:solidFill>
              <a:srgbClr val="3498D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34135" y="751840"/>
            <a:ext cx="1672590" cy="272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阶段一：数据与测试治理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311275" y="1024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37335" y="1072515"/>
            <a:ext cx="1148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多源火烟图像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311275" y="144081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56055" y="147129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开发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隔离测试集划分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1311275" y="1786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410515" y="184086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数据谱系与元数据版本固化</a:t>
            </a:r>
            <a:endParaRPr lang="en-US" sz="1100" dirty="0"/>
          </a:p>
        </p:txBody>
      </p:sp>
      <p:sp>
        <p:nvSpPr>
          <p:cNvPr id="11" name="Freeform 11"/>
          <p:cNvSpPr/>
          <p:nvPr/>
        </p:nvSpPr>
        <p:spPr>
          <a:xfrm>
            <a:off x="1311275" y="2167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62735" y="2215515"/>
            <a:ext cx="10972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提示词空间与阈值检索</a:t>
            </a:r>
            <a:endParaRPr lang="en-US" sz="1100" dirty="0"/>
          </a:p>
        </p:txBody>
      </p:sp>
      <p:sp>
        <p:nvSpPr>
          <p:cNvPr id="13" name="Freeform 13"/>
          <p:cNvSpPr/>
          <p:nvPr/>
        </p:nvSpPr>
        <p:spPr>
          <a:xfrm>
            <a:off x="1311275" y="2548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577975" y="2596515"/>
            <a:ext cx="10668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训练集用于 YOLO 训练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064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444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5E8">
              <a:alpha val="100000"/>
            </a:srgbClr>
          </a:solidFill>
          <a:ln w="12700" cap="flat" cmpd="sng">
            <a:solidFill>
              <a:srgbClr val="27AE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539191" y="744332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阶段二：V1 </a:t>
            </a:r>
            <a:r>
              <a:rPr lang="en-US" sz="12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自动生成与验证</a:t>
            </a:r>
            <a:endParaRPr lang="en-US" sz="1100" dirty="0"/>
          </a:p>
        </p:txBody>
      </p:sp>
      <p:sp>
        <p:nvSpPr>
          <p:cNvPr id="18" name="Freeform 18"/>
          <p:cNvSpPr/>
          <p:nvPr/>
        </p:nvSpPr>
        <p:spPr>
          <a:xfrm>
            <a:off x="35972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3536315" y="1334602"/>
            <a:ext cx="51816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defTabSz="914400">
              <a:lnSpc>
                <a:spcPct val="100000"/>
              </a:lnSpc>
              <a:defRPr/>
            </a:pPr>
            <a:r>
              <a:rPr lang="en-US" sz="82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7230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擅长：文本</a:t>
            </a:r>
            <a:r>
              <a:rPr lang="en-US" sz="67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—</a:t>
            </a: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视觉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38258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语义对齐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46640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728845" y="1342390"/>
            <a:ext cx="46228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47898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675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</a:t>
            </a:r>
            <a:r>
              <a:rPr lang="en-US" sz="675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基准</a:t>
            </a:r>
            <a:r>
              <a:rPr lang="en-US" altLang="ja-JP" sz="8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altLang="ja-JP" sz="1800" dirty="0"/>
          </a:p>
        </p:txBody>
      </p:sp>
      <p:sp>
        <p:nvSpPr>
          <p:cNvPr id="25" name="AutoShape 25"/>
          <p:cNvSpPr/>
          <p:nvPr/>
        </p:nvSpPr>
        <p:spPr>
          <a:xfrm>
            <a:off x="48926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6" name="Freeform 26"/>
          <p:cNvSpPr/>
          <p:nvPr/>
        </p:nvSpPr>
        <p:spPr>
          <a:xfrm>
            <a:off x="3597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635" y="1910715"/>
            <a:ext cx="15544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标签质量分析：漏检</a:t>
            </a:r>
            <a:r>
              <a:rPr lang="en-US" sz="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误检</a:t>
            </a:r>
            <a:r>
              <a:rPr lang="en-US" sz="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框偏差</a:t>
            </a:r>
            <a:endParaRPr lang="en-US" sz="1050" dirty="0"/>
          </a:p>
        </p:txBody>
      </p:sp>
      <p:sp>
        <p:nvSpPr>
          <p:cNvPr id="28" name="AutoShape 28"/>
          <p:cNvSpPr/>
          <p:nvPr/>
        </p:nvSpPr>
        <p:spPr>
          <a:xfrm>
            <a:off x="3822700" y="2040890"/>
            <a:ext cx="153098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直接用于 YOLO 下游基线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597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313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开发准入门槛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957955" y="2536190"/>
            <a:ext cx="126047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 + 下游 mAP 双重判断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153535" y="26504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是否具备使用价值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5731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6111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EF5E7">
              <a:alpha val="100000"/>
            </a:srgbClr>
          </a:solidFill>
          <a:ln w="12700" cap="flat" cmpd="sng">
            <a:solidFill>
              <a:srgbClr val="F39C1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40475" y="73505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阶段三：SAM3 </a:t>
            </a:r>
            <a:r>
              <a:rPr lang="en-US" sz="12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后置处理</a:t>
            </a:r>
            <a:endParaRPr lang="en-US" sz="1100" dirty="0"/>
          </a:p>
        </p:txBody>
      </p:sp>
      <p:sp>
        <p:nvSpPr>
          <p:cNvPr id="36" name="Freeform 36"/>
          <p:cNvSpPr/>
          <p:nvPr/>
        </p:nvSpPr>
        <p:spPr>
          <a:xfrm>
            <a:off x="6264275" y="10242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12700" cap="flat" cmpd="sng">
            <a:solidFill>
              <a:srgbClr val="7F8C8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05550" y="1024255"/>
            <a:ext cx="1671955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后置节点权限拆分：不默认覆盖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V1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6462395" y="1168400"/>
            <a:ext cx="1173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/ Append / Refiner 三类角色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62642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287135" y="1431289"/>
            <a:ext cx="558800" cy="393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</a:t>
            </a:r>
            <a:endParaRPr lang="en-US" sz="750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审核候选</a:t>
            </a:r>
            <a:endParaRPr lang="en-US" sz="750" dirty="0"/>
          </a:p>
        </p:txBody>
      </p:sp>
      <p:sp>
        <p:nvSpPr>
          <p:cNvPr id="41" name="AutoShape 41"/>
          <p:cNvSpPr/>
          <p:nvPr/>
        </p:nvSpPr>
        <p:spPr>
          <a:xfrm>
            <a:off x="63061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3404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69500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70110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Append</a:t>
            </a:r>
          </a:p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补漏</a:t>
            </a:r>
            <a:endParaRPr lang="en-US" sz="1100" dirty="0"/>
          </a:p>
        </p:txBody>
      </p:sp>
      <p:sp>
        <p:nvSpPr>
          <p:cNvPr id="45" name="AutoShape 45"/>
          <p:cNvSpPr/>
          <p:nvPr/>
        </p:nvSpPr>
        <p:spPr>
          <a:xfrm>
            <a:off x="7026275" y="155384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70262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76358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696835" y="1431290"/>
            <a:ext cx="487680" cy="3746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7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</a:t>
            </a:r>
            <a:endParaRPr lang="en-US" sz="750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>
              <a:defRPr/>
            </a:pPr>
            <a:r>
              <a:rPr lang="zh-CN" altLang="en-US" sz="7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修改边界</a:t>
            </a:r>
            <a:endParaRPr lang="en-US" sz="75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76777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77120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264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6845935" y="1910715"/>
            <a:ext cx="8178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Stage-Gate：</a:t>
            </a:r>
            <a:r>
              <a:rPr lang="en-US" sz="5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Go</a:t>
            </a:r>
            <a:r>
              <a:rPr lang="en-US" sz="5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/ Hold / Stop</a:t>
            </a:r>
            <a:endParaRPr lang="en-US" sz="1100" dirty="0"/>
          </a:p>
        </p:txBody>
      </p:sp>
      <p:sp>
        <p:nvSpPr>
          <p:cNvPr id="53" name="AutoShape 53"/>
          <p:cNvSpPr/>
          <p:nvPr/>
        </p:nvSpPr>
        <p:spPr>
          <a:xfrm>
            <a:off x="6401435" y="2040890"/>
            <a:ext cx="1706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多随机种子稳定性复验</a:t>
            </a:r>
            <a:endParaRPr lang="en-US" sz="1100" dirty="0"/>
          </a:p>
        </p:txBody>
      </p:sp>
      <p:sp>
        <p:nvSpPr>
          <p:cNvPr id="54" name="Freeform 54"/>
          <p:cNvSpPr/>
          <p:nvPr/>
        </p:nvSpPr>
        <p:spPr>
          <a:xfrm>
            <a:off x="6264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592887" y="237934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1k/10k/100k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推演</a:t>
            </a:r>
            <a:endParaRPr lang="en-US" sz="1100" dirty="0"/>
          </a:p>
        </p:txBody>
      </p:sp>
      <p:sp>
        <p:nvSpPr>
          <p:cNvPr id="56" name="AutoShape 56"/>
          <p:cNvSpPr/>
          <p:nvPr/>
        </p:nvSpPr>
        <p:spPr>
          <a:xfrm>
            <a:off x="6591935" y="2536190"/>
            <a:ext cx="1325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检测效果 / 制备时间 / 人工投入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858635" y="2650490"/>
            <a:ext cx="792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Pareto 非支配比较</a:t>
            </a:r>
            <a:endParaRPr lang="en-US" sz="1100"/>
          </a:p>
        </p:txBody>
      </p:sp>
      <p:sp>
        <p:nvSpPr>
          <p:cNvPr id="58" name="Freeform 58"/>
          <p:cNvSpPr/>
          <p:nvPr/>
        </p:nvSpPr>
        <p:spPr>
          <a:xfrm>
            <a:off x="8398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877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CF0F1">
              <a:alpha val="100000"/>
            </a:srgbClr>
          </a:solidFill>
          <a:ln w="12700" cap="flat" cmpd="sng">
            <a:solidFill>
              <a:srgbClr val="95A5A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91522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阶段四：流程选型与交付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931275" y="10242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solidFill>
              <a:srgbClr val="2C3E5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9034816" y="1034415"/>
            <a:ext cx="640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选定推荐生产流程</a:t>
            </a:r>
            <a:endParaRPr lang="en-US" sz="1100" dirty="0"/>
          </a:p>
        </p:txBody>
      </p:sp>
      <p:sp>
        <p:nvSpPr>
          <p:cNvPr id="63" name="AutoShape 63"/>
          <p:cNvSpPr/>
          <p:nvPr/>
        </p:nvSpPr>
        <p:spPr>
          <a:xfrm>
            <a:off x="9297035" y="11645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落实到具体工作安排</a:t>
            </a: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8931275" y="149923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74C3C">
              <a:alpha val="100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5" name="AutoShape 65"/>
          <p:cNvSpPr/>
          <p:nvPr/>
        </p:nvSpPr>
        <p:spPr>
          <a:xfrm>
            <a:off x="9035700" y="14916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全链路元数据可追溯</a:t>
            </a:r>
            <a:endParaRPr lang="en-US" sz="1100" dirty="0"/>
          </a:p>
        </p:txBody>
      </p:sp>
      <p:sp>
        <p:nvSpPr>
          <p:cNvPr id="66" name="AutoShape 66"/>
          <p:cNvSpPr/>
          <p:nvPr/>
        </p:nvSpPr>
        <p:spPr>
          <a:xfrm>
            <a:off x="9297035" y="16217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跟踪执行效果和异常</a:t>
            </a:r>
            <a:endParaRPr lang="en-US" sz="1100" dirty="0"/>
          </a:p>
        </p:txBody>
      </p:sp>
      <p:sp>
        <p:nvSpPr>
          <p:cNvPr id="67" name="Freeform 67"/>
          <p:cNvSpPr/>
          <p:nvPr/>
        </p:nvSpPr>
        <p:spPr>
          <a:xfrm>
            <a:off x="8931275" y="19386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8" name="AutoShape 68"/>
          <p:cNvSpPr/>
          <p:nvPr/>
        </p:nvSpPr>
        <p:spPr>
          <a:xfrm>
            <a:off x="9008815" y="19488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核心效用指标报告</a:t>
            </a:r>
            <a:endParaRPr lang="en-US" sz="1100" dirty="0"/>
          </a:p>
        </p:txBody>
      </p:sp>
      <p:sp>
        <p:nvSpPr>
          <p:cNvPr id="69" name="AutoShape 69"/>
          <p:cNvSpPr/>
          <p:nvPr/>
        </p:nvSpPr>
        <p:spPr>
          <a:xfrm>
            <a:off x="9274178" y="2078430"/>
            <a:ext cx="7924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统计各项指标表现</a:t>
            </a:r>
            <a:endParaRPr lang="en-US" sz="1100" dirty="0"/>
          </a:p>
        </p:txBody>
      </p:sp>
      <p:sp>
        <p:nvSpPr>
          <p:cNvPr id="70" name="Freeform 70"/>
          <p:cNvSpPr/>
          <p:nvPr/>
        </p:nvSpPr>
        <p:spPr>
          <a:xfrm>
            <a:off x="8931275" y="2395855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457200"/>
                </a:lnTo>
                <a:cubicBezTo>
                  <a:pt x="1600200" y="457200"/>
                  <a:pt x="1583143" y="457200"/>
                  <a:pt x="1562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17A2B8">
              <a:alpha val="100000"/>
            </a:srgbClr>
          </a:solidFill>
          <a:ln w="12700" cap="flat" cmpd="sng">
            <a:solidFill>
              <a:srgbClr val="13849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1" name="AutoShape 71"/>
          <p:cNvSpPr/>
          <p:nvPr/>
        </p:nvSpPr>
        <p:spPr>
          <a:xfrm>
            <a:off x="8999858" y="24441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原始数据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权重反查</a:t>
            </a:r>
            <a:endParaRPr lang="en-US" sz="1100" dirty="0"/>
          </a:p>
        </p:txBody>
      </p:sp>
      <p:sp>
        <p:nvSpPr>
          <p:cNvPr id="72" name="AutoShape 72"/>
          <p:cNvSpPr/>
          <p:nvPr/>
        </p:nvSpPr>
        <p:spPr>
          <a:xfrm>
            <a:off x="9220835" y="2574290"/>
            <a:ext cx="1021080" cy="191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73" name="AutoShape 73"/>
          <p:cNvSpPr/>
          <p:nvPr/>
        </p:nvSpPr>
        <p:spPr>
          <a:xfrm>
            <a:off x="9354856" y="2599578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论文与复现材料</a:t>
            </a:r>
            <a:endParaRPr lang="en-US" sz="1100" dirty="0"/>
          </a:p>
        </p:txBody>
      </p:sp>
      <p:sp>
        <p:nvSpPr>
          <p:cNvPr id="74" name="Freeform 74"/>
          <p:cNvSpPr/>
          <p:nvPr/>
        </p:nvSpPr>
        <p:spPr>
          <a:xfrm>
            <a:off x="3825875" y="3005455"/>
            <a:ext cx="5905500" cy="533400"/>
          </a:xfrm>
          <a:custGeom>
            <a:avLst/>
            <a:gdLst/>
            <a:ahLst/>
            <a:cxnLst/>
            <a:rect l="l" t="t" r="r" b="b"/>
            <a:pathLst>
              <a:path w="5905500" h="533400">
                <a:moveTo>
                  <a:pt x="5905500" y="0"/>
                </a:moveTo>
                <a:cubicBezTo>
                  <a:pt x="5905500" y="355603"/>
                  <a:pt x="4953000" y="533400"/>
                  <a:pt x="3048000" y="533400"/>
                </a:cubicBezTo>
                <a:cubicBezTo>
                  <a:pt x="1015997" y="533400"/>
                  <a:pt x="0" y="406397"/>
                  <a:pt x="0" y="152400"/>
                </a:cubicBezTo>
              </a:path>
            </a:pathLst>
          </a:custGeom>
          <a:noFill/>
          <a:ln w="254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3749675" y="311975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6" name="AutoShape 76"/>
          <p:cNvSpPr/>
          <p:nvPr/>
        </p:nvSpPr>
        <p:spPr>
          <a:xfrm>
            <a:off x="6355715" y="3532505"/>
            <a:ext cx="103632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 + 敏感性分析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5913755" y="3701415"/>
            <a:ext cx="19202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为不同约束场景提供流程建议</a:t>
            </a:r>
            <a:endParaRPr lang="en-US" sz="1100"/>
          </a:p>
        </p:txBody>
      </p:sp>
      <p:sp>
        <p:nvSpPr>
          <p:cNvPr id="78" name="Freeform 78"/>
          <p:cNvSpPr/>
          <p:nvPr/>
        </p:nvSpPr>
        <p:spPr>
          <a:xfrm>
            <a:off x="1158875" y="4148455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9448800" y="0"/>
                </a:moveTo>
                <a:cubicBezTo>
                  <a:pt x="9490884" y="0"/>
                  <a:pt x="9525000" y="0"/>
                  <a:pt x="9525000" y="0"/>
                </a:cubicBezTo>
                <a:lnTo>
                  <a:pt x="9525000" y="1143000"/>
                </a:lnTo>
                <a:cubicBezTo>
                  <a:pt x="9525000" y="1143000"/>
                  <a:pt x="9490884" y="1143000"/>
                  <a:pt x="9448800" y="1143000"/>
                </a:cubicBezTo>
                <a:lnTo>
                  <a:pt x="76200" y="1143000"/>
                </a:lnTo>
                <a:cubicBezTo>
                  <a:pt x="34116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D1F2EB">
              <a:alpha val="100000"/>
            </a:srgbClr>
          </a:solidFill>
          <a:ln w="12700" cap="flat" cmpd="sng">
            <a:solidFill>
              <a:srgbClr val="52C41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9" name="AutoShape 79"/>
          <p:cNvSpPr/>
          <p:nvPr/>
        </p:nvSpPr>
        <p:spPr>
          <a:xfrm>
            <a:off x="5349875" y="4148455"/>
            <a:ext cx="1387475" cy="299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研究带来的价值</a:t>
            </a:r>
            <a:endParaRPr lang="en-US" sz="1100"/>
          </a:p>
        </p:txBody>
      </p:sp>
      <p:sp>
        <p:nvSpPr>
          <p:cNvPr id="80" name="Freeform 80"/>
          <p:cNvSpPr/>
          <p:nvPr/>
        </p:nvSpPr>
        <p:spPr>
          <a:xfrm>
            <a:off x="153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1" name="AutoShape 81"/>
          <p:cNvSpPr/>
          <p:nvPr/>
        </p:nvSpPr>
        <p:spPr>
          <a:xfrm>
            <a:off x="1837055" y="4561205"/>
            <a:ext cx="92964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1844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GPU 机时与人工工时待测算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1890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193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344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6" name="AutoShape 86"/>
          <p:cNvSpPr/>
          <p:nvPr/>
        </p:nvSpPr>
        <p:spPr>
          <a:xfrm>
            <a:off x="3795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标签质量诊断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3749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验证漏检/误检能否下降、下游 mAP 能否提升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3795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9" name="AutoShape 89"/>
          <p:cNvSpPr/>
          <p:nvPr/>
        </p:nvSpPr>
        <p:spPr>
          <a:xfrm>
            <a:off x="3886835" y="4958715"/>
            <a:ext cx="64008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0" name="Freeform 90"/>
          <p:cNvSpPr/>
          <p:nvPr/>
        </p:nvSpPr>
        <p:spPr>
          <a:xfrm>
            <a:off x="534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1" name="AutoShape 91"/>
          <p:cNvSpPr/>
          <p:nvPr/>
        </p:nvSpPr>
        <p:spPr>
          <a:xfrm>
            <a:off x="5647055" y="4561205"/>
            <a:ext cx="92964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人工负担可控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5746115" y="47301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只做必要抽检与修正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574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4" name="AutoShape 94"/>
          <p:cNvSpPr/>
          <p:nvPr/>
        </p:nvSpPr>
        <p:spPr>
          <a:xfrm>
            <a:off x="5700395" y="49587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5" name="Freeform 95"/>
          <p:cNvSpPr/>
          <p:nvPr/>
        </p:nvSpPr>
        <p:spPr>
          <a:xfrm>
            <a:off x="725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6" name="AutoShape 96"/>
          <p:cNvSpPr/>
          <p:nvPr/>
        </p:nvSpPr>
        <p:spPr>
          <a:xfrm>
            <a:off x="7605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流程可复现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7605395" y="47301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可记录、可追溯、可反查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7651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9" name="Freeform 99"/>
          <p:cNvSpPr/>
          <p:nvPr/>
        </p:nvSpPr>
        <p:spPr>
          <a:xfrm>
            <a:off x="915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0" name="AutoShape 100"/>
          <p:cNvSpPr/>
          <p:nvPr/>
        </p:nvSpPr>
        <p:spPr>
          <a:xfrm>
            <a:off x="9510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非刚性目标流程参考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9556115" y="47301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为同类非刚性目标提供流程参考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955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3" name="AutoShape 103"/>
          <p:cNvSpPr/>
          <p:nvPr/>
        </p:nvSpPr>
        <p:spPr>
          <a:xfrm>
            <a:off x="955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4" name="Freeform 104"/>
          <p:cNvSpPr/>
          <p:nvPr/>
        </p:nvSpPr>
        <p:spPr>
          <a:xfrm>
            <a:off x="2301875" y="5596255"/>
            <a:ext cx="7620000" cy="609600"/>
          </a:xfrm>
          <a:custGeom>
            <a:avLst/>
            <a:gdLst/>
            <a:ahLst/>
            <a:cxnLst/>
            <a:rect l="l" t="t" r="r" b="b"/>
            <a:pathLst>
              <a:path w="7620000" h="609600">
                <a:moveTo>
                  <a:pt x="7543800" y="0"/>
                </a:moveTo>
                <a:cubicBezTo>
                  <a:pt x="7585884" y="0"/>
                  <a:pt x="7620000" y="0"/>
                  <a:pt x="7620000" y="0"/>
                </a:cubicBezTo>
                <a:lnTo>
                  <a:pt x="7620000" y="609600"/>
                </a:lnTo>
                <a:cubicBezTo>
                  <a:pt x="7620000" y="609600"/>
                  <a:pt x="7585884" y="609600"/>
                  <a:pt x="7543800" y="609600"/>
                </a:cubicBezTo>
                <a:lnTo>
                  <a:pt x="76200" y="609600"/>
                </a:lnTo>
                <a:cubicBezTo>
                  <a:pt x="34116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FF3CD">
              <a:alpha val="100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5" name="AutoShape 105"/>
          <p:cNvSpPr/>
          <p:nvPr/>
        </p:nvSpPr>
        <p:spPr>
          <a:xfrm>
            <a:off x="5715635" y="5612130"/>
            <a:ext cx="792480" cy="252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核心创新点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006725" y="5835015"/>
            <a:ext cx="8763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GD定位+SAM3审核+YOLO裁判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4557395" y="5835015"/>
            <a:ext cx="86868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权限隔离与阶段门控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6081395" y="58350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精度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时间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/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人工</a:t>
            </a:r>
            <a:r>
              <a:rPr lang="en-US" sz="900" b="0" i="0" u="none" strike="noStrike" dirty="0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权衡</a:t>
            </a:r>
            <a:endParaRPr lang="en-US" sz="1100" dirty="0"/>
          </a:p>
        </p:txBody>
      </p:sp>
      <p:sp>
        <p:nvSpPr>
          <p:cNvPr id="109" name="AutoShape 109"/>
          <p:cNvSpPr/>
          <p:nvPr/>
        </p:nvSpPr>
        <p:spPr>
          <a:xfrm>
            <a:off x="7651115" y="58350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多规模流程选型</a:t>
            </a:r>
            <a:endParaRPr lang="en-US" sz="1100" dirty="0"/>
          </a:p>
        </p:txBody>
      </p:sp>
      <p:sp>
        <p:nvSpPr>
          <p:cNvPr id="110" name="AutoShape 110"/>
          <p:cNvSpPr/>
          <p:nvPr/>
        </p:nvSpPr>
        <p:spPr>
          <a:xfrm>
            <a:off x="5205095" y="5949315"/>
            <a:ext cx="181419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单次人工标注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可复现的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+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伪标签生产流程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endParaRPr lang="en-US" sz="1100"/>
          </a:p>
        </p:txBody>
      </p:sp>
      <p:sp>
        <p:nvSpPr>
          <p:cNvPr id="111" name="Freeform 111"/>
          <p:cNvSpPr/>
          <p:nvPr/>
        </p:nvSpPr>
        <p:spPr>
          <a:xfrm>
            <a:off x="1158875" y="6358255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3771900" y="0"/>
                </a:moveTo>
                <a:cubicBezTo>
                  <a:pt x="3792943" y="0"/>
                  <a:pt x="3810000" y="0"/>
                  <a:pt x="3810000" y="0"/>
                </a:cubicBezTo>
                <a:lnTo>
                  <a:pt x="3810000" y="457200"/>
                </a:lnTo>
                <a:cubicBezTo>
                  <a:pt x="3810000" y="457200"/>
                  <a:pt x="3792943" y="457200"/>
                  <a:pt x="37719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2" name="AutoShape 112"/>
          <p:cNvSpPr/>
          <p:nvPr/>
        </p:nvSpPr>
        <p:spPr>
          <a:xfrm>
            <a:off x="1143635" y="6351905"/>
            <a:ext cx="609600" cy="2324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流程说明</a:t>
            </a:r>
            <a:endParaRPr lang="en-US" sz="1100"/>
          </a:p>
        </p:txBody>
      </p:sp>
      <p:sp>
        <p:nvSpPr>
          <p:cNvPr id="113" name="Freeform 113"/>
          <p:cNvSpPr/>
          <p:nvPr/>
        </p:nvSpPr>
        <p:spPr>
          <a:xfrm>
            <a:off x="1250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4" name="AutoShape 114"/>
          <p:cNvSpPr/>
          <p:nvPr/>
        </p:nvSpPr>
        <p:spPr>
          <a:xfrm>
            <a:off x="1334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数据与测试治理</a:t>
            </a:r>
            <a:endParaRPr lang="en-US" sz="1100"/>
          </a:p>
        </p:txBody>
      </p:sp>
      <p:sp>
        <p:nvSpPr>
          <p:cNvPr id="115" name="Freeform 115"/>
          <p:cNvSpPr/>
          <p:nvPr/>
        </p:nvSpPr>
        <p:spPr>
          <a:xfrm>
            <a:off x="2012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6" name="AutoShape 116"/>
          <p:cNvSpPr/>
          <p:nvPr/>
        </p:nvSpPr>
        <p:spPr>
          <a:xfrm>
            <a:off x="2096135" y="6520815"/>
            <a:ext cx="62801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AI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V1自动生成</a:t>
            </a:r>
            <a:endParaRPr lang="en-US" sz="1100"/>
          </a:p>
        </p:txBody>
      </p:sp>
      <p:sp>
        <p:nvSpPr>
          <p:cNvPr id="117" name="Freeform 117"/>
          <p:cNvSpPr/>
          <p:nvPr/>
        </p:nvSpPr>
        <p:spPr>
          <a:xfrm>
            <a:off x="2774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8" name="AutoShape 118"/>
          <p:cNvSpPr/>
          <p:nvPr/>
        </p:nvSpPr>
        <p:spPr>
          <a:xfrm>
            <a:off x="2858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SAM3后置</a:t>
            </a:r>
            <a:endParaRPr lang="en-US" sz="1100"/>
          </a:p>
        </p:txBody>
      </p:sp>
      <p:sp>
        <p:nvSpPr>
          <p:cNvPr id="119" name="Freeform 119"/>
          <p:cNvSpPr/>
          <p:nvPr/>
        </p:nvSpPr>
        <p:spPr>
          <a:xfrm>
            <a:off x="36125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0" name="AutoShape 120"/>
          <p:cNvSpPr/>
          <p:nvPr/>
        </p:nvSpPr>
        <p:spPr>
          <a:xfrm>
            <a:off x="3696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稳定性复验</a:t>
            </a:r>
            <a:endParaRPr lang="en-US" sz="1100"/>
          </a:p>
        </p:txBody>
      </p:sp>
      <p:sp>
        <p:nvSpPr>
          <p:cNvPr id="121" name="Freeform 121"/>
          <p:cNvSpPr/>
          <p:nvPr/>
        </p:nvSpPr>
        <p:spPr>
          <a:xfrm>
            <a:off x="4283075" y="6624955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2" name="AutoShape 122"/>
          <p:cNvSpPr/>
          <p:nvPr/>
        </p:nvSpPr>
        <p:spPr>
          <a:xfrm>
            <a:off x="4458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</a:t>
            </a:r>
            <a:endParaRPr lang="en-US" sz="1100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4490" y="119380"/>
            <a:ext cx="518160" cy="5181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85335" y="100167"/>
            <a:ext cx="1783080" cy="3931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数据划分与</a:t>
            </a:r>
            <a:r>
              <a:rPr lang="en-US" sz="18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8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生成流程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4709160" y="412149"/>
            <a:ext cx="2773680" cy="292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从多源火烟图像到可训练的</a:t>
            </a:r>
            <a:r>
              <a:rPr lang="en-US" sz="1200" b="0" i="0" u="none" strike="noStrike" dirty="0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20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>
            <a:off x="1809750" y="952500"/>
            <a:ext cx="8572500" cy="952500"/>
          </a:xfrm>
          <a:custGeom>
            <a:avLst/>
            <a:gdLst/>
            <a:ahLst/>
            <a:cxnLst/>
            <a:rect l="l" t="t" r="r" b="b"/>
            <a:pathLst>
              <a:path w="8572500" h="9525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952500"/>
                </a:lnTo>
                <a:cubicBezTo>
                  <a:pt x="8572500" y="952500"/>
                  <a:pt x="8529855" y="952500"/>
                  <a:pt x="8477250" y="952500"/>
                </a:cubicBezTo>
                <a:lnTo>
                  <a:pt x="95250" y="952500"/>
                </a:lnTo>
                <a:cubicBezTo>
                  <a:pt x="42645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50000">
                <a:srgbClr val="2E8CCA">
                  <a:alpha val="100000"/>
                </a:srgbClr>
              </a:gs>
              <a:gs pos="100000">
                <a:srgbClr val="2980B9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79875" y="963295"/>
            <a:ext cx="4733925" cy="29908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第一步：数据划分与测试隔离（</a:t>
            </a:r>
            <a:r>
              <a:rPr lang="en-US" sz="135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目前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）已完成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095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375535" y="1357338"/>
            <a:ext cx="8686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7435" y="1520370"/>
            <a:ext cx="944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用于 YOLO 训练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7147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090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043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提示词与阈值检索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3340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283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隔离测试集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95020" y="1520370"/>
            <a:ext cx="706708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禁止参与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调参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等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9532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475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428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按来源分组划分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8572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668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元数据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80170" y="1503066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版本固化</a:t>
            </a:r>
            <a:endParaRPr lang="en-US" sz="1100" dirty="0"/>
          </a:p>
        </p:txBody>
      </p:sp>
      <p:sp>
        <p:nvSpPr>
          <p:cNvPr id="21" name="Freeform 21"/>
          <p:cNvSpPr/>
          <p:nvPr/>
        </p:nvSpPr>
        <p:spPr>
          <a:xfrm>
            <a:off x="1809750" y="2286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9B59B6">
                  <a:alpha val="100000"/>
                </a:srgbClr>
              </a:gs>
              <a:gs pos="50000">
                <a:srgbClr val="944EB1">
                  <a:alpha val="100000"/>
                </a:srgbClr>
              </a:gs>
              <a:gs pos="100000">
                <a:srgbClr val="8E44AD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975860" y="2296795"/>
            <a:ext cx="3962400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第二步：提示词与阈值冻结</a:t>
            </a:r>
            <a:endParaRPr lang="en-US" sz="1100" dirty="0"/>
          </a:p>
        </p:txBody>
      </p:sp>
      <p:sp>
        <p:nvSpPr>
          <p:cNvPr id="23" name="Freeform 23"/>
          <p:cNvSpPr/>
          <p:nvPr/>
        </p:nvSpPr>
        <p:spPr>
          <a:xfrm>
            <a:off x="2095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3374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候选提示词评测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3850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在开发集上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385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独立评测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34529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评估指标</a:t>
            </a:r>
            <a:r>
              <a:rPr lang="en-US" sz="750" b="0" i="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P/R/F1/IoU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5242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6618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网格搜索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7661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连续置信区间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8138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阈值扫描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499486" y="3101520"/>
            <a:ext cx="10020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收敛优先级</a:t>
            </a:r>
            <a:r>
              <a:rPr lang="en-US" sz="750" b="0" i="0" u="none" strike="noStrike" dirty="0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mAP→AP75→F1</a:t>
            </a:r>
            <a:endParaRPr lang="en-US" sz="1100" dirty="0"/>
          </a:p>
        </p:txBody>
      </p:sp>
      <p:sp>
        <p:nvSpPr>
          <p:cNvPr id="33" name="Freeform 33"/>
          <p:cNvSpPr/>
          <p:nvPr/>
        </p:nvSpPr>
        <p:spPr>
          <a:xfrm>
            <a:off x="49530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109305" y="268336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 dirty="0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Bootstrap </a:t>
            </a:r>
            <a:r>
              <a:rPr lang="en-US" sz="90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重采样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52425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95% </a:t>
            </a: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置信区间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5290185" y="2977695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稳定性估计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189539" y="3101520"/>
            <a:ext cx="76517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保存形式</a:t>
            </a:r>
            <a:r>
              <a:rPr lang="en-US" sz="750" b="0" i="0" u="none" strike="noStrike" dirty="0" err="1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YAML</a:t>
            </a:r>
            <a:r>
              <a:rPr lang="en-US" sz="750" b="0" i="0" u="none" strike="noStrike" dirty="0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50" b="0" i="0" u="none" strike="noStrike" dirty="0" err="1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配置</a:t>
            </a:r>
            <a:endParaRPr lang="en-US" sz="1100" dirty="0"/>
          </a:p>
        </p:txBody>
      </p:sp>
      <p:sp>
        <p:nvSpPr>
          <p:cNvPr id="38" name="Freeform 38"/>
          <p:cNvSpPr/>
          <p:nvPr/>
        </p:nvSpPr>
        <p:spPr>
          <a:xfrm>
            <a:off x="63817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68083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版本硬冻结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236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598416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 dirty="0" err="1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作为超参数统一管理</a:t>
            </a:r>
            <a:endParaRPr lang="en-US" sz="1100" dirty="0"/>
          </a:p>
        </p:txBody>
      </p:sp>
      <p:sp>
        <p:nvSpPr>
          <p:cNvPr id="42" name="AutoShape 42"/>
          <p:cNvSpPr/>
          <p:nvPr/>
        </p:nvSpPr>
        <p:spPr>
          <a:xfrm>
            <a:off x="6591872" y="3101520"/>
            <a:ext cx="818004" cy="21715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7810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0958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标签诊断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47685" y="2853870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漏检/误检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100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框偏差统计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033808" y="31015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输出</a:t>
            </a:r>
            <a:r>
              <a:rPr lang="en-US" sz="750" b="0" i="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48" name="Freeform 48"/>
          <p:cNvSpPr/>
          <p:nvPr/>
        </p:nvSpPr>
        <p:spPr>
          <a:xfrm>
            <a:off x="9239250" y="2667000"/>
            <a:ext cx="857250" cy="666750"/>
          </a:xfrm>
          <a:custGeom>
            <a:avLst/>
            <a:gdLst/>
            <a:ahLst/>
            <a:cxnLst/>
            <a:rect l="l" t="t" r="r" b="b"/>
            <a:pathLst>
              <a:path w="857250" h="666750">
                <a:moveTo>
                  <a:pt x="809625" y="0"/>
                </a:moveTo>
                <a:cubicBezTo>
                  <a:pt x="835927" y="0"/>
                  <a:pt x="857250" y="0"/>
                  <a:pt x="857250" y="0"/>
                </a:cubicBezTo>
                <a:lnTo>
                  <a:pt x="857250" y="666750"/>
                </a:lnTo>
                <a:cubicBezTo>
                  <a:pt x="857250" y="666750"/>
                  <a:pt x="835927" y="666750"/>
                  <a:pt x="809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290685" y="2738463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下游验证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404985" y="29115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统一 YOLO 训练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9404985" y="30258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9404985" y="31401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价值</a:t>
            </a:r>
            <a:endParaRPr lang="en-US" sz="1100"/>
          </a:p>
        </p:txBody>
      </p:sp>
      <p:sp>
        <p:nvSpPr>
          <p:cNvPr id="53" name="Freeform 53"/>
          <p:cNvSpPr/>
          <p:nvPr/>
        </p:nvSpPr>
        <p:spPr>
          <a:xfrm>
            <a:off x="1809750" y="3810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2ECC71">
                  <a:alpha val="100000"/>
                </a:srgbClr>
              </a:gs>
              <a:gs pos="50000">
                <a:srgbClr val="2ABD68">
                  <a:alpha val="100000"/>
                </a:srgbClr>
              </a:gs>
              <a:gs pos="100000">
                <a:srgbClr val="27AE60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4890135" y="3820795"/>
            <a:ext cx="3543935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第三步：V1 </a:t>
            </a:r>
            <a:r>
              <a:rPr lang="en-US" sz="135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批量生成与诊断</a:t>
            </a:r>
            <a:endParaRPr lang="en-US" sz="1100" dirty="0"/>
          </a:p>
        </p:txBody>
      </p:sp>
      <p:sp>
        <p:nvSpPr>
          <p:cNvPr id="55" name="Freeform 55"/>
          <p:cNvSpPr/>
          <p:nvPr/>
        </p:nvSpPr>
        <p:spPr>
          <a:xfrm>
            <a:off x="2286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2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2502731" y="433940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批量推理产出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V1</a:t>
            </a:r>
            <a:endParaRPr lang="en-US" sz="1100" dirty="0"/>
          </a:p>
        </p:txBody>
      </p:sp>
      <p:sp>
        <p:nvSpPr>
          <p:cNvPr id="57" name="Freeform 57"/>
          <p:cNvSpPr/>
          <p:nvPr/>
        </p:nvSpPr>
        <p:spPr>
          <a:xfrm>
            <a:off x="43815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4648536" y="4331990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验证集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下游基线</a:t>
            </a:r>
            <a:endParaRPr lang="en-US" sz="1100" dirty="0"/>
          </a:p>
        </p:txBody>
      </p:sp>
      <p:sp>
        <p:nvSpPr>
          <p:cNvPr id="59" name="Freeform 59"/>
          <p:cNvSpPr/>
          <p:nvPr/>
        </p:nvSpPr>
        <p:spPr>
          <a:xfrm>
            <a:off x="6477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6652683" y="4304562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测试集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1" i="0" u="none" strike="noStrike" dirty="0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1" i="0" u="none" strike="noStrike" dirty="0" err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下游基线</a:t>
            </a:r>
            <a:endParaRPr lang="en-US" sz="1100" dirty="0"/>
          </a:p>
        </p:txBody>
      </p:sp>
      <p:sp>
        <p:nvSpPr>
          <p:cNvPr id="61" name="Freeform 61"/>
          <p:cNvSpPr/>
          <p:nvPr/>
        </p:nvSpPr>
        <p:spPr>
          <a:xfrm>
            <a:off x="8572500" y="4286250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476375" y="0"/>
                </a:moveTo>
                <a:cubicBezTo>
                  <a:pt x="1502678" y="0"/>
                  <a:pt x="1524000" y="0"/>
                  <a:pt x="1524000" y="0"/>
                </a:cubicBezTo>
                <a:lnTo>
                  <a:pt x="1524000" y="571500"/>
                </a:lnTo>
                <a:cubicBezTo>
                  <a:pt x="1524000" y="571500"/>
                  <a:pt x="1502678" y="571500"/>
                  <a:pt x="1476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8814435" y="4279853"/>
            <a:ext cx="1040130" cy="2800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25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标签层诊断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8938683" y="44731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8938683" y="45874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相对人工 GT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8938683" y="47017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可复现性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版本可反查</a:t>
            </a:r>
            <a:endParaRPr lang="en-US" sz="1100"/>
          </a:p>
        </p:txBody>
      </p:sp>
      <p:sp>
        <p:nvSpPr>
          <p:cNvPr id="66" name="Freeform 66"/>
          <p:cNvSpPr/>
          <p:nvPr/>
        </p:nvSpPr>
        <p:spPr>
          <a:xfrm>
            <a:off x="1809750" y="5334000"/>
            <a:ext cx="8572500" cy="762000"/>
          </a:xfrm>
          <a:custGeom>
            <a:avLst/>
            <a:gdLst/>
            <a:ahLst/>
            <a:cxnLst/>
            <a:rect l="l" t="t" r="r" b="b"/>
            <a:pathLst>
              <a:path w="8572500" h="762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762000"/>
                </a:lnTo>
                <a:cubicBezTo>
                  <a:pt x="8572500" y="762000"/>
                  <a:pt x="8529855" y="762000"/>
                  <a:pt x="8477250" y="762000"/>
                </a:cubicBezTo>
                <a:lnTo>
                  <a:pt x="95250" y="762000"/>
                </a:lnTo>
                <a:cubicBezTo>
                  <a:pt x="42645" y="762000"/>
                  <a:pt x="0" y="762000"/>
                  <a:pt x="0" y="762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4718685" y="5344992"/>
            <a:ext cx="2754630" cy="3177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最终输出：V1 基准伪标签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4520565" y="5585643"/>
            <a:ext cx="3934846" cy="267438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总计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约</a:t>
            </a:r>
            <a:r>
              <a:rPr lang="en-US" sz="105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3000</a:t>
            </a:r>
            <a:r>
              <a:rPr lang="en-US" sz="105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张图像</a:t>
            </a:r>
            <a:r>
              <a:rPr lang="en-US" sz="105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可直接用于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</a:t>
            </a:r>
            <a:endParaRPr lang="en-US" sz="1100" dirty="0"/>
          </a:p>
        </p:txBody>
      </p:sp>
      <p:sp>
        <p:nvSpPr>
          <p:cNvPr id="69" name="AutoShape 69"/>
          <p:cNvSpPr/>
          <p:nvPr/>
        </p:nvSpPr>
        <p:spPr>
          <a:xfrm>
            <a:off x="4718685" y="5761425"/>
            <a:ext cx="3476595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数据格式：标签版本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+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配置指纹</a:t>
            </a:r>
            <a:r>
              <a:rPr lang="en-US" sz="9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+ </a:t>
            </a:r>
            <a:r>
              <a:rPr lang="en-US" sz="9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训练记录</a:t>
            </a:r>
            <a:endParaRPr lang="en-US" sz="1100" dirty="0"/>
          </a:p>
        </p:txBody>
      </p:sp>
      <p:sp>
        <p:nvSpPr>
          <p:cNvPr id="70" name="Freeform 70"/>
          <p:cNvSpPr/>
          <p:nvPr/>
        </p:nvSpPr>
        <p:spPr>
          <a:xfrm>
            <a:off x="6096000" y="1905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Freeform 71"/>
          <p:cNvSpPr/>
          <p:nvPr/>
        </p:nvSpPr>
        <p:spPr>
          <a:xfrm>
            <a:off x="6096000" y="3429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Freeform 72"/>
          <p:cNvSpPr/>
          <p:nvPr/>
        </p:nvSpPr>
        <p:spPr>
          <a:xfrm>
            <a:off x="6096000" y="4953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Freeform 73"/>
          <p:cNvSpPr/>
          <p:nvPr/>
        </p:nvSpPr>
        <p:spPr>
          <a:xfrm>
            <a:off x="1809750" y="6286500"/>
            <a:ext cx="8572500" cy="381000"/>
          </a:xfrm>
          <a:custGeom>
            <a:avLst/>
            <a:gdLst/>
            <a:ahLst/>
            <a:cxnLst/>
            <a:rect l="l" t="t" r="r" b="b"/>
            <a:pathLst>
              <a:path w="8572500" h="381000">
                <a:moveTo>
                  <a:pt x="8524875" y="0"/>
                </a:moveTo>
                <a:cubicBezTo>
                  <a:pt x="8551177" y="0"/>
                  <a:pt x="8572500" y="0"/>
                  <a:pt x="8572500" y="0"/>
                </a:cubicBezTo>
                <a:lnTo>
                  <a:pt x="8572500" y="381000"/>
                </a:lnTo>
                <a:cubicBezTo>
                  <a:pt x="8572500" y="381000"/>
                  <a:pt x="8551177" y="381000"/>
                  <a:pt x="8524875" y="381000"/>
                </a:cubicBezTo>
                <a:lnTo>
                  <a:pt x="47625" y="381000"/>
                </a:lnTo>
                <a:cubicBezTo>
                  <a:pt x="21322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BDC3C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876001" y="6307938"/>
            <a:ext cx="455803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900" b="0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关键优势：训练/开发/隔离测试物理隔离，参数配置与评估基准可复现，避免数据泄漏</a:t>
            </a:r>
            <a:endParaRPr lang="en-US" sz="1100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4165" y="186690"/>
            <a:ext cx="526415" cy="52641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70300" y="3271520"/>
            <a:ext cx="555625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4.研究创新点与预期贡献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18691" y="4924758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18691" y="2980914"/>
            <a:ext cx="7724775" cy="184579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18966" y="1175051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161144" y="5581542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just">
              <a:defRPr/>
            </a:pP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面向火烟边界弥散、非刚性等视觉特征，构建“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Grounding DINO 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定位 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+ SAM3 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审核 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+ YOLO 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裁判”的三级级联架构；通过按角色分离权限，严格限制后置节点改框权力，避免多模型级联的负向修改与几何退化；引入阶段门控实现数据制备流程标准化，提升工业级复现性。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150566" y="5087473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1800" b="1" i="0" u="none" strike="noStrike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弱监督</a:t>
            </a: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异构大模型级联</a:t>
            </a:r>
            <a:r>
              <a:rPr lang="zh-CN" altLang="en-US" sz="1800" b="1" i="0" u="none" strike="noStrike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伪标签生成</a:t>
            </a: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管线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161144" y="3674244"/>
            <a:ext cx="6412026" cy="99062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defRPr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MiSans"/>
              </a:rPr>
              <a:t>将经验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文本提示转为可冻结的工程参数，按“独立评测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主排序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稳定区间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—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硬冻结”四步法确定提示词与阈值；引入中心点偏移与边界容差 </a:t>
            </a:r>
            <a:r>
              <a:rPr lang="en-US" altLang="zh-CN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IoU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审计标注风格差异，通过模型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-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测试集冲突仲裁及 </a:t>
            </a:r>
            <a:r>
              <a:rPr lang="en-US" altLang="zh-CN" dirty="0" err="1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IoF</a:t>
            </a:r>
            <a:r>
              <a:rPr lang="en-US" altLang="zh-CN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 </a:t>
            </a:r>
            <a:r>
              <a:rPr lang="zh-CN" altLang="en-US" dirty="0">
                <a:solidFill>
                  <a:srgbClr val="26262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包含率过滤阻断定位噪声；针对火焰类别设计保守验证策略，保障召回并压制误检。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150566" y="316405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低预算提示冻结与噪声审计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03598" y="1707496"/>
            <a:ext cx="6412026" cy="984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 defTabSz="914400">
              <a:lnSpc>
                <a:spcPct val="150000"/>
              </a:lnSpc>
              <a:defRPr/>
            </a:pP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149296" y="129969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defRPr/>
            </a:pPr>
            <a:r>
              <a:rPr lang="zh-CN" altLang="en-US" sz="1800" b="1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标注成本独立核算与跨尺度情景 </a:t>
            </a:r>
            <a:r>
              <a:rPr lang="en-US" altLang="zh-CN" sz="1800" b="1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Pareto </a:t>
            </a:r>
            <a:r>
              <a:rPr lang="zh-CN" altLang="en-US" sz="1800" b="1" dirty="0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MiSans"/>
                <a:sym typeface="MiSans"/>
              </a:rPr>
              <a:t>选型矩阵</a:t>
            </a:r>
            <a:endParaRPr 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36695" y="394335"/>
            <a:ext cx="6780530" cy="6229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拟形成的特色与贡献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24655" y="146558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24655" y="323977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24655" y="517906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999470" y="509270"/>
            <a:ext cx="762000" cy="298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Freeform 16"/>
          <p:cNvSpPr/>
          <p:nvPr/>
        </p:nvSpPr>
        <p:spPr>
          <a:xfrm>
            <a:off x="2227430" y="1721150"/>
            <a:ext cx="1202963" cy="642184"/>
          </a:xfrm>
          <a:custGeom>
            <a:avLst/>
            <a:gdLst/>
            <a:ahLst/>
            <a:cxnLst/>
            <a:rect l="l" t="t" r="r" b="b"/>
            <a:pathLst>
              <a:path w="1202963" h="642184">
                <a:moveTo>
                  <a:pt x="274204" y="0"/>
                </a:moveTo>
                <a:lnTo>
                  <a:pt x="1202963" y="378176"/>
                </a:lnTo>
                <a:lnTo>
                  <a:pt x="787234" y="642184"/>
                </a:lnTo>
                <a:lnTo>
                  <a:pt x="0" y="249739"/>
                </a:lnTo>
                <a:lnTo>
                  <a:pt x="274204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88278" y="2650790"/>
            <a:ext cx="3016554" cy="686405"/>
          </a:xfrm>
          <a:custGeom>
            <a:avLst/>
            <a:gdLst/>
            <a:ahLst/>
            <a:cxnLst/>
            <a:rect l="l" t="t" r="r" b="b"/>
            <a:pathLst>
              <a:path w="3016554" h="686405">
                <a:moveTo>
                  <a:pt x="725999" y="0"/>
                </a:moveTo>
                <a:lnTo>
                  <a:pt x="3016554" y="254950"/>
                </a:lnTo>
                <a:lnTo>
                  <a:pt x="2341206" y="627570"/>
                </a:lnTo>
                <a:lnTo>
                  <a:pt x="0" y="686405"/>
                </a:lnTo>
                <a:lnTo>
                  <a:pt x="725999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11806" y="2070304"/>
            <a:ext cx="2787397" cy="1775040"/>
          </a:xfrm>
          <a:custGeom>
            <a:avLst/>
            <a:gdLst/>
            <a:ahLst/>
            <a:cxnLst/>
            <a:rect l="l" t="t" r="r" b="b"/>
            <a:pathLst>
              <a:path w="2787397" h="1775040">
                <a:moveTo>
                  <a:pt x="2409349" y="0"/>
                </a:moveTo>
                <a:lnTo>
                  <a:pt x="2787397" y="697508"/>
                </a:lnTo>
                <a:lnTo>
                  <a:pt x="338550" y="1775040"/>
                </a:lnTo>
                <a:lnTo>
                  <a:pt x="0" y="1726935"/>
                </a:lnTo>
                <a:lnTo>
                  <a:pt x="2409349" y="0"/>
                </a:lnTo>
                <a:close/>
              </a:path>
            </a:pathLst>
          </a:custGeom>
          <a:solidFill>
            <a:srgbClr val="00AC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3394" y="3787774"/>
            <a:ext cx="2245531" cy="623661"/>
          </a:xfrm>
          <a:custGeom>
            <a:avLst/>
            <a:gdLst/>
            <a:ahLst/>
            <a:cxnLst/>
            <a:rect l="l" t="t" r="r" b="b"/>
            <a:pathLst>
              <a:path w="2245531" h="623661">
                <a:moveTo>
                  <a:pt x="0" y="0"/>
                </a:moveTo>
                <a:lnTo>
                  <a:pt x="95674" y="167909"/>
                </a:lnTo>
                <a:lnTo>
                  <a:pt x="1682741" y="623661"/>
                </a:lnTo>
                <a:lnTo>
                  <a:pt x="2245531" y="393386"/>
                </a:lnTo>
                <a:lnTo>
                  <a:pt x="0" y="0"/>
                </a:lnTo>
                <a:close/>
              </a:path>
            </a:pathLst>
          </a:custGeom>
          <a:solidFill>
            <a:srgbClr val="068F8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339812" y="2900255"/>
            <a:ext cx="2459391" cy="1444018"/>
          </a:xfrm>
          <a:custGeom>
            <a:avLst/>
            <a:gdLst/>
            <a:ahLst/>
            <a:cxnLst/>
            <a:rect l="l" t="t" r="r" b="b"/>
            <a:pathLst>
              <a:path w="2459391" h="1444018">
                <a:moveTo>
                  <a:pt x="2459391" y="0"/>
                </a:moveTo>
                <a:lnTo>
                  <a:pt x="2431316" y="350210"/>
                </a:lnTo>
                <a:lnTo>
                  <a:pt x="230217" y="1444018"/>
                </a:lnTo>
                <a:lnTo>
                  <a:pt x="0" y="1372057"/>
                </a:lnTo>
                <a:lnTo>
                  <a:pt x="2459391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339812" y="4257920"/>
            <a:ext cx="1682742" cy="570890"/>
          </a:xfrm>
          <a:custGeom>
            <a:avLst/>
            <a:gdLst/>
            <a:ahLst/>
            <a:cxnLst/>
            <a:rect l="l" t="t" r="r" b="b"/>
            <a:pathLst>
              <a:path w="1682742" h="570890">
                <a:moveTo>
                  <a:pt x="0" y="0"/>
                </a:moveTo>
                <a:lnTo>
                  <a:pt x="50651" y="172251"/>
                </a:lnTo>
                <a:lnTo>
                  <a:pt x="1277534" y="570890"/>
                </a:lnTo>
                <a:lnTo>
                  <a:pt x="1682742" y="565969"/>
                </a:lnTo>
                <a:lnTo>
                  <a:pt x="0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64928" y="4185959"/>
            <a:ext cx="1682742" cy="652447"/>
          </a:xfrm>
          <a:custGeom>
            <a:avLst/>
            <a:gdLst/>
            <a:ahLst/>
            <a:cxnLst/>
            <a:rect l="l" t="t" r="r" b="b"/>
            <a:pathLst>
              <a:path w="1682742" h="652447">
                <a:moveTo>
                  <a:pt x="1682742" y="0"/>
                </a:moveTo>
                <a:lnTo>
                  <a:pt x="1571302" y="350210"/>
                </a:lnTo>
                <a:lnTo>
                  <a:pt x="462476" y="647649"/>
                </a:lnTo>
                <a:lnTo>
                  <a:pt x="0" y="652447"/>
                </a:lnTo>
                <a:lnTo>
                  <a:pt x="1682742" y="0"/>
                </a:lnTo>
                <a:close/>
              </a:path>
            </a:pathLst>
          </a:custGeom>
          <a:solidFill>
            <a:srgbClr val="34CF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559300" y="4824013"/>
            <a:ext cx="1468881" cy="100745"/>
          </a:xfrm>
          <a:custGeom>
            <a:avLst/>
            <a:gdLst/>
            <a:ahLst/>
            <a:cxnLst/>
            <a:rect l="l" t="t" r="r" b="b"/>
            <a:pathLst>
              <a:path w="1468881" h="100745">
                <a:moveTo>
                  <a:pt x="95674" y="100745"/>
                </a:moveTo>
                <a:lnTo>
                  <a:pt x="1373207" y="100745"/>
                </a:lnTo>
                <a:lnTo>
                  <a:pt x="1468881" y="0"/>
                </a:lnTo>
                <a:lnTo>
                  <a:pt x="0" y="9595"/>
                </a:lnTo>
                <a:lnTo>
                  <a:pt x="95674" y="100745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652160" y="5034711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652160" y="5189638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652160" y="5344566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652160" y="5499493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652160" y="5631955"/>
            <a:ext cx="1283161" cy="297504"/>
          </a:xfrm>
          <a:custGeom>
            <a:avLst/>
            <a:gdLst/>
            <a:ahLst/>
            <a:cxnLst/>
            <a:rect l="l" t="t" r="r" b="b"/>
            <a:pathLst>
              <a:path w="1283161" h="297504">
                <a:moveTo>
                  <a:pt x="240943" y="196093"/>
                </a:moveTo>
                <a:lnTo>
                  <a:pt x="1033774" y="196093"/>
                </a:lnTo>
                <a:lnTo>
                  <a:pt x="1033774" y="270402"/>
                </a:lnTo>
                <a:cubicBezTo>
                  <a:pt x="1033774" y="285370"/>
                  <a:pt x="1019538" y="297504"/>
                  <a:pt x="1001979" y="297504"/>
                </a:cubicBezTo>
                <a:lnTo>
                  <a:pt x="272736" y="297504"/>
                </a:lnTo>
                <a:cubicBezTo>
                  <a:pt x="255177" y="297504"/>
                  <a:pt x="240943" y="285370"/>
                  <a:pt x="240943" y="270402"/>
                </a:cubicBezTo>
                <a:close/>
                <a:moveTo>
                  <a:pt x="32620" y="61587"/>
                </a:moveTo>
                <a:lnTo>
                  <a:pt x="1250541" y="61587"/>
                </a:lnTo>
                <a:lnTo>
                  <a:pt x="1108053" y="196093"/>
                </a:lnTo>
                <a:lnTo>
                  <a:pt x="1033774" y="196093"/>
                </a:lnTo>
                <a:lnTo>
                  <a:pt x="1033774" y="161994"/>
                </a:lnTo>
                <a:cubicBezTo>
                  <a:pt x="1033774" y="147025"/>
                  <a:pt x="1019538" y="134892"/>
                  <a:pt x="1001979" y="134892"/>
                </a:cubicBezTo>
                <a:lnTo>
                  <a:pt x="272736" y="134892"/>
                </a:lnTo>
                <a:cubicBezTo>
                  <a:pt x="255177" y="134892"/>
                  <a:pt x="240943" y="147025"/>
                  <a:pt x="240943" y="161994"/>
                </a:cubicBezTo>
                <a:lnTo>
                  <a:pt x="240943" y="196093"/>
                </a:lnTo>
                <a:lnTo>
                  <a:pt x="175108" y="196093"/>
                </a:lnTo>
                <a:close/>
                <a:moveTo>
                  <a:pt x="1283161" y="30794"/>
                </a:moveTo>
                <a:lnTo>
                  <a:pt x="1283161" y="51322"/>
                </a:lnTo>
                <a:cubicBezTo>
                  <a:pt x="1283161" y="56991"/>
                  <a:pt x="1277770" y="61587"/>
                  <a:pt x="1271119" y="61587"/>
                </a:cubicBezTo>
                <a:lnTo>
                  <a:pt x="1250541" y="61587"/>
                </a:lnTo>
                <a:close/>
                <a:moveTo>
                  <a:pt x="0" y="30794"/>
                </a:moveTo>
                <a:lnTo>
                  <a:pt x="32620" y="61587"/>
                </a:lnTo>
                <a:lnTo>
                  <a:pt x="12042" y="61587"/>
                </a:lnTo>
                <a:cubicBezTo>
                  <a:pt x="5391" y="61587"/>
                  <a:pt x="0" y="56991"/>
                  <a:pt x="0" y="51322"/>
                </a:cubicBezTo>
                <a:close/>
                <a:moveTo>
                  <a:pt x="12042" y="0"/>
                </a:moveTo>
                <a:lnTo>
                  <a:pt x="1271119" y="0"/>
                </a:lnTo>
                <a:cubicBezTo>
                  <a:pt x="1277770" y="0"/>
                  <a:pt x="1283161" y="4596"/>
                  <a:pt x="1283161" y="10265"/>
                </a:cubicBezTo>
                <a:lnTo>
                  <a:pt x="1283161" y="30794"/>
                </a:lnTo>
                <a:lnTo>
                  <a:pt x="0" y="30794"/>
                </a:lnTo>
                <a:lnTo>
                  <a:pt x="0" y="10265"/>
                </a:lnTo>
                <a:cubicBezTo>
                  <a:pt x="0" y="4596"/>
                  <a:pt x="5391" y="0"/>
                  <a:pt x="12042" y="0"/>
                </a:cubicBez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 rot="-2586808">
            <a:off x="255773" y="2029257"/>
            <a:ext cx="2350930" cy="587020"/>
          </a:xfrm>
          <a:prstGeom prst="trapezoid">
            <a:avLst>
              <a:gd name="adj" fmla="val 95892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463804" y="1715685"/>
            <a:ext cx="958149" cy="399383"/>
          </a:xfrm>
          <a:custGeom>
            <a:avLst/>
            <a:gdLst/>
            <a:ahLst/>
            <a:cxnLst/>
            <a:rect l="l" t="t" r="r" b="b"/>
            <a:pathLst>
              <a:path w="958149" h="399383">
                <a:moveTo>
                  <a:pt x="958149" y="356206"/>
                </a:moveTo>
                <a:lnTo>
                  <a:pt x="97081" y="0"/>
                </a:lnTo>
                <a:lnTo>
                  <a:pt x="0" y="82754"/>
                </a:lnTo>
                <a:lnTo>
                  <a:pt x="856847" y="384990"/>
                </a:lnTo>
                <a:lnTo>
                  <a:pt x="894836" y="399383"/>
                </a:lnTo>
                <a:lnTo>
                  <a:pt x="958149" y="356206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775434" y="2831081"/>
            <a:ext cx="447418" cy="510924"/>
          </a:xfrm>
          <a:custGeom>
            <a:avLst/>
            <a:gdLst/>
            <a:ahLst/>
            <a:cxnLst/>
            <a:rect l="l" t="t" r="r" b="b"/>
            <a:pathLst>
              <a:path w="447418" h="510924">
                <a:moveTo>
                  <a:pt x="388325" y="0"/>
                </a:moveTo>
                <a:lnTo>
                  <a:pt x="0" y="449755"/>
                </a:lnTo>
                <a:lnTo>
                  <a:pt x="4220" y="510924"/>
                </a:lnTo>
                <a:lnTo>
                  <a:pt x="447418" y="97147"/>
                </a:lnTo>
                <a:lnTo>
                  <a:pt x="388325" y="0"/>
                </a:lnTo>
                <a:close/>
              </a:path>
            </a:pathLst>
          </a:cu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7305" y="180975"/>
            <a:ext cx="3730625" cy="642620"/>
          </a:xfrm>
          <a:custGeom>
            <a:avLst/>
            <a:gdLst/>
            <a:ahLst/>
            <a:cxnLst/>
            <a:rect l="l" t="t" r="r" b="b"/>
            <a:pathLst>
              <a:path w="3730625" h="642620">
                <a:moveTo>
                  <a:pt x="401749" y="0"/>
                </a:moveTo>
                <a:lnTo>
                  <a:pt x="401756" y="0"/>
                </a:lnTo>
                <a:lnTo>
                  <a:pt x="3311834" y="0"/>
                </a:lnTo>
                <a:lnTo>
                  <a:pt x="3311834" y="1374"/>
                </a:lnTo>
                <a:lnTo>
                  <a:pt x="3328876" y="0"/>
                </a:lnTo>
                <a:cubicBezTo>
                  <a:pt x="3550756" y="0"/>
                  <a:pt x="3730625" y="143855"/>
                  <a:pt x="3730625" y="321310"/>
                </a:cubicBezTo>
                <a:cubicBezTo>
                  <a:pt x="3730625" y="498765"/>
                  <a:pt x="3550756" y="642620"/>
                  <a:pt x="3328876" y="642620"/>
                </a:cubicBezTo>
                <a:lnTo>
                  <a:pt x="3311834" y="641246"/>
                </a:lnTo>
                <a:lnTo>
                  <a:pt x="3311834" y="642620"/>
                </a:lnTo>
                <a:lnTo>
                  <a:pt x="401749" y="642620"/>
                </a:lnTo>
                <a:cubicBezTo>
                  <a:pt x="179869" y="642620"/>
                  <a:pt x="0" y="498765"/>
                  <a:pt x="0" y="321310"/>
                </a:cubicBezTo>
                <a:cubicBezTo>
                  <a:pt x="0" y="143855"/>
                  <a:pt x="179869" y="0"/>
                  <a:pt x="401749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89865" y="179705"/>
            <a:ext cx="69913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889000" y="265430"/>
            <a:ext cx="278701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4. 研究创新点</a:t>
            </a:r>
            <a:endParaRPr lang="en-US" sz="110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275B96D-DAC6-4E79-A24F-E23B692EE35F}"/>
              </a:ext>
            </a:extLst>
          </p:cNvPr>
          <p:cNvSpPr txBox="1"/>
          <p:nvPr/>
        </p:nvSpPr>
        <p:spPr>
          <a:xfrm>
            <a:off x="5103598" y="1787309"/>
            <a:ext cx="6366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独立核算各方案的人工工时与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GPU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机时，在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100k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规模下量化对比成本与交付周期的演变规律；综合下游检测效用与质量资源约束，引入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Pareto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非支配比较给出跨尺度场景的流程选型矩阵。</a:t>
            </a:r>
            <a:endParaRPr kumimoji="1" lang="ja-JP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系统总体架构</a:t>
            </a:r>
            <a:endParaRPr lang="en-US" sz="110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" y="3048000"/>
            <a:ext cx="2032000" cy="1016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输入火烟图像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3">
            <a:off x="27305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302000" y="3048000"/>
            <a:ext cx="2349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 dirty="0"/>
          </a:p>
          <a:p>
            <a:pPr marL="0" indent="0" algn="ctr" defTabSz="914400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</a:t>
            </a:r>
            <a:r>
              <a:rPr lang="en-US" sz="13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V1 </a:t>
            </a:r>
            <a:r>
              <a:rPr lang="en-US" sz="13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sz="1300" b="0" i="0" u="none" strike="noStrike" dirty="0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8" name="Connector 8"/>
          <p:cNvCxnSpPr/>
          <p:nvPr/>
        </p:nvCxnSpPr>
        <p:spPr>
          <a:xfrm rot="-85923">
            <a:off x="5715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86500" y="2984500"/>
            <a:ext cx="2667000" cy="1143000"/>
          </a:xfrm>
          <a:prstGeom prst="roundRect">
            <a:avLst>
              <a:gd name="adj" fmla="val 2222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</a:t>
            </a:r>
            <a:r>
              <a:rPr lang="en-US" sz="15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后置处理</a:t>
            </a:r>
            <a:endParaRPr lang="en-US" sz="1100" dirty="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审核</a:t>
            </a: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/ Append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补漏</a:t>
            </a:r>
            <a:endParaRPr lang="en-US" sz="1200" b="0" i="0" u="none" strike="noStrike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 </a:t>
            </a:r>
            <a:r>
              <a:rPr lang="en-US" sz="12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调框（权限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隔离</a:t>
            </a:r>
            <a:r>
              <a:rPr lang="en-US" sz="12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cxnSp>
        <p:nvCxnSpPr>
          <p:cNvPr id="10" name="Connector 10"/>
          <p:cNvCxnSpPr/>
          <p:nvPr/>
        </p:nvCxnSpPr>
        <p:spPr>
          <a:xfrm rot="-85923">
            <a:off x="9017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88500" y="3048000"/>
            <a:ext cx="2095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YOLO 训练验证</a:t>
            </a:r>
            <a:endParaRPr lang="en-US" sz="110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下游效用裁判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81050" y="5463616"/>
            <a:ext cx="10414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权限隔离：后置节点不默认覆盖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V1；Stage-Gate 按 Go / Hold / Stop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决定各分支去留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34C1F2EC-1C48-465C-AF79-C20568439708}"/>
              </a:ext>
            </a:extLst>
          </p:cNvPr>
          <p:cNvSpPr/>
          <p:nvPr/>
        </p:nvSpPr>
        <p:spPr>
          <a:xfrm>
            <a:off x="3365499" y="171039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低预算语义提示基准确立算法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EC1261BB-81E6-467A-B381-BF57ECB1DCDA}"/>
              </a:ext>
            </a:extLst>
          </p:cNvPr>
          <p:cNvCxnSpPr>
            <a:stCxn id="13" idx="2"/>
            <a:endCxn id="7" idx="0"/>
          </p:cNvCxnSpPr>
          <p:nvPr/>
        </p:nvCxnSpPr>
        <p:spPr>
          <a:xfrm rot="16200000" flipH="1">
            <a:off x="3969497" y="2540746"/>
            <a:ext cx="645459" cy="369047"/>
          </a:xfrm>
          <a:prstGeom prst="curvedConnector3">
            <a:avLst/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7">
            <a:extLst>
              <a:ext uri="{FF2B5EF4-FFF2-40B4-BE49-F238E27FC236}">
                <a16:creationId xmlns:a16="http://schemas.microsoft.com/office/drawing/2014/main" id="{050AE8C8-779D-4649-8EE8-288E189B3D8F}"/>
              </a:ext>
            </a:extLst>
          </p:cNvPr>
          <p:cNvSpPr/>
          <p:nvPr/>
        </p:nvSpPr>
        <p:spPr>
          <a:xfrm>
            <a:off x="9588500" y="171039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边界风格敏感性审计与冲突仲裁算法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BA448727-E1DF-4045-9629-A7CE2A5D71F0}"/>
              </a:ext>
            </a:extLst>
          </p:cNvPr>
          <p:cNvCxnSpPr>
            <a:cxnSpLocks/>
            <a:stCxn id="21" idx="0"/>
            <a:endCxn id="9" idx="2"/>
          </p:cNvCxnSpPr>
          <p:nvPr/>
        </p:nvCxnSpPr>
        <p:spPr>
          <a:xfrm rot="16200000" flipV="1">
            <a:off x="7505513" y="4241988"/>
            <a:ext cx="321985" cy="93010"/>
          </a:xfrm>
          <a:prstGeom prst="curvedConnector3">
            <a:avLst>
              <a:gd name="adj1" fmla="val 50000"/>
            </a:avLst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">
            <a:extLst>
              <a:ext uri="{FF2B5EF4-FFF2-40B4-BE49-F238E27FC236}">
                <a16:creationId xmlns:a16="http://schemas.microsoft.com/office/drawing/2014/main" id="{E68834AE-94D8-4A45-A1F4-058224F11B72}"/>
              </a:ext>
            </a:extLst>
          </p:cNvPr>
          <p:cNvSpPr/>
          <p:nvPr/>
        </p:nvSpPr>
        <p:spPr>
          <a:xfrm>
            <a:off x="6970806" y="4449485"/>
            <a:ext cx="1484407" cy="692146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针对火的</a:t>
            </a:r>
            <a:r>
              <a:rPr lang="en-US" altLang="zh-CN" sz="1100" b="1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IoF</a:t>
            </a:r>
            <a:r>
              <a:rPr lang="en-US" altLang="zh-CN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包含率过滤与保守验证策略算法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22" name="コネクタ: 曲線 21">
            <a:extLst>
              <a:ext uri="{FF2B5EF4-FFF2-40B4-BE49-F238E27FC236}">
                <a16:creationId xmlns:a16="http://schemas.microsoft.com/office/drawing/2014/main" id="{980A9EBC-C9BF-435A-9451-9B3D454D955F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>
          <a:xfrm rot="16200000" flipH="1">
            <a:off x="10160748" y="2572497"/>
            <a:ext cx="645459" cy="305546"/>
          </a:xfrm>
          <a:prstGeom prst="curvedConnector3">
            <a:avLst/>
          </a:prstGeom>
          <a:ln>
            <a:solidFill>
              <a:srgbClr val="0A37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3C0E232-3C3F-4BAF-9BCC-ECC0BB94B263}"/>
              </a:ext>
            </a:extLst>
          </p:cNvPr>
          <p:cNvSpPr/>
          <p:nvPr/>
        </p:nvSpPr>
        <p:spPr>
          <a:xfrm>
            <a:off x="6446518" y="862965"/>
            <a:ext cx="4373884" cy="5918835"/>
          </a:xfrm>
          <a:prstGeom prst="roundRect">
            <a:avLst/>
          </a:prstGeom>
          <a:solidFill>
            <a:srgbClr val="D6DCE5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</a:t>
            </a:r>
            <a:endParaRPr lang="en-US" sz="1100" dirty="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41E2B9A-D3DC-4260-A9BB-CB902E667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28" y="1206575"/>
            <a:ext cx="5485354" cy="5651425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6BC5392E-3024-4832-A7B2-ED140CD68A7E}"/>
              </a:ext>
            </a:extLst>
          </p:cNvPr>
          <p:cNvSpPr/>
          <p:nvPr/>
        </p:nvSpPr>
        <p:spPr>
          <a:xfrm>
            <a:off x="640228" y="862965"/>
            <a:ext cx="5455772" cy="343610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低预算语义提示基准确立算法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16E56C-8D49-4DF7-B725-90C8FDB9CF1E}"/>
              </a:ext>
            </a:extLst>
          </p:cNvPr>
          <p:cNvSpPr txBox="1"/>
          <p:nvPr/>
        </p:nvSpPr>
        <p:spPr>
          <a:xfrm>
            <a:off x="6446518" y="990943"/>
            <a:ext cx="2478405" cy="993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■ 参数空间初始化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构建包含语义多样化描述的候选集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与连续阈值空间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BFA1CE-72C0-4990-9907-6E3A7D90ADAA}"/>
              </a:ext>
            </a:extLst>
          </p:cNvPr>
          <p:cNvSpPr txBox="1"/>
          <p:nvPr/>
        </p:nvSpPr>
        <p:spPr>
          <a:xfrm>
            <a:off x="6446518" y="2520196"/>
            <a:ext cx="4497706" cy="1332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■ 多维度统计评估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为了全面量化检测性能，构建了一个包含检测精度（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）、定位质量（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）与检测均衡性（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F1-score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）的多维度指标空间。此外，为了量化评估的不确定性，利用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Bootstrap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重采样法 对指标分布进行建模，从而获得具有置信度保证的性能度量。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CBAEB0-F147-437E-AFF2-9C7E6F6EA32E}"/>
              </a:ext>
            </a:extLst>
          </p:cNvPr>
          <p:cNvSpPr txBox="1"/>
          <p:nvPr/>
        </p:nvSpPr>
        <p:spPr>
          <a:xfrm>
            <a:off x="6446520" y="4251230"/>
            <a:ext cx="4431030" cy="158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■ 层级化决策机制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针对检测任务中“检测召回”与“定位精度”的权衡问题，我们设计了一种级联优先级策略。决策逻辑优先优化全局检测精度（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），并在同等精度水平下，通过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AP75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约束定位质量，最终通过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分数进行精细化调优。该策略确保了选出的提示词在复杂环境下具备高度的鲁棒性。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18AE3D-5424-46D2-8FC7-701DEC59D94C}"/>
              </a:ext>
            </a:extLst>
          </p:cNvPr>
          <p:cNvSpPr txBox="1"/>
          <p:nvPr/>
        </p:nvSpPr>
        <p:spPr>
          <a:xfrm>
            <a:off x="6503666" y="5837177"/>
            <a:ext cx="4373884" cy="8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■ 配置持久化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最终通过自动化映射，将最优参数空间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argmax(J)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转化为可直接用于推理的结构化配置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9721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</a:t>
            </a:r>
            <a:endParaRPr lang="en-US" sz="1100" dirty="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97" name="AutoShape 7">
            <a:extLst>
              <a:ext uri="{FF2B5EF4-FFF2-40B4-BE49-F238E27FC236}">
                <a16:creationId xmlns:a16="http://schemas.microsoft.com/office/drawing/2014/main" id="{D49CBA3F-1F40-40E6-A6DA-FBC5D13B22ED}"/>
              </a:ext>
            </a:extLst>
          </p:cNvPr>
          <p:cNvSpPr/>
          <p:nvPr/>
        </p:nvSpPr>
        <p:spPr>
          <a:xfrm>
            <a:off x="248398" y="845745"/>
            <a:ext cx="5455772" cy="343610"/>
          </a:xfrm>
          <a:prstGeom prst="roundRect">
            <a:avLst>
              <a:gd name="adj" fmla="val 25000"/>
            </a:avLst>
          </a:prstGeom>
          <a:ln>
            <a:solidFill>
              <a:srgbClr val="0A37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针对火的</a:t>
            </a:r>
            <a:r>
              <a:rPr lang="en-US" altLang="zh-CN" sz="1100" b="1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IoF</a:t>
            </a:r>
            <a:r>
              <a:rPr lang="en-US" altLang="zh-CN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zh-CN" altLang="en-US" sz="11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包含率过滤与保守验证策略算法</a:t>
            </a:r>
            <a:endParaRPr lang="en-US" sz="105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B9A66D0E-F0F3-493C-8619-3C84FD182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98" y="1283820"/>
            <a:ext cx="11449050" cy="1832564"/>
          </a:xfrm>
          <a:prstGeom prst="rect">
            <a:avLst/>
          </a:prstGeom>
        </p:spPr>
      </p:pic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8EB95454-F168-479D-B51C-EA6AE40F99FD}"/>
              </a:ext>
            </a:extLst>
          </p:cNvPr>
          <p:cNvSpPr txBox="1"/>
          <p:nvPr/>
        </p:nvSpPr>
        <p:spPr>
          <a:xfrm>
            <a:off x="248398" y="3429000"/>
            <a:ext cx="51808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：基于语义驱动的误检抑制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通过“验证门槛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DINO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定位的框与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SAM3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Mask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进行匹配审核。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多维评估指标 ：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语义覆盖度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确保检测框内的像素语义密度满足阈值要求。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置信度对齐 ：实现检测置信度与语义分割概率的同步校验。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空间一致性：验证检测框边界与分割边界的几何重合度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预期目标 ：有效剔除定位在非语义区域的误报目标 。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3A1656A6-07B7-4B6D-ABCD-5A62B9BF13CC}"/>
              </a:ext>
            </a:extLst>
          </p:cNvPr>
          <p:cNvSpPr txBox="1"/>
          <p:nvPr/>
        </p:nvSpPr>
        <p:spPr>
          <a:xfrm>
            <a:off x="248398" y="4706273"/>
            <a:ext cx="51808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：基于多级过滤的保守目标追加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SAM3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的概念检索能力，找回被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DINO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漏检的火点目标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多级准入门槛 ：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几何约束 ：基于置信度、绝对像素面积及长宽比的初步筛选。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冗余抑制 ：依次应用传统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去重与追加内部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NMS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设计策略 ：采用“保守优先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原则，在提升召回率的同时，严格保障下游训练标签的纯净度。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4BB479F2-E863-4A7F-A9E5-F739764C7D48}"/>
              </a:ext>
            </a:extLst>
          </p:cNvPr>
          <p:cNvSpPr txBox="1"/>
          <p:nvPr/>
        </p:nvSpPr>
        <p:spPr>
          <a:xfrm>
            <a:off x="5534025" y="4706273"/>
            <a:ext cx="47339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核心：基于 </a:t>
            </a:r>
            <a:r>
              <a:rPr kumimoji="1" lang="en-US" altLang="zh-CN" sz="1100" b="1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</a:t>
            </a:r>
            <a:r>
              <a:rPr kumimoji="1" lang="en-US" altLang="zh-CN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b="1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包含率的冗余抑制</a:t>
            </a:r>
            <a:endParaRPr kumimoji="1" lang="en-US" altLang="zh-CN" sz="1100" b="1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机制对“嵌套目标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不敏感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当小目标完全被大目标包含时，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极低，导致重复标注。</a:t>
            </a:r>
            <a:endParaRPr kumimoji="1" lang="en-US" altLang="zh-CN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引入双向包含率 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(Bidirectional </a:t>
            </a:r>
            <a:r>
              <a:rPr kumimoji="1" lang="en-US" altLang="zh-CN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</a:t>
            </a:r>
            <a:r>
              <a:rPr kumimoji="1" lang="en-US" altLang="zh-CN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kumimoji="1" lang="zh-CN" altLang="en-US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</a:t>
            </a:r>
            <a:endParaRPr kumimoji="1" lang="en-US" altLang="zh-CN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ja-JP" sz="1100" dirty="0" err="1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IoFmax</a:t>
            </a:r>
            <a:r>
              <a:rPr kumimoji="1" lang="en-US" altLang="ja-JP" sz="1100" dirty="0">
                <a:solidFill>
                  <a:srgbClr val="0A37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​=max(Area(A∩B)/ Area(A) ​, Area(A∩B)​/ Area(B))</a:t>
            </a:r>
            <a:endParaRPr kumimoji="1" lang="ja-JP" altLang="en-US" sz="1100" dirty="0">
              <a:solidFill>
                <a:srgbClr val="0A37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12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605" y="120650"/>
            <a:ext cx="3484245" cy="617855"/>
          </a:xfrm>
          <a:custGeom>
            <a:avLst/>
            <a:gdLst/>
            <a:ahLst/>
            <a:cxnLst/>
            <a:rect l="l" t="t" r="r" b="b"/>
            <a:pathLst>
              <a:path w="3484245" h="617855">
                <a:moveTo>
                  <a:pt x="375216" y="0"/>
                </a:moveTo>
                <a:lnTo>
                  <a:pt x="375223" y="0"/>
                </a:lnTo>
                <a:lnTo>
                  <a:pt x="3093112" y="0"/>
                </a:lnTo>
                <a:lnTo>
                  <a:pt x="3093112" y="1322"/>
                </a:lnTo>
                <a:lnTo>
                  <a:pt x="3109029" y="0"/>
                </a:lnTo>
                <a:cubicBezTo>
                  <a:pt x="3316254" y="0"/>
                  <a:pt x="3484245" y="138312"/>
                  <a:pt x="3484245" y="308928"/>
                </a:cubicBezTo>
                <a:cubicBezTo>
                  <a:pt x="3484245" y="479543"/>
                  <a:pt x="3316254" y="617855"/>
                  <a:pt x="3109029" y="617855"/>
                </a:cubicBezTo>
                <a:lnTo>
                  <a:pt x="3093112" y="616534"/>
                </a:lnTo>
                <a:lnTo>
                  <a:pt x="3093112" y="617855"/>
                </a:lnTo>
                <a:lnTo>
                  <a:pt x="375216" y="617855"/>
                </a:lnTo>
                <a:cubicBezTo>
                  <a:pt x="167991" y="617855"/>
                  <a:pt x="0" y="479543"/>
                  <a:pt x="0" y="308928"/>
                </a:cubicBezTo>
                <a:cubicBezTo>
                  <a:pt x="0" y="138312"/>
                  <a:pt x="167991" y="0"/>
                  <a:pt x="37521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7941" y="120536"/>
            <a:ext cx="618131" cy="61813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049755" y="199403"/>
            <a:ext cx="238696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核心概念与边界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5408" y="1652303"/>
            <a:ext cx="296239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9810" y="2117090"/>
            <a:ext cx="10913110" cy="42208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algn="l" defTabSz="914400">
              <a:lnSpc>
                <a:spcPct val="100000"/>
              </a:lnSpc>
            </a:pP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695072"/>
              </p:ext>
            </p:extLst>
          </p:nvPr>
        </p:nvGraphicFramePr>
        <p:xfrm>
          <a:off x="1019810" y="873760"/>
          <a:ext cx="10988675" cy="500021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5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概念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本文定义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51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主生成模型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DINO：语义匹配与初始框生成</a:t>
                      </a:r>
                      <a:endParaRPr lang="en-US" sz="1100" dirty="0"/>
                    </a:p>
                  </a:txBody>
                  <a:tcPr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只使用现有能力生成伪标签，不改进网络结构。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8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之后提供审核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补漏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调框证据的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SAM3</a:t>
                      </a:r>
                      <a:endParaRPr lang="en-US" sz="1100" dirty="0"/>
                    </a:p>
                  </a:txBody>
                  <a:tcPr marT="4233" marB="42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不预设其必然有效，验证后才进入正式流程。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29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伪标签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提示词与阈值联合优化后批量产出的基准伪标签版本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T="10785" marB="107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构成后续所有级联与对比实验的后置策略比较的统一基线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V2 候选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通过开发集门槛的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V1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后置处理版本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只有通过门槛的方案才进入正式验证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数据质量指标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 / R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IoU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漏检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误检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/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框偏差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用于诊断标签问题，不直接替代下游效用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统一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YOLO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训练协议下的检测性能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YOLO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仅作效用验证器，不改其结构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Stage-Gate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Go / Hold / Stop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阶段决策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只用于分支收敛，不扩展为自动进化机制。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Pareto 比较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在有限候选流程之间进行非支配比较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。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目前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只用于方案筛选，不构造进化优化算法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等线"/>
                          <a:sym typeface="等线"/>
                        </a:rPr>
                        <a:t>。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研究对象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火焰与烟雾（非刚性目标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）。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边界弥散、形态多变，人工标注主观偏差大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。</a:t>
                      </a:r>
                      <a:endParaRPr lang="en-US" sz="1100" dirty="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90170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阶段性实验结果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79500" y="1397000"/>
            <a:ext cx="10033000" cy="381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前期实验结果与候选分支状态（V1 </a:t>
            </a:r>
            <a:r>
              <a:rPr lang="en-US" sz="15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基线与</a:t>
            </a: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SAM3 </a:t>
            </a:r>
            <a:r>
              <a:rPr lang="en-US" sz="15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候选消融，数据来源：附录</a:t>
            </a:r>
            <a:r>
              <a:rPr lang="en-US" sz="15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C）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Exp0 (人工GT基线)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0.8205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0.6717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0.7430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0.5377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Exp1 (V1 单级)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0.7635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0.6216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0.6647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0.4623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(Verifier)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0.7410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0.6609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0.6689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0.4577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</a:t>
            </a:r>
            <a:r>
              <a:rPr lang="en-US" altLang="ja-JP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(A</a:t>
            </a:r>
            <a:r>
              <a:rPr lang="en-US" altLang="zh-CN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ppend</a:t>
            </a:r>
            <a:r>
              <a:rPr lang="en-US" altLang="ja-JP" sz="110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0.7531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0.6169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0.6641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0.4529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0.7462</a:t>
            </a:r>
            <a:endParaRPr lang="en-US" sz="1100" dirty="0"/>
          </a:p>
        </p:txBody>
      </p:sp>
      <p:sp>
        <p:nvSpPr>
          <p:cNvPr id="33" name="AutoShape 33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0.6178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0.6724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0.4530</a:t>
            </a:r>
          </a:p>
        </p:txBody>
      </p:sp>
      <p:sp>
        <p:nvSpPr>
          <p:cNvPr id="37" name="AutoShape 31">
            <a:extLst>
              <a:ext uri="{FF2B5EF4-FFF2-40B4-BE49-F238E27FC236}">
                <a16:creationId xmlns:a16="http://schemas.microsoft.com/office/drawing/2014/main" id="{CDA42C2F-6DE5-4A2B-92A2-743A586769D6}"/>
              </a:ext>
            </a:extLst>
          </p:cNvPr>
          <p:cNvSpPr/>
          <p:nvPr/>
        </p:nvSpPr>
        <p:spPr>
          <a:xfrm>
            <a:off x="1397000" y="4545853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E2B-400+IoF0.7</a:t>
            </a:r>
            <a:endParaRPr lang="en-US" sz="1100" dirty="0"/>
          </a:p>
        </p:txBody>
      </p:sp>
      <p:sp>
        <p:nvSpPr>
          <p:cNvPr id="38" name="AutoShape 31">
            <a:extLst>
              <a:ext uri="{FF2B5EF4-FFF2-40B4-BE49-F238E27FC236}">
                <a16:creationId xmlns:a16="http://schemas.microsoft.com/office/drawing/2014/main" id="{EE1A45C4-57D9-490C-AEB3-FEE21888036A}"/>
              </a:ext>
            </a:extLst>
          </p:cNvPr>
          <p:cNvSpPr/>
          <p:nvPr/>
        </p:nvSpPr>
        <p:spPr>
          <a:xfrm>
            <a:off x="1397000" y="4955988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E2B-400+IoF0.3</a:t>
            </a:r>
            <a:endParaRPr lang="en-US" sz="1100" dirty="0"/>
          </a:p>
        </p:txBody>
      </p:sp>
      <p:sp>
        <p:nvSpPr>
          <p:cNvPr id="39" name="AutoShape 32">
            <a:extLst>
              <a:ext uri="{FF2B5EF4-FFF2-40B4-BE49-F238E27FC236}">
                <a16:creationId xmlns:a16="http://schemas.microsoft.com/office/drawing/2014/main" id="{0621CAF4-0A45-4DCB-B535-D525D9ECDAC3}"/>
              </a:ext>
            </a:extLst>
          </p:cNvPr>
          <p:cNvSpPr/>
          <p:nvPr/>
        </p:nvSpPr>
        <p:spPr>
          <a:xfrm>
            <a:off x="3556000" y="4539876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0.7729</a:t>
            </a:r>
            <a:endParaRPr lang="en-US" sz="1100" dirty="0"/>
          </a:p>
        </p:txBody>
      </p:sp>
      <p:sp>
        <p:nvSpPr>
          <p:cNvPr id="40" name="AutoShape 32">
            <a:extLst>
              <a:ext uri="{FF2B5EF4-FFF2-40B4-BE49-F238E27FC236}">
                <a16:creationId xmlns:a16="http://schemas.microsoft.com/office/drawing/2014/main" id="{71DCA17D-C7FB-48EA-B5B7-792E5CECDD46}"/>
              </a:ext>
            </a:extLst>
          </p:cNvPr>
          <p:cNvSpPr/>
          <p:nvPr/>
        </p:nvSpPr>
        <p:spPr>
          <a:xfrm>
            <a:off x="3556000" y="4952252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0.7148</a:t>
            </a:r>
            <a:endParaRPr lang="en-US" sz="1100" dirty="0"/>
          </a:p>
        </p:txBody>
      </p:sp>
      <p:sp>
        <p:nvSpPr>
          <p:cNvPr id="41" name="AutoShape 33">
            <a:extLst>
              <a:ext uri="{FF2B5EF4-FFF2-40B4-BE49-F238E27FC236}">
                <a16:creationId xmlns:a16="http://schemas.microsoft.com/office/drawing/2014/main" id="{AD6A98A3-20AF-451E-AF77-66701D06A146}"/>
              </a:ext>
            </a:extLst>
          </p:cNvPr>
          <p:cNvSpPr/>
          <p:nvPr/>
        </p:nvSpPr>
        <p:spPr>
          <a:xfrm>
            <a:off x="5334000" y="4563035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0.5878</a:t>
            </a:r>
            <a:endParaRPr lang="en-US" sz="1100" dirty="0"/>
          </a:p>
        </p:txBody>
      </p:sp>
      <p:sp>
        <p:nvSpPr>
          <p:cNvPr id="42" name="AutoShape 33">
            <a:extLst>
              <a:ext uri="{FF2B5EF4-FFF2-40B4-BE49-F238E27FC236}">
                <a16:creationId xmlns:a16="http://schemas.microsoft.com/office/drawing/2014/main" id="{413C6BD1-85D4-4AFE-9424-489658BB5A34}"/>
              </a:ext>
            </a:extLst>
          </p:cNvPr>
          <p:cNvSpPr/>
          <p:nvPr/>
        </p:nvSpPr>
        <p:spPr>
          <a:xfrm>
            <a:off x="5328023" y="4943286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0.6432</a:t>
            </a:r>
            <a:endParaRPr lang="en-US" sz="1100" dirty="0"/>
          </a:p>
        </p:txBody>
      </p:sp>
      <p:sp>
        <p:nvSpPr>
          <p:cNvPr id="43" name="AutoShape 34">
            <a:extLst>
              <a:ext uri="{FF2B5EF4-FFF2-40B4-BE49-F238E27FC236}">
                <a16:creationId xmlns:a16="http://schemas.microsoft.com/office/drawing/2014/main" id="{703068D3-2ED3-413E-AE0A-BBA6D81F784E}"/>
              </a:ext>
            </a:extLst>
          </p:cNvPr>
          <p:cNvSpPr/>
          <p:nvPr/>
        </p:nvSpPr>
        <p:spPr>
          <a:xfrm>
            <a:off x="7112000" y="456677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0.6638</a:t>
            </a:r>
            <a:endParaRPr lang="en-US" sz="1100" dirty="0"/>
          </a:p>
        </p:txBody>
      </p:sp>
      <p:sp>
        <p:nvSpPr>
          <p:cNvPr id="44" name="AutoShape 34">
            <a:extLst>
              <a:ext uri="{FF2B5EF4-FFF2-40B4-BE49-F238E27FC236}">
                <a16:creationId xmlns:a16="http://schemas.microsoft.com/office/drawing/2014/main" id="{1A70601F-2509-4E41-AD81-75293EF01D21}"/>
              </a:ext>
            </a:extLst>
          </p:cNvPr>
          <p:cNvSpPr/>
          <p:nvPr/>
        </p:nvSpPr>
        <p:spPr>
          <a:xfrm>
            <a:off x="7112000" y="500604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0.6722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45" name="AutoShape 35">
            <a:extLst>
              <a:ext uri="{FF2B5EF4-FFF2-40B4-BE49-F238E27FC236}">
                <a16:creationId xmlns:a16="http://schemas.microsoft.com/office/drawing/2014/main" id="{59E02340-4350-4174-AD6D-BDD9AC9156DB}"/>
              </a:ext>
            </a:extLst>
          </p:cNvPr>
          <p:cNvSpPr/>
          <p:nvPr/>
        </p:nvSpPr>
        <p:spPr>
          <a:xfrm>
            <a:off x="9271000" y="4559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0.4525</a:t>
            </a:r>
          </a:p>
        </p:txBody>
      </p:sp>
      <p:sp>
        <p:nvSpPr>
          <p:cNvPr id="46" name="AutoShape 35">
            <a:extLst>
              <a:ext uri="{FF2B5EF4-FFF2-40B4-BE49-F238E27FC236}">
                <a16:creationId xmlns:a16="http://schemas.microsoft.com/office/drawing/2014/main" id="{B3762E45-B9C0-40EB-89A6-6B9A51C3529B}"/>
              </a:ext>
            </a:extLst>
          </p:cNvPr>
          <p:cNvSpPr/>
          <p:nvPr/>
        </p:nvSpPr>
        <p:spPr>
          <a:xfrm>
            <a:off x="9271000" y="496794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0.4606</a:t>
            </a:r>
          </a:p>
        </p:txBody>
      </p:sp>
      <p:sp>
        <p:nvSpPr>
          <p:cNvPr id="47" name="AutoShape 31">
            <a:extLst>
              <a:ext uri="{FF2B5EF4-FFF2-40B4-BE49-F238E27FC236}">
                <a16:creationId xmlns:a16="http://schemas.microsoft.com/office/drawing/2014/main" id="{7E627449-57FA-4893-975D-68FE21A905E0}"/>
              </a:ext>
            </a:extLst>
          </p:cNvPr>
          <p:cNvSpPr/>
          <p:nvPr/>
        </p:nvSpPr>
        <p:spPr>
          <a:xfrm>
            <a:off x="1397000" y="5357905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sz="1250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E2C(Refiner) </a:t>
            </a:r>
            <a:endParaRPr lang="en-US" sz="1100" dirty="0"/>
          </a:p>
        </p:txBody>
      </p:sp>
      <p:sp>
        <p:nvSpPr>
          <p:cNvPr id="48" name="AutoShape 32">
            <a:extLst>
              <a:ext uri="{FF2B5EF4-FFF2-40B4-BE49-F238E27FC236}">
                <a16:creationId xmlns:a16="http://schemas.microsoft.com/office/drawing/2014/main" id="{C378DEA7-6B36-46A1-8B90-4A62184B61AB}"/>
              </a:ext>
            </a:extLst>
          </p:cNvPr>
          <p:cNvSpPr/>
          <p:nvPr/>
        </p:nvSpPr>
        <p:spPr>
          <a:xfrm>
            <a:off x="3544047" y="5369111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0.6124</a:t>
            </a:r>
            <a:endParaRPr lang="en-US" sz="1100" dirty="0"/>
          </a:p>
        </p:txBody>
      </p:sp>
      <p:sp>
        <p:nvSpPr>
          <p:cNvPr id="49" name="AutoShape 33">
            <a:extLst>
              <a:ext uri="{FF2B5EF4-FFF2-40B4-BE49-F238E27FC236}">
                <a16:creationId xmlns:a16="http://schemas.microsoft.com/office/drawing/2014/main" id="{734BD996-163A-4257-9E55-01B4BAE75929}"/>
              </a:ext>
            </a:extLst>
          </p:cNvPr>
          <p:cNvSpPr/>
          <p:nvPr/>
        </p:nvSpPr>
        <p:spPr>
          <a:xfrm>
            <a:off x="5334000" y="5379569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0.6128</a:t>
            </a:r>
            <a:endParaRPr lang="en-US" sz="1100" dirty="0"/>
          </a:p>
        </p:txBody>
      </p:sp>
      <p:sp>
        <p:nvSpPr>
          <p:cNvPr id="50" name="AutoShape 34">
            <a:extLst>
              <a:ext uri="{FF2B5EF4-FFF2-40B4-BE49-F238E27FC236}">
                <a16:creationId xmlns:a16="http://schemas.microsoft.com/office/drawing/2014/main" id="{D5F44744-828D-48E4-B59B-131613121F36}"/>
              </a:ext>
            </a:extLst>
          </p:cNvPr>
          <p:cNvSpPr/>
          <p:nvPr/>
        </p:nvSpPr>
        <p:spPr>
          <a:xfrm>
            <a:off x="7112000" y="5407955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0.5769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1" name="AutoShape 35">
            <a:extLst>
              <a:ext uri="{FF2B5EF4-FFF2-40B4-BE49-F238E27FC236}">
                <a16:creationId xmlns:a16="http://schemas.microsoft.com/office/drawing/2014/main" id="{4A2D3CD6-BA2F-49C1-B298-3BEE6F47AE3C}"/>
              </a:ext>
            </a:extLst>
          </p:cNvPr>
          <p:cNvSpPr/>
          <p:nvPr/>
        </p:nvSpPr>
        <p:spPr>
          <a:xfrm>
            <a:off x="9261288" y="5379569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i="0" u="none" strike="noStrike" dirty="0">
                <a:solidFill>
                  <a:schemeClr val="tx1"/>
                </a:solidFill>
                <a:latin typeface="微软雅黑"/>
                <a:ea typeface="微软雅黑"/>
                <a:cs typeface="微软雅黑"/>
                <a:sym typeface="微软雅黑"/>
              </a:rPr>
              <a:t>0.3701</a:t>
            </a:r>
          </a:p>
        </p:txBody>
      </p:sp>
      <p:sp>
        <p:nvSpPr>
          <p:cNvPr id="52" name="AutoShape 39">
            <a:extLst>
              <a:ext uri="{FF2B5EF4-FFF2-40B4-BE49-F238E27FC236}">
                <a16:creationId xmlns:a16="http://schemas.microsoft.com/office/drawing/2014/main" id="{720AB482-849C-4467-AF2B-7E4B4FF2CD64}"/>
              </a:ext>
            </a:extLst>
          </p:cNvPr>
          <p:cNvSpPr/>
          <p:nvPr/>
        </p:nvSpPr>
        <p:spPr>
          <a:xfrm>
            <a:off x="1025712" y="5963920"/>
            <a:ext cx="10033000" cy="762000"/>
          </a:xfrm>
          <a:prstGeom prst="roundRect">
            <a:avLst>
              <a:gd name="adj" fmla="val 0"/>
            </a:avLst>
          </a:prstGeom>
          <a:solidFill>
            <a:srgbClr val="FAF5EB">
              <a:alpha val="100000"/>
            </a:srgbClr>
          </a:solidFill>
          <a:ln w="12700" cap="flat" cmpd="sng">
            <a:solidFill>
              <a:srgbClr val="C878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03200" tIns="101600" rIns="203200" bIns="101600" rtlCol="0" anchor="ctr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sz="1250" b="1" i="0" u="none" strike="noStrike" dirty="0" err="1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</a:t>
            </a:r>
            <a:r>
              <a:rPr lang="en-US" sz="1250" b="1" i="0" u="none" strike="noStrike" dirty="0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有继续稳定性复验的候选价值（关注误删与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Recall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）；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Append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具备补漏可能；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直接重定位出现明显下游退化，当前保持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Stop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。正文结论区分“已证实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/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待验证 </a:t>
            </a:r>
            <a:r>
              <a:rPr lang="en-US" altLang="zh-CN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/ 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已停止”，不以单次最优替代稳定性证据。</a:t>
            </a:r>
          </a:p>
          <a:p>
            <a:pPr>
              <a:lnSpc>
                <a:spcPct val="108333"/>
              </a:lnSpc>
              <a:defRPr/>
            </a:pPr>
            <a:endParaRPr lang="en-US" sz="1250" dirty="0">
              <a:solidFill>
                <a:srgbClr val="783214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61692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多随机种子稳定性复验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seed0 (V1)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0.426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seed0 (Verifier)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0.729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0.609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0.656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0.456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seed1 (V1)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0.586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0.649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seed1 (Verifier)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seed2 (V1)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0.680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0.443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397000" y="4559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seed2 (Verifier)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556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0.718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334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112000" y="4559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0.675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9271000" y="4559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0.464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397000" y="1397000"/>
            <a:ext cx="9715500" cy="3683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52400" tIns="0" rIns="15240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E1（V1）与 E2A（Verifier）各 3 </a:t>
            </a:r>
            <a:r>
              <a:rPr lang="en-US" sz="13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个随机种子训练，验证结论稳定性（附录</a:t>
            </a:r>
            <a:r>
              <a:rPr lang="en-US" sz="13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 C）</a:t>
            </a:r>
            <a:endParaRPr lang="en-US" sz="1100" dirty="0"/>
          </a:p>
        </p:txBody>
      </p:sp>
      <p:sp>
        <p:nvSpPr>
          <p:cNvPr id="39" name="AutoShape 39"/>
          <p:cNvSpPr/>
          <p:nvPr/>
        </p:nvSpPr>
        <p:spPr>
          <a:xfrm>
            <a:off x="1143000" y="5092701"/>
            <a:ext cx="10033000" cy="762000"/>
          </a:xfrm>
          <a:prstGeom prst="roundRect">
            <a:avLst>
              <a:gd name="adj" fmla="val 0"/>
            </a:avLst>
          </a:prstGeom>
          <a:solidFill>
            <a:srgbClr val="FAF5EB">
              <a:alpha val="100000"/>
            </a:srgbClr>
          </a:solidFill>
          <a:ln w="12700" cap="flat" cmpd="sng">
            <a:solidFill>
              <a:srgbClr val="C878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03200" tIns="101600" rIns="203200" bIns="101600" rtlCol="0" anchor="ctr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sz="1250" b="1" i="0" u="none" strike="noStrike" dirty="0" err="1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</a:t>
            </a:r>
            <a:r>
              <a:rPr lang="en-US" sz="1250" b="1" i="0" u="none" strike="noStrike" dirty="0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在 3 </a:t>
            </a:r>
            <a:r>
              <a:rPr lang="en-US" altLang="ja-JP" sz="1250" dirty="0" err="1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个随机种子下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  </a:t>
            </a:r>
            <a:r>
              <a:rPr 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E2A（Verifier）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相较于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V1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是稳定有增益的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,</a:t>
            </a:r>
            <a:r>
              <a:rPr lang="zh-CN" altLang="en-US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后续会补充</a:t>
            </a:r>
            <a:r>
              <a:rPr lang="en-US" altLang="zh-CN" sz="1250" b="0" i="0" u="none" strike="noStrike" dirty="0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append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部分（</a:t>
            </a:r>
            <a:r>
              <a:rPr lang="en-US" altLang="ja-JP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E2B-400+IoF0.3</a:t>
            </a:r>
            <a:r>
              <a:rPr lang="zh-CN" altLang="en-US" sz="1250" dirty="0">
                <a:solidFill>
                  <a:srgbClr val="783214"/>
                </a:solidFill>
                <a:latin typeface="微软雅黑"/>
                <a:ea typeface="微软雅黑"/>
                <a:sym typeface="微软雅黑"/>
              </a:rPr>
              <a:t>）多随机种子稳定性复验</a:t>
            </a:r>
            <a:endParaRPr lang="en-US" sz="1250" dirty="0">
              <a:solidFill>
                <a:srgbClr val="783214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标签制备成本核算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270000"/>
            <a:ext cx="10414000" cy="889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C_total = p_GPU · t_infer + p_labor · t_labor + C_mgmt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765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纯人工基准：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单框综合成本（含标注与质检返工）0.5 元/框；火/烟约 3 目标/张 → 单张全量人工约 1.5 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671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自动化算力：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AutoDL RTX 4090(24G) 按需约 2.0 元/小时；实测吞吐约 9000 张/小时。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4577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</a:t>
            </a:r>
            <a:r>
              <a:rPr lang="en-US" sz="14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人工抽检：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熟练标注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40 元/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小时，审核约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200 张/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小时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→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单图审核人工约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0.2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元（按被审核图像口径，不等于计入启动、推理与返工后的自动化总成本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89000" y="54483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</a:t>
            </a:r>
            <a:r>
              <a:rPr lang="en-US" sz="14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规模与敏感性：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按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1k / 10k / 100k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测算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GPU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机时、人工工时与交付周期；变动算力单价（闲时折扣）与人工成本，检验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300" b="0" i="0" u="none" strike="noStrike" dirty="0" err="1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选型是否稳定</a:t>
            </a:r>
            <a:r>
              <a:rPr lang="en-US" sz="1300" b="0" i="0" u="none" strike="noStrike" dirty="0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5945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跨规模成本测算与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Pareto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选型方案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697588"/>
              </p:ext>
            </p:extLst>
          </p:nvPr>
        </p:nvGraphicFramePr>
        <p:xfrm>
          <a:off x="1362635" y="1602335"/>
          <a:ext cx="9233647" cy="507991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27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852">
                  <a:extLst>
                    <a:ext uri="{9D8B030D-6E8A-4147-A177-3AD203B41FA5}">
                      <a16:colId xmlns:a16="http://schemas.microsoft.com/office/drawing/2014/main" val="2855965455"/>
                    </a:ext>
                  </a:extLst>
                </a:gridCol>
                <a:gridCol w="116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8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4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数据规模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流程方案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GPU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推理机时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小时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算力成本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人工审核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标注成本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纯标注环节总成本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单图边际成本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张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交付周期预估</a:t>
                      </a:r>
                      <a:endParaRPr lang="ja-JP" sz="18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0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1k</a:t>
                      </a:r>
                      <a:b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轻量迭代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1,500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1,500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 </a:t>
                      </a:r>
                      <a:r>
                        <a:rPr lang="zh-CN" sz="1400" b="1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52">
                <a:tc>
                  <a:txBody>
                    <a:bodyPr/>
                    <a:lstStyle/>
                    <a:p>
                      <a:endParaRPr lang="ja-JP" sz="12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0.11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200 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抽检修正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0.5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039444"/>
                  </a:ext>
                </a:extLst>
              </a:tr>
              <a:tr h="224118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0.44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300 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审核补漏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0.5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01679"/>
                  </a:ext>
                </a:extLst>
              </a:tr>
              <a:tr h="4303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10k</a:t>
                      </a:r>
                      <a:b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常规生产</a:t>
                      </a: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15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163008"/>
                  </a:ext>
                </a:extLst>
              </a:tr>
              <a:tr h="251012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1.11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2,002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3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20878"/>
                  </a:ext>
                </a:extLst>
              </a:tr>
              <a:tr h="322729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2.22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4.44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3,004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4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984461"/>
                  </a:ext>
                </a:extLst>
              </a:tr>
              <a:tr h="4213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N = 100k</a:t>
                      </a:r>
                      <a:b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</a:b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海量生产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纯人工标注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150,000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1.50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4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个月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2132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ja-JP" sz="12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V1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单级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(GD)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11.11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22.22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20,022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0.20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20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59">
                <a:tc>
                  <a:txBody>
                    <a:bodyPr/>
                    <a:lstStyle/>
                    <a:p>
                      <a:endParaRPr lang="ja-JP" sz="12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GD+SAM3 </a:t>
                      </a:r>
                      <a:r>
                        <a:rPr lang="zh-CN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级联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22.22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44.44</a:t>
                      </a:r>
                      <a:endParaRPr lang="ja-JP" sz="18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30,000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30,044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0.30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约</a:t>
                      </a:r>
                      <a:r>
                        <a:rPr lang="en-US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 25 </a:t>
                      </a:r>
                      <a:r>
                        <a:rPr lang="zh-CN" sz="1400" dirty="0">
                          <a:solidFill>
                            <a:srgbClr val="3C3C58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Segoe UI" panose="020B0502040204020203" pitchFamily="34" charset="0"/>
                        </a:rPr>
                        <a:t>天</a:t>
                      </a:r>
                      <a:endParaRPr lang="ja-JP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38">
            <a:extLst>
              <a:ext uri="{FF2B5EF4-FFF2-40B4-BE49-F238E27FC236}">
                <a16:creationId xmlns:a16="http://schemas.microsoft.com/office/drawing/2014/main" id="{9AF4BA2F-D139-4475-A227-99B0AD034687}"/>
              </a:ext>
            </a:extLst>
          </p:cNvPr>
          <p:cNvSpPr/>
          <p:nvPr/>
        </p:nvSpPr>
        <p:spPr>
          <a:xfrm>
            <a:off x="1362635" y="1040035"/>
            <a:ext cx="9233647" cy="449263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52400" tIns="0" rIns="152400" bIns="0" rtlCol="0" anchor="ctr">
            <a:noAutofit/>
          </a:bodyPr>
          <a:lstStyle/>
          <a:p>
            <a:pPr algn="ctr">
              <a:defRPr/>
            </a:pPr>
            <a:r>
              <a:rPr lang="zh-CN" altLang="en-US" sz="1300" b="1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不同数据规模下标签生产流程成本与周期推演表（基于实测吞吐率与行业基准）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545106" cy="6299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711200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9.2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预期成果与可量化指标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889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纯人工约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1.5 元/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张；自动化审核约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0.2 元/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张（审核口径，非自动化总成本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），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实际降幅待实测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交付周期评估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综合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GPU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推理、人工复核与返工，评估实际交付周期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下游检测性能保留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V1 mAP50 约 0.6647 vs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人工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GT 约 0.743，保留率约 </a:t>
            </a:r>
            <a:r>
              <a:rPr lang="en-US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89.5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%。SAM3 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append 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当前最优为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0.6722,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相较人工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GT</a:t>
            </a:r>
            <a:r>
              <a:rPr lang="zh-CN" alt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，保留率为</a:t>
            </a:r>
            <a:r>
              <a:rPr lang="en-US" altLang="zh-CN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90.5%</a:t>
            </a:r>
            <a:endParaRPr lang="en-US" sz="1400" b="0" i="0" u="none" strike="noStrike" dirty="0">
              <a:solidFill>
                <a:srgbClr val="1E283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可复现工程基线</a:t>
            </a:r>
            <a:endParaRPr lang="en-US" sz="1100" dirty="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提示词与阈值冻结为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 YAML </a:t>
            </a:r>
            <a:r>
              <a:rPr lang="en-US" sz="1400" b="0" i="0" u="none" strike="noStrike" dirty="0" err="1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配置，版本化固化，实验记录可反查</a:t>
            </a:r>
            <a:r>
              <a:rPr lang="en-US" sz="1400" b="0" i="0" u="none" strike="noStrike" dirty="0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532755" cy="1111885"/>
          </a:xfrm>
          <a:custGeom>
            <a:avLst/>
            <a:gdLst/>
            <a:ahLst/>
            <a:cxnLst/>
            <a:rect l="l" t="t" r="r" b="b"/>
            <a:pathLst>
              <a:path w="5532755" h="1111885">
                <a:moveTo>
                  <a:pt x="595821" y="0"/>
                </a:moveTo>
                <a:lnTo>
                  <a:pt x="595829" y="1"/>
                </a:lnTo>
                <a:lnTo>
                  <a:pt x="4911660" y="1"/>
                </a:lnTo>
                <a:lnTo>
                  <a:pt x="4911660" y="2379"/>
                </a:lnTo>
                <a:lnTo>
                  <a:pt x="4936934" y="1"/>
                </a:lnTo>
                <a:cubicBezTo>
                  <a:pt x="5265998" y="1"/>
                  <a:pt x="5532755" y="248905"/>
                  <a:pt x="5532755" y="555942"/>
                </a:cubicBezTo>
                <a:cubicBezTo>
                  <a:pt x="5532755" y="862982"/>
                  <a:pt x="5265998" y="1111885"/>
                  <a:pt x="4936934" y="1111885"/>
                </a:cubicBezTo>
                <a:lnTo>
                  <a:pt x="4911660" y="1109508"/>
                </a:lnTo>
                <a:lnTo>
                  <a:pt x="4911660" y="1111884"/>
                </a:lnTo>
                <a:lnTo>
                  <a:pt x="595821" y="1111884"/>
                </a:lnTo>
                <a:cubicBezTo>
                  <a:pt x="266757" y="1111884"/>
                  <a:pt x="0" y="862980"/>
                  <a:pt x="0" y="555942"/>
                </a:cubicBezTo>
                <a:cubicBezTo>
                  <a:pt x="0" y="248903"/>
                  <a:pt x="266757" y="0"/>
                  <a:pt x="5958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43400" y="3155950"/>
            <a:ext cx="506539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5. 工作计划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6362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4540" y="4950460"/>
            <a:ext cx="2181860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文献综述与</a:t>
            </a:r>
            <a:r>
              <a:rPr lang="zh-CN" altLang="en-US" sz="1200" b="0" i="0" u="none" strike="noStrike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预实验</a:t>
            </a:r>
            <a:endParaRPr lang="en-US" altLang="zh-CN" sz="1200" b="0" i="0" u="none" strike="noStrike" dirty="0">
              <a:solidFill>
                <a:srgbClr val="0A376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开题报告撰写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2635749" y="1904580"/>
            <a:ext cx="1632373" cy="922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实践中发现问题；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相关资料的学习；</a:t>
            </a:r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数据的收集；</a:t>
            </a:r>
          </a:p>
        </p:txBody>
      </p:sp>
      <p:sp>
        <p:nvSpPr>
          <p:cNvPr id="6" name="AutoShape 6"/>
          <p:cNvSpPr/>
          <p:nvPr/>
        </p:nvSpPr>
        <p:spPr>
          <a:xfrm>
            <a:off x="4911725" y="4858385"/>
            <a:ext cx="1394460" cy="11673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608965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伪标签验证体系搭建与验证；多目标优化算法探索落地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873115" y="2095500"/>
            <a:ext cx="1878965" cy="61337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608965"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</a:t>
            </a:r>
            <a:r>
              <a:rPr lang="zh-CN" altLang="en-US" sz="1200" dirty="0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角色选定与稳定性实验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472782" y="184013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3-6月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14545" y="1784985"/>
            <a:ext cx="1117600" cy="108839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9-10月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941527" y="178108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04097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7-8月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21642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1-2月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32532" y="455857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4月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7104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38462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2795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60535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59900" y="2145030"/>
            <a:ext cx="2182495" cy="3366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论文初稿撰写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21040" y="4858385"/>
            <a:ext cx="139382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完善论文；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准备论文预答辩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201358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Connector 21"/>
          <p:cNvCxnSpPr/>
          <p:nvPr/>
        </p:nvCxnSpPr>
        <p:spPr>
          <a:xfrm>
            <a:off x="364553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>
            <a:off x="5156200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>
            <a:off x="686244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848296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10173335" y="400177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3001" y="325641"/>
            <a:ext cx="618131" cy="61813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7" name="AutoShape 27"/>
          <p:cNvSpPr/>
          <p:nvPr/>
        </p:nvSpPr>
        <p:spPr>
          <a:xfrm>
            <a:off x="1041500" y="414033"/>
            <a:ext cx="232918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 5.2  写作计划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3500" tIns="25400" rIns="63500" bIns="25400" rtlCol="0" anchor="ctr">
            <a:norm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400" b="1" i="0" u="none" strike="noStrike" spc="1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5. 写作计划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62753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0" y="3042650"/>
            <a:ext cx="12192000" cy="2857500"/>
          </a:xfrm>
          <a:prstGeom prst="rect">
            <a:avLst/>
          </a:prstGeom>
          <a:solidFill>
            <a:srgbClr val="0A3760">
              <a:alpha val="81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67583" y="3429000"/>
            <a:ext cx="6256834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dist" defTabSz="914400">
              <a:lnSpc>
                <a:spcPct val="100000"/>
              </a:lnSpc>
              <a:defRPr/>
            </a:pPr>
            <a:r>
              <a:rPr lang="en-US" sz="5400" b="1" i="0" u="none" strike="noStrike" dirty="0" err="1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请老师批评指正</a:t>
            </a:r>
            <a:r>
              <a:rPr lang="en-US" sz="5400" b="1" i="0" u="none" strike="noStrike" dirty="0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6010</TotalTime>
  <Words>2677</Words>
  <Application>Microsoft Office PowerPoint</Application>
  <PresentationFormat>ワイド画面</PresentationFormat>
  <Paragraphs>742</Paragraphs>
  <Slides>31</Slides>
  <Notes>31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31</vt:i4>
      </vt:variant>
    </vt:vector>
  </HeadingPairs>
  <TitlesOfParts>
    <vt:vector size="48" baseType="lpstr">
      <vt:lpstr>DengXian</vt:lpstr>
      <vt:lpstr>DengXian Light</vt:lpstr>
      <vt:lpstr>Microsoft YaHei</vt:lpstr>
      <vt:lpstr>Microsoft YaHei</vt:lpstr>
      <vt:lpstr>MiSans</vt:lpstr>
      <vt:lpstr>ＭＳ Ｐゴシック</vt:lpstr>
      <vt:lpstr>Noto Sans SC</vt:lpstr>
      <vt:lpstr>Songti SC</vt:lpstr>
      <vt:lpstr>字魂105号-简雅黑</vt:lpstr>
      <vt:lpstr>Arial</vt:lpstr>
      <vt:lpstr>Segoe UI</vt:lpstr>
      <vt:lpstr>Times New Roman</vt:lpstr>
      <vt:lpstr>Office 主题​​</vt:lpstr>
      <vt:lpstr>自定义主题</vt:lpstr>
      <vt:lpstr>Office 主题​​</vt:lpstr>
      <vt:lpstr>Office 主题​​</vt:lpstr>
      <vt:lpstr>1_Office 主题​​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Xiuli Dong</dc:creator>
  <cp:lastModifiedBy>Xiuli Dong</cp:lastModifiedBy>
  <cp:revision>119</cp:revision>
  <dcterms:modified xsi:type="dcterms:W3CDTF">2026-09-24T09:30:54Z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{"Label":"1","ContentProducer":"001191110102MACQD9K64010000","ProduceID":"7687259234391935974","ReservedCode1":"","ContentPropagator":"","PropagateID":"","ReservedCode2":""}</vt:lpwstr>
  </property>
</Properties>
</file>