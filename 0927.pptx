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4.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 id="2147483661" r:id="rId3"/>
    <p:sldMasterId id="2147483662" r:id="rId4"/>
    <p:sldMasterId id="2147483663" r:id="rId5"/>
  </p:sldMasterIdLst>
  <p:notesMasterIdLst>
    <p:notesMasterId r:id="rId40"/>
  </p:notesMasterIdLst>
  <p:sldIdLst>
    <p:sldId id="256" r:id="rId6"/>
    <p:sldId id="257" r:id="rId7"/>
    <p:sldId id="258" r:id="rId8"/>
    <p:sldId id="259" r:id="rId9"/>
    <p:sldId id="261" r:id="rId10"/>
    <p:sldId id="260" r:id="rId11"/>
    <p:sldId id="262" r:id="rId12"/>
    <p:sldId id="263" r:id="rId13"/>
    <p:sldId id="264" r:id="rId14"/>
    <p:sldId id="265" r:id="rId15"/>
    <p:sldId id="266" r:id="rId16"/>
    <p:sldId id="267" r:id="rId17"/>
    <p:sldId id="268" r:id="rId18"/>
    <p:sldId id="270" r:id="rId19"/>
    <p:sldId id="271" r:id="rId20"/>
    <p:sldId id="272" r:id="rId21"/>
    <p:sldId id="273" r:id="rId22"/>
    <p:sldId id="274" r:id="rId23"/>
    <p:sldId id="275" r:id="rId24"/>
    <p:sldId id="288" r:id="rId25"/>
    <p:sldId id="285" r:id="rId26"/>
    <p:sldId id="279" r:id="rId27"/>
    <p:sldId id="280" r:id="rId28"/>
    <p:sldId id="276" r:id="rId29"/>
    <p:sldId id="282" r:id="rId30"/>
    <p:sldId id="287" r:id="rId31"/>
    <p:sldId id="293" r:id="rId32"/>
    <p:sldId id="289" r:id="rId33"/>
    <p:sldId id="278" r:id="rId34"/>
    <p:sldId id="290" r:id="rId35"/>
    <p:sldId id="291" r:id="rId36"/>
    <p:sldId id="292" r:id="rId37"/>
    <p:sldId id="283" r:id="rId38"/>
    <p:sldId id="284" r:id="rId39"/>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82889D68-492C-45E9-B5D8-21F282B127AD}">
          <p14:sldIdLst>
            <p14:sldId id="256"/>
            <p14:sldId id="257"/>
            <p14:sldId id="258"/>
            <p14:sldId id="259"/>
            <p14:sldId id="261"/>
            <p14:sldId id="260"/>
            <p14:sldId id="262"/>
            <p14:sldId id="263"/>
            <p14:sldId id="264"/>
            <p14:sldId id="265"/>
            <p14:sldId id="266"/>
            <p14:sldId id="267"/>
            <p14:sldId id="268"/>
            <p14:sldId id="270"/>
            <p14:sldId id="271"/>
          </p14:sldIdLst>
        </p14:section>
        <p14:section name="タイトルなしのセクション" id="{B47305E1-D848-4038-B933-D9E01713979B}">
          <p14:sldIdLst>
            <p14:sldId id="272"/>
            <p14:sldId id="273"/>
            <p14:sldId id="274"/>
            <p14:sldId id="275"/>
            <p14:sldId id="288"/>
            <p14:sldId id="285"/>
            <p14:sldId id="279"/>
            <p14:sldId id="280"/>
            <p14:sldId id="276"/>
            <p14:sldId id="282"/>
            <p14:sldId id="287"/>
            <p14:sldId id="293"/>
            <p14:sldId id="289"/>
            <p14:sldId id="278"/>
            <p14:sldId id="290"/>
            <p14:sldId id="291"/>
            <p14:sldId id="292"/>
            <p14:sldId id="283"/>
            <p14:sldId id="284"/>
          </p14:sldIdLst>
        </p14:section>
      </p14:sectionLst>
    </p:ex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3760"/>
    <a:srgbClr val="D6DCE5"/>
    <a:srgbClr val="CCCE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704" autoAdjust="0"/>
  </p:normalViewPr>
  <p:slideViewPr>
    <p:cSldViewPr snapToGrid="0">
      <p:cViewPr>
        <p:scale>
          <a:sx n="70" d="100"/>
          <a:sy n="70" d="100"/>
        </p:scale>
        <p:origin x="512" y="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zh-CN" altLang="zh-CN" sz="1200" b="0" i="0" u="none" strike="noStrike" kern="1200" dirty="0">
                <a:solidFill>
                  <a:srgbClr val="000000">
                    <a:alpha val="100000"/>
                  </a:srgbClr>
                </a:solidFill>
                <a:effectLst/>
                <a:latin typeface="等线"/>
                <a:ea typeface="+mn-ea"/>
                <a:cs typeface="+mn-cs"/>
              </a:rPr>
              <a:t>各位老师好，我是董秀丽，我的论文题目是《基于多模型弱监督学习的低成本火烟检测研究》。我的研究重点不是去设计一个新的检测网络，而是关注火烟检测训练中一个更前置、也更工程化的问题：怎样以更低的人工成本，稳定地得到真正可用于训练的高质量标签。下面我主要从选题意义、研究问题、方法设计和前期实验基础四个方面汇报。</a:t>
            </a:r>
            <a:r>
              <a:rPr lang="en-US" sz="1200" b="0" i="0" u="none" strike="noStrike" dirty="0">
                <a:solidFill>
                  <a:srgbClr val="000000"/>
                </a:solidFill>
                <a:latin typeface="等线"/>
                <a:ea typeface="等线"/>
                <a:cs typeface="等线"/>
                <a:sym typeface="等线"/>
              </a:rPr>
              <a:t>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u="none" strike="noStrike" kern="1200" dirty="0">
                <a:solidFill>
                  <a:srgbClr val="000000">
                    <a:alpha val="100000"/>
                  </a:srgbClr>
                </a:solidFill>
                <a:effectLst/>
                <a:latin typeface="等线"/>
                <a:ea typeface="+mn-ea"/>
                <a:cs typeface="+mn-cs"/>
              </a:rPr>
              <a:t>整个汇报分为研究背景、研究现状、研究内容与路线、创新点与预期贡献以及工作计划五部分。我会把时间重点放在选题意义、研究问题和方法亮点上，最后用前期实验结果说明这个研究目前已经具备一定的数据和实验基础。</a:t>
            </a:r>
          </a:p>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本研究的出发点来自实际项目中的一个直接痛点。在森林火灾、危化园区等高风险场景中，火情发现越早，预警价值越高，因此对视觉检测的实时性和准确性要求都很高。现在目标检测模型本身已经比较成熟，但它们普遍依赖大量高质量的逐框人工标注。</a:t>
            </a:r>
          </a:p>
          <a:p>
            <a:r>
              <a:rPr lang="zh-CN" altLang="zh-CN" sz="1400" b="0" i="0" u="none" strike="noStrike" kern="1200" dirty="0">
                <a:solidFill>
                  <a:srgbClr val="000000">
                    <a:alpha val="100000"/>
                  </a:srgbClr>
                </a:solidFill>
                <a:effectLst/>
                <a:latin typeface="Songti SC"/>
                <a:ea typeface="+mn-ea"/>
                <a:cs typeface="+mn-cs"/>
              </a:rPr>
              <a:t>火焰和烟雾又不是规则、刚性的目标。它们形态变化快、边界弥散，尤其早期火焰和烟雾尺度很小，不同标注人员对“框到哪里”很容易产生主观差异。所以人工标注不仅成本高、周期长，而且一致性也未必稳定。</a:t>
            </a:r>
          </a:p>
          <a:p>
            <a:r>
              <a:rPr lang="zh-CN" altLang="zh-CN" sz="1400" b="0" i="0" u="none" strike="noStrike" kern="1200" dirty="0">
                <a:solidFill>
                  <a:srgbClr val="000000">
                    <a:alpha val="100000"/>
                  </a:srgbClr>
                </a:solidFill>
                <a:effectLst/>
                <a:latin typeface="Songti SC"/>
                <a:ea typeface="+mn-ea"/>
                <a:cs typeface="+mn-cs"/>
              </a:rPr>
              <a:t>Grounding DINO、SAM这类视觉大模型提供了新的机会：它们具备零样本定位和通用分割能力，理论上可以承担一部分自动标注工作。但我的问题不是简单地“用大模型替代人工”，而是研究怎样把大模型输出变成稳定、可复现、真正对下游YOLO训练有用的标签生产流程。这个问题同时有研究价值和工程价值。</a:t>
            </a:r>
            <a:endParaRPr lang="en-US" sz="1400" b="0" i="0" u="none" strike="noStrike" dirty="0">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基于前面所提到的人工标注成本高、火烟目标边界模糊以及大模型输出稳定性不足这些问题，本研究的总体目标，是在尽量减少全量人工逐框标注依赖的同时，构建一套兼顾标签质量、下游检测效果和生产成本的火烟伪标签生成与选型流程。</a:t>
            </a:r>
          </a:p>
          <a:p>
            <a:r>
              <a:rPr lang="zh-CN" altLang="zh-CN" sz="1400" b="0" i="0" u="none" strike="noStrike" kern="1200" dirty="0">
                <a:solidFill>
                  <a:srgbClr val="000000">
                    <a:alpha val="100000"/>
                  </a:srgbClr>
                </a:solidFill>
                <a:effectLst/>
                <a:latin typeface="Songti SC"/>
                <a:ea typeface="+mn-ea"/>
                <a:cs typeface="+mn-cs"/>
              </a:rPr>
              <a:t>具体来说，我主要从三个层面展开。</a:t>
            </a:r>
          </a:p>
          <a:p>
            <a:r>
              <a:rPr lang="zh-CN" altLang="zh-CN" sz="1400" b="0" i="0" u="none" strike="noStrike" kern="1200" dirty="0">
                <a:solidFill>
                  <a:srgbClr val="000000">
                    <a:alpha val="100000"/>
                  </a:srgbClr>
                </a:solidFill>
                <a:effectLst/>
                <a:latin typeface="Songti SC"/>
                <a:ea typeface="+mn-ea"/>
                <a:cs typeface="+mn-cs"/>
              </a:rPr>
              <a:t>第一是方法层面，利用 Grounding DINO 完成伪标签的冷启动，通过提示词和阈值冻结形成稳定的 V1 基准标签，再进一步验证 SAM3 在审核、补漏和边界修正中的实际作用。</a:t>
            </a:r>
          </a:p>
          <a:p>
            <a:r>
              <a:rPr lang="zh-CN" altLang="zh-CN" sz="1400" b="0" i="0" u="none" strike="noStrike" kern="1200" dirty="0">
                <a:solidFill>
                  <a:srgbClr val="000000">
                    <a:alpha val="100000"/>
                  </a:srgbClr>
                </a:solidFill>
                <a:effectLst/>
                <a:latin typeface="Songti SC"/>
                <a:ea typeface="+mn-ea"/>
                <a:cs typeface="+mn-cs"/>
              </a:rPr>
              <a:t>第二是评价层面，我不只看伪标签本身的精确率、召回率和 IoU，还会在统一的 YOLO 训练协议下验证这些标签最终能不能真正支撑下游检测任务。</a:t>
            </a:r>
          </a:p>
          <a:p>
            <a:r>
              <a:rPr lang="zh-CN" altLang="zh-CN" sz="1400" b="0" i="0" u="none" strike="noStrike" kern="1200" dirty="0">
                <a:solidFill>
                  <a:srgbClr val="000000">
                    <a:alpha val="100000"/>
                  </a:srgbClr>
                </a:solidFill>
                <a:effectLst/>
                <a:latin typeface="Songti SC"/>
                <a:ea typeface="+mn-ea"/>
                <a:cs typeface="+mn-cs"/>
              </a:rPr>
              <a:t>第三是工程层面，通过 Stage-Gate 阶段门控和 Pareto 分析，对不同流程在精度、时间、人工投入和算力成本之间进行综合比较。</a:t>
            </a:r>
          </a:p>
          <a:p>
            <a:r>
              <a:rPr lang="zh-CN" altLang="zh-CN" sz="1400" b="0" i="0" u="none" strike="noStrike" kern="1200" dirty="0">
                <a:solidFill>
                  <a:srgbClr val="000000">
                    <a:alpha val="100000"/>
                  </a:srgbClr>
                </a:solidFill>
                <a:effectLst/>
                <a:latin typeface="Songti SC"/>
                <a:ea typeface="+mn-ea"/>
                <a:cs typeface="+mn-cs"/>
              </a:rPr>
              <a:t>所以，本研究最终希望回答的不是“哪个大模型更强”，而是：在不同数据规模和资源约束下，怎样用现有大模型能力，以更低的成本生产出真正可用于火烟检测训练的数据。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r>
              <a:rPr lang="zh-CN" altLang="zh-CN" sz="1400" b="0" i="0" u="none" strike="noStrike" kern="1200" dirty="0">
                <a:solidFill>
                  <a:srgbClr val="000000">
                    <a:alpha val="100000"/>
                  </a:srgbClr>
                </a:solidFill>
                <a:effectLst/>
                <a:latin typeface="Songti SC"/>
                <a:ea typeface="+mn-ea"/>
                <a:cs typeface="+mn-cs"/>
              </a:rPr>
              <a:t>围绕这个目标，我把研究问题归纳为三个。第一，Grounding DINO怎样稳定生成可用的V1伪标签？它的输出会受到提示词和阈值等因素影响，所以不能只凭经验挑一个配置，而要形成可冻结、可复验的参数选择方法。</a:t>
            </a:r>
          </a:p>
          <a:p>
            <a:r>
              <a:rPr lang="zh-CN" altLang="zh-CN" sz="1400" b="0" i="0" u="none" strike="noStrike" kern="1200" dirty="0">
                <a:solidFill>
                  <a:srgbClr val="000000">
                    <a:alpha val="100000"/>
                  </a:srgbClr>
                </a:solidFill>
                <a:effectLst/>
                <a:latin typeface="Songti SC"/>
                <a:ea typeface="+mn-ea"/>
                <a:cs typeface="+mn-cs"/>
              </a:rPr>
              <a:t>第二，SAM3放在V1之后到底应该做什么？更精细的分割边界并不等于更好的检测框，如果让后置模型随意改框，反而可能造成负向修改。因此我把SAM3拆成Verifier审核、Append补漏和Refiner调框三个角色，并给不同角色设置权限边界，用实验决定谁能进入正式流程。</a:t>
            </a:r>
          </a:p>
          <a:p>
            <a:r>
              <a:rPr lang="zh-CN" altLang="zh-CN" sz="1400" b="0" i="0" u="none" strike="noStrike" kern="1200" dirty="0">
                <a:solidFill>
                  <a:srgbClr val="000000">
                    <a:alpha val="100000"/>
                  </a:srgbClr>
                </a:solidFill>
                <a:effectLst/>
                <a:latin typeface="Songti SC"/>
                <a:ea typeface="+mn-ea"/>
                <a:cs typeface="+mn-cs"/>
              </a:rPr>
              <a:t>第三，当数据从1千张扩大到1万、10万张时，人工、单模型V1和级联方案的成本收益关系会变化。因此最终不能只比较mAP，还要把检测效用、GPU时间和人工工时一起纳入，回答“什么规模、什么约束下应该选哪条流程”。这三个问题分别对应稳定生成、有效后处理和工程选型。</a:t>
            </a:r>
            <a:endParaRPr lang="en-US" sz="1400" b="0" i="0" u="none" strike="noStrike" dirty="0">
              <a:solidFill>
                <a:srgbClr val="000000"/>
              </a:solidFill>
              <a:latin typeface="Songti SC"/>
              <a:ea typeface="Songti SC"/>
              <a:cs typeface="Songti SC"/>
              <a:sym typeface="Songti SC"/>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从现有研究看，一类工作集中在改进YOLO等检测网络来提升火烟识别性能；另一类开始利用Grounding DINO、SAM等基础模型做自动标注或伪标签生成。这些工作说明技术上是可行的，但目前仍有三个不足：一是大模型输出怎样稳定转化为下游训练标签，缺少系统规范；二是多模型级联时，后置模型的改框权限和负向修改缺少约束；三是多数工作只比较精度，很少回答不同数据规模下成本和交付周期如何变化。我的研究主要就是补这三个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Songti SC"/>
              </a:defRPr>
            </a:lvl1pPr>
          </a:lstStyle>
          <a:p>
            <a:pPr marL="0" indent="0" algn="l" defTabSz="914400">
              <a:lnSpc>
                <a:spcPct val="100000"/>
              </a:lnSpc>
            </a:pPr>
            <a:r>
              <a:rPr lang="en-US" sz="1400" b="0" i="0" u="none" strike="noStrike">
                <a:solidFill>
                  <a:srgbClr val="000000"/>
                </a:solidFill>
                <a:latin typeface="Songti SC"/>
                <a:ea typeface="Songti SC"/>
                <a:cs typeface="Songti SC"/>
                <a:sym typeface="Songti SC"/>
              </a:rPr>
              <a:t>回顾国内外研究现状，我们发现几个明显的研究缺口。传统目标检测研究长期受困于数据标注瓶颈。虽然Grounding DINO等开放词汇检测模型和SAM系列分割模型为自动化标注带来了希望，但现有研究大多停留在验证模型本身能力的阶段，对于如何将其输出稳定、可靠地转化为下游检测器可用的训练标签，研究尚不充分。此外，在伪标签评价和不同数据规模下的流程选择方面，也缺乏系统性的探讨。这些缺口正是本研究旨在填补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400" b="0" i="0" u="none" strike="noStrike" kern="1200" dirty="0">
                <a:solidFill>
                  <a:srgbClr val="000000">
                    <a:alpha val="100000"/>
                  </a:srgbClr>
                </a:solidFill>
                <a:effectLst/>
                <a:latin typeface="等线"/>
                <a:ea typeface="+mn-ea"/>
                <a:cs typeface="+mn-cs"/>
              </a:rPr>
              <a:t>针对前面三个问题，我的总体路线可以概括为“生成、校验、裁判、选型”。首先用Grounding DINO生成V1基准伪标签；然后把SAM3作为后置节点，只在审核、补漏或受限调框等明确角色下工作；再用统一训练协议下的YOLO作为下游效用裁判，判断标签改动是否真的对检测训练有价值；最后结合标签质量、人工投入和GPU时间，通过阶段门控和Pareto比较完成流程选型。整个研究不改Grounding DINO、SAM3或YOLO的网络结构，创新重点放在</a:t>
            </a:r>
            <a:r>
              <a:rPr lang="zh-CN" altLang="en-US" sz="1400" b="0" i="0" u="none" strike="noStrike" kern="1200" dirty="0">
                <a:solidFill>
                  <a:srgbClr val="000000">
                    <a:alpha val="100000"/>
                  </a:srgbClr>
                </a:solidFill>
                <a:effectLst/>
                <a:latin typeface="等线"/>
                <a:ea typeface="+mn-ea"/>
                <a:cs typeface="+mn-cs"/>
              </a:rPr>
              <a:t>伪标签生成</a:t>
            </a:r>
            <a:r>
              <a:rPr lang="zh-CN" altLang="zh-CN" sz="1400" b="0" i="0" u="none" strike="noStrike" kern="1200" dirty="0">
                <a:solidFill>
                  <a:srgbClr val="000000">
                    <a:alpha val="100000"/>
                  </a:srgbClr>
                </a:solidFill>
                <a:effectLst/>
                <a:latin typeface="等线"/>
                <a:ea typeface="+mn-ea"/>
                <a:cs typeface="+mn-cs"/>
              </a:rPr>
              <a:t>流程和验证规范上。</a:t>
            </a:r>
          </a:p>
          <a:p>
            <a:pPr marL="0" indent="0" algn="l" defTabSz="914400">
              <a:lnSpc>
                <a:spcPct val="100000"/>
              </a:lnSpc>
            </a:pPr>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等线"/>
              </a:defRPr>
            </a:lvl1pPr>
          </a:lstStyle>
          <a:p>
            <a:pPr marL="0" indent="0" algn="l" defTabSz="914400">
              <a:lnSpc>
                <a:spcPct val="100000"/>
              </a:lnSpc>
            </a:pPr>
            <a:r>
              <a:rPr lang="zh-CN" altLang="en-US" sz="1400" b="0" i="0" u="none" strike="noStrike" dirty="0">
                <a:solidFill>
                  <a:srgbClr val="000000"/>
                </a:solidFill>
                <a:latin typeface="等线"/>
                <a:ea typeface="等线"/>
                <a:cs typeface="等线"/>
                <a:sym typeface="等线"/>
              </a:rPr>
              <a:t>第一步是把</a:t>
            </a:r>
            <a:r>
              <a:rPr lang="en-US" altLang="zh-CN" sz="1400" b="0" i="0" u="none" strike="noStrike" dirty="0">
                <a:solidFill>
                  <a:srgbClr val="000000"/>
                </a:solidFill>
                <a:latin typeface="等线"/>
                <a:ea typeface="等线"/>
                <a:cs typeface="等线"/>
                <a:sym typeface="等线"/>
              </a:rPr>
              <a:t>V1</a:t>
            </a:r>
            <a:r>
              <a:rPr lang="zh-CN" altLang="en-US" sz="1400" b="0" i="0" u="none" strike="noStrike" dirty="0">
                <a:solidFill>
                  <a:srgbClr val="000000"/>
                </a:solidFill>
                <a:latin typeface="等线"/>
                <a:ea typeface="等线"/>
                <a:cs typeface="等线"/>
                <a:sym typeface="等线"/>
              </a:rPr>
              <a:t>做成一个可靠的统一基线。目前我已经完成训练集、开发集和隔离测试集的划分，并按数据来源进行分组，尽量避免同源数据跨集合造成信息泄漏。训练集只用于训练，开发集用于提示词和阈值检索，隔离测试集不参与任何调参。</a:t>
            </a:r>
          </a:p>
          <a:p>
            <a:pPr marL="0" indent="0" algn="l" defTabSz="914400">
              <a:lnSpc>
                <a:spcPct val="100000"/>
              </a:lnSpc>
            </a:pPr>
            <a:r>
              <a:rPr lang="zh-CN" altLang="en-US" sz="1400" b="0" i="0" u="none" strike="noStrike" dirty="0">
                <a:solidFill>
                  <a:srgbClr val="000000"/>
                </a:solidFill>
                <a:latin typeface="等线"/>
                <a:ea typeface="等线"/>
                <a:cs typeface="等线"/>
                <a:sym typeface="等线"/>
              </a:rPr>
              <a:t>在开发集上，我会对候选提示词独立评测，再进行阈值扫描，并结合</a:t>
            </a:r>
            <a:r>
              <a:rPr lang="en-US" altLang="zh-CN" sz="1400" b="0" i="0" u="none" strike="noStrike" dirty="0">
                <a:solidFill>
                  <a:srgbClr val="000000"/>
                </a:solidFill>
                <a:latin typeface="等线"/>
                <a:ea typeface="等线"/>
                <a:cs typeface="等线"/>
                <a:sym typeface="等线"/>
              </a:rPr>
              <a:t>P</a:t>
            </a:r>
            <a:r>
              <a:rPr lang="zh-CN" altLang="en-US" sz="1400" b="0" i="0" u="none" strike="noStrike" dirty="0">
                <a:solidFill>
                  <a:srgbClr val="000000"/>
                </a:solidFill>
                <a:latin typeface="等线"/>
                <a:ea typeface="等线"/>
                <a:cs typeface="等线"/>
                <a:sym typeface="等线"/>
              </a:rPr>
              <a:t>、</a:t>
            </a:r>
            <a:r>
              <a:rPr lang="en-US" altLang="zh-CN" sz="1400" b="0" i="0" u="none" strike="noStrike" dirty="0">
                <a:solidFill>
                  <a:srgbClr val="000000"/>
                </a:solidFill>
                <a:latin typeface="等线"/>
                <a:ea typeface="等线"/>
                <a:cs typeface="等线"/>
                <a:sym typeface="等线"/>
              </a:rPr>
              <a:t>R</a:t>
            </a:r>
            <a:r>
              <a:rPr lang="zh-CN" altLang="en-US" sz="1400" b="0" i="0" u="none" strike="noStrike" dirty="0">
                <a:solidFill>
                  <a:srgbClr val="000000"/>
                </a:solidFill>
                <a:latin typeface="等线"/>
                <a:ea typeface="等线"/>
                <a:cs typeface="等线"/>
                <a:sym typeface="等线"/>
              </a:rPr>
              <a:t>、</a:t>
            </a:r>
            <a:r>
              <a:rPr lang="en-US" altLang="zh-CN" sz="1400" b="0" i="0" u="none" strike="noStrike" dirty="0">
                <a:solidFill>
                  <a:srgbClr val="000000"/>
                </a:solidFill>
                <a:latin typeface="等线"/>
                <a:ea typeface="等线"/>
                <a:cs typeface="等线"/>
                <a:sym typeface="等线"/>
              </a:rPr>
              <a:t>F1</a:t>
            </a:r>
            <a:r>
              <a:rPr lang="zh-CN" altLang="en-US" sz="1400" b="0" i="0" u="none" strike="noStrike" dirty="0">
                <a:solidFill>
                  <a:srgbClr val="000000"/>
                </a:solidFill>
                <a:latin typeface="等线"/>
                <a:ea typeface="等线"/>
                <a:cs typeface="等线"/>
                <a:sym typeface="等线"/>
              </a:rPr>
              <a:t>、</a:t>
            </a:r>
            <a:r>
              <a:rPr lang="en-US" altLang="zh-CN" sz="1400" b="0" i="0" u="none" strike="noStrike" dirty="0" err="1">
                <a:solidFill>
                  <a:srgbClr val="000000"/>
                </a:solidFill>
                <a:latin typeface="等线"/>
                <a:ea typeface="等线"/>
                <a:cs typeface="等线"/>
                <a:sym typeface="等线"/>
              </a:rPr>
              <a:t>IoU</a:t>
            </a:r>
            <a:r>
              <a:rPr lang="zh-CN" altLang="en-US" sz="1400" b="0" i="0" u="none" strike="noStrike" dirty="0">
                <a:solidFill>
                  <a:srgbClr val="000000"/>
                </a:solidFill>
                <a:latin typeface="等线"/>
                <a:ea typeface="等线"/>
                <a:cs typeface="等线"/>
                <a:sym typeface="等线"/>
              </a:rPr>
              <a:t>以及下游指标确定稳定区间。配置一旦选定，就以</a:t>
            </a:r>
            <a:r>
              <a:rPr lang="en-US" altLang="zh-CN" sz="1400" b="0" i="0" u="none" strike="noStrike" dirty="0">
                <a:solidFill>
                  <a:srgbClr val="000000"/>
                </a:solidFill>
                <a:latin typeface="等线"/>
                <a:ea typeface="等线"/>
                <a:cs typeface="等线"/>
                <a:sym typeface="等线"/>
              </a:rPr>
              <a:t>YAML</a:t>
            </a:r>
            <a:r>
              <a:rPr lang="zh-CN" altLang="en-US" sz="1400" b="0" i="0" u="none" strike="noStrike" dirty="0">
                <a:solidFill>
                  <a:srgbClr val="000000"/>
                </a:solidFill>
                <a:latin typeface="等线"/>
                <a:ea typeface="等线"/>
                <a:cs typeface="等线"/>
                <a:sym typeface="等线"/>
              </a:rPr>
              <a:t>等形式硬冻结，并记录标签版本、配置指纹和训练记录。这样后面所有</a:t>
            </a:r>
            <a:r>
              <a:rPr lang="en-US" altLang="zh-CN" sz="1400" b="0" i="0" u="none" strike="noStrike" dirty="0">
                <a:solidFill>
                  <a:srgbClr val="000000"/>
                </a:solidFill>
                <a:latin typeface="等线"/>
                <a:ea typeface="等线"/>
                <a:cs typeface="等线"/>
                <a:sym typeface="等线"/>
              </a:rPr>
              <a:t>SAM3</a:t>
            </a:r>
            <a:r>
              <a:rPr lang="zh-CN" altLang="en-US" sz="1400" b="0" i="0" u="none" strike="noStrike" dirty="0">
                <a:solidFill>
                  <a:srgbClr val="000000"/>
                </a:solidFill>
                <a:latin typeface="等线"/>
                <a:ea typeface="等线"/>
                <a:cs typeface="等线"/>
                <a:sym typeface="等线"/>
              </a:rPr>
              <a:t>方案都和同一个</a:t>
            </a:r>
            <a:r>
              <a:rPr lang="en-US" altLang="zh-CN" sz="1400" b="0" i="0" u="none" strike="noStrike" dirty="0">
                <a:solidFill>
                  <a:srgbClr val="000000"/>
                </a:solidFill>
                <a:latin typeface="等线"/>
                <a:ea typeface="等线"/>
                <a:cs typeface="等线"/>
                <a:sym typeface="等线"/>
              </a:rPr>
              <a:t>V1</a:t>
            </a:r>
            <a:r>
              <a:rPr lang="zh-CN" altLang="en-US" sz="1400" b="0" i="0" u="none" strike="noStrike" dirty="0">
                <a:solidFill>
                  <a:srgbClr val="000000"/>
                </a:solidFill>
                <a:latin typeface="等线"/>
                <a:ea typeface="等线"/>
                <a:cs typeface="等线"/>
                <a:sym typeface="等线"/>
              </a:rPr>
              <a:t>基线比较，保证可追溯、可复现。</a:t>
            </a:r>
            <a:endParaRPr lang="en-US" altLang="zh-CN" sz="1400" b="0" i="0" u="none" strike="noStrike" dirty="0">
              <a:solidFill>
                <a:srgbClr val="000000"/>
              </a:solidFill>
              <a:latin typeface="等线"/>
              <a:ea typeface="等线"/>
              <a:cs typeface="等线"/>
              <a:sym typeface="等线"/>
            </a:endParaRPr>
          </a:p>
          <a:p>
            <a:r>
              <a:rPr lang="zh-CN" altLang="zh-CN" sz="1400" b="0" i="0" u="none" strike="noStrike" kern="1200" dirty="0">
                <a:solidFill>
                  <a:srgbClr val="000000">
                    <a:alpha val="100000"/>
                  </a:srgbClr>
                </a:solidFill>
                <a:effectLst/>
                <a:latin typeface="等线"/>
                <a:ea typeface="+mn-ea"/>
                <a:cs typeface="+mn-cs"/>
              </a:rPr>
              <a:t>第二步是SAM3后置策略。我的设计不是让SAM3拿到框以后全部重新定位，而是把它拆成三个受控角色：Verifier只负责审核已有候选，Append只负责发现V1可能漏掉的目标，Refiner才涉及边界调整。不同角色权限不同，尤其对“改框”设置更严格的门槛。</a:t>
            </a:r>
          </a:p>
          <a:p>
            <a:r>
              <a:rPr lang="zh-CN" altLang="zh-CN" sz="1400" b="0" i="0" u="none" strike="noStrike" kern="1200" dirty="0">
                <a:solidFill>
                  <a:srgbClr val="000000">
                    <a:alpha val="100000"/>
                  </a:srgbClr>
                </a:solidFill>
                <a:effectLst/>
                <a:latin typeface="等线"/>
                <a:ea typeface="+mn-ea"/>
                <a:cs typeface="+mn-cs"/>
              </a:rPr>
              <a:t>每个分支都经过Stage-Gate，也就是Go、Hold、Stop三种决策。只有开发集证据和下游效用都支持的分支才继续；有潜力但证据不足的先Hold；出现稳定退化的直接Stop。这样可以避免多模型级联越做越复杂，也避免后置模型把原本可用的标签改坏。</a:t>
            </a:r>
            <a:endParaRPr lang="en-US" altLang="zh-CN" sz="1400" b="0" i="0" u="none" strike="noStrike" kern="1200" dirty="0">
              <a:solidFill>
                <a:srgbClr val="000000">
                  <a:alpha val="100000"/>
                </a:srgbClr>
              </a:solidFill>
              <a:effectLst/>
              <a:latin typeface="等线"/>
              <a:ea typeface="+mn-ea"/>
              <a:cs typeface="+mn-cs"/>
            </a:endParaRPr>
          </a:p>
          <a:p>
            <a:r>
              <a:rPr lang="zh-CN" altLang="zh-CN" sz="1400" b="0" i="0" u="none" strike="noStrike" kern="1200" dirty="0">
                <a:solidFill>
                  <a:srgbClr val="000000">
                    <a:alpha val="100000"/>
                  </a:srgbClr>
                </a:solidFill>
                <a:effectLst/>
                <a:latin typeface="等线"/>
                <a:ea typeface="+mn-ea"/>
                <a:cs typeface="+mn-cs"/>
              </a:rPr>
              <a:t>第三步是评价。我采用两层验证。第一层是标签层诊断，包括精确率、召回率、IoU、漏检、误检以及框偏差等，用来解释标签到底出了什么问题；第二层是下游效用验证，在统一的YOLO训练协议下比较检测性能和相对人工GT的性能保留率。</a:t>
            </a:r>
          </a:p>
          <a:p>
            <a:r>
              <a:rPr lang="zh-CN" altLang="zh-CN" sz="1400" b="0" i="0" u="none" strike="noStrike" kern="1200" dirty="0">
                <a:solidFill>
                  <a:srgbClr val="000000">
                    <a:alpha val="100000"/>
                  </a:srgbClr>
                </a:solidFill>
                <a:effectLst/>
                <a:latin typeface="等线"/>
                <a:ea typeface="+mn-ea"/>
                <a:cs typeface="+mn-cs"/>
              </a:rPr>
              <a:t>这个设计的原因是，火烟边界本身就有标注风格差异。如果只看IoU，可能把风格差异误判成严重错误；如果只看mAP，又解释不清为什么变好或变差。所以我希望用“标签质量诊断 + 下游训练效用”共同判断，而不是用单一指标替代真实应用价值。</a:t>
            </a:r>
          </a:p>
          <a:p>
            <a:endParaRPr lang="zh-CN" altLang="zh-CN" sz="1400" b="0" i="0" u="none" strike="noStrike" kern="1200" dirty="0">
              <a:solidFill>
                <a:srgbClr val="000000">
                  <a:alpha val="100000"/>
                </a:srgbClr>
              </a:solidFill>
              <a:effectLst/>
              <a:latin typeface="等线"/>
              <a:ea typeface="+mn-ea"/>
              <a:cs typeface="+mn-cs"/>
            </a:endParaRPr>
          </a:p>
          <a:p>
            <a:pPr marL="0" indent="0" algn="l" defTabSz="914400">
              <a:lnSpc>
                <a:spcPct val="100000"/>
              </a:lnSpc>
            </a:pPr>
            <a:endParaRPr lang="en-US" sz="14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基于前面的设计，我目前把创新点归纳为三类。第一，是面向非刚性火烟目标的异构大模型级联伪标签管线，也就是Grounding DINO定位、SAM3后置审核或补漏、YOLO下游裁判，但关键不在“模型多”，而在每个模型的职责和权限被明确限制。</a:t>
            </a:r>
          </a:p>
          <a:p>
            <a:r>
              <a:rPr lang="zh-CN" altLang="zh-CN" sz="1200" b="0" i="0" u="none" strike="noStrike" kern="1200" dirty="0">
                <a:solidFill>
                  <a:srgbClr val="000000">
                    <a:alpha val="100000"/>
                  </a:srgbClr>
                </a:solidFill>
                <a:effectLst/>
                <a:latin typeface="等线"/>
                <a:ea typeface="+mn-ea"/>
                <a:cs typeface="+mn-cs"/>
              </a:rPr>
              <a:t>第二，是低预算的提示冻结与噪声审计。把经验式提示词选择转成“独立评测—稳定区间—硬冻结”的工程参数，并结合中心点偏移、边界容差IoU、IoF包含率等方法区分标注风格差异和真实定位噪声。</a:t>
            </a:r>
          </a:p>
          <a:p>
            <a:r>
              <a:rPr lang="zh-CN" altLang="zh-CN" sz="1200" b="0" i="0" u="none" strike="noStrike" kern="1200" dirty="0">
                <a:solidFill>
                  <a:srgbClr val="000000">
                    <a:alpha val="100000"/>
                  </a:srgbClr>
                </a:solidFill>
                <a:effectLst/>
                <a:latin typeface="等线"/>
                <a:ea typeface="+mn-ea"/>
                <a:cs typeface="+mn-cs"/>
              </a:rPr>
              <a:t>第三，是把人工工时和GPU机时独立核算，在1千、1万、10万规模下做Pareto非支配比较。也就是说，最后不是简单宣布某个方案“精度最高”，而是回答不同资源约束下哪类流程更合适。</a:t>
            </a:r>
          </a:p>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87423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5857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0" i="0" u="none" strike="noStrike" kern="1200" dirty="0">
                <a:solidFill>
                  <a:srgbClr val="000000">
                    <a:alpha val="100000"/>
                  </a:srgbClr>
                </a:solidFill>
                <a:effectLst/>
                <a:latin typeface="等线"/>
                <a:ea typeface="+mn-ea"/>
                <a:cs typeface="+mn-cs"/>
              </a:rPr>
              <a:t>前期基础方面，我已经完成了多源火烟图像整理、数据划分和V1批量生成流程，目前约有3000张图像进入这一套训练与验证体系。V1标签已经能够直接用于YOLO训练，</a:t>
            </a:r>
            <a:r>
              <a:rPr lang="en-US" altLang="zh-CN" sz="1200" b="0" i="0" u="none" strike="noStrike" kern="1200" dirty="0">
                <a:solidFill>
                  <a:srgbClr val="000000">
                    <a:alpha val="100000"/>
                  </a:srgbClr>
                </a:solidFill>
                <a:effectLst/>
                <a:latin typeface="等线"/>
                <a:ea typeface="+mn-ea"/>
                <a:cs typeface="+mn-cs"/>
              </a:rPr>
              <a:t>SAM3</a:t>
            </a:r>
            <a:r>
              <a:rPr lang="en-US" altLang="zh-CN" sz="1200" b="1" i="0" u="none" strike="noStrike" dirty="0">
                <a:solidFill>
                  <a:srgbClr val="FFFFFF"/>
                </a:solidFill>
                <a:latin typeface="微软雅黑"/>
                <a:ea typeface="微软雅黑"/>
                <a:cs typeface="微软雅黑"/>
                <a:sym typeface="微软雅黑"/>
              </a:rPr>
              <a:t>候选分支状态</a:t>
            </a:r>
            <a:r>
              <a:rPr lang="zh-CN" altLang="en-US" sz="1200" b="0" i="0" u="none" strike="noStrike" dirty="0">
                <a:solidFill>
                  <a:srgbClr val="000000"/>
                </a:solidFill>
                <a:latin typeface="等线"/>
                <a:ea typeface="等线"/>
                <a:cs typeface="微软雅黑"/>
                <a:sym typeface="等线"/>
              </a:rPr>
              <a:t>以及各个候选的稳定性实验已完成初步实验；</a:t>
            </a:r>
            <a:r>
              <a:rPr lang="zh-CN" altLang="zh-CN" sz="1200" b="0" i="0" u="none" strike="noStrike" kern="1200" dirty="0">
                <a:solidFill>
                  <a:srgbClr val="000000">
                    <a:alpha val="100000"/>
                  </a:srgbClr>
                </a:solidFill>
                <a:effectLst/>
                <a:latin typeface="等线"/>
                <a:ea typeface="+mn-ea"/>
                <a:cs typeface="+mn-cs"/>
              </a:rPr>
              <a:t>已经有可运行、可复查的基线流程。</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715879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7BE63-5BB0-15D0-71B4-7A470508E49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AB081-FD98-FCF7-B4F6-814FA4C6188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F6DE4E4-AEAA-79AC-AFF7-DC2741C4788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800B928-F9C1-7A48-7959-247838256E3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BF159D-3165-222C-2B36-2985CF33DB2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200" b="0" i="0" u="none" strike="noStrike" kern="1200" dirty="0">
              <a:solidFill>
                <a:srgbClr val="000000">
                  <a:alpha val="100000"/>
                </a:srgbClr>
              </a:solidFill>
              <a:effectLst/>
              <a:latin typeface="等线"/>
              <a:ea typeface="+mn-ea"/>
              <a:cs typeface="+mn-cs"/>
            </a:endParaRPr>
          </a:p>
        </p:txBody>
      </p:sp>
      <p:sp>
        <p:nvSpPr>
          <p:cNvPr id="6" name="Footer Placeholder 5">
            <a:extLst>
              <a:ext uri="{FF2B5EF4-FFF2-40B4-BE49-F238E27FC236}">
                <a16:creationId xmlns:a16="http://schemas.microsoft.com/office/drawing/2014/main" id="{260D4A68-6DF4-C512-99A1-26C2CE05D4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CB8AF3-5F2C-C1CC-B6CA-0E427FDB644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43903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0982F-9581-644D-3B7C-E77F0C8E796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FCB272-FFE5-BD9E-5963-1B2067AB2CC3}"/>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AB02F5A-838D-45B5-9F50-E4490417D97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21367EE-E37D-B34A-E512-83EEE10F40E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BCBEE6-F0DA-6B4D-B3A5-49D6EFD36193}"/>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r>
              <a:rPr lang="zh-CN" altLang="zh-CN" sz="1200" b="0" i="0" u="none" strike="noStrike" kern="1200" dirty="0">
                <a:solidFill>
                  <a:srgbClr val="000000">
                    <a:alpha val="100000"/>
                  </a:srgbClr>
                </a:solidFill>
                <a:effectLst/>
                <a:latin typeface="等线"/>
                <a:ea typeface="+mn-ea"/>
                <a:cs typeface="+mn-cs"/>
              </a:rPr>
              <a:t>这一页是目前比较关键的一组实验结果。</a:t>
            </a:r>
          </a:p>
          <a:p>
            <a:r>
              <a:rPr lang="zh-CN" altLang="zh-CN" sz="1200" b="0" i="0" u="none" strike="noStrike" kern="1200" dirty="0">
                <a:solidFill>
                  <a:srgbClr val="000000">
                    <a:alpha val="100000"/>
                  </a:srgbClr>
                </a:solidFill>
                <a:effectLst/>
                <a:latin typeface="等线"/>
                <a:ea typeface="+mn-ea"/>
                <a:cs typeface="+mn-cs"/>
              </a:rPr>
              <a:t>先看基线，人工 GT 的 mAP50:95 是 0.5377，V1 是 0.4623。也就是说，V1 生成的伪标签已经能拿来训练，但和人工标签还是有差距。</a:t>
            </a:r>
          </a:p>
          <a:p>
            <a:r>
              <a:rPr lang="zh-CN" altLang="zh-CN" sz="1200" b="0" i="0" u="none" strike="noStrike" kern="1200" dirty="0">
                <a:solidFill>
                  <a:srgbClr val="000000">
                    <a:alpha val="100000"/>
                  </a:srgbClr>
                </a:solidFill>
                <a:effectLst/>
                <a:latin typeface="等线"/>
                <a:ea typeface="+mn-ea"/>
                <a:cs typeface="+mn-cs"/>
              </a:rPr>
              <a:t>加入 SAM3 以后，我分别测试了三个角色。Verifier 主要做审核，它的 Recall 从 0.6216 提升到 0.6609，mAP50 也有小幅提升，所以这个方向是有价值的，后面我又用多随机种子做了稳定性验证。</a:t>
            </a:r>
          </a:p>
          <a:p>
            <a:r>
              <a:rPr lang="zh-CN" altLang="zh-CN" sz="1200" b="0" i="0" u="none" strike="noStrike" kern="1200" dirty="0">
                <a:solidFill>
                  <a:srgbClr val="000000">
                    <a:alpha val="100000"/>
                  </a:srgbClr>
                </a:solidFill>
                <a:effectLst/>
                <a:latin typeface="等线"/>
                <a:ea typeface="+mn-ea"/>
                <a:cs typeface="+mn-cs"/>
              </a:rPr>
              <a:t>Append 主要负责补漏。从结果看，它能找回一部分漏检目标，但 IoF 阈值不同，结果也会变化，所以这里主要解决的是怎么补漏，同时不要引入太多误检和重复框。</a:t>
            </a:r>
          </a:p>
          <a:p>
            <a:r>
              <a:rPr lang="zh-CN" altLang="zh-CN" sz="1200" b="0" i="0" u="none" strike="noStrike" kern="1200" dirty="0">
                <a:solidFill>
                  <a:srgbClr val="000000">
                    <a:alpha val="100000"/>
                  </a:srgbClr>
                </a:solidFill>
                <a:effectLst/>
                <a:latin typeface="等线"/>
                <a:ea typeface="+mn-ea"/>
                <a:cs typeface="+mn-cs"/>
              </a:rPr>
              <a:t>Refiner 的结果就比较明显了。它直接调整原来的检测框以后，mAP50:95 降到了 0.3701，性能明显变差，所以这个分支我直接停掉。</a:t>
            </a:r>
          </a:p>
          <a:p>
            <a:r>
              <a:rPr lang="zh-CN" altLang="zh-CN" sz="1200" b="0" i="0" u="none" strike="noStrike" kern="1200" dirty="0">
                <a:solidFill>
                  <a:srgbClr val="000000">
                    <a:alpha val="100000"/>
                  </a:srgbClr>
                </a:solidFill>
                <a:effectLst/>
                <a:latin typeface="等线"/>
                <a:ea typeface="+mn-ea"/>
                <a:cs typeface="+mn-cs"/>
              </a:rPr>
              <a:t>所以这一组实验给我的结论很明确：SAM3 不是用得越多越好，重点是它在流程里做什么，以及允许它改到什么程度。</a:t>
            </a:r>
          </a:p>
        </p:txBody>
      </p:sp>
      <p:sp>
        <p:nvSpPr>
          <p:cNvPr id="6" name="Footer Placeholder 5">
            <a:extLst>
              <a:ext uri="{FF2B5EF4-FFF2-40B4-BE49-F238E27FC236}">
                <a16:creationId xmlns:a16="http://schemas.microsoft.com/office/drawing/2014/main" id="{BA905ADE-19A3-34B1-1ED4-49774182C68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48FB220-D2C8-63C9-2061-3121B0C9277A}"/>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707093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latin typeface="Arial"/>
              </a:defRPr>
            </a:lvl1pPr>
          </a:lstStyle>
          <a:p>
            <a:pPr marL="0" indent="0" algn="l" defTabSz="914400">
              <a:lnSpc>
                <a:spcPct val="100000"/>
              </a:lnSpc>
            </a:pPr>
            <a:r>
              <a:rPr lang="en-US" sz="1400" b="0" i="0" u="none" strike="noStrike" dirty="0">
                <a:solidFill>
                  <a:srgbClr val="000000"/>
                </a:solidFill>
                <a:latin typeface="Arial"/>
                <a:ea typeface="Arial"/>
                <a:cs typeface="Arial"/>
                <a:sym typeface="Arial"/>
              </a:rPr>
              <a:t>E1与E2A各跑3个随机种子。从原始结果看，E2A在3个seed下mAP50:95均略高于E1，方向稳定，说明Verifier带来的提升不是单次偶然。证明结论的可复现性和稳健性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D61F5-D6FA-F59C-08A4-50B26CC59B3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0203719-28FC-0006-AA64-575745C9A9B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251939-16CE-C4E1-7721-AE5DE7955F2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19A258A-00E5-4AB6-3927-63EDA4B77E7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4FE8103-F126-1566-987C-A5D4EC7B951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8AD02F9-DE3E-4D1D-9B77-2D8428AC7D2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9384C46-B7C4-A99C-55AA-1CC22F23725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520444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C9F7F-9B12-0DC1-997D-4B1C59631EE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4B4A2B-5D6E-1314-3F8A-08BF8704B59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E8A1FF7-D056-3D30-9BA6-357EA9B3010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78825D3-8222-3D45-294A-6AAFC0DB203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B9B50AF-18FF-2F5F-6FD8-214D9221E272}"/>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5E02B6F0-CC4B-5FEB-6FDB-055FAEBE8761}"/>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A9F3D65-DA1D-F6CB-E88C-AB48FAB1A58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8386441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52892-9684-A966-346C-5EBE77F4F6C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192108-9F75-8794-83ED-6D19F5ED67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EF27E1C-DC06-FCC1-903A-E61304B24A8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0A55FAB-A164-487B-066F-E45B050864A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B2B0277-ADDD-2D2B-34F2-D73EEC880FC9}"/>
              </a:ext>
            </a:extLst>
          </p:cNvPr>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endParaRPr lang="en-US" sz="1200" b="0" i="0" u="none" strike="noStrike" dirty="0">
              <a:solidFill>
                <a:srgbClr val="000000"/>
              </a:solidFill>
              <a:latin typeface="等线"/>
              <a:ea typeface="等线"/>
              <a:cs typeface="等线"/>
              <a:sym typeface="等线"/>
            </a:endParaRPr>
          </a:p>
        </p:txBody>
      </p:sp>
      <p:sp>
        <p:nvSpPr>
          <p:cNvPr id="6" name="Footer Placeholder 5">
            <a:extLst>
              <a:ext uri="{FF2B5EF4-FFF2-40B4-BE49-F238E27FC236}">
                <a16:creationId xmlns:a16="http://schemas.microsoft.com/office/drawing/2014/main" id="{ED73D26D-B2DE-6BC5-6491-187B08EEC14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1096AA9-2E72-DEAB-953E-3092B434583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56289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rm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zh-CN" altLang="zh-CN" sz="1200" b="0" i="0" u="none" strike="noStrike" kern="1200" dirty="0">
                <a:solidFill>
                  <a:srgbClr val="000000">
                    <a:alpha val="100000"/>
                  </a:srgbClr>
                </a:solidFill>
                <a:effectLst/>
                <a:latin typeface="等线"/>
                <a:ea typeface="+mn-ea"/>
                <a:cs typeface="+mn-cs"/>
              </a:rPr>
              <a:t>后续工作主要分三步：先完成V1冻结和SAM3角色的稳定性筛选；再完善标签质量评价体系和隔离测试；最后完成多规模成本测算、Pareto选型和论文撰写。</a:t>
            </a:r>
            <a:endParaRPr lang="en-US" sz="1200" b="0" i="0" u="none" strike="noStrike" dirty="0">
              <a:solidFill>
                <a:srgbClr val="000000"/>
              </a:solidFill>
              <a:latin typeface="等线"/>
              <a:ea typeface="等线"/>
              <a:cs typeface="等线"/>
              <a:sym typeface="等线"/>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defTabSz="914400">
              <a:lnSpc>
                <a:spcPct val="100000"/>
              </a:lnSpc>
              <a:defRPr sz="1200" b="0" i="0" u="none" strike="noStrike">
                <a:solidFill>
                  <a:srgbClr val="000000">
                    <a:alpha val="100000"/>
                  </a:srgbClr>
                </a:solidFill>
                <a:latin typeface="等线"/>
              </a:defRPr>
            </a:lvl1pPr>
          </a:lstStyle>
          <a:p>
            <a:pPr marL="0" indent="0" algn="l" defTabSz="914400">
              <a:lnSpc>
                <a:spcPct val="100000"/>
              </a:lnSpc>
            </a:pPr>
            <a:r>
              <a:rPr lang="en-US" sz="1200" b="0" i="0" u="none" strike="noStrike">
                <a:solidFill>
                  <a:srgbClr val="000000"/>
                </a:solidFill>
                <a:latin typeface="等线"/>
                <a:ea typeface="等线"/>
                <a:cs typeface="等线"/>
                <a:sym typeface="等线"/>
              </a:rPr>
              <a:t>Click to add text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1143000" y="841772"/>
            <a:ext cx="6858000" cy="1790700"/>
          </a:xfrm>
          <a:prstGeom prst="rect">
            <a:avLst/>
          </a:prstGeom>
          <a:noFill/>
          <a:ln w="12700">
            <a:noFill/>
            <a:prstDash val="solid"/>
          </a:ln>
        </p:spPr>
        <p:txBody>
          <a:bodyPr wrap="square" lIns="68575" tIns="34275" rIns="68575" bIns="34275" anchor="b">
            <a:normAutofit/>
          </a:bodyPr>
          <a:lstStyle>
            <a:lvl1pPr algn="ctr">
              <a:lnSpc>
                <a:spcPct val="91666"/>
              </a:lnSpc>
              <a:defRPr sz="4500" b="1" i="0" u="none" strike="noStrike" spc="0">
                <a:solidFill>
                  <a:srgbClr val="1F2329">
                    <a:alpha val="100000"/>
                  </a:srgbClr>
                </a:solidFill>
                <a:latin typeface="Noto Sans SC"/>
              </a:defRPr>
            </a:lvl1pPr>
          </a:lstStyle>
          <a:p>
            <a:pPr marL="0" indent="0" algn="ctr">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7" hasCustomPrompt="1"/>
          </p:nvPr>
        </p:nvSpPr>
        <p:spPr>
          <a:xfrm>
            <a:off x="1143000" y="2701528"/>
            <a:ext cx="6858000" cy="1241821"/>
          </a:xfrm>
          <a:prstGeom prst="rect">
            <a:avLst/>
          </a:prstGeom>
          <a:noFill/>
          <a:ln w="12700">
            <a:noFill/>
            <a:prstDash val="solid"/>
          </a:ln>
        </p:spPr>
        <p:txBody>
          <a:bodyPr wrap="square" lIns="68575" tIns="34275" rIns="68575" bIns="34275" anchor="t">
            <a:normAutofit/>
          </a:bodyPr>
          <a:lstStyle>
            <a:lvl1pPr algn="ctr">
              <a:lnSpc>
                <a:spcPct val="91666"/>
              </a:lnSpc>
              <a:defRPr sz="1800" b="1" i="0" u="none" strike="noStrike" spc="0">
                <a:solidFill>
                  <a:srgbClr val="1F2329">
                    <a:alpha val="100000"/>
                  </a:srgbClr>
                </a:solidFill>
                <a:latin typeface="Noto Sans SC"/>
              </a:defRPr>
            </a:lvl1pPr>
          </a:lstStyle>
          <a:p>
            <a:pPr marL="457200" indent="-361950" algn="ctr">
              <a:lnSpc>
                <a:spcPct val="91666"/>
              </a:lnSpc>
              <a:spcBef>
                <a:spcPts val="800"/>
              </a:spcBef>
            </a:pPr>
            <a:r>
              <a:rPr lang="en-US" sz="1800" b="0" i="0" u="none" strike="noStrike">
                <a:solidFill>
                  <a:srgbClr val="000000"/>
                </a:solidFill>
                <a:latin typeface="Arial"/>
                <a:ea typeface="Arial"/>
                <a:cs typeface="Arial"/>
                <a:sym typeface="Arial"/>
              </a:rPr>
              <a:t>Click to add subtitle</a:t>
            </a:r>
          </a:p>
        </p:txBody>
      </p:sp>
      <p:sp>
        <p:nvSpPr>
          <p:cNvPr id="4" name="AutoShape 4"/>
          <p:cNvSpPr>
            <a:spLocks noGrp="1"/>
          </p:cNvSpPr>
          <p:nvPr>
            <p:ph type="body" sz="quarter" idx="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CEC384CD-57EF-43FD-907F-029DF5E6322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OBJEC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1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1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27C52C2F-0F0A-4498-8A70-B30F57DEB931}"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_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623888" y="1282304"/>
            <a:ext cx="7886700" cy="2139553"/>
          </a:xfrm>
          <a:prstGeom prst="rect">
            <a:avLst/>
          </a:prstGeom>
          <a:noFill/>
          <a:ln w="12700">
            <a:noFill/>
            <a:prstDash val="solid"/>
          </a:ln>
        </p:spPr>
        <p:txBody>
          <a:bodyPr wrap="square" lIns="68575" tIns="34275" rIns="68575" bIns="34275" anchor="b">
            <a:normAutofit/>
          </a:bodyPr>
          <a:lstStyle>
            <a:lvl1pPr algn="l">
              <a:lnSpc>
                <a:spcPct val="91666"/>
              </a:lnSpc>
              <a:defRPr sz="4500" b="1" i="0" u="none" strike="noStrike" spc="0">
                <a:solidFill>
                  <a:srgbClr val="1F2329">
                    <a:alpha val="100000"/>
                  </a:srgbClr>
                </a:solidFill>
                <a:latin typeface="Noto Sans SC"/>
              </a:defRPr>
            </a:lvl1pPr>
          </a:lstStyle>
          <a:p>
            <a:pPr marL="0" indent="0" algn="l">
              <a:lnSpc>
                <a:spcPct val="91666"/>
              </a:lnSpc>
            </a:pPr>
            <a:r>
              <a:rPr lang="en-US" sz="45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17" hasCustomPrompt="1"/>
          </p:nvPr>
        </p:nvSpPr>
        <p:spPr>
          <a:xfrm>
            <a:off x="623888" y="3442097"/>
            <a:ext cx="7886700" cy="1125140"/>
          </a:xfrm>
          <a:prstGeom prst="rect">
            <a:avLst/>
          </a:prstGeom>
          <a:noFill/>
          <a:ln w="12700">
            <a:noFill/>
            <a:prstDash val="solid"/>
          </a:ln>
        </p:spPr>
        <p:txBody>
          <a:bodyPr wrap="square" lIns="68575" tIns="34275" rIns="68575" bIns="34275" anchor="t">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0" i="0" u="none" strike="noStrike">
                <a:solidFill>
                  <a:srgbClr val="888888"/>
                </a:solidFill>
                <a:latin typeface="Arial"/>
                <a:ea typeface="Arial"/>
                <a:cs typeface="Arial"/>
                <a:sym typeface="Arial"/>
              </a:rPr>
              <a:t>Click to add text</a:t>
            </a:r>
          </a:p>
        </p:txBody>
      </p:sp>
      <p:sp>
        <p:nvSpPr>
          <p:cNvPr id="4" name="AutoShape 4"/>
          <p:cNvSpPr>
            <a:spLocks noGrp="1"/>
          </p:cNvSpPr>
          <p:nvPr>
            <p:ph type="body" sz="quarter" idx="18"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19"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20"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92B1D72-CE4E-4156-B42E-CB42F8310EA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_OBJECTS">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2" hasCustomPrompt="1"/>
          </p:nvPr>
        </p:nvSpPr>
        <p:spPr>
          <a:xfrm>
            <a:off x="6286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3" hasCustomPrompt="1"/>
          </p:nvPr>
        </p:nvSpPr>
        <p:spPr>
          <a:xfrm>
            <a:off x="4629150" y="1369219"/>
            <a:ext cx="3886200" cy="3263504"/>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24"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25"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26"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3ECDE5C9-8DC4-4CE3-8FD2-C96064BCBF4A}"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WO_OBJECTS_WITH_TEXT">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629841"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28" hasCustomPrompt="1"/>
          </p:nvPr>
        </p:nvSpPr>
        <p:spPr>
          <a:xfrm>
            <a:off x="629841" y="1260872"/>
            <a:ext cx="3868340"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29" hasCustomPrompt="1"/>
          </p:nvPr>
        </p:nvSpPr>
        <p:spPr>
          <a:xfrm>
            <a:off x="629841" y="1878806"/>
            <a:ext cx="3868340"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30" hasCustomPrompt="1"/>
          </p:nvPr>
        </p:nvSpPr>
        <p:spPr>
          <a:xfrm>
            <a:off x="4629150" y="1260872"/>
            <a:ext cx="3887391" cy="617934"/>
          </a:xfrm>
          <a:prstGeom prst="rect">
            <a:avLst/>
          </a:prstGeom>
          <a:noFill/>
          <a:ln w="12700">
            <a:noFill/>
            <a:prstDash val="solid"/>
          </a:ln>
        </p:spPr>
        <p:txBody>
          <a:bodyPr wrap="square" lIns="68575" tIns="34275" rIns="68575" bIns="34275" anchor="b">
            <a:normAutofit/>
          </a:bodyPr>
          <a:lstStyle>
            <a:lvl1pPr algn="l">
              <a:lnSpc>
                <a:spcPct val="91666"/>
              </a:lnSpc>
              <a:defRPr sz="18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800" b="1" i="0" u="none" strike="noStrike">
                <a:solidFill>
                  <a:srgbClr val="000000"/>
                </a:solidFill>
                <a:latin typeface="Arial"/>
                <a:ea typeface="Arial"/>
                <a:cs typeface="Arial"/>
                <a:sym typeface="Arial"/>
              </a:rPr>
              <a:t>Click to add text</a:t>
            </a:r>
          </a:p>
        </p:txBody>
      </p:sp>
      <p:sp>
        <p:nvSpPr>
          <p:cNvPr id="6" name="AutoShape 6"/>
          <p:cNvSpPr>
            <a:spLocks noGrp="1"/>
          </p:cNvSpPr>
          <p:nvPr>
            <p:ph type="body" sz="quarter" idx="31" hasCustomPrompt="1"/>
          </p:nvPr>
        </p:nvSpPr>
        <p:spPr>
          <a:xfrm>
            <a:off x="4629150" y="1878806"/>
            <a:ext cx="3887391" cy="2763441"/>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7" name="AutoShape 7"/>
          <p:cNvSpPr>
            <a:spLocks noGrp="1"/>
          </p:cNvSpPr>
          <p:nvPr>
            <p:ph type="body" sz="quarter" idx="32"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8" name="AutoShape 8"/>
          <p:cNvSpPr>
            <a:spLocks noGrp="1"/>
          </p:cNvSpPr>
          <p:nvPr>
            <p:ph type="body" sz="quarter" idx="33"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9" name="AutoShape 9"/>
          <p:cNvSpPr>
            <a:spLocks noGrp="1"/>
          </p:cNvSpPr>
          <p:nvPr>
            <p:ph type="body" sz="quarter" idx="34"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4809A646-E911-4D0D-ACEE-1BAE15261453}"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_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3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3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5" name="AutoShape 5"/>
          <p:cNvSpPr>
            <a:spLocks noGrp="1"/>
          </p:cNvSpPr>
          <p:nvPr>
            <p:ph type="body" sz="quarter" idx="3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7E2B24AD-3E94-4A39-985A-897339F5CDA8}"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9"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3" name="AutoShape 3"/>
          <p:cNvSpPr>
            <a:spLocks noGrp="1"/>
          </p:cNvSpPr>
          <p:nvPr>
            <p:ph type="body" sz="quarter" idx="40"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4" name="AutoShape 4"/>
          <p:cNvSpPr>
            <a:spLocks noGrp="1"/>
          </p:cNvSpPr>
          <p:nvPr>
            <p:ph type="body" sz="quarter" idx="41"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0F8C43DB-9465-491F-A085-5696C2DBC62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OBJECT_WITH_CAPTION_TEXT">
    <p:spTree>
      <p:nvGrpSpPr>
        <p:cNvPr id="1" name=""/>
        <p:cNvGrpSpPr/>
        <p:nvPr/>
      </p:nvGrpSpPr>
      <p:grpSpPr>
        <a:xfrm>
          <a:off x="0" y="0"/>
          <a:ext cx="0" cy="0"/>
          <a:chOff x="0" y="0"/>
          <a:chExt cx="0" cy="0"/>
        </a:xfrm>
      </p:grpSpPr>
      <p:sp>
        <p:nvSpPr>
          <p:cNvPr id="2" name="AutoShape 2"/>
          <p:cNvSpPr>
            <a:spLocks noGrp="1"/>
          </p:cNvSpPr>
          <p:nvPr>
            <p:ph type="body" sz="quarter" idx="42"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43" hasCustomPrompt="1"/>
          </p:nvPr>
        </p:nvSpPr>
        <p:spPr>
          <a:xfrm>
            <a:off x="3887391" y="740569"/>
            <a:ext cx="4629150" cy="3655219"/>
          </a:xfrm>
          <a:prstGeom prst="rect">
            <a:avLst/>
          </a:prstGeom>
          <a:noFill/>
          <a:ln w="12700">
            <a:noFill/>
            <a:prstDash val="solid"/>
          </a:ln>
        </p:spPr>
        <p:txBody>
          <a:bodyPr wrap="square" lIns="68575" tIns="34275" rIns="68575" bIns="34275" anchor="t">
            <a:normAutofit/>
          </a:bodyPr>
          <a:lstStyle>
            <a:lvl1pPr algn="l">
              <a:lnSpc>
                <a:spcPct val="91666"/>
              </a:lnSpc>
              <a:defRPr sz="2400" b="0" i="0" u="none" strike="noStrike" spc="0">
                <a:solidFill>
                  <a:srgbClr val="1F2329">
                    <a:alpha val="100000"/>
                  </a:srgbClr>
                </a:solidFill>
                <a:latin typeface="Noto Sans SC"/>
              </a:defRPr>
            </a:lvl1pPr>
          </a:lstStyle>
          <a:p>
            <a:pPr marL="457200" indent="-381000" algn="l">
              <a:lnSpc>
                <a:spcPct val="91666"/>
              </a:lnSpc>
              <a:spcBef>
                <a:spcPts val="800"/>
              </a:spcBef>
            </a:pPr>
            <a:r>
              <a:rPr lang="en-US" sz="24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44"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45"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46"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47"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40C1EA3-2CD2-4670-9ED1-F31CA8A71996}"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_WITH_CAPTION_TEXT">
    <p:spTree>
      <p:nvGrpSpPr>
        <p:cNvPr id="1" name=""/>
        <p:cNvGrpSpPr/>
        <p:nvPr/>
      </p:nvGrpSpPr>
      <p:grpSpPr>
        <a:xfrm>
          <a:off x="0" y="0"/>
          <a:ext cx="0" cy="0"/>
          <a:chOff x="0" y="0"/>
          <a:chExt cx="0" cy="0"/>
        </a:xfrm>
      </p:grpSpPr>
      <p:sp>
        <p:nvSpPr>
          <p:cNvPr id="2" name="AutoShape 2"/>
          <p:cNvSpPr>
            <a:spLocks noGrp="1"/>
          </p:cNvSpPr>
          <p:nvPr>
            <p:ph type="body" sz="quarter" idx="48" hasCustomPrompt="1"/>
          </p:nvPr>
        </p:nvSpPr>
        <p:spPr>
          <a:xfrm>
            <a:off x="629841" y="342900"/>
            <a:ext cx="2949178" cy="1200150"/>
          </a:xfrm>
          <a:prstGeom prst="rect">
            <a:avLst/>
          </a:prstGeom>
          <a:noFill/>
          <a:ln w="12700">
            <a:noFill/>
            <a:prstDash val="solid"/>
          </a:ln>
        </p:spPr>
        <p:txBody>
          <a:bodyPr wrap="square" lIns="68575" tIns="34275" rIns="68575" bIns="34275" anchor="b">
            <a:normAutofit/>
          </a:bodyPr>
          <a:lstStyle>
            <a:lvl1pPr algn="l">
              <a:lnSpc>
                <a:spcPct val="91666"/>
              </a:lnSpc>
              <a:defRPr sz="2400" b="1" i="0" u="none" strike="noStrike" spc="0">
                <a:solidFill>
                  <a:srgbClr val="1F2329">
                    <a:alpha val="100000"/>
                  </a:srgbClr>
                </a:solidFill>
                <a:latin typeface="Noto Sans SC"/>
              </a:defRPr>
            </a:lvl1pPr>
          </a:lstStyle>
          <a:p>
            <a:pPr marL="0" indent="0" algn="l">
              <a:lnSpc>
                <a:spcPct val="91666"/>
              </a:lnSpc>
            </a:pPr>
            <a:r>
              <a:rPr lang="en-US" sz="24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pic" sz="quarter" idx="49"/>
          </p:nvPr>
        </p:nvSpPr>
        <p:spPr>
          <a:xfrm>
            <a:off x="3887391" y="740569"/>
            <a:ext cx="4629150" cy="3655219"/>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a:defRPr>
            </a:lvl1pPr>
          </a:lstStyle>
          <a:p>
            <a:pPr algn="ctr"/>
            <a:endParaRPr/>
          </a:p>
        </p:txBody>
      </p:sp>
      <p:sp>
        <p:nvSpPr>
          <p:cNvPr id="4" name="AutoShape 4"/>
          <p:cNvSpPr>
            <a:spLocks noGrp="1"/>
          </p:cNvSpPr>
          <p:nvPr>
            <p:ph type="body" sz="quarter" idx="50" hasCustomPrompt="1"/>
          </p:nvPr>
        </p:nvSpPr>
        <p:spPr>
          <a:xfrm>
            <a:off x="629841" y="1543050"/>
            <a:ext cx="2949178" cy="2858691"/>
          </a:xfrm>
          <a:prstGeom prst="rect">
            <a:avLst/>
          </a:prstGeom>
          <a:noFill/>
          <a:ln w="12700">
            <a:noFill/>
            <a:prstDash val="solid"/>
          </a:ln>
        </p:spPr>
        <p:txBody>
          <a:bodyPr wrap="square" lIns="68575" tIns="34275" rIns="68575" bIns="34275" anchor="t">
            <a:normAutofit/>
          </a:bodyPr>
          <a:lstStyle>
            <a:lvl1pPr algn="l">
              <a:lnSpc>
                <a:spcPct val="91666"/>
              </a:lnSpc>
              <a:defRPr sz="1200" b="0" i="0" u="none" strike="noStrike" spc="0">
                <a:solidFill>
                  <a:srgbClr val="1F2329">
                    <a:alpha val="100000"/>
                  </a:srgbClr>
                </a:solidFill>
                <a:latin typeface="Noto Sans SC"/>
              </a:defRPr>
            </a:lvl1pPr>
          </a:lstStyle>
          <a:p>
            <a:pPr marL="457200" indent="-228600" algn="l">
              <a:lnSpc>
                <a:spcPct val="91666"/>
              </a:lnSpc>
              <a:spcBef>
                <a:spcPts val="800"/>
              </a:spcBef>
            </a:pPr>
            <a:r>
              <a:rPr lang="en-US" sz="1200" b="0" i="0" u="none" strike="noStrike">
                <a:solidFill>
                  <a:srgbClr val="000000"/>
                </a:solidFill>
                <a:latin typeface="Arial"/>
                <a:ea typeface="Arial"/>
                <a:cs typeface="Arial"/>
                <a:sym typeface="Arial"/>
              </a:rPr>
              <a:t>Click to add text</a:t>
            </a:r>
          </a:p>
        </p:txBody>
      </p:sp>
      <p:sp>
        <p:nvSpPr>
          <p:cNvPr id="5" name="AutoShape 5"/>
          <p:cNvSpPr>
            <a:spLocks noGrp="1"/>
          </p:cNvSpPr>
          <p:nvPr>
            <p:ph type="body" sz="quarter" idx="5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6" name="AutoShape 6"/>
          <p:cNvSpPr>
            <a:spLocks noGrp="1"/>
          </p:cNvSpPr>
          <p:nvPr>
            <p:ph type="body" sz="quarter" idx="5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7" name="AutoShape 7"/>
          <p:cNvSpPr>
            <a:spLocks noGrp="1"/>
          </p:cNvSpPr>
          <p:nvPr>
            <p:ph type="body" sz="quarter" idx="5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FBFE59F-575C-4ABB-87B8-5F4538859E05}"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VERTICAL_TEXT">
    <p:spTree>
      <p:nvGrpSpPr>
        <p:cNvPr id="1" name=""/>
        <p:cNvGrpSpPr/>
        <p:nvPr/>
      </p:nvGrpSpPr>
      <p:grpSpPr>
        <a:xfrm>
          <a:off x="0" y="0"/>
          <a:ext cx="0" cy="0"/>
          <a:chOff x="0" y="0"/>
          <a:chExt cx="0" cy="0"/>
        </a:xfrm>
      </p:grpSpPr>
      <p:sp>
        <p:nvSpPr>
          <p:cNvPr id="2" name="AutoShape 2"/>
          <p:cNvSpPr>
            <a:spLocks noGrp="1"/>
          </p:cNvSpPr>
          <p:nvPr>
            <p:ph type="body" sz="quarter" idx="54"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55" hasCustomPrompt="1"/>
          </p:nvPr>
        </p:nvSpPr>
        <p:spPr>
          <a:xfrm rot="5400000">
            <a:off x="2940248" y="-942379"/>
            <a:ext cx="3263504" cy="7886700"/>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56"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57"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8"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BB03D7-7C23-4502-8454-1327DDE9FE30}"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_TITLE_AND_VERTICAL_TEXT">
    <p:spTree>
      <p:nvGrpSpPr>
        <p:cNvPr id="1" name=""/>
        <p:cNvGrpSpPr/>
        <p:nvPr/>
      </p:nvGrpSpPr>
      <p:grpSpPr>
        <a:xfrm>
          <a:off x="0" y="0"/>
          <a:ext cx="0" cy="0"/>
          <a:chOff x="0" y="0"/>
          <a:chExt cx="0" cy="0"/>
        </a:xfrm>
      </p:grpSpPr>
      <p:sp>
        <p:nvSpPr>
          <p:cNvPr id="2" name="AutoShape 2"/>
          <p:cNvSpPr>
            <a:spLocks noGrp="1"/>
          </p:cNvSpPr>
          <p:nvPr>
            <p:ph type="body" sz="quarter" idx="59" hasCustomPrompt="1"/>
          </p:nvPr>
        </p:nvSpPr>
        <p:spPr>
          <a:xfrm rot="5400000">
            <a:off x="5350073" y="1467445"/>
            <a:ext cx="4358879" cy="1971675"/>
          </a:xfrm>
          <a:prstGeom prst="rect">
            <a:avLst/>
          </a:prstGeom>
          <a:noFill/>
          <a:ln w="12700">
            <a:noFill/>
            <a:prstDash val="solid"/>
          </a:ln>
        </p:spPr>
        <p:txBody>
          <a:bodyPr wrap="square" lIns="68575" tIns="34275" rIns="68575" bIns="34275" anchor="ctr">
            <a:normAutofit/>
          </a:bodyPr>
          <a:lstStyle>
            <a:lvl1pPr algn="l">
              <a:lnSpc>
                <a:spcPct val="91666"/>
              </a:lnSpc>
              <a:defRPr sz="3300" b="1" i="0" u="none" strike="noStrike" spc="0">
                <a:solidFill>
                  <a:srgbClr val="1F2329">
                    <a:alpha val="100000"/>
                  </a:srgbClr>
                </a:solidFill>
                <a:latin typeface="Noto Sans SC"/>
              </a:defRPr>
            </a:lvl1pPr>
          </a:lstStyle>
          <a:p>
            <a:pPr marL="0" indent="0" algn="l">
              <a:lnSpc>
                <a:spcPct val="91666"/>
              </a:lnSpc>
            </a:pPr>
            <a:r>
              <a:rPr lang="en-US" sz="3300" b="0" i="0" u="none" strike="noStrike">
                <a:solidFill>
                  <a:srgbClr val="000000"/>
                </a:solidFill>
                <a:latin typeface="Arial"/>
                <a:ea typeface="Arial"/>
                <a:cs typeface="Arial"/>
                <a:sym typeface="Arial"/>
              </a:rPr>
              <a:t>Click to add title</a:t>
            </a:r>
          </a:p>
        </p:txBody>
      </p:sp>
      <p:sp>
        <p:nvSpPr>
          <p:cNvPr id="3" name="AutoShape 3"/>
          <p:cNvSpPr>
            <a:spLocks noGrp="1"/>
          </p:cNvSpPr>
          <p:nvPr>
            <p:ph type="body" sz="quarter" idx="60" hasCustomPrompt="1"/>
          </p:nvPr>
        </p:nvSpPr>
        <p:spPr>
          <a:xfrm rot="5400000">
            <a:off x="1349573" y="-447080"/>
            <a:ext cx="4358879" cy="5800725"/>
          </a:xfrm>
          <a:prstGeom prst="rect">
            <a:avLst/>
          </a:prstGeom>
          <a:noFill/>
          <a:ln w="12700">
            <a:noFill/>
            <a:prstDash val="solid"/>
          </a:ln>
        </p:spPr>
        <p:txBody>
          <a:bodyPr wrap="square" lIns="68575" tIns="34275" rIns="68575" bIns="34275" anchor="t">
            <a:normAutofit/>
          </a:bodyPr>
          <a:lstStyle>
            <a:lvl1pPr algn="l">
              <a:lnSpc>
                <a:spcPct val="91666"/>
              </a:lnSpc>
              <a:defRPr sz="2100" b="0" i="0" u="none" strike="noStrike" spc="0">
                <a:solidFill>
                  <a:srgbClr val="1F2329">
                    <a:alpha val="100000"/>
                  </a:srgbClr>
                </a:solidFill>
                <a:latin typeface="Noto Sans SC"/>
              </a:defRPr>
            </a:lvl1pPr>
          </a:lstStyle>
          <a:p>
            <a:pPr marL="457200" indent="-317500" algn="l">
              <a:lnSpc>
                <a:spcPct val="91666"/>
              </a:lnSpc>
              <a:spcBef>
                <a:spcPts val="800"/>
              </a:spcBef>
            </a:pPr>
            <a:r>
              <a:rPr lang="en-US" sz="2100" b="0" i="0" u="none" strike="noStrike">
                <a:solidFill>
                  <a:srgbClr val="000000"/>
                </a:solidFill>
                <a:latin typeface="Arial"/>
                <a:ea typeface="Arial"/>
                <a:cs typeface="Arial"/>
                <a:sym typeface="Arial"/>
              </a:rPr>
              <a:t>Click to add text</a:t>
            </a:r>
          </a:p>
        </p:txBody>
      </p:sp>
      <p:sp>
        <p:nvSpPr>
          <p:cNvPr id="4" name="AutoShape 4"/>
          <p:cNvSpPr>
            <a:spLocks noGrp="1"/>
          </p:cNvSpPr>
          <p:nvPr>
            <p:ph type="body" sz="quarter" idx="61"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5" name="AutoShape 5"/>
          <p:cNvSpPr>
            <a:spLocks noGrp="1"/>
          </p:cNvSpPr>
          <p:nvPr>
            <p:ph type="body" sz="quarter" idx="62"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63"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F3EAEDB2-F17F-4003-933C-6749846023FB}"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69"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70"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71"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73F7704-67E6-463B-AA01-91680F0D660A}"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72"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3"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7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75"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C3567A9-B702-4EEE-8421-77F68C0B04EC}"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AutoShape 2"/>
          <p:cNvSpPr>
            <a:spLocks noGrp="1"/>
          </p:cNvSpPr>
          <p:nvPr>
            <p:ph type="body" sz="quarter" idx="76" hasCustomPrompt="1"/>
          </p:nvPr>
        </p:nvSpPr>
        <p:spPr>
          <a:xfrm>
            <a:off x="1524000" y="1122363"/>
            <a:ext cx="9144000" cy="2387600"/>
          </a:xfrm>
          <a:prstGeom prst="rect">
            <a:avLst/>
          </a:prstGeom>
          <a:noFill/>
          <a:ln w="12700">
            <a:noFill/>
            <a:prstDash val="solid"/>
          </a:ln>
        </p:spPr>
        <p:txBody>
          <a:bodyPr wrap="square" lIns="91440" tIns="45720" rIns="91440" bIns="45720" anchor="b">
            <a:noAutofit/>
          </a:bodyPr>
          <a:lstStyle>
            <a:lvl1pPr algn="ctr" defTabSz="914400">
              <a:lnSpc>
                <a:spcPct val="91666"/>
              </a:lnSpc>
              <a:defRPr sz="6000" b="0" i="0" u="none" strike="noStrike" spc="0">
                <a:solidFill>
                  <a:srgbClr val="000000">
                    <a:alpha val="100000"/>
                  </a:srgbClr>
                </a:solidFill>
                <a:latin typeface="等线 Light"/>
              </a:defRPr>
            </a:lvl1pPr>
          </a:lstStyle>
          <a:p>
            <a:pPr marL="0" indent="0" algn="ctr" defTabSz="914400">
              <a:lnSpc>
                <a:spcPct val="91666"/>
              </a:lnSpc>
            </a:pPr>
            <a:r>
              <a:rPr lang="en-US" sz="60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77" hasCustomPrompt="1"/>
          </p:nvPr>
        </p:nvSpPr>
        <p:spPr>
          <a:xfrm>
            <a:off x="1524000" y="3602038"/>
            <a:ext cx="9144000" cy="1655762"/>
          </a:xfrm>
          <a:prstGeom prst="rect">
            <a:avLst/>
          </a:prstGeom>
          <a:noFill/>
          <a:ln w="12700">
            <a:noFill/>
            <a:prstDash val="solid"/>
          </a:ln>
        </p:spPr>
        <p:txBody>
          <a:bodyPr wrap="square" lIns="91440" tIns="45720" rIns="91440" bIns="45720" anchor="t">
            <a:normAutofit/>
          </a:bodyPr>
          <a:lstStyle>
            <a:lvl1pPr algn="ctr" defTabSz="914400">
              <a:lnSpc>
                <a:spcPct val="91666"/>
              </a:lnSpc>
              <a:defRPr sz="2400" b="0" i="0" u="none" strike="noStrike" spc="0">
                <a:solidFill>
                  <a:srgbClr val="000000">
                    <a:alpha val="100000"/>
                  </a:srgbClr>
                </a:solidFill>
                <a:latin typeface="等线"/>
              </a:defRPr>
            </a:lvl1pPr>
          </a:lstStyle>
          <a:p>
            <a:pPr marL="0" indent="0" algn="ctr" defTabSz="914400">
              <a:lnSpc>
                <a:spcPct val="91666"/>
              </a:lnSpc>
              <a:spcBef>
                <a:spcPts val="1000"/>
              </a:spcBef>
            </a:pPr>
            <a:r>
              <a:rPr lang="en-US" sz="2400" b="0" i="0" u="none" strike="noStrike">
                <a:solidFill>
                  <a:srgbClr val="000000"/>
                </a:solidFill>
                <a:latin typeface="等线"/>
                <a:ea typeface="等线"/>
                <a:cs typeface="等线"/>
                <a:sym typeface="等线"/>
              </a:rPr>
              <a:t>单击此处编辑母版副标题样式</a:t>
            </a:r>
          </a:p>
        </p:txBody>
      </p:sp>
      <p:sp>
        <p:nvSpPr>
          <p:cNvPr id="4" name="AutoShape 4"/>
          <p:cNvSpPr>
            <a:spLocks noGrp="1"/>
          </p:cNvSpPr>
          <p:nvPr>
            <p:ph type="body" sz="quarter" idx="78"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5" name="AutoShape 5"/>
          <p:cNvSpPr>
            <a:spLocks noGrp="1"/>
          </p:cNvSpPr>
          <p:nvPr>
            <p:ph type="body" sz="quarter" idx="79"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0"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A88DB3E2-B678-4B5E-B1F7-F478445931FE}"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id="2" name="AutoShape 2"/>
          <p:cNvSpPr>
            <a:spLocks noGrp="1"/>
          </p:cNvSpPr>
          <p:nvPr>
            <p:ph type="body" sz="quarter" idx="86"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3" name="AutoShape 3"/>
          <p:cNvSpPr>
            <a:spLocks noGrp="1"/>
          </p:cNvSpPr>
          <p:nvPr>
            <p:ph type="body" sz="quarter" idx="8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4" name="AutoShape 4"/>
          <p:cNvSpPr>
            <a:spLocks noGrp="1"/>
          </p:cNvSpPr>
          <p:nvPr>
            <p:ph type="body" sz="quarter" idx="88"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715876E7-67F6-4709-B614-2B887129F4E5}"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id="2" name="AutoShape 2"/>
          <p:cNvSpPr>
            <a:spLocks noGrp="1"/>
          </p:cNvSpPr>
          <p:nvPr>
            <p:ph type="body" sz="quarter" idx="89" hasCustomPrompt="1"/>
          </p:nvPr>
        </p:nvSpPr>
        <p:spPr>
          <a:xfrm>
            <a:off x="838200" y="365125"/>
            <a:ext cx="10515600" cy="1325563"/>
          </a:xfrm>
          <a:prstGeom prst="rect">
            <a:avLst/>
          </a:prstGeom>
          <a:noFill/>
          <a:ln w="12700">
            <a:noFill/>
            <a:prstDash val="solid"/>
          </a:ln>
        </p:spPr>
        <p:txBody>
          <a:bodyPr wrap="square" lIns="91440" tIns="45720" rIns="91440" bIns="45720" anchor="ctr">
            <a:normAutofit/>
          </a:bodyPr>
          <a:lstStyle>
            <a:lvl1pPr algn="l" defTabSz="914400">
              <a:lnSpc>
                <a:spcPct val="91666"/>
              </a:lnSpc>
              <a:defRPr sz="4400" b="0" i="0" u="none" strike="noStrike" spc="0">
                <a:solidFill>
                  <a:srgbClr val="000000">
                    <a:alpha val="100000"/>
                  </a:srgbClr>
                </a:solidFill>
                <a:latin typeface="等线 Light"/>
              </a:defRPr>
            </a:lvl1pPr>
          </a:lstStyle>
          <a:p>
            <a:pPr marL="0" indent="0" algn="l" defTabSz="914400">
              <a:lnSpc>
                <a:spcPct val="91666"/>
              </a:lnSpc>
            </a:pPr>
            <a:r>
              <a:rPr lang="en-US" sz="4400" b="0" i="0" u="none" strike="noStrike">
                <a:solidFill>
                  <a:srgbClr val="000000"/>
                </a:solidFill>
                <a:latin typeface="等线 Light"/>
                <a:ea typeface="等线 Light"/>
                <a:cs typeface="等线 Light"/>
                <a:sym typeface="等线 Light"/>
              </a:rPr>
              <a:t>单击此处编辑母版标题样式</a:t>
            </a:r>
          </a:p>
        </p:txBody>
      </p:sp>
      <p:sp>
        <p:nvSpPr>
          <p:cNvPr id="3" name="AutoShape 3"/>
          <p:cNvSpPr>
            <a:spLocks noGrp="1"/>
          </p:cNvSpPr>
          <p:nvPr>
            <p:ph type="body" sz="quarter" idx="90" hasCustomPrompt="1"/>
          </p:nvPr>
        </p:nvSpPr>
        <p:spPr>
          <a:xfrm>
            <a:off x="838200" y="6356350"/>
            <a:ext cx="27432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91"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5" name="AutoShape 5"/>
          <p:cNvSpPr>
            <a:spLocks noGrp="1"/>
          </p:cNvSpPr>
          <p:nvPr>
            <p:ph type="body" sz="quarter" idx="92" hasCustomPrompt="1"/>
          </p:nvPr>
        </p:nvSpPr>
        <p:spPr>
          <a:xfrm>
            <a:off x="8610600" y="6356350"/>
            <a:ext cx="27432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64ED4803-3147-4436-A280-2F17AE386774}"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9" Type="http://schemas.openxmlformats.org/officeDocument/2006/relationships/image" Target="../media/image1.jpe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5" Type="http://schemas.openxmlformats.org/officeDocument/2006/relationships/image" Target="../media/image1.jpeg"/><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自定义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Office 主题​​">
    <p:bg>
      <p:bgPr>
        <a:solidFill>
          <a:srgbClr val="FFFFFF">
            <a:alpha val="100000"/>
          </a:srgbClr>
        </a:soli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628650" y="273844"/>
            <a:ext cx="7886700" cy="994172"/>
          </a:xfrm>
          <a:prstGeom prst="rect">
            <a:avLst/>
          </a:prstGeom>
          <a:noFill/>
          <a:ln w="12700">
            <a:noFill/>
            <a:prstDash val="solid"/>
          </a:ln>
        </p:spPr>
        <p:txBody>
          <a:bodyPr wrap="square" lIns="68575" tIns="34275" rIns="68575" bIns="34275" anchor="ctr">
            <a:normAutofit/>
          </a:bodyPr>
          <a:lstStyle>
            <a:lvl1pPr algn="l">
              <a:lnSpc>
                <a:spcPct val="100000"/>
              </a:lnSpc>
              <a:defRPr sz="3300" b="1" i="0" u="none" strike="noStrike" spc="0">
                <a:solidFill>
                  <a:srgbClr val="1F2329">
                    <a:alpha val="100000"/>
                  </a:srgbClr>
                </a:solidFill>
                <a:latin typeface="Noto Sans SC"/>
              </a:defRPr>
            </a:lvl1pPr>
          </a:lstStyle>
          <a:p>
            <a:pPr marL="0" indent="0" algn="l">
              <a:lnSpc>
                <a:spcPct val="100000"/>
              </a:lnSpc>
            </a:pPr>
            <a:r>
              <a:rPr lang="en-US" sz="3300" b="0" i="0" u="none" strike="noStrike">
                <a:solidFill>
                  <a:srgbClr val="000000"/>
                </a:solidFill>
                <a:latin typeface="Arial"/>
                <a:ea typeface="Arial"/>
                <a:cs typeface="Arial"/>
                <a:sym typeface="Arial"/>
              </a:rPr>
              <a:t>Click to add title</a:t>
            </a:r>
          </a:p>
        </p:txBody>
      </p:sp>
      <p:sp>
        <p:nvSpPr>
          <p:cNvPr id="2" name="AutoShape 2"/>
          <p:cNvSpPr>
            <a:spLocks noGrp="1"/>
          </p:cNvSpPr>
          <p:nvPr>
            <p:ph type="body" sz="quarter" idx="2" hasCustomPrompt="1"/>
          </p:nvPr>
        </p:nvSpPr>
        <p:spPr>
          <a:xfrm>
            <a:off x="628650" y="1369219"/>
            <a:ext cx="7886700" cy="3263504"/>
          </a:xfrm>
          <a:prstGeom prst="rect">
            <a:avLst/>
          </a:prstGeom>
          <a:noFill/>
          <a:ln w="12700">
            <a:noFill/>
            <a:prstDash val="solid"/>
          </a:ln>
        </p:spPr>
        <p:txBody>
          <a:bodyPr wrap="square" lIns="68575" tIns="34275" rIns="68575" bIns="34275" anchor="t">
            <a:normAutofit/>
          </a:bodyPr>
          <a:lstStyle>
            <a:lvl1pPr algn="l">
              <a:lnSpc>
                <a:spcPct val="100000"/>
              </a:lnSpc>
              <a:defRPr sz="2100" b="0" i="0" u="none" strike="noStrike" spc="0">
                <a:solidFill>
                  <a:srgbClr val="1F2329">
                    <a:alpha val="100000"/>
                  </a:srgbClr>
                </a:solidFill>
                <a:latin typeface="Noto Sans SC"/>
              </a:defRPr>
            </a:lvl1pPr>
          </a:lstStyle>
          <a:p>
            <a:pPr marL="0" indent="0" algn="l">
              <a:lnSpc>
                <a:spcPct val="100000"/>
              </a:lnSpc>
            </a:pPr>
            <a:r>
              <a:rPr lang="en-US" sz="2100" b="0" i="0" u="none" strike="noStrike">
                <a:solidFill>
                  <a:srgbClr val="000000"/>
                </a:solidFill>
                <a:latin typeface="Arial"/>
                <a:ea typeface="Arial"/>
                <a:cs typeface="Arial"/>
                <a:sym typeface="Arial"/>
              </a:rPr>
              <a:t>Click to add text</a:t>
            </a:r>
          </a:p>
        </p:txBody>
      </p:sp>
      <p:sp>
        <p:nvSpPr>
          <p:cNvPr id="3" name="AutoShape 3"/>
          <p:cNvSpPr>
            <a:spLocks noGrp="1"/>
          </p:cNvSpPr>
          <p:nvPr>
            <p:ph type="body" sz="quarter" idx="3" hasCustomPrompt="1"/>
          </p:nvPr>
        </p:nvSpPr>
        <p:spPr>
          <a:xfrm>
            <a:off x="628650" y="4767263"/>
            <a:ext cx="2057400" cy="273844"/>
          </a:xfrm>
          <a:prstGeom prst="rect">
            <a:avLst/>
          </a:prstGeom>
          <a:noFill/>
          <a:ln w="12700">
            <a:noFill/>
            <a:prstDash val="solid"/>
          </a:ln>
        </p:spPr>
        <p:txBody>
          <a:bodyPr wrap="square" lIns="68575" tIns="34275" rIns="68575" bIns="34275" anchor="ctr">
            <a:noAutofit/>
          </a:bodyPr>
          <a:lstStyle>
            <a:lvl1pPr algn="l">
              <a:lnSpc>
                <a:spcPct val="100000"/>
              </a:lnSpc>
              <a:defRPr sz="900" b="0" i="0" u="none" strike="noStrike" spc="0">
                <a:solidFill>
                  <a:srgbClr val="1F2329">
                    <a:alpha val="100000"/>
                  </a:srgbClr>
                </a:solidFill>
                <a:latin typeface="Noto Sans SC"/>
              </a:defRPr>
            </a:lvl1pPr>
          </a:lstStyle>
          <a:p>
            <a:pPr marL="0" indent="0" algn="l">
              <a:lnSpc>
                <a:spcPct val="100000"/>
              </a:lnSpc>
            </a:pPr>
            <a:r>
              <a:rPr lang="en-US" sz="900" b="0" i="0" u="none" strike="noStrike">
                <a:solidFill>
                  <a:srgbClr val="888888"/>
                </a:solidFill>
                <a:latin typeface="Arial"/>
                <a:ea typeface="Arial"/>
                <a:cs typeface="Arial"/>
                <a:sym typeface="Arial"/>
              </a:rPr>
              <a:t>Date</a:t>
            </a:r>
          </a:p>
        </p:txBody>
      </p:sp>
      <p:sp>
        <p:nvSpPr>
          <p:cNvPr id="4" name="AutoShape 4"/>
          <p:cNvSpPr>
            <a:spLocks noGrp="1"/>
          </p:cNvSpPr>
          <p:nvPr>
            <p:ph type="body" sz="quarter" idx="4" hasCustomPrompt="1"/>
          </p:nvPr>
        </p:nvSpPr>
        <p:spPr>
          <a:xfrm>
            <a:off x="3028950" y="4767263"/>
            <a:ext cx="3086100" cy="273844"/>
          </a:xfrm>
          <a:prstGeom prst="rect">
            <a:avLst/>
          </a:prstGeom>
          <a:noFill/>
          <a:ln w="12700">
            <a:noFill/>
            <a:prstDash val="solid"/>
          </a:ln>
        </p:spPr>
        <p:txBody>
          <a:bodyPr wrap="square" lIns="68575" tIns="34275" rIns="68575" bIns="34275" anchor="ctr">
            <a:noAutofit/>
          </a:bodyPr>
          <a:lstStyle>
            <a:lvl1pPr algn="ctr">
              <a:lnSpc>
                <a:spcPct val="100000"/>
              </a:lnSpc>
              <a:defRPr sz="900" b="0" i="0" u="none" strike="noStrike" spc="0">
                <a:solidFill>
                  <a:srgbClr val="1F2329">
                    <a:alpha val="100000"/>
                  </a:srgbClr>
                </a:solidFill>
                <a:latin typeface="Noto Sans SC"/>
              </a:defRPr>
            </a:lvl1pPr>
          </a:lstStyle>
          <a:p>
            <a:pPr marL="0" indent="0" algn="ctr">
              <a:lnSpc>
                <a:spcPct val="100000"/>
              </a:lnSpc>
            </a:pPr>
            <a:r>
              <a:rPr lang="en-US" sz="900" b="0" i="0" u="none" strike="noStrike">
                <a:solidFill>
                  <a:srgbClr val="888888"/>
                </a:solidFill>
                <a:latin typeface="Arial"/>
                <a:ea typeface="Arial"/>
                <a:cs typeface="Arial"/>
                <a:sym typeface="Arial"/>
              </a:rPr>
              <a:t>Footer</a:t>
            </a:r>
          </a:p>
        </p:txBody>
      </p:sp>
      <p:sp>
        <p:nvSpPr>
          <p:cNvPr id="6" name="AutoShape 6"/>
          <p:cNvSpPr>
            <a:spLocks noGrp="1"/>
          </p:cNvSpPr>
          <p:nvPr>
            <p:ph type="body" sz="quarter" idx="5" hasCustomPrompt="1"/>
          </p:nvPr>
        </p:nvSpPr>
        <p:spPr>
          <a:xfrm>
            <a:off x="6457950" y="4767263"/>
            <a:ext cx="2057400" cy="273844"/>
          </a:xfrm>
          <a:prstGeom prst="rect">
            <a:avLst/>
          </a:prstGeom>
          <a:noFill/>
          <a:ln w="12700">
            <a:noFill/>
            <a:prstDash val="solid"/>
          </a:ln>
        </p:spPr>
        <p:txBody>
          <a:bodyPr wrap="square" lIns="68575" tIns="34275" rIns="68575" bIns="34275" anchor="ctr">
            <a:noAutofit/>
          </a:bodyPr>
          <a:lstStyle>
            <a:lvl1pPr algn="r">
              <a:lnSpc>
                <a:spcPct val="100000"/>
              </a:lnSpc>
              <a:defRPr sz="900" b="0" i="0" u="none" strike="noStrike" spc="0">
                <a:solidFill>
                  <a:srgbClr val="888888">
                    <a:alpha val="100000"/>
                  </a:srgbClr>
                </a:solidFill>
                <a:latin typeface="Arial"/>
              </a:defRPr>
            </a:lvl1pPr>
          </a:lstStyle>
          <a:p>
            <a:pPr marL="0" indent="0" algn="r">
              <a:lnSpc>
                <a:spcPct val="100000"/>
              </a:lnSpc>
            </a:pPr>
            <a:fld id="{BACBEE5D-034C-4615-988D-E40B811DE78E}" type="slidenum">
              <a:rPr sz="900" b="0" i="0" u="none" strike="noStrike">
                <a:solidFill>
                  <a:srgbClr val="888888"/>
                </a:solidFill>
                <a:latin typeface="Arial"/>
                <a:ea typeface="Arial"/>
                <a:cs typeface="Arial"/>
                <a:sym typeface="Arial"/>
              </a:rPr>
              <a:t>‹#›</a:t>
            </a:fld>
            <a:endParaRPr sz="900" b="0" i="0" u="none" strike="noStrike">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57483700" r:id="rId1"/>
    <p:sldLayoutId id="2157483701" r:id="rId2"/>
    <p:sldLayoutId id="2157483702" r:id="rId3"/>
    <p:sldLayoutId id="2157483703" r:id="rId4"/>
    <p:sldLayoutId id="2157483704" r:id="rId5"/>
    <p:sldLayoutId id="2157483705" r:id="rId6"/>
    <p:sldLayoutId id="2157483706" r:id="rId7"/>
    <p:sldLayoutId id="2157483707" r:id="rId8"/>
    <p:sldLayoutId id="2157483708" r:id="rId9"/>
    <p:sldLayoutId id="2157483709" r:id="rId10"/>
    <p:sldLayoutId id="215748371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Office 主题​​">
    <p:bg>
      <p:bgPr>
        <a:blipFill dpi="0" rotWithShape="1">
          <a:blip r:embed="rId9">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64"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65"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66"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67"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68"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223E89D6-17A3-4E42-92DC-72F7BD07D676}"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1" r:id="rId1"/>
    <p:sldLayoutId id="2157483712" r:id="rId2"/>
    <p:sldLayoutId id="2157483713" r:id="rId3"/>
    <p:sldLayoutId id="2157483714" r:id="rId4"/>
    <p:sldLayoutId id="2157483715" r:id="rId5"/>
    <p:sldLayoutId id="2157483716" r:id="rId6"/>
    <p:sldLayoutId id="2157483717"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name="1_Office 主题​​">
    <p:bg>
      <p:bgPr>
        <a:blipFill dpi="0" rotWithShape="1">
          <a:blip r:embed="rId5">
            <a:alphaModFix amt="10000"/>
          </a:blip>
          <a:srcRect/>
          <a:stretch>
            <a:fillRect t="-9000" b="-9000"/>
          </a:stretch>
        </a:blip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81" hasCustomPrompt="1"/>
          </p:nvPr>
        </p:nvSpPr>
        <p:spPr>
          <a:xfrm>
            <a:off x="838200" y="365125"/>
            <a:ext cx="10515600" cy="1325563"/>
          </a:xfrm>
          <a:prstGeom prst="rect">
            <a:avLst/>
          </a:prstGeom>
          <a:noFill/>
          <a:ln w="12700">
            <a:noFill/>
            <a:prstDash val="solid"/>
          </a:ln>
        </p:spPr>
        <p:txBody>
          <a:bodyPr vert="horz" wrap="square" lIns="91440" tIns="45720" rIns="91440" bIns="45720" anchor="ctr">
            <a:normAutofit/>
          </a:bodyPr>
          <a:lstStyle>
            <a:lvl1pPr algn="l" defTabSz="914400">
              <a:lnSpc>
                <a:spcPct val="91666"/>
              </a:lnSpc>
              <a:defRPr sz="4400" b="1" i="0" u="none" strike="noStrike" spc="0">
                <a:solidFill>
                  <a:srgbClr val="000000">
                    <a:alpha val="100000"/>
                  </a:srgbClr>
                </a:solidFill>
                <a:latin typeface="等线 Light"/>
              </a:defRPr>
            </a:lvl1pPr>
          </a:lstStyle>
          <a:p>
            <a:pPr marL="0" indent="0" algn="l" defTabSz="914400">
              <a:lnSpc>
                <a:spcPct val="91666"/>
              </a:lnSpc>
            </a:pPr>
            <a:r>
              <a:rPr lang="en-US" sz="4400" b="1" i="0" u="none" strike="noStrike">
                <a:solidFill>
                  <a:srgbClr val="000000"/>
                </a:solidFill>
                <a:latin typeface="等线 Light"/>
                <a:ea typeface="等线 Light"/>
                <a:cs typeface="等线 Light"/>
                <a:sym typeface="等线 Light"/>
              </a:rPr>
              <a:t>单击此处编辑母版标题样式</a:t>
            </a:r>
          </a:p>
        </p:txBody>
      </p:sp>
      <p:sp>
        <p:nvSpPr>
          <p:cNvPr id="2" name="AutoShape 2"/>
          <p:cNvSpPr>
            <a:spLocks noGrp="1"/>
          </p:cNvSpPr>
          <p:nvPr>
            <p:ph type="body" sz="quarter" idx="82" hasCustomPrompt="1"/>
          </p:nvPr>
        </p:nvSpPr>
        <p:spPr>
          <a:xfrm>
            <a:off x="838200" y="1825625"/>
            <a:ext cx="10515600" cy="4351338"/>
          </a:xfrm>
          <a:prstGeom prst="rect">
            <a:avLst/>
          </a:prstGeom>
          <a:noFill/>
          <a:ln w="12700">
            <a:noFill/>
            <a:prstDash val="solid"/>
          </a:ln>
        </p:spPr>
        <p:txBody>
          <a:bodyPr vert="horz" wrap="square" lIns="91440" tIns="45720" rIns="91440" bIns="45720" anchor="t">
            <a:normAutofit/>
          </a:bodyPr>
          <a:lstStyle>
            <a:lvl1pPr marL="584200" indent="-355600" algn="l" defTabSz="914400">
              <a:lnSpc>
                <a:spcPct val="91666"/>
              </a:lnSpc>
              <a:defRPr sz="2800" b="0" i="0" u="none" strike="noStrike" spc="0">
                <a:solidFill>
                  <a:srgbClr val="000000">
                    <a:alpha val="100000"/>
                  </a:srgbClr>
                </a:solidFill>
                <a:latin typeface="等线"/>
              </a:defRPr>
            </a:lvl1pPr>
            <a:lvl2pPr marL="990600" indent="-304800"/>
            <a:lvl3pPr marL="1397000" indent="-254000"/>
            <a:lvl4pPr marL="1828800" indent="-228600"/>
            <a:lvl5pPr marL="2286000" indent="-228600"/>
            <a:lvl6pPr marL="2743200" indent="-228600"/>
            <a:lvl7pPr marL="3200400" indent="-228600"/>
            <a:lvl8pPr marL="3657600" indent="-228600"/>
            <a:lvl9pPr marL="4114800" indent="-228600"/>
          </a:lstStyle>
          <a:p>
            <a:pPr marL="228600" indent="-228600" algn="l" defTabSz="914400">
              <a:lnSpc>
                <a:spcPct val="91666"/>
              </a:lnSpc>
              <a:spcBef>
                <a:spcPts val="1000"/>
              </a:spcBef>
              <a:buClr>
                <a:srgbClr val="000000"/>
              </a:buClr>
              <a:buFont typeface="Arial"/>
              <a:buChar char="•"/>
            </a:pPr>
            <a:r>
              <a:rPr lang="en-US" sz="2800" b="0" i="0" u="none" strike="noStrike">
                <a:solidFill>
                  <a:srgbClr val="000000"/>
                </a:solidFill>
                <a:latin typeface="等线"/>
                <a:ea typeface="等线"/>
                <a:cs typeface="等线"/>
                <a:sym typeface="等线"/>
              </a:rPr>
              <a:t>编辑母版文本样式</a:t>
            </a:r>
          </a:p>
          <a:p>
            <a:pPr marL="685800" lvl="1" indent="-228600" algn="l" defTabSz="914400">
              <a:lnSpc>
                <a:spcPct val="91666"/>
              </a:lnSpc>
              <a:spcBef>
                <a:spcPts val="500"/>
              </a:spcBef>
              <a:buClr>
                <a:srgbClr val="000000"/>
              </a:buClr>
              <a:buFont typeface="Arial"/>
              <a:buChar char="•"/>
            </a:pPr>
            <a:r>
              <a:rPr lang="en-US" sz="2400" b="0" i="0" u="none" strike="noStrike">
                <a:solidFill>
                  <a:srgbClr val="000000"/>
                </a:solidFill>
                <a:latin typeface="等线"/>
                <a:ea typeface="等线"/>
                <a:cs typeface="等线"/>
                <a:sym typeface="等线"/>
              </a:rPr>
              <a:t>第二级</a:t>
            </a:r>
          </a:p>
          <a:p>
            <a:pPr marL="1143000" lvl="2" indent="-228600" algn="l" defTabSz="914400">
              <a:lnSpc>
                <a:spcPct val="91666"/>
              </a:lnSpc>
              <a:spcBef>
                <a:spcPts val="500"/>
              </a:spcBef>
              <a:buClr>
                <a:srgbClr val="000000"/>
              </a:buClr>
              <a:buFont typeface="Arial"/>
              <a:buChar char="•"/>
            </a:pPr>
            <a:r>
              <a:rPr lang="en-US" sz="2000" b="0" i="0" u="none" strike="noStrike">
                <a:solidFill>
                  <a:srgbClr val="000000"/>
                </a:solidFill>
                <a:latin typeface="等线"/>
                <a:ea typeface="等线"/>
                <a:cs typeface="等线"/>
                <a:sym typeface="等线"/>
              </a:rPr>
              <a:t>第三级</a:t>
            </a:r>
          </a:p>
          <a:p>
            <a:pPr marL="1600200" lvl="3"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第四级</a:t>
            </a:r>
          </a:p>
          <a:p>
            <a:pPr marL="2057400" lvl="4" indent="-228600" algn="l" defTabSz="914400">
              <a:lnSpc>
                <a:spcPct val="91666"/>
              </a:lnSpc>
              <a:spcBef>
                <a:spcPts val="500"/>
              </a:spcBef>
              <a:buClr>
                <a:srgbClr val="000000"/>
              </a:buClr>
              <a:buFont typeface="Arial"/>
              <a:buChar char="•"/>
            </a:pPr>
            <a:r>
              <a:rPr lang="en-US" sz="1800" b="0" i="0" u="none" strike="noStrike">
                <a:solidFill>
                  <a:srgbClr val="000000"/>
                </a:solidFill>
                <a:latin typeface="等线"/>
                <a:ea typeface="等线"/>
                <a:cs typeface="等线"/>
                <a:sym typeface="等线"/>
              </a:rPr>
              <a:t>第五级</a:t>
            </a:r>
          </a:p>
        </p:txBody>
      </p:sp>
      <p:sp>
        <p:nvSpPr>
          <p:cNvPr id="3" name="AutoShape 3"/>
          <p:cNvSpPr>
            <a:spLocks noGrp="1"/>
          </p:cNvSpPr>
          <p:nvPr>
            <p:ph type="body" sz="quarter" idx="83" hasCustomPrompt="1"/>
          </p:nvPr>
        </p:nvSpPr>
        <p:spPr>
          <a:xfrm>
            <a:off x="838200" y="6356350"/>
            <a:ext cx="27432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等线"/>
              </a:defRPr>
            </a:lvl1pPr>
          </a:lstStyle>
          <a:p>
            <a:pPr marL="0" indent="0" algn="l" defTabSz="914400">
              <a:lnSpc>
                <a:spcPct val="100000"/>
              </a:lnSpc>
            </a:pPr>
            <a:r>
              <a:rPr lang="en-US" sz="1200" b="0" i="0" u="none" strike="noStrike">
                <a:solidFill>
                  <a:srgbClr val="898989"/>
                </a:solidFill>
                <a:latin typeface="等线"/>
                <a:ea typeface="等线"/>
                <a:cs typeface="等线"/>
                <a:sym typeface="等线"/>
              </a:rPr>
              <a:t>2026/9/19</a:t>
            </a:r>
          </a:p>
        </p:txBody>
      </p:sp>
      <p:sp>
        <p:nvSpPr>
          <p:cNvPr id="4" name="AutoShape 4"/>
          <p:cNvSpPr>
            <a:spLocks noGrp="1"/>
          </p:cNvSpPr>
          <p:nvPr>
            <p:ph type="body" sz="quarter" idx="84" hasCustomPrompt="1"/>
          </p:nvPr>
        </p:nvSpPr>
        <p:spPr>
          <a:xfrm>
            <a:off x="4038600" y="6356350"/>
            <a:ext cx="41148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898989">
                    <a:alpha val="100000"/>
                  </a:srgbClr>
                </a:solidFill>
                <a:latin typeface="等线"/>
              </a:defRPr>
            </a:lvl1pPr>
          </a:lstStyle>
          <a:p>
            <a:pPr marL="0" indent="0" algn="ctr" defTabSz="914400">
              <a:lnSpc>
                <a:spcPct val="100000"/>
              </a:lnSpc>
            </a:pPr>
            <a:r>
              <a:rPr lang="en-US" sz="1200" b="0" i="0" u="none" strike="noStrike">
                <a:solidFill>
                  <a:srgbClr val="898989"/>
                </a:solidFill>
                <a:latin typeface="等线"/>
                <a:ea typeface="等线"/>
                <a:cs typeface="等线"/>
                <a:sym typeface="等线"/>
              </a:rPr>
              <a:t>Footer</a:t>
            </a:r>
          </a:p>
        </p:txBody>
      </p:sp>
      <p:sp>
        <p:nvSpPr>
          <p:cNvPr id="6" name="AutoShape 6"/>
          <p:cNvSpPr>
            <a:spLocks noGrp="1"/>
          </p:cNvSpPr>
          <p:nvPr>
            <p:ph type="body" sz="quarter" idx="85" hasCustomPrompt="1"/>
          </p:nvPr>
        </p:nvSpPr>
        <p:spPr>
          <a:xfrm>
            <a:off x="8610600" y="6356350"/>
            <a:ext cx="27432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等线"/>
              </a:defRPr>
            </a:lvl1pPr>
          </a:lstStyle>
          <a:p>
            <a:pPr marL="0" indent="0" algn="r" defTabSz="914400">
              <a:lnSpc>
                <a:spcPct val="100000"/>
              </a:lnSpc>
            </a:pPr>
            <a:fld id="{0546DF46-9398-4D1E-A2D7-6ED481BE1431}" type="slidenum">
              <a:rPr sz="1200" b="0" i="0" u="none" strike="noStrike">
                <a:solidFill>
                  <a:srgbClr val="898989"/>
                </a:solidFill>
                <a:latin typeface="等线"/>
                <a:ea typeface="等线"/>
                <a:cs typeface="等线"/>
                <a:sym typeface="等线"/>
              </a:rPr>
              <a:t>‹#›</a:t>
            </a:fld>
            <a:endParaRPr sz="1200" b="0" i="0" u="none" strike="noStrike">
              <a:solidFill>
                <a:srgbClr val="898989"/>
              </a:solidFill>
              <a:latin typeface="等线"/>
              <a:ea typeface="等线"/>
              <a:cs typeface="等线"/>
              <a:sym typeface="等线"/>
            </a:endParaRPr>
          </a:p>
        </p:txBody>
      </p:sp>
    </p:spTree>
  </p:cSld>
  <p:clrMap bg1="lt1" tx1="dk1" bg2="dk2" tx2="lt2" accent1="accent1" accent2="accent2" accent3="accent3" accent4="accent4" accent5="accent5" accent6="accent6" hlink="hlink" folHlink="folHlink"/>
  <p:sldLayoutIdLst>
    <p:sldLayoutId id="2157483718" r:id="rId1"/>
    <p:sldLayoutId id="2157483719" r:id="rId2"/>
    <p:sldLayoutId id="215748372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4.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1.jpeg"/><Relationship Id="rId7"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4.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sv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7.png"/><Relationship Id="rId7"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33.xml"/><Relationship Id="rId6" Type="http://schemas.openxmlformats.org/officeDocument/2006/relationships/image" Target="../media/image21.svg"/><Relationship Id="rId5" Type="http://schemas.openxmlformats.org/officeDocument/2006/relationships/image" Target="../media/image20.svg"/><Relationship Id="rId4" Type="http://schemas.openxmlformats.org/officeDocument/2006/relationships/image" Target="../media/image19.sv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jpe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6.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6.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jpeg"/><Relationship Id="rId7"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2.xml"/><Relationship Id="rId5" Type="http://schemas.openxmlformats.org/officeDocument/2006/relationships/image" Target="../media/image36.jp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2.xml"/><Relationship Id="rId5" Type="http://schemas.openxmlformats.org/officeDocument/2006/relationships/image" Target="../media/image37.jp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2.xml"/><Relationship Id="rId5" Type="http://schemas.openxmlformats.org/officeDocument/2006/relationships/image" Target="../media/image38.jp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4.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0" y="3428730"/>
            <a:ext cx="12192000" cy="28575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4" name="AutoShape 4"/>
          <p:cNvSpPr/>
          <p:nvPr/>
        </p:nvSpPr>
        <p:spPr>
          <a:xfrm>
            <a:off x="797560" y="3716020"/>
            <a:ext cx="10930255" cy="76835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4400" b="1" i="0" u="none" strike="noStrike" spc="-300">
                <a:solidFill>
                  <a:srgbClr val="FFFFFF"/>
                </a:solidFill>
                <a:latin typeface="微软雅黑"/>
                <a:ea typeface="微软雅黑"/>
                <a:cs typeface="微软雅黑"/>
                <a:sym typeface="微软雅黑"/>
              </a:rPr>
              <a:t>基于多模型弱监督学习的低成本火烟检测研究</a:t>
            </a:r>
            <a:endParaRPr lang="en-US" sz="1100"/>
          </a:p>
        </p:txBody>
      </p:sp>
      <p:sp>
        <p:nvSpPr>
          <p:cNvPr id="5" name="AutoShape 5"/>
          <p:cNvSpPr/>
          <p:nvPr/>
        </p:nvSpPr>
        <p:spPr>
          <a:xfrm>
            <a:off x="4653280" y="5403576"/>
            <a:ext cx="30607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dirty="0" err="1">
                <a:solidFill>
                  <a:srgbClr val="FFFFFF"/>
                </a:solidFill>
                <a:latin typeface="微软雅黑"/>
                <a:ea typeface="微软雅黑"/>
                <a:cs typeface="微软雅黑"/>
                <a:sym typeface="微软雅黑"/>
              </a:rPr>
              <a:t>学生</a:t>
            </a:r>
            <a:r>
              <a:rPr lang="en-US" sz="2400" b="1" i="0" u="none" strike="noStrike" dirty="0">
                <a:solidFill>
                  <a:srgbClr val="FFFFFF"/>
                </a:solidFill>
                <a:latin typeface="微软雅黑"/>
                <a:ea typeface="微软雅黑"/>
                <a:cs typeface="微软雅黑"/>
                <a:sym typeface="微软雅黑"/>
              </a:rPr>
              <a:t> ： </a:t>
            </a:r>
            <a:r>
              <a:rPr lang="en-US" sz="2400" b="1" i="0" u="none" strike="noStrike" dirty="0" err="1">
                <a:solidFill>
                  <a:srgbClr val="FFFFFF"/>
                </a:solidFill>
                <a:latin typeface="微软雅黑"/>
                <a:ea typeface="微软雅黑"/>
                <a:cs typeface="微软雅黑"/>
                <a:sym typeface="微软雅黑"/>
              </a:rPr>
              <a:t>董秀丽</a:t>
            </a:r>
            <a:endParaRPr lang="en-US" sz="1100" dirty="0"/>
          </a:p>
        </p:txBody>
      </p:sp>
      <p:sp>
        <p:nvSpPr>
          <p:cNvPr id="6" name="AutoShape 6"/>
          <p:cNvSpPr/>
          <p:nvPr/>
        </p:nvSpPr>
        <p:spPr>
          <a:xfrm>
            <a:off x="4653280" y="4911574"/>
            <a:ext cx="3022600" cy="4603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微软雅黑"/>
                <a:ea typeface="微软雅黑"/>
                <a:cs typeface="微软雅黑"/>
                <a:sym typeface="微软雅黑"/>
              </a:rPr>
              <a:t>导师  ：高 明 教 授</a:t>
            </a:r>
            <a:endParaRPr lang="en-US" sz="1100"/>
          </a:p>
        </p:txBody>
      </p:sp>
      <p:pic>
        <p:nvPicPr>
          <p:cNvPr id="7" name="Picture 7"/>
          <p:cNvPicPr>
            <a:picLocks noChangeAspect="1"/>
          </p:cNvPicPr>
          <p:nvPr/>
        </p:nvPicPr>
        <p:blipFill>
          <a:blip r:embed="rId4"/>
          <a:srcRect/>
          <a:stretch>
            <a:fillRect/>
          </a:stretch>
        </p:blipFill>
        <p:spPr>
          <a:xfrm>
            <a:off x="4888230" y="354127"/>
            <a:ext cx="2552700" cy="2552700"/>
          </a:xfrm>
          <a:prstGeom prst="rect">
            <a:avLst/>
          </a:prstGeom>
          <a:ln w="12700">
            <a:noFill/>
            <a:prstDash val="soli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4680659" cy="685800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3" name="AutoShape 3"/>
          <p:cNvSpPr/>
          <p:nvPr/>
        </p:nvSpPr>
        <p:spPr>
          <a:xfrm>
            <a:off x="6290327" y="720843"/>
            <a:ext cx="3062023" cy="646331"/>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A3760"/>
                </a:solidFill>
                <a:latin typeface="微软雅黑"/>
                <a:ea typeface="微软雅黑"/>
                <a:cs typeface="微软雅黑"/>
                <a:sym typeface="微软雅黑"/>
              </a:rPr>
              <a:t>CONTENTS</a:t>
            </a:r>
            <a:endParaRPr lang="en-US" sz="1100"/>
          </a:p>
        </p:txBody>
      </p:sp>
      <p:grpSp>
        <p:nvGrpSpPr>
          <p:cNvPr id="4" name="Group 4"/>
          <p:cNvGrpSpPr/>
          <p:nvPr/>
        </p:nvGrpSpPr>
        <p:grpSpPr>
          <a:xfrm>
            <a:off x="6290327" y="1912895"/>
            <a:ext cx="2284189" cy="584775"/>
            <a:chOff x="6290327" y="1912895"/>
            <a:chExt cx="2284189" cy="584775"/>
          </a:xfrm>
        </p:grpSpPr>
        <p:grpSp>
          <p:nvGrpSpPr>
            <p:cNvPr id="5" name="Group 5"/>
            <p:cNvGrpSpPr/>
            <p:nvPr/>
          </p:nvGrpSpPr>
          <p:grpSpPr>
            <a:xfrm>
              <a:off x="6290327" y="1912895"/>
              <a:ext cx="2284189" cy="584775"/>
              <a:chOff x="6290327" y="1912895"/>
              <a:chExt cx="2284189" cy="584775"/>
            </a:xfrm>
          </p:grpSpPr>
          <p:sp>
            <p:nvSpPr>
              <p:cNvPr id="6" name="AutoShape 6"/>
              <p:cNvSpPr/>
              <p:nvPr/>
            </p:nvSpPr>
            <p:spPr>
              <a:xfrm>
                <a:off x="6290327" y="1912895"/>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01</a:t>
                </a:r>
                <a:endParaRPr lang="en-US" sz="1100"/>
              </a:p>
            </p:txBody>
          </p:sp>
          <p:sp>
            <p:nvSpPr>
              <p:cNvPr id="7" name="AutoShape 7"/>
              <p:cNvSpPr/>
              <p:nvPr/>
            </p:nvSpPr>
            <p:spPr>
              <a:xfrm>
                <a:off x="7169896" y="1963818"/>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研究背景</a:t>
                </a:r>
                <a:endParaRPr lang="en-US" sz="1100"/>
              </a:p>
            </p:txBody>
          </p:sp>
        </p:grpSp>
        <p:cxnSp>
          <p:nvCxnSpPr>
            <p:cNvPr id="8" name="Connector 8"/>
            <p:cNvCxnSpPr/>
            <p:nvPr/>
          </p:nvCxnSpPr>
          <p:spPr>
            <a:xfrm>
              <a:off x="7148631" y="1995717"/>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9" name="Group 9"/>
          <p:cNvGrpSpPr/>
          <p:nvPr/>
        </p:nvGrpSpPr>
        <p:grpSpPr>
          <a:xfrm>
            <a:off x="6290327" y="2767134"/>
            <a:ext cx="3200494" cy="584775"/>
            <a:chOff x="6290327" y="2767134"/>
            <a:chExt cx="3200494" cy="584775"/>
          </a:xfrm>
        </p:grpSpPr>
        <p:grpSp>
          <p:nvGrpSpPr>
            <p:cNvPr id="10" name="Group 10"/>
            <p:cNvGrpSpPr/>
            <p:nvPr/>
          </p:nvGrpSpPr>
          <p:grpSpPr>
            <a:xfrm>
              <a:off x="6290327" y="2767134"/>
              <a:ext cx="3200494" cy="584775"/>
              <a:chOff x="6290327" y="2767134"/>
              <a:chExt cx="3200494" cy="584775"/>
            </a:xfrm>
          </p:grpSpPr>
          <p:sp>
            <p:nvSpPr>
              <p:cNvPr id="11" name="AutoShape 11"/>
              <p:cNvSpPr/>
              <p:nvPr/>
            </p:nvSpPr>
            <p:spPr>
              <a:xfrm>
                <a:off x="6290327" y="276713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02</a:t>
                </a:r>
                <a:endParaRPr lang="en-US" sz="1100"/>
              </a:p>
            </p:txBody>
          </p:sp>
          <p:sp>
            <p:nvSpPr>
              <p:cNvPr id="12" name="AutoShape 12"/>
              <p:cNvSpPr/>
              <p:nvPr/>
            </p:nvSpPr>
            <p:spPr>
              <a:xfrm>
                <a:off x="7169896" y="2818057"/>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国内外研究现状</a:t>
                </a:r>
                <a:endParaRPr lang="en-US" sz="1100"/>
              </a:p>
            </p:txBody>
          </p:sp>
        </p:grpSp>
        <p:cxnSp>
          <p:nvCxnSpPr>
            <p:cNvPr id="13" name="Connector 13"/>
            <p:cNvCxnSpPr/>
            <p:nvPr/>
          </p:nvCxnSpPr>
          <p:spPr>
            <a:xfrm>
              <a:off x="7148631" y="2849956"/>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4" name="Group 14"/>
          <p:cNvGrpSpPr/>
          <p:nvPr/>
        </p:nvGrpSpPr>
        <p:grpSpPr>
          <a:xfrm>
            <a:off x="6290327" y="3600109"/>
            <a:ext cx="3200494" cy="584775"/>
            <a:chOff x="6290327" y="3600109"/>
            <a:chExt cx="3200494" cy="584775"/>
          </a:xfrm>
        </p:grpSpPr>
        <p:grpSp>
          <p:nvGrpSpPr>
            <p:cNvPr id="15" name="Group 15"/>
            <p:cNvGrpSpPr/>
            <p:nvPr/>
          </p:nvGrpSpPr>
          <p:grpSpPr>
            <a:xfrm>
              <a:off x="6290327" y="3600109"/>
              <a:ext cx="3200494" cy="584775"/>
              <a:chOff x="6290327" y="3600109"/>
              <a:chExt cx="3200494" cy="584775"/>
            </a:xfrm>
          </p:grpSpPr>
          <p:sp>
            <p:nvSpPr>
              <p:cNvPr id="16" name="AutoShape 16"/>
              <p:cNvSpPr/>
              <p:nvPr/>
            </p:nvSpPr>
            <p:spPr>
              <a:xfrm>
                <a:off x="6290327" y="360010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03</a:t>
                </a:r>
                <a:endParaRPr lang="en-US" sz="1100"/>
              </a:p>
            </p:txBody>
          </p:sp>
          <p:sp>
            <p:nvSpPr>
              <p:cNvPr id="17" name="AutoShape 17"/>
              <p:cNvSpPr/>
              <p:nvPr/>
            </p:nvSpPr>
            <p:spPr>
              <a:xfrm>
                <a:off x="7169896" y="3651032"/>
                <a:ext cx="2320925"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研究内容与路线</a:t>
                </a:r>
                <a:endParaRPr lang="en-US" sz="1100"/>
              </a:p>
            </p:txBody>
          </p:sp>
        </p:grpSp>
        <p:cxnSp>
          <p:nvCxnSpPr>
            <p:cNvPr id="18" name="Connector 18"/>
            <p:cNvCxnSpPr/>
            <p:nvPr/>
          </p:nvCxnSpPr>
          <p:spPr>
            <a:xfrm>
              <a:off x="7148631" y="3682931"/>
              <a:ext cx="0" cy="396000"/>
            </a:xfrm>
            <a:prstGeom prst="line">
              <a:avLst/>
            </a:prstGeom>
            <a:noFill/>
            <a:ln w="12700" cap="flat">
              <a:solidFill>
                <a:srgbClr val="808080">
                  <a:alpha val="100000"/>
                </a:srgbClr>
              </a:solidFill>
              <a:prstDash val="solid"/>
              <a:headEnd type="none" w="med" len="med"/>
              <a:tailEnd type="none" w="med" len="med"/>
            </a:ln>
          </p:spPr>
        </p:cxnSp>
      </p:grpSp>
      <p:grpSp>
        <p:nvGrpSpPr>
          <p:cNvPr id="19" name="Group 19"/>
          <p:cNvGrpSpPr/>
          <p:nvPr/>
        </p:nvGrpSpPr>
        <p:grpSpPr>
          <a:xfrm>
            <a:off x="6290327" y="4433084"/>
            <a:ext cx="4116799" cy="584775"/>
            <a:chOff x="6290327" y="4433084"/>
            <a:chExt cx="4116799" cy="584775"/>
          </a:xfrm>
        </p:grpSpPr>
        <p:grpSp>
          <p:nvGrpSpPr>
            <p:cNvPr id="20" name="Group 20"/>
            <p:cNvGrpSpPr/>
            <p:nvPr/>
          </p:nvGrpSpPr>
          <p:grpSpPr>
            <a:xfrm>
              <a:off x="6290327" y="4433084"/>
              <a:ext cx="4116799" cy="584775"/>
              <a:chOff x="6290327" y="4433084"/>
              <a:chExt cx="4116799" cy="584775"/>
            </a:xfrm>
          </p:grpSpPr>
          <p:sp>
            <p:nvSpPr>
              <p:cNvPr id="21" name="AutoShape 21"/>
              <p:cNvSpPr/>
              <p:nvPr/>
            </p:nvSpPr>
            <p:spPr>
              <a:xfrm>
                <a:off x="6290327" y="4433084"/>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04</a:t>
                </a:r>
                <a:endParaRPr lang="en-US" sz="1100"/>
              </a:p>
            </p:txBody>
          </p:sp>
          <p:sp>
            <p:nvSpPr>
              <p:cNvPr id="22" name="AutoShape 22"/>
              <p:cNvSpPr/>
              <p:nvPr/>
            </p:nvSpPr>
            <p:spPr>
              <a:xfrm>
                <a:off x="7169896" y="4484007"/>
                <a:ext cx="323723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研究创新点与预期贡献</a:t>
                </a:r>
                <a:endParaRPr lang="en-US" sz="1100"/>
              </a:p>
            </p:txBody>
          </p:sp>
        </p:grpSp>
        <p:cxnSp>
          <p:nvCxnSpPr>
            <p:cNvPr id="23" name="Connector 23"/>
            <p:cNvCxnSpPr/>
            <p:nvPr/>
          </p:nvCxnSpPr>
          <p:spPr>
            <a:xfrm>
              <a:off x="7148631" y="4515906"/>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24" name="Picture 24"/>
          <p:cNvPicPr>
            <a:picLocks noChangeAspect="1"/>
          </p:cNvPicPr>
          <p:nvPr/>
        </p:nvPicPr>
        <p:blipFill>
          <a:blip r:embed="rId3"/>
          <a:srcRect/>
          <a:stretch>
            <a:fillRect/>
          </a:stretch>
        </p:blipFill>
        <p:spPr>
          <a:xfrm>
            <a:off x="869262" y="694952"/>
            <a:ext cx="2416036" cy="701166"/>
          </a:xfrm>
          <a:prstGeom prst="rect">
            <a:avLst/>
          </a:prstGeom>
          <a:ln w="12700">
            <a:noFill/>
            <a:prstDash val="solid"/>
          </a:ln>
        </p:spPr>
      </p:pic>
      <p:grpSp>
        <p:nvGrpSpPr>
          <p:cNvPr id="25" name="Group 25"/>
          <p:cNvGrpSpPr/>
          <p:nvPr/>
        </p:nvGrpSpPr>
        <p:grpSpPr>
          <a:xfrm>
            <a:off x="6308177" y="5266059"/>
            <a:ext cx="2284189" cy="584775"/>
            <a:chOff x="6308177" y="5266059"/>
            <a:chExt cx="2284189" cy="584775"/>
          </a:xfrm>
        </p:grpSpPr>
        <p:grpSp>
          <p:nvGrpSpPr>
            <p:cNvPr id="26" name="Group 26"/>
            <p:cNvGrpSpPr/>
            <p:nvPr/>
          </p:nvGrpSpPr>
          <p:grpSpPr>
            <a:xfrm>
              <a:off x="6308177" y="5266059"/>
              <a:ext cx="2284189" cy="584775"/>
              <a:chOff x="6308177" y="5266059"/>
              <a:chExt cx="2284189" cy="584775"/>
            </a:xfrm>
          </p:grpSpPr>
          <p:sp>
            <p:nvSpPr>
              <p:cNvPr id="27" name="AutoShape 27"/>
              <p:cNvSpPr/>
              <p:nvPr/>
            </p:nvSpPr>
            <p:spPr>
              <a:xfrm>
                <a:off x="6308177" y="5266059"/>
                <a:ext cx="1020724" cy="584775"/>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200" b="1" i="0" u="none" strike="noStrike">
                    <a:solidFill>
                      <a:srgbClr val="0A3760"/>
                    </a:solidFill>
                    <a:latin typeface="微软雅黑"/>
                    <a:ea typeface="微软雅黑"/>
                    <a:cs typeface="微软雅黑"/>
                    <a:sym typeface="微软雅黑"/>
                  </a:rPr>
                  <a:t>05</a:t>
                </a:r>
                <a:endParaRPr lang="en-US" sz="1100"/>
              </a:p>
            </p:txBody>
          </p:sp>
          <p:sp>
            <p:nvSpPr>
              <p:cNvPr id="28" name="AutoShape 28"/>
              <p:cNvSpPr/>
              <p:nvPr/>
            </p:nvSpPr>
            <p:spPr>
              <a:xfrm>
                <a:off x="7187746" y="5316982"/>
                <a:ext cx="140462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000000"/>
                    </a:solidFill>
                    <a:latin typeface="微软雅黑"/>
                    <a:ea typeface="微软雅黑"/>
                    <a:cs typeface="微软雅黑"/>
                    <a:sym typeface="微软雅黑"/>
                  </a:rPr>
                  <a:t>写作计划</a:t>
                </a:r>
                <a:endParaRPr lang="en-US" sz="1100"/>
              </a:p>
            </p:txBody>
          </p:sp>
        </p:grpSp>
        <p:cxnSp>
          <p:nvCxnSpPr>
            <p:cNvPr id="29" name="Connector 29"/>
            <p:cNvCxnSpPr/>
            <p:nvPr/>
          </p:nvCxnSpPr>
          <p:spPr>
            <a:xfrm>
              <a:off x="7166481" y="5348881"/>
              <a:ext cx="0" cy="396000"/>
            </a:xfrm>
            <a:prstGeom prst="line">
              <a:avLst/>
            </a:prstGeom>
            <a:noFill/>
            <a:ln w="12700" cap="flat">
              <a:solidFill>
                <a:srgbClr val="808080">
                  <a:alpha val="100000"/>
                </a:srgbClr>
              </a:solidFill>
              <a:prstDash val="solid"/>
              <a:headEnd type="none" w="med" len="med"/>
              <a:tailEnd type="none" w="med" len="med"/>
            </a:ln>
          </p:spPr>
        </p:cxnSp>
      </p:grpSp>
      <p:pic>
        <p:nvPicPr>
          <p:cNvPr id="30" name="Picture 30"/>
          <p:cNvPicPr>
            <a:picLocks noChangeAspect="1"/>
          </p:cNvPicPr>
          <p:nvPr/>
        </p:nvPicPr>
        <p:blipFill>
          <a:blip r:embed="rId4"/>
          <a:srcRect/>
          <a:stretch>
            <a:fillRect/>
          </a:stretch>
        </p:blipFill>
        <p:spPr>
          <a:xfrm>
            <a:off x="1235490" y="2077686"/>
            <a:ext cx="1905000" cy="1905000"/>
          </a:xfrm>
          <a:prstGeom prst="rect">
            <a:avLst/>
          </a:prstGeom>
          <a:ln w="12700">
            <a:noFill/>
            <a:prstDash val="soli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464810" cy="1324610"/>
          </a:xfrm>
          <a:custGeom>
            <a:avLst/>
            <a:gdLst/>
            <a:ahLst/>
            <a:cxnLst/>
            <a:rect l="l" t="t" r="r" b="b"/>
            <a:pathLst>
              <a:path w="5464810" h="1324610">
                <a:moveTo>
                  <a:pt x="588503" y="0"/>
                </a:moveTo>
                <a:lnTo>
                  <a:pt x="588512" y="1"/>
                </a:lnTo>
                <a:lnTo>
                  <a:pt x="4851343" y="1"/>
                </a:lnTo>
                <a:lnTo>
                  <a:pt x="4851343" y="2833"/>
                </a:lnTo>
                <a:lnTo>
                  <a:pt x="4876307" y="1"/>
                </a:lnTo>
                <a:cubicBezTo>
                  <a:pt x="5201328" y="1"/>
                  <a:pt x="5464810" y="296525"/>
                  <a:pt x="5464810" y="662305"/>
                </a:cubicBezTo>
                <a:cubicBezTo>
                  <a:pt x="5464810" y="1028087"/>
                  <a:pt x="5201328" y="1324610"/>
                  <a:pt x="4876307" y="1324610"/>
                </a:cubicBezTo>
                <a:lnTo>
                  <a:pt x="4851343" y="1321778"/>
                </a:lnTo>
                <a:lnTo>
                  <a:pt x="4851343" y="1324609"/>
                </a:lnTo>
                <a:lnTo>
                  <a:pt x="588503" y="1324609"/>
                </a:lnTo>
                <a:cubicBezTo>
                  <a:pt x="263482" y="1324609"/>
                  <a:pt x="0" y="1028085"/>
                  <a:pt x="0" y="662305"/>
                </a:cubicBezTo>
                <a:cubicBezTo>
                  <a:pt x="0" y="296523"/>
                  <a:pt x="263482" y="0"/>
                  <a:pt x="588503"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61570" y="3271730"/>
            <a:ext cx="2719070" cy="119888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1.  研究背景</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研究背景与动机</a:t>
            </a:r>
            <a:endParaRPr lang="en-US" sz="110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968500"/>
            <a:ext cx="508000" cy="508000"/>
          </a:xfrm>
          <a:prstGeom prst="rect">
            <a:avLst/>
          </a:prstGeom>
        </p:spPr>
      </p:pic>
      <p:sp>
        <p:nvSpPr>
          <p:cNvPr id="7" name="AutoShape 7"/>
          <p:cNvSpPr/>
          <p:nvPr/>
        </p:nvSpPr>
        <p:spPr>
          <a:xfrm>
            <a:off x="1397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1E3A8A"/>
                </a:solidFill>
                <a:latin typeface="微软雅黑"/>
                <a:ea typeface="微软雅黑"/>
                <a:cs typeface="微软雅黑"/>
                <a:sym typeface="微软雅黑"/>
              </a:rPr>
              <a:t>01 </a:t>
            </a:r>
            <a:r>
              <a:rPr lang="en-US" sz="1800" b="1" i="0" u="none" strike="noStrike" dirty="0" err="1">
                <a:solidFill>
                  <a:srgbClr val="1E3A8A"/>
                </a:solidFill>
                <a:latin typeface="微软雅黑"/>
                <a:ea typeface="微软雅黑"/>
                <a:cs typeface="微软雅黑"/>
                <a:sym typeface="微软雅黑"/>
              </a:rPr>
              <a:t>智能监控迫切需求</a:t>
            </a:r>
            <a:endParaRPr lang="en-US" sz="1100" dirty="0"/>
          </a:p>
        </p:txBody>
      </p:sp>
      <p:sp>
        <p:nvSpPr>
          <p:cNvPr id="8" name="AutoShape 8"/>
          <p:cNvSpPr/>
          <p:nvPr/>
        </p:nvSpPr>
        <p:spPr>
          <a:xfrm>
            <a:off x="762000" y="2540000"/>
            <a:ext cx="4953000" cy="1079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微软雅黑"/>
                <a:sym typeface="微软雅黑"/>
              </a:rPr>
              <a:t>在森林火灾、危化园区等高危场景中，智能监控是安防预警的核心。计算机视觉技术是实现目标精准识别与实时响应的关键支撑，对高效、准确的火情监测系统需求持续攀升</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1968500"/>
            <a:ext cx="508000" cy="508000"/>
          </a:xfrm>
          <a:prstGeom prst="rect">
            <a:avLst/>
          </a:prstGeom>
        </p:spPr>
      </p:pic>
      <p:sp>
        <p:nvSpPr>
          <p:cNvPr id="11" name="AutoShape 11"/>
          <p:cNvSpPr/>
          <p:nvPr/>
        </p:nvSpPr>
        <p:spPr>
          <a:xfrm>
            <a:off x="7112000" y="1968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dirty="0">
                <a:solidFill>
                  <a:srgbClr val="9A3412"/>
                </a:solidFill>
                <a:latin typeface="微软雅黑"/>
                <a:ea typeface="微软雅黑"/>
                <a:cs typeface="微软雅黑"/>
                <a:sym typeface="微软雅黑"/>
              </a:rPr>
              <a:t>02 </a:t>
            </a:r>
            <a:r>
              <a:rPr lang="en-US" sz="1800" b="1" i="0" u="none" strike="noStrike" dirty="0" err="1">
                <a:solidFill>
                  <a:srgbClr val="9A3412"/>
                </a:solidFill>
                <a:latin typeface="微软雅黑"/>
                <a:ea typeface="微软雅黑"/>
                <a:cs typeface="微软雅黑"/>
                <a:sym typeface="微软雅黑"/>
              </a:rPr>
              <a:t>人工标注痛点凸显</a:t>
            </a:r>
            <a:endParaRPr lang="en-US" sz="1100" dirty="0"/>
          </a:p>
        </p:txBody>
      </p:sp>
      <p:sp>
        <p:nvSpPr>
          <p:cNvPr id="12" name="AutoShape 12"/>
          <p:cNvSpPr/>
          <p:nvPr/>
        </p:nvSpPr>
        <p:spPr>
          <a:xfrm>
            <a:off x="6477000" y="2540000"/>
            <a:ext cx="4953000" cy="1079500"/>
          </a:xfrm>
          <a:prstGeom prst="rect">
            <a:avLst/>
          </a:prstGeom>
          <a:noFill/>
          <a:ln w="12700" cap="flat" cmpd="sng">
            <a:noFill/>
            <a:prstDash val="solid"/>
            <a:round/>
          </a:ln>
        </p:spPr>
        <p:txBody>
          <a:bodyPr vert="horz" wrap="square" lIns="0" tIns="0" rIns="0" bIns="0" rtlCol="0" anchor="ctr">
            <a:noAutofit/>
          </a:bodyPr>
          <a:lstStyle/>
          <a:p>
            <a:pPr>
              <a:lnSpc>
                <a:spcPct val="108333"/>
              </a:lnSpc>
            </a:pP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主流检测算法依赖全监督学习，</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需海量高质量人工标注。火烟作为非刚性目标，形态弥散且边界模糊，导致标注成本高、周期长，且易因主观判断引入偏差</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，成为模型落地的瓶颈</a:t>
            </a:r>
            <a:r>
              <a:rPr lang="en-US">
                <a:solidFill>
                  <a:schemeClr val="tx1">
                    <a:lumMod val="85000"/>
                    <a:lumOff val="15000"/>
                  </a:schemeClr>
                </a:solidFill>
                <a:latin typeface="Microsoft YaHei" panose="020B0503020204020204" pitchFamily="34" charset="-122"/>
                <a:ea typeface="Microsoft YaHei" panose="020B0503020204020204" pitchFamily="34" charset="-122"/>
                <a:sym typeface="Noto Sans SC"/>
              </a:rPr>
              <a:t>。</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2000" y="4254500"/>
            <a:ext cx="508000" cy="508000"/>
          </a:xfrm>
          <a:prstGeom prst="rect">
            <a:avLst/>
          </a:prstGeom>
        </p:spPr>
      </p:pic>
      <p:sp>
        <p:nvSpPr>
          <p:cNvPr id="15" name="AutoShape 15"/>
          <p:cNvSpPr/>
          <p:nvPr/>
        </p:nvSpPr>
        <p:spPr>
          <a:xfrm>
            <a:off x="1397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64E3B"/>
                </a:solidFill>
                <a:latin typeface="微软雅黑"/>
                <a:ea typeface="微软雅黑"/>
                <a:cs typeface="微软雅黑"/>
                <a:sym typeface="微软雅黑"/>
              </a:rPr>
              <a:t>03 视觉大模型带来新契机</a:t>
            </a:r>
            <a:endParaRPr lang="en-US" sz="1100"/>
          </a:p>
        </p:txBody>
      </p:sp>
      <p:sp>
        <p:nvSpPr>
          <p:cNvPr id="16" name="AutoShape 16"/>
          <p:cNvSpPr/>
          <p:nvPr/>
        </p:nvSpPr>
        <p:spPr>
          <a:xfrm>
            <a:off x="762000" y="4826000"/>
            <a:ext cx="4953000" cy="1079500"/>
          </a:xfrm>
          <a:prstGeom prst="roundRect">
            <a:avLst>
              <a:gd name="adj" fmla="val 0"/>
            </a:avLst>
          </a:prstGeom>
          <a:noFill/>
          <a:ln w="12700" cap="flat" cmpd="sng">
            <a:noFill/>
            <a:prstDash val="solid"/>
            <a:round/>
          </a:ln>
        </p:spPr>
        <p:txBody>
          <a:bodyPr vert="horz" wrap="square" lIns="0" tIns="0" rIns="0" bIns="0" rtlCol="0" anchor="ctr">
            <a:noAutofit/>
          </a:bodyPr>
          <a:lstStyle/>
          <a:p>
            <a:pPr>
              <a:lnSpc>
                <a:spcPct val="108333"/>
              </a:lnSpc>
            </a:pP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Grounding DINO 与 SAM 等视觉大模型的问世，凭借强大的零样本定位与通用分割能力，为自动化生成高质量训练标签提供了技术可能，为自动化生成训练标签提供了新的技术路径。</a:t>
            </a:r>
            <a:endParaRPr lang="en-US"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4254500"/>
            <a:ext cx="508000" cy="508000"/>
          </a:xfrm>
          <a:prstGeom prst="rect">
            <a:avLst/>
          </a:prstGeom>
        </p:spPr>
      </p:pic>
      <p:sp>
        <p:nvSpPr>
          <p:cNvPr id="19" name="AutoShape 19"/>
          <p:cNvSpPr/>
          <p:nvPr/>
        </p:nvSpPr>
        <p:spPr>
          <a:xfrm>
            <a:off x="7112000" y="4254500"/>
            <a:ext cx="4445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04 研究核心聚焦与突破</a:t>
            </a:r>
            <a:endParaRPr lang="en-US" sz="1100"/>
          </a:p>
        </p:txBody>
      </p:sp>
      <p:sp>
        <p:nvSpPr>
          <p:cNvPr id="20" name="AutoShape 20"/>
          <p:cNvSpPr/>
          <p:nvPr/>
        </p:nvSpPr>
        <p:spPr>
          <a:xfrm>
            <a:off x="6477000" y="4826000"/>
            <a:ext cx="4953000" cy="1079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08333"/>
              </a:lnSpc>
              <a:defRPr/>
            </a:pPr>
            <a:r>
              <a:rPr lang="en-US" sz="1400" b="0" i="0" u="none" strike="noStrike" dirty="0">
                <a:solidFill>
                  <a:schemeClr val="tx1">
                    <a:lumMod val="85000"/>
                    <a:lumOff val="15000"/>
                  </a:schemeClr>
                </a:solidFill>
                <a:latin typeface="微软雅黑"/>
                <a:ea typeface="微软雅黑"/>
                <a:cs typeface="微软雅黑"/>
                <a:sym typeface="微软雅黑"/>
              </a:rPr>
              <a:t>研究不追求新网络架构创新，</a:t>
            </a:r>
            <a:r>
              <a:rPr lang="en-US" dirty="0">
                <a:solidFill>
                  <a:schemeClr val="tx1">
                    <a:lumMod val="85000"/>
                    <a:lumOff val="15000"/>
                  </a:schemeClr>
                </a:solidFill>
                <a:latin typeface="Microsoft YaHei" panose="020B0503020204020204" pitchFamily="34" charset="-122"/>
                <a:ea typeface="Microsoft YaHei" panose="020B0503020204020204" pitchFamily="34" charset="-122"/>
                <a:sym typeface="微软雅黑"/>
              </a:rPr>
              <a:t>重点构建稳定</a:t>
            </a:r>
            <a:r>
              <a:rPr lang="en-US" sz="1400" b="0" i="0" u="none" strike="noStrike" dirty="0">
                <a:solidFill>
                  <a:schemeClr val="tx1">
                    <a:lumMod val="85000"/>
                    <a:lumOff val="15000"/>
                  </a:schemeClr>
                </a:solidFill>
                <a:latin typeface="微软雅黑"/>
                <a:ea typeface="微软雅黑"/>
                <a:cs typeface="微软雅黑"/>
                <a:sym typeface="微软雅黑"/>
              </a:rPr>
              <a:t>、可复现的伪标签生成与验证规范体系，量化后处理环节增益与成本，为同类非刚性目标的数据制备提供可复现的流程参考。</a:t>
            </a:r>
            <a:endParaRPr lang="en-US" sz="1100" dirty="0">
              <a:solidFill>
                <a:schemeClr val="tx1">
                  <a:lumMod val="85000"/>
                  <a:lumOff val="15000"/>
                </a:schemeClr>
              </a:solidFill>
            </a:endParaRPr>
          </a:p>
        </p:txBody>
      </p:sp>
      <p:cxnSp>
        <p:nvCxnSpPr>
          <p:cNvPr id="21" name="Connector 8">
            <a:extLst>
              <a:ext uri="{FF2B5EF4-FFF2-40B4-BE49-F238E27FC236}">
                <a16:creationId xmlns:a16="http://schemas.microsoft.com/office/drawing/2014/main" id="{DC63FCB9-A473-4B34-B4AA-5B9AABC6F109}"/>
              </a:ext>
            </a:extLst>
          </p:cNvPr>
          <p:cNvCxnSpPr>
            <a:cxnSpLocks/>
          </p:cNvCxnSpPr>
          <p:nvPr/>
        </p:nvCxnSpPr>
        <p:spPr>
          <a:xfrm>
            <a:off x="5974254" y="1541929"/>
            <a:ext cx="0" cy="458993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cxnSp>
        <p:nvCxnSpPr>
          <p:cNvPr id="23" name="Connector 8">
            <a:extLst>
              <a:ext uri="{FF2B5EF4-FFF2-40B4-BE49-F238E27FC236}">
                <a16:creationId xmlns:a16="http://schemas.microsoft.com/office/drawing/2014/main" id="{4E7E6D87-53F6-4D71-B3BE-DE0ABD588878}"/>
              </a:ext>
            </a:extLst>
          </p:cNvPr>
          <p:cNvCxnSpPr>
            <a:cxnSpLocks/>
          </p:cNvCxnSpPr>
          <p:nvPr/>
        </p:nvCxnSpPr>
        <p:spPr>
          <a:xfrm>
            <a:off x="812800" y="3756212"/>
            <a:ext cx="10744200" cy="0"/>
          </a:xfrm>
          <a:prstGeom prst="line">
            <a:avLst/>
          </a:prstGeom>
          <a:ln w="19050">
            <a:headEnd type="none" w="med" len="med"/>
            <a:tailEnd type="none" w="med" len="med"/>
          </a:ln>
        </p:spPr>
        <p:style>
          <a:lnRef idx="1">
            <a:schemeClr val="accent3"/>
          </a:lnRef>
          <a:fillRef idx="0">
            <a:schemeClr val="accent3"/>
          </a:fillRef>
          <a:effectRef idx="0">
            <a:schemeClr val="accent3"/>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24638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17018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研究目标</a:t>
            </a:r>
            <a:endParaRPr lang="en-US" sz="1100"/>
          </a:p>
        </p:txBody>
      </p:sp>
      <p:sp>
        <p:nvSpPr>
          <p:cNvPr id="5" name="AutoShape 5"/>
          <p:cNvSpPr/>
          <p:nvPr/>
        </p:nvSpPr>
        <p:spPr>
          <a:xfrm>
            <a:off x="762000" y="1397000"/>
            <a:ext cx="10668000" cy="762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16666"/>
              </a:lnSpc>
              <a:defRPr/>
            </a:pPr>
            <a:r>
              <a:rPr lang="en-US" sz="16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致力于减少对全量人工逐框标注的依赖，打破“重数量轻质量”的传统困境，构建兼顾效率与精度的智能标注体系</a:t>
            </a:r>
            <a:r>
              <a:rPr lang="en-US" sz="16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6" name="AutoShape 6"/>
          <p:cNvSpPr/>
          <p:nvPr/>
        </p:nvSpPr>
        <p:spPr>
          <a:xfrm>
            <a:off x="762000" y="2413000"/>
            <a:ext cx="3429000" cy="3175000"/>
          </a:xfrm>
          <a:prstGeom prst="roundRect">
            <a:avLst>
              <a:gd name="adj" fmla="val 0"/>
            </a:avLst>
          </a:prstGeom>
          <a:solidFill>
            <a:srgbClr val="EFF6FF">
              <a:alpha val="60000"/>
            </a:srgbClr>
          </a:solidFill>
          <a:ln w="12700" cap="flat" cmpd="sng">
            <a:solidFill>
              <a:srgbClr val="BFDBFE">
                <a:alpha val="100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667000"/>
            <a:ext cx="406400" cy="406400"/>
          </a:xfrm>
          <a:prstGeom prst="rect">
            <a:avLst/>
          </a:prstGeom>
        </p:spPr>
      </p:pic>
      <p:sp>
        <p:nvSpPr>
          <p:cNvPr id="8" name="AutoShape 8"/>
          <p:cNvSpPr/>
          <p:nvPr/>
        </p:nvSpPr>
        <p:spPr>
          <a:xfrm>
            <a:off x="1524000" y="2692400"/>
            <a:ext cx="2540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en-US" sz="1800" b="1" i="0" u="none" strike="noStrike" dirty="0">
                <a:solidFill>
                  <a:srgbClr val="2563EB"/>
                </a:solidFill>
                <a:latin typeface="Noto Sans SC"/>
                <a:ea typeface="Noto Sans SC"/>
                <a:cs typeface="Noto Sans SC"/>
                <a:sym typeface="Noto Sans SC"/>
              </a:rPr>
              <a:t>01 </a:t>
            </a:r>
            <a:r>
              <a:rPr lang="en-US" sz="1800" b="1" i="0" u="none" strike="noStrike" dirty="0" err="1">
                <a:solidFill>
                  <a:srgbClr val="2563EB"/>
                </a:solidFill>
                <a:latin typeface="Noto Sans SC"/>
                <a:ea typeface="Noto Sans SC"/>
                <a:cs typeface="Noto Sans SC"/>
                <a:sym typeface="Noto Sans SC"/>
              </a:rPr>
              <a:t>方法创新：可复现的伪标签生</a:t>
            </a:r>
            <a:r>
              <a:rPr lang="zh-CN" altLang="en-US" sz="1800" b="1" i="0" u="none" strike="noStrike" dirty="0">
                <a:solidFill>
                  <a:srgbClr val="2563EB"/>
                </a:solidFill>
                <a:latin typeface="Noto Sans SC"/>
                <a:ea typeface="Noto Sans SC"/>
                <a:cs typeface="Noto Sans SC"/>
                <a:sym typeface="Noto Sans SC"/>
              </a:rPr>
              <a:t>成</a:t>
            </a:r>
            <a:r>
              <a:rPr lang="en-US" sz="1800" b="1" i="0" u="none" strike="noStrike" dirty="0" err="1">
                <a:solidFill>
                  <a:srgbClr val="2563EB"/>
                </a:solidFill>
                <a:latin typeface="Noto Sans SC"/>
                <a:ea typeface="Noto Sans SC"/>
                <a:cs typeface="Noto Sans SC"/>
                <a:sym typeface="Noto Sans SC"/>
              </a:rPr>
              <a:t>与验证流程</a:t>
            </a:r>
            <a:endParaRPr lang="en-US" sz="1100" dirty="0"/>
          </a:p>
        </p:txBody>
      </p:sp>
      <p:cxnSp>
        <p:nvCxnSpPr>
          <p:cNvPr id="9" name="Connector 9"/>
          <p:cNvCxnSpPr/>
          <p:nvPr/>
        </p:nvCxnSpPr>
        <p:spPr>
          <a:xfrm rot="-14946">
            <a:off x="1016014" y="3232150"/>
            <a:ext cx="2921000" cy="12700"/>
          </a:xfrm>
          <a:prstGeom prst="line">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10" name="AutoShape 10"/>
          <p:cNvSpPr/>
          <p:nvPr/>
        </p:nvSpPr>
        <p:spPr>
          <a:xfrm>
            <a:off x="1016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构建基于</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的伪标签自动生成流程，针对火焰与烟雾场景设计</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SAM3</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后置校验与候选治理策略。对比不同数据规模下的投入产出比，平衡自动化效率与标注精准度</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1" name="AutoShape 11"/>
          <p:cNvSpPr/>
          <p:nvPr/>
        </p:nvSpPr>
        <p:spPr>
          <a:xfrm>
            <a:off x="4381500" y="2413000"/>
            <a:ext cx="3429000" cy="3175000"/>
          </a:xfrm>
          <a:prstGeom prst="roundRect">
            <a:avLst>
              <a:gd name="adj" fmla="val 0"/>
            </a:avLst>
          </a:prstGeom>
          <a:solidFill>
            <a:srgbClr val="FFF7ED">
              <a:alpha val="60000"/>
            </a:srgbClr>
          </a:solidFill>
          <a:ln w="12700" cap="flat" cmpd="sng">
            <a:solidFill>
              <a:srgbClr val="FDBA74">
                <a:alpha val="100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2667000"/>
            <a:ext cx="406400" cy="406400"/>
          </a:xfrm>
          <a:prstGeom prst="rect">
            <a:avLst/>
          </a:prstGeom>
        </p:spPr>
      </p:pic>
      <p:sp>
        <p:nvSpPr>
          <p:cNvPr id="13" name="AutoShape 13"/>
          <p:cNvSpPr/>
          <p:nvPr/>
        </p:nvSpPr>
        <p:spPr>
          <a:xfrm>
            <a:off x="51435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EA580C"/>
                </a:solidFill>
                <a:latin typeface="Noto Sans SC"/>
                <a:ea typeface="Noto Sans SC"/>
                <a:cs typeface="Noto Sans SC"/>
                <a:sym typeface="Noto Sans SC"/>
              </a:rPr>
              <a:t>02 评价体系：双重验证</a:t>
            </a:r>
            <a:endParaRPr lang="en-US" sz="1100"/>
          </a:p>
        </p:txBody>
      </p:sp>
      <p:cxnSp>
        <p:nvCxnSpPr>
          <p:cNvPr id="14" name="Connector 14"/>
          <p:cNvCxnSpPr/>
          <p:nvPr/>
        </p:nvCxnSpPr>
        <p:spPr>
          <a:xfrm rot="-14946">
            <a:off x="4635514" y="3232150"/>
            <a:ext cx="2921000" cy="12700"/>
          </a:xfrm>
          <a:prstGeom prst="line">
            <a:avLst/>
          </a:prstGeom>
          <a:solidFill>
            <a:srgbClr val="DEE0E3">
              <a:alpha val="100000"/>
            </a:srgbClr>
          </a:solidFill>
          <a:ln w="12700" cap="flat" cmpd="sng">
            <a:solidFill>
              <a:srgbClr val="EA580C">
                <a:alpha val="20000"/>
              </a:srgbClr>
            </a:solidFill>
            <a:prstDash val="solid"/>
            <a:round/>
            <a:headEnd type="none" w="med" len="med"/>
            <a:tailEnd type="none" w="med" len="med"/>
          </a:ln>
        </p:spPr>
      </p:cxnSp>
      <p:sp>
        <p:nvSpPr>
          <p:cNvPr id="15" name="AutoShape 15"/>
          <p:cNvSpPr/>
          <p:nvPr/>
        </p:nvSpPr>
        <p:spPr>
          <a:xfrm>
            <a:off x="46355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建立“</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标签层诊断</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下游效用评估</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”的双层体系。通过指标量化标签质量以定位问题，利用统一训练协议下的</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YOLO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模型性能，客观判断标注流程的实际应用价值</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001000" y="2413000"/>
            <a:ext cx="3429000" cy="3175000"/>
          </a:xfrm>
          <a:prstGeom prst="roundRect">
            <a:avLst>
              <a:gd name="adj" fmla="val 0"/>
            </a:avLst>
          </a:prstGeom>
          <a:solidFill>
            <a:srgbClr val="ECFDF5">
              <a:alpha val="60000"/>
            </a:srgbClr>
          </a:solidFill>
          <a:ln w="12700" cap="flat" cmpd="sng">
            <a:solidFill>
              <a:srgbClr val="6EE7B7">
                <a:alpha val="10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667000"/>
            <a:ext cx="406400" cy="406400"/>
          </a:xfrm>
          <a:prstGeom prst="rect">
            <a:avLst/>
          </a:prstGeom>
        </p:spPr>
      </p:pic>
      <p:sp>
        <p:nvSpPr>
          <p:cNvPr id="18" name="AutoShape 18"/>
          <p:cNvSpPr/>
          <p:nvPr/>
        </p:nvSpPr>
        <p:spPr>
          <a:xfrm>
            <a:off x="8763000" y="2692400"/>
            <a:ext cx="2540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59669"/>
                </a:solidFill>
                <a:latin typeface="Noto Sans SC"/>
                <a:ea typeface="Noto Sans SC"/>
                <a:cs typeface="Noto Sans SC"/>
                <a:sym typeface="Noto Sans SC"/>
              </a:rPr>
              <a:t>03 工程落地：全链路保障</a:t>
            </a:r>
            <a:endParaRPr lang="en-US" sz="1100"/>
          </a:p>
        </p:txBody>
      </p:sp>
      <p:cxnSp>
        <p:nvCxnSpPr>
          <p:cNvPr id="19" name="Connector 19"/>
          <p:cNvCxnSpPr/>
          <p:nvPr/>
        </p:nvCxnSpPr>
        <p:spPr>
          <a:xfrm rot="-14946">
            <a:off x="8255014" y="3232150"/>
            <a:ext cx="2921000" cy="12700"/>
          </a:xfrm>
          <a:prstGeom prst="line">
            <a:avLst/>
          </a:prstGeom>
          <a:solidFill>
            <a:srgbClr val="DEE0E3">
              <a:alpha val="100000"/>
            </a:srgbClr>
          </a:solidFill>
          <a:ln w="12700" cap="flat" cmpd="sng">
            <a:solidFill>
              <a:srgbClr val="059669">
                <a:alpha val="20000"/>
              </a:srgbClr>
            </a:solidFill>
            <a:prstDash val="solid"/>
            <a:round/>
            <a:headEnd type="none" w="med" len="med"/>
            <a:tailEnd type="none" w="med" len="med"/>
          </a:ln>
        </p:spPr>
      </p:cxnSp>
      <p:sp>
        <p:nvSpPr>
          <p:cNvPr id="20" name="AutoShape 20"/>
          <p:cNvSpPr/>
          <p:nvPr/>
        </p:nvSpPr>
        <p:spPr>
          <a:xfrm>
            <a:off x="8255000" y="3429000"/>
            <a:ext cx="2921000" cy="203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引入</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a:t>
            </a:r>
            <a:r>
              <a:rPr lang="en-US" sz="1400" b="1"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Stage-Gate </a:t>
            </a:r>
            <a:r>
              <a:rPr lang="en-US" sz="1400" b="1"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阶段门控</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 与 Pareto </a:t>
            </a:r>
            <a:r>
              <a:rPr lang="en-US" sz="14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非支配分析，确保流程可控。建立全链路可复现机制，关注标注生产的稳定性、可扩展性及综合效益，实现技术向生产力的转化</a:t>
            </a:r>
            <a:r>
              <a:rPr lang="en-US" sz="14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762000" y="5905500"/>
            <a:ext cx="10668000" cy="508000"/>
          </a:xfrm>
          <a:prstGeom prst="roundRect">
            <a:avLst>
              <a:gd name="adj" fmla="val 0"/>
            </a:avLst>
          </a:prstGeom>
          <a:solidFill>
            <a:srgbClr val="374151">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762000" y="5994400"/>
            <a:ext cx="10668000" cy="381000"/>
          </a:xfrm>
          <a:prstGeom prst="rect">
            <a:avLst/>
          </a:prstGeom>
          <a:no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400" b="1" i="0" u="none" strike="noStrike" dirty="0" err="1">
                <a:solidFill>
                  <a:srgbClr val="4B5563"/>
                </a:solidFill>
                <a:latin typeface="Microsoft YaHei" panose="020B0503020204020204" pitchFamily="34" charset="-122"/>
                <a:ea typeface="Microsoft YaHei" panose="020B0503020204020204" pitchFamily="34" charset="-122"/>
                <a:cs typeface="Noto Sans SC"/>
                <a:sym typeface="Noto Sans SC"/>
              </a:rPr>
              <a:t>核心愿景：以技术创新驱动标注流程升级，实现从“人工主导”向“智能驱动”的转变</a:t>
            </a:r>
            <a:r>
              <a:rPr lang="en-US" sz="1400" b="1" i="0" u="none" strike="noStrike" dirty="0">
                <a:solidFill>
                  <a:srgbClr val="4B5563"/>
                </a:solidFill>
                <a:latin typeface="Microsoft YaHei" panose="020B0503020204020204" pitchFamily="34" charset="-122"/>
                <a:ea typeface="Microsoft YaHei" panose="020B0503020204020204" pitchFamily="34" charset="-122"/>
                <a:cs typeface="Noto Sans SC"/>
                <a:sym typeface="Noto Sans SC"/>
              </a:rPr>
              <a:t>。</a:t>
            </a:r>
            <a:endParaRPr lang="en-US" sz="1100"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127000"/>
            <a:ext cx="4330700" cy="609600"/>
          </a:xfrm>
          <a:prstGeom prst="roundRect">
            <a:avLst>
              <a:gd name="adj" fmla="val 41665"/>
            </a:avLst>
          </a:prstGeom>
          <a:solidFill>
            <a:srgbClr val="0A3760">
              <a:alpha val="100000"/>
            </a:srgbClr>
          </a:solidFill>
          <a:ln w="25400" cap="flat" cmpd="sng">
            <a:noFill/>
            <a:prstDash val="solid"/>
            <a:round/>
          </a:ln>
        </p:spPr>
        <p:txBody>
          <a:bodyPr vert="horz" wrap="square" lIns="0" tIns="0" rIns="0" bIns="0" rtlCol="0" anchor="ctr" anchorCtr="0"/>
          <a:lstStyle/>
          <a:p>
            <a:pPr algn="l">
              <a:defRPr/>
            </a:pPr>
            <a:endParaRPr dirty="0"/>
          </a:p>
        </p:txBody>
      </p:sp>
      <p:pic>
        <p:nvPicPr>
          <p:cNvPr id="3" name="Picture 3"/>
          <p:cNvPicPr>
            <a:picLocks noChangeAspect="1"/>
          </p:cNvPicPr>
          <p:nvPr/>
        </p:nvPicPr>
        <p:blipFill>
          <a:blip r:embed="rId4"/>
          <a:srcRect/>
          <a:stretch>
            <a:fillRect/>
          </a:stretch>
        </p:blipFill>
        <p:spPr>
          <a:xfrm>
            <a:off x="177800" y="152400"/>
            <a:ext cx="558800" cy="558800"/>
          </a:xfrm>
          <a:prstGeom prst="rect">
            <a:avLst/>
          </a:prstGeom>
          <a:noFill/>
          <a:ln w="25400" cap="flat" cmpd="sng">
            <a:noFill/>
            <a:prstDash val="solid"/>
            <a:round/>
          </a:ln>
        </p:spPr>
      </p:pic>
      <p:sp>
        <p:nvSpPr>
          <p:cNvPr id="4" name="AutoShape 4"/>
          <p:cNvSpPr/>
          <p:nvPr/>
        </p:nvSpPr>
        <p:spPr>
          <a:xfrm>
            <a:off x="812800" y="190500"/>
            <a:ext cx="35687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dirty="0" err="1">
                <a:solidFill>
                  <a:srgbClr val="FFFFFF"/>
                </a:solidFill>
                <a:latin typeface="微软雅黑"/>
                <a:ea typeface="微软雅黑"/>
                <a:cs typeface="微软雅黑"/>
                <a:sym typeface="微软雅黑"/>
              </a:rPr>
              <a:t>三大</a:t>
            </a:r>
            <a:r>
              <a:rPr lang="zh-CN" altLang="en-US" sz="2200" b="1" i="0" u="none" strike="noStrike" dirty="0">
                <a:solidFill>
                  <a:srgbClr val="FFFFFF"/>
                </a:solidFill>
                <a:latin typeface="微软雅黑"/>
                <a:ea typeface="微软雅黑"/>
                <a:cs typeface="微软雅黑"/>
                <a:sym typeface="微软雅黑"/>
              </a:rPr>
              <a:t>研究问题</a:t>
            </a:r>
            <a:endParaRPr lang="en-US" sz="1100" dirty="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62000" y="1968500"/>
            <a:ext cx="406400" cy="406400"/>
          </a:xfrm>
          <a:prstGeom prst="rect">
            <a:avLst/>
          </a:prstGeom>
        </p:spPr>
      </p:pic>
      <p:sp>
        <p:nvSpPr>
          <p:cNvPr id="7" name="AutoShape 7"/>
          <p:cNvSpPr/>
          <p:nvPr/>
        </p:nvSpPr>
        <p:spPr>
          <a:xfrm>
            <a:off x="127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1E3A8A"/>
                </a:solidFill>
                <a:latin typeface="微软雅黑"/>
                <a:ea typeface="微软雅黑"/>
                <a:cs typeface="微软雅黑"/>
                <a:sym typeface="微软雅黑"/>
              </a:rPr>
              <a:t>01 稳定生成可用伪标签</a:t>
            </a:r>
            <a:endParaRPr lang="en-US" sz="1100"/>
          </a:p>
        </p:txBody>
      </p:sp>
      <p:cxnSp>
        <p:nvCxnSpPr>
          <p:cNvPr id="8" name="Connector 8"/>
          <p:cNvCxnSpPr/>
          <p:nvPr/>
        </p:nvCxnSpPr>
        <p:spPr>
          <a:xfrm rot="-14322">
            <a:off x="762013" y="2533650"/>
            <a:ext cx="3048000" cy="12700"/>
          </a:xfrm>
          <a:prstGeom prst="straightConnector1">
            <a:avLst/>
          </a:prstGeom>
          <a:solidFill>
            <a:srgbClr val="DEE0E3">
              <a:alpha val="100000"/>
            </a:srgbClr>
          </a:solidFill>
          <a:ln w="12700" cap="flat" cmpd="sng">
            <a:solidFill>
              <a:srgbClr val="3B82F6">
                <a:alpha val="20000"/>
              </a:srgbClr>
            </a:solidFill>
            <a:prstDash val="solid"/>
            <a:round/>
            <a:headEnd type="none" w="med" len="med"/>
            <a:tailEnd type="none" w="med" len="med"/>
          </a:ln>
        </p:spPr>
      </p:cxnSp>
      <p:sp>
        <p:nvSpPr>
          <p:cNvPr id="9" name="AutoShape 9"/>
          <p:cNvSpPr/>
          <p:nvPr/>
        </p:nvSpPr>
        <p:spPr>
          <a:xfrm>
            <a:off x="76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受文本提示词、置信度阈值及数据分布影响，火烟的非刚性、边界模糊特性易导致漏检与误检。需在低预算候选空间内筛选并冻结提示词与阈值参数，批量生成高质量基准伪标签V1，并验证其对下游检测任务的实际效用，夯实数据基础。</a:t>
            </a:r>
            <a:endParaRPr lang="en-US" sz="1100" dirty="0">
              <a:solidFill>
                <a:schemeClr val="tx1">
                  <a:lumMod val="85000"/>
                  <a:lumOff val="15000"/>
                </a:schemeClr>
              </a:solidFill>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2000" y="1968500"/>
            <a:ext cx="406400" cy="406400"/>
          </a:xfrm>
          <a:prstGeom prst="rect">
            <a:avLst/>
          </a:prstGeom>
        </p:spPr>
      </p:pic>
      <p:sp>
        <p:nvSpPr>
          <p:cNvPr id="12" name="AutoShape 12"/>
          <p:cNvSpPr/>
          <p:nvPr/>
        </p:nvSpPr>
        <p:spPr>
          <a:xfrm>
            <a:off x="508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0C4A6E"/>
                </a:solidFill>
                <a:latin typeface="微软雅黑"/>
                <a:ea typeface="微软雅黑"/>
                <a:cs typeface="微软雅黑"/>
                <a:sym typeface="微软雅黑"/>
              </a:rPr>
              <a:t>02 后置处理策略设计</a:t>
            </a:r>
            <a:endParaRPr lang="en-US" sz="1100"/>
          </a:p>
        </p:txBody>
      </p:sp>
      <p:cxnSp>
        <p:nvCxnSpPr>
          <p:cNvPr id="13" name="Connector 13"/>
          <p:cNvCxnSpPr/>
          <p:nvPr/>
        </p:nvCxnSpPr>
        <p:spPr>
          <a:xfrm rot="-14322">
            <a:off x="4572013" y="2533650"/>
            <a:ext cx="3048000" cy="12700"/>
          </a:xfrm>
          <a:prstGeom prst="straightConnector1">
            <a:avLst/>
          </a:prstGeom>
          <a:solidFill>
            <a:srgbClr val="DEE0E3">
              <a:alpha val="100000"/>
            </a:srgbClr>
          </a:solidFill>
          <a:ln w="12700" cap="flat" cmpd="sng">
            <a:solidFill>
              <a:srgbClr val="0EA5E9">
                <a:alpha val="20000"/>
              </a:srgbClr>
            </a:solidFill>
            <a:prstDash val="solid"/>
            <a:round/>
            <a:headEnd type="none" w="med" len="med"/>
            <a:tailEnd type="none" w="med" len="med"/>
          </a:ln>
        </p:spPr>
      </p:cxnSp>
      <p:sp>
        <p:nvSpPr>
          <p:cNvPr id="14" name="AutoShape 14"/>
          <p:cNvSpPr/>
          <p:nvPr/>
        </p:nvSpPr>
        <p:spPr>
          <a:xfrm>
            <a:off x="4572000" y="2730500"/>
            <a:ext cx="3048000" cy="2222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SAM3的细粒度分割边界未必直接适配检测训练需求。需针对火烟特性定制专属提示词与审核门槛，建立补漏规则与去重策略，严格限制重定位权限，重点验证其在标签审核、漏检补全及边界优化中的实际增量价值。</a:t>
            </a:r>
            <a:endParaRPr lang="en-US" sz="1100" dirty="0">
              <a:solidFill>
                <a:schemeClr val="tx1">
                  <a:lumMod val="85000"/>
                  <a:lumOff val="15000"/>
                </a:schemeClr>
              </a:solidFill>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1968500"/>
            <a:ext cx="406400" cy="406400"/>
          </a:xfrm>
          <a:prstGeom prst="rect">
            <a:avLst/>
          </a:prstGeom>
        </p:spPr>
      </p:pic>
      <p:sp>
        <p:nvSpPr>
          <p:cNvPr id="17" name="AutoShape 17"/>
          <p:cNvSpPr/>
          <p:nvPr/>
        </p:nvSpPr>
        <p:spPr>
          <a:xfrm>
            <a:off x="8890000" y="1968500"/>
            <a:ext cx="2667000" cy="4064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800" b="1" i="0" u="none" strike="noStrike">
                <a:solidFill>
                  <a:srgbClr val="4C1D95"/>
                </a:solidFill>
                <a:latin typeface="微软雅黑"/>
                <a:ea typeface="微软雅黑"/>
                <a:cs typeface="微软雅黑"/>
                <a:sym typeface="微软雅黑"/>
              </a:rPr>
              <a:t>03 多规模流程选型与权衡</a:t>
            </a:r>
            <a:endParaRPr lang="en-US" sz="1100"/>
          </a:p>
        </p:txBody>
      </p:sp>
      <p:cxnSp>
        <p:nvCxnSpPr>
          <p:cNvPr id="18" name="Connector 18"/>
          <p:cNvCxnSpPr/>
          <p:nvPr/>
        </p:nvCxnSpPr>
        <p:spPr>
          <a:xfrm rot="-14322">
            <a:off x="8382013" y="2533650"/>
            <a:ext cx="3048000" cy="12700"/>
          </a:xfrm>
          <a:prstGeom prst="straightConnector1">
            <a:avLst/>
          </a:prstGeom>
          <a:solidFill>
            <a:srgbClr val="DEE0E3">
              <a:alpha val="100000"/>
            </a:srgbClr>
          </a:solidFill>
          <a:ln w="12700" cap="flat" cmpd="sng">
            <a:solidFill>
              <a:srgbClr val="7C3AED">
                <a:alpha val="20000"/>
              </a:srgbClr>
            </a:solidFill>
            <a:prstDash val="solid"/>
            <a:round/>
            <a:headEnd type="none" w="med" len="med"/>
            <a:tailEnd type="none" w="med" len="med"/>
          </a:ln>
        </p:spPr>
      </p:cxnSp>
      <p:sp>
        <p:nvSpPr>
          <p:cNvPr id="19" name="AutoShape 19"/>
          <p:cNvSpPr/>
          <p:nvPr/>
        </p:nvSpPr>
        <p:spPr>
          <a:xfrm>
            <a:off x="8382000" y="2730500"/>
            <a:ext cx="3048000" cy="22225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6666"/>
              </a:lnSpc>
              <a:defRPr/>
            </a:pPr>
            <a:r>
              <a:rPr lang="en-US" sz="1300" b="0" i="0" u="none" strike="noStrike" dirty="0">
                <a:solidFill>
                  <a:schemeClr val="tx1">
                    <a:lumMod val="85000"/>
                    <a:lumOff val="15000"/>
                  </a:schemeClr>
                </a:solidFill>
                <a:latin typeface="微软雅黑"/>
                <a:ea typeface="微软雅黑"/>
                <a:cs typeface="微软雅黑"/>
                <a:sym typeface="微软雅黑"/>
              </a:rPr>
              <a:t>人工标注与自动化方案在质量、效率与成本间存在博弈。需在千级、万级及十万级三种数据规模下，对比单级自动化、级联后处理等方案的综合效益，分析标签制备时间与实际交付周期及人工复审成本，在质量、成本和周期约束下提供流程选择建议。</a:t>
            </a:r>
            <a:endParaRPr lang="en-US" sz="1100" dirty="0">
              <a:solidFill>
                <a:schemeClr val="tx1">
                  <a:lumMod val="85000"/>
                  <a:lumOff val="15000"/>
                </a:schemeClr>
              </a:solidFill>
            </a:endParaRPr>
          </a:p>
        </p:txBody>
      </p:sp>
      <p:sp>
        <p:nvSpPr>
          <p:cNvPr id="20" name="AutoShape 20"/>
          <p:cNvSpPr/>
          <p:nvPr/>
        </p:nvSpPr>
        <p:spPr>
          <a:xfrm>
            <a:off x="508000" y="5461000"/>
            <a:ext cx="11176000" cy="825500"/>
          </a:xfrm>
          <a:prstGeom prst="roundRect">
            <a:avLst>
              <a:gd name="adj" fmla="val 0"/>
            </a:avLst>
          </a:prstGeom>
          <a:solidFill>
            <a:srgbClr val="1E293B">
              <a:alpha val="5000"/>
            </a:srgbClr>
          </a:solidFill>
          <a:ln w="25400" cap="flat" cmpd="sng">
            <a:noFill/>
            <a:prstDash val="solid"/>
            <a:round/>
          </a:ln>
        </p:spPr>
        <p:txBody>
          <a:bodyPr vert="horz" wrap="square" lIns="0" tIns="0" rIns="0" bIns="0" rtlCol="0" anchor="ctr" anchorCtr="0"/>
          <a:lstStyle/>
          <a:p>
            <a:pPr algn="ctr">
              <a:defRPr/>
            </a:pPr>
            <a:endParaRPr/>
          </a:p>
        </p:txBody>
      </p:sp>
      <p:sp>
        <p:nvSpPr>
          <p:cNvPr id="21" name="AutoShape 21"/>
          <p:cNvSpPr/>
          <p:nvPr/>
        </p:nvSpPr>
        <p:spPr>
          <a:xfrm>
            <a:off x="762000" y="5613400"/>
            <a:ext cx="10668000" cy="635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400" b="1" i="0" u="none" strike="noStrike" dirty="0">
                <a:solidFill>
                  <a:srgbClr val="334155"/>
                </a:solidFill>
                <a:latin typeface="微软雅黑"/>
                <a:ea typeface="微软雅黑"/>
                <a:cs typeface="微软雅黑"/>
                <a:sym typeface="微软雅黑"/>
              </a:rPr>
              <a:t>核心目标：</a:t>
            </a:r>
            <a:r>
              <a:rPr lang="en-US" sz="1400" b="0" i="0" u="none" strike="noStrike" dirty="0">
                <a:solidFill>
                  <a:srgbClr val="475569"/>
                </a:solidFill>
                <a:latin typeface="微软雅黑"/>
                <a:ea typeface="微软雅黑"/>
                <a:cs typeface="微软雅黑"/>
                <a:sym typeface="微软雅黑"/>
              </a:rPr>
              <a:t>通过系统性的参数优化、策略定制与多维度评估，构建兼顾精度与效率的自动化标注体系，为大规模模型训练提供高质量、低成本的数据支撑。</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6012180" cy="1212215"/>
          </a:xfrm>
          <a:custGeom>
            <a:avLst/>
            <a:gdLst/>
            <a:ahLst/>
            <a:cxnLst/>
            <a:rect l="l" t="t" r="r" b="b"/>
            <a:pathLst>
              <a:path w="6012180" h="1212215">
                <a:moveTo>
                  <a:pt x="647450" y="0"/>
                </a:moveTo>
                <a:lnTo>
                  <a:pt x="647459" y="1"/>
                </a:lnTo>
                <a:lnTo>
                  <a:pt x="5337266" y="1"/>
                </a:lnTo>
                <a:lnTo>
                  <a:pt x="5337266" y="2593"/>
                </a:lnTo>
                <a:lnTo>
                  <a:pt x="5364730" y="1"/>
                </a:lnTo>
                <a:cubicBezTo>
                  <a:pt x="5722308" y="1"/>
                  <a:pt x="6012180" y="271365"/>
                  <a:pt x="6012180" y="606108"/>
                </a:cubicBezTo>
                <a:cubicBezTo>
                  <a:pt x="6012180" y="940852"/>
                  <a:pt x="5722308" y="1212215"/>
                  <a:pt x="5364730" y="1212215"/>
                </a:cubicBezTo>
                <a:lnTo>
                  <a:pt x="5337266" y="1209624"/>
                </a:lnTo>
                <a:lnTo>
                  <a:pt x="5337266" y="1212214"/>
                </a:lnTo>
                <a:lnTo>
                  <a:pt x="647450" y="1212214"/>
                </a:lnTo>
                <a:cubicBezTo>
                  <a:pt x="289872" y="1212214"/>
                  <a:pt x="0" y="940850"/>
                  <a:pt x="0" y="606108"/>
                </a:cubicBezTo>
                <a:cubicBezTo>
                  <a:pt x="0" y="271363"/>
                  <a:pt x="289872" y="0"/>
                  <a:pt x="647450"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79570" y="3271520"/>
            <a:ext cx="626110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2. 国内外研究现状</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4474451" cy="6858000"/>
          </a:xfrm>
          <a:prstGeom prst="roundRect">
            <a:avLst>
              <a:gd name="adj" fmla="val 0"/>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 name="AutoShape 3"/>
          <p:cNvSpPr/>
          <p:nvPr/>
        </p:nvSpPr>
        <p:spPr>
          <a:xfrm>
            <a:off x="609600" y="74295"/>
            <a:ext cx="3261360" cy="1813560"/>
          </a:xfrm>
          <a:prstGeom prst="rect">
            <a:avLst/>
          </a:prstGeom>
          <a:noFill/>
          <a:ln w="12700" cap="flat" cmpd="sng">
            <a:noFill/>
            <a:prstDash val="solid"/>
            <a:round/>
          </a:ln>
        </p:spPr>
        <p:txBody>
          <a:bodyPr vert="horz" wrap="square" lIns="63500" tIns="25400" rIns="63500" bIns="25400" rtlCol="0" anchor="b">
            <a:noAutofit/>
          </a:bodyPr>
          <a:lstStyle/>
          <a:p>
            <a:pPr marL="0" indent="0" algn="l" defTabSz="914400">
              <a:lnSpc>
                <a:spcPct val="108333"/>
              </a:lnSpc>
              <a:defRPr/>
            </a:pPr>
            <a:r>
              <a:rPr lang="en-US" sz="3600" b="1" i="0" u="none" strike="noStrike" spc="260">
                <a:solidFill>
                  <a:srgbClr val="FFFFFF"/>
                </a:solidFill>
                <a:latin typeface="微软雅黑"/>
                <a:ea typeface="微软雅黑"/>
                <a:cs typeface="微软雅黑"/>
                <a:sym typeface="微软雅黑"/>
              </a:rPr>
              <a:t>2.1 研究综述</a:t>
            </a:r>
            <a:endParaRPr lang="en-US" sz="1100"/>
          </a:p>
        </p:txBody>
      </p:sp>
      <p:sp>
        <p:nvSpPr>
          <p:cNvPr id="4" name="AutoShape 4"/>
          <p:cNvSpPr/>
          <p:nvPr/>
        </p:nvSpPr>
        <p:spPr>
          <a:xfrm>
            <a:off x="5083931" y="1142937"/>
            <a:ext cx="6498577" cy="530225"/>
          </a:xfrm>
          <a:prstGeom prst="rect">
            <a:avLst/>
          </a:prstGeom>
          <a:noFill/>
          <a:ln w="12700">
            <a:noFill/>
            <a:prstDash val="dash"/>
          </a:ln>
        </p:spPr>
        <p:txBody>
          <a:bodyPr wrap="square" lIns="63500" tIns="25400" rIns="63500" bIns="25400" rtlCol="0" anchor="b">
            <a:normAutofit/>
          </a:bodyPr>
          <a:lstStyle/>
          <a:p>
            <a:pPr marL="0" indent="0" algn="ctr" defTabSz="913765">
              <a:lnSpc>
                <a:spcPct val="100000"/>
              </a:lnSpc>
              <a:defRPr/>
            </a:pPr>
            <a:r>
              <a:rPr lang="en-US" sz="2800" b="1" i="0" u="none" strike="noStrike" spc="200">
                <a:solidFill>
                  <a:srgbClr val="000000"/>
                </a:solidFill>
                <a:latin typeface="微软雅黑"/>
                <a:ea typeface="微软雅黑"/>
                <a:cs typeface="微软雅黑"/>
                <a:sym typeface="微软雅黑"/>
              </a:rPr>
              <a:t>综述要点：</a:t>
            </a:r>
            <a:endParaRPr lang="en-US" sz="1100"/>
          </a:p>
        </p:txBody>
      </p:sp>
      <p:sp>
        <p:nvSpPr>
          <p:cNvPr id="5" name="AutoShape 5"/>
          <p:cNvSpPr/>
          <p:nvPr/>
        </p:nvSpPr>
        <p:spPr>
          <a:xfrm>
            <a:off x="4823460" y="1743710"/>
            <a:ext cx="7194550" cy="3971290"/>
          </a:xfrm>
          <a:prstGeom prst="roundRect">
            <a:avLst>
              <a:gd name="adj" fmla="val 0"/>
            </a:avLst>
          </a:prstGeom>
          <a:noFill/>
          <a:ln w="25400" cap="flat" cmpd="sng">
            <a:noFill/>
            <a:prstDash val="solid"/>
            <a:round/>
          </a:ln>
        </p:spPr>
        <p:txBody>
          <a:bodyPr vert="horz" wrap="square" lIns="0" tIns="25400" rIns="0" bIns="25400" rtlCol="0" anchor="t" anchorCtr="0"/>
          <a:lstStyle/>
          <a:p>
            <a:pPr marL="0" indent="0" algn="l" defTabSz="913765">
              <a:lnSpc>
                <a:spcPct val="83333"/>
              </a:lnSpc>
              <a:spcAft>
                <a:spcPts val="800"/>
              </a:spcAft>
              <a:defRPr/>
            </a:pPr>
            <a:r>
              <a:rPr lang="en-US" sz="1800" b="1" i="0" u="none" strike="noStrike" spc="120" dirty="0">
                <a:solidFill>
                  <a:srgbClr val="404040"/>
                </a:solidFill>
                <a:latin typeface="微软雅黑"/>
                <a:ea typeface="微软雅黑"/>
                <a:cs typeface="微软雅黑"/>
                <a:sym typeface="微软雅黑"/>
              </a:rPr>
              <a:t>1、转化不稳定：</a:t>
            </a:r>
            <a:endParaRPr lang="en-US" sz="1100" dirty="0"/>
          </a:p>
          <a:p>
            <a:pPr marL="0" indent="0" algn="l" defTabSz="913765">
              <a:lnSpc>
                <a:spcPct val="100000"/>
              </a:lnSpc>
              <a:spcAft>
                <a:spcPts val="800"/>
              </a:spcAft>
            </a:pPr>
            <a:r>
              <a:rPr lang="zh-CN" altLang="en-US" sz="1800" b="0" i="0" u="none" strike="noStrike" spc="120" dirty="0">
                <a:solidFill>
                  <a:schemeClr val="tx1">
                    <a:lumMod val="85000"/>
                    <a:lumOff val="15000"/>
                  </a:schemeClr>
                </a:solidFill>
                <a:latin typeface="微软雅黑"/>
                <a:ea typeface="微软雅黑"/>
                <a:cs typeface="微软雅黑"/>
                <a:sym typeface="微软雅黑"/>
              </a:rPr>
              <a:t>     现有文献多关注零样本直接感知，或像 </a:t>
            </a:r>
            <a:r>
              <a:rPr lang="en-US" altLang="zh-CN" sz="1800" b="0" i="0" u="none" strike="noStrike" spc="120" dirty="0">
                <a:solidFill>
                  <a:schemeClr val="tx1">
                    <a:lumMod val="85000"/>
                    <a:lumOff val="15000"/>
                  </a:schemeClr>
                </a:solidFill>
                <a:latin typeface="微软雅黑"/>
                <a:ea typeface="微软雅黑"/>
                <a:cs typeface="微软雅黑"/>
                <a:sym typeface="微软雅黑"/>
              </a:rPr>
              <a:t>DART </a:t>
            </a:r>
            <a:r>
              <a:rPr lang="zh-CN" altLang="en-US" sz="1800" b="0" i="0" u="none" strike="noStrike" spc="120" dirty="0">
                <a:solidFill>
                  <a:schemeClr val="tx1">
                    <a:lumMod val="85000"/>
                    <a:lumOff val="15000"/>
                  </a:schemeClr>
                </a:solidFill>
                <a:latin typeface="微软雅黑"/>
                <a:ea typeface="微软雅黑"/>
                <a:cs typeface="微软雅黑"/>
                <a:sym typeface="微软雅黑"/>
              </a:rPr>
              <a:t>等将开放词汇检出结果直接作为伪标签训练下游检测器，但较少系统评估这一转化过程的稳定性与伪标签驱动下游模型的泛化效能</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2、后置规则不明：</a:t>
            </a:r>
          </a:p>
          <a:p>
            <a:pPr marL="0" indent="45720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分割边界更细并不一定更适合检测训练，火和烟是否需要不同后置规则尚缺分别验证</a:t>
            </a:r>
            <a:r>
              <a:rPr lang="en-US" sz="1800" b="0" i="0" u="none" strike="noStrike" spc="120" dirty="0">
                <a:solidFill>
                  <a:schemeClr val="tx1">
                    <a:lumMod val="85000"/>
                    <a:lumOff val="15000"/>
                  </a:schemeClr>
                </a:solidFill>
                <a:latin typeface="微软雅黑"/>
                <a:ea typeface="微软雅黑"/>
                <a:cs typeface="微软雅黑"/>
                <a:sym typeface="微软雅黑"/>
              </a:rPr>
              <a:t>。</a:t>
            </a:r>
          </a:p>
          <a:p>
            <a:pPr marL="0" indent="0" algn="l" defTabSz="913765">
              <a:lnSpc>
                <a:spcPct val="83333"/>
              </a:lnSpc>
              <a:spcAft>
                <a:spcPts val="800"/>
              </a:spcAft>
            </a:pPr>
            <a:r>
              <a:rPr lang="en-US" sz="1800" b="1" i="0" u="none" strike="noStrike" spc="120" dirty="0">
                <a:solidFill>
                  <a:srgbClr val="404040"/>
                </a:solidFill>
                <a:latin typeface="微软雅黑"/>
                <a:ea typeface="微软雅黑"/>
                <a:cs typeface="微软雅黑"/>
                <a:sym typeface="微软雅黑"/>
              </a:rPr>
              <a:t>3、选型缺失：</a:t>
            </a:r>
          </a:p>
          <a:p>
            <a:pPr marL="0" indent="0" algn="l" defTabSz="913765">
              <a:lnSpc>
                <a:spcPct val="83333"/>
              </a:lnSpc>
              <a:spcAft>
                <a:spcPts val="800"/>
              </a:spcAft>
            </a:pPr>
            <a:r>
              <a:rPr lang="en-US" sz="1800" b="0" i="0" u="none" strike="noStrike" spc="120" dirty="0" err="1">
                <a:solidFill>
                  <a:schemeClr val="tx1">
                    <a:lumMod val="85000"/>
                    <a:lumOff val="15000"/>
                  </a:schemeClr>
                </a:solidFill>
                <a:latin typeface="微软雅黑"/>
                <a:ea typeface="微软雅黑"/>
                <a:cs typeface="微软雅黑"/>
                <a:sym typeface="微软雅黑"/>
              </a:rPr>
              <a:t>现有研究较少从系统工程角度，讨论不同数据规模下人工标注、单模型伪标签和级联流程的</a:t>
            </a:r>
            <a:r>
              <a:rPr lang="en-US" sz="1800" b="1" i="0" u="none" strike="noStrike" spc="120" dirty="0" err="1">
                <a:solidFill>
                  <a:schemeClr val="tx1">
                    <a:lumMod val="85000"/>
                    <a:lumOff val="15000"/>
                  </a:schemeClr>
                </a:solidFill>
                <a:latin typeface="微软雅黑"/>
                <a:ea typeface="微软雅黑"/>
                <a:cs typeface="微软雅黑"/>
                <a:sym typeface="微软雅黑"/>
              </a:rPr>
              <a:t>动态选择</a:t>
            </a:r>
            <a:r>
              <a:rPr lang="en-US" sz="1800" b="0" i="0" u="none" strike="noStrike" spc="120" dirty="0" err="1">
                <a:solidFill>
                  <a:schemeClr val="tx1">
                    <a:lumMod val="85000"/>
                    <a:lumOff val="15000"/>
                  </a:schemeClr>
                </a:solidFill>
                <a:latin typeface="微软雅黑"/>
                <a:ea typeface="微软雅黑"/>
                <a:cs typeface="微软雅黑"/>
                <a:sym typeface="微软雅黑"/>
              </a:rPr>
              <a:t>。本文围绕这三个问题展开研究</a:t>
            </a:r>
            <a:r>
              <a:rPr lang="en-US" sz="1800" b="0" i="0" u="none" strike="noStrike" spc="120" dirty="0">
                <a:solidFill>
                  <a:schemeClr val="tx1">
                    <a:lumMod val="85000"/>
                    <a:lumOff val="15000"/>
                  </a:schemeClr>
                </a:solidFill>
                <a:latin typeface="微软雅黑"/>
                <a:ea typeface="微软雅黑"/>
                <a:cs typeface="微软雅黑"/>
                <a:sym typeface="微软雅黑"/>
              </a:rPr>
              <a:t>。</a:t>
            </a:r>
          </a:p>
        </p:txBody>
      </p:sp>
      <p:pic>
        <p:nvPicPr>
          <p:cNvPr id="6" name="Picture 6"/>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69405" y="1143000"/>
            <a:ext cx="530860" cy="5308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347012" cy="683895"/>
          </a:xfrm>
          <a:custGeom>
            <a:avLst/>
            <a:gdLst/>
            <a:ahLst/>
            <a:cxnLst/>
            <a:rect l="l" t="t" r="r" b="b"/>
            <a:pathLst>
              <a:path w="5035550" h="749935">
                <a:moveTo>
                  <a:pt x="542276" y="0"/>
                </a:moveTo>
                <a:lnTo>
                  <a:pt x="542285" y="0"/>
                </a:lnTo>
                <a:lnTo>
                  <a:pt x="4470270" y="0"/>
                </a:lnTo>
                <a:lnTo>
                  <a:pt x="4470270" y="1604"/>
                </a:lnTo>
                <a:lnTo>
                  <a:pt x="4493274" y="0"/>
                </a:lnTo>
                <a:cubicBezTo>
                  <a:pt x="4792764" y="0"/>
                  <a:pt x="5035550" y="167879"/>
                  <a:pt x="5035550" y="374968"/>
                </a:cubicBezTo>
                <a:cubicBezTo>
                  <a:pt x="5035550" y="582056"/>
                  <a:pt x="4792764" y="749935"/>
                  <a:pt x="4493274" y="749935"/>
                </a:cubicBezTo>
                <a:lnTo>
                  <a:pt x="4470270" y="748332"/>
                </a:lnTo>
                <a:lnTo>
                  <a:pt x="4470270" y="749935"/>
                </a:lnTo>
                <a:lnTo>
                  <a:pt x="542276" y="749935"/>
                </a:lnTo>
                <a:cubicBezTo>
                  <a:pt x="242786" y="749935"/>
                  <a:pt x="0" y="582056"/>
                  <a:pt x="0" y="374968"/>
                </a:cubicBezTo>
                <a:cubicBezTo>
                  <a:pt x="0" y="167879"/>
                  <a:pt x="242786" y="0"/>
                  <a:pt x="54227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81685"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2.2 </a:t>
            </a:r>
            <a:r>
              <a:rPr lang="en-US" sz="2400" b="1" i="0" u="none" strike="noStrike" dirty="0" err="1">
                <a:solidFill>
                  <a:srgbClr val="FFFFFF"/>
                </a:solidFill>
                <a:latin typeface="微软雅黑"/>
                <a:ea typeface="微软雅黑"/>
                <a:cs typeface="微软雅黑"/>
                <a:sym typeface="微软雅黑"/>
              </a:rPr>
              <a:t>基础模型：开放词汇检测与提示分割</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1888135326"/>
              </p:ext>
            </p:extLst>
          </p:nvPr>
        </p:nvGraphicFramePr>
        <p:xfrm>
          <a:off x="0" y="948056"/>
          <a:ext cx="12005105" cy="4890690"/>
        </p:xfrm>
        <a:graphic>
          <a:graphicData uri="http://schemas.openxmlformats.org/drawingml/2006/table">
            <a:tbl>
              <a:tblPr>
                <a:effectLst/>
              </a:tblPr>
              <a:tblGrid>
                <a:gridCol w="1109527">
                  <a:extLst>
                    <a:ext uri="{9D8B030D-6E8A-4147-A177-3AD203B41FA5}">
                      <a16:colId xmlns:a16="http://schemas.microsoft.com/office/drawing/2014/main" val="20000"/>
                    </a:ext>
                  </a:extLst>
                </a:gridCol>
                <a:gridCol w="1427476">
                  <a:extLst>
                    <a:ext uri="{9D8B030D-6E8A-4147-A177-3AD203B41FA5}">
                      <a16:colId xmlns:a16="http://schemas.microsoft.com/office/drawing/2014/main" val="20001"/>
                    </a:ext>
                  </a:extLst>
                </a:gridCol>
                <a:gridCol w="891982">
                  <a:extLst>
                    <a:ext uri="{9D8B030D-6E8A-4147-A177-3AD203B41FA5}">
                      <a16:colId xmlns:a16="http://schemas.microsoft.com/office/drawing/2014/main" val="20002"/>
                    </a:ext>
                  </a:extLst>
                </a:gridCol>
                <a:gridCol w="3286156">
                  <a:extLst>
                    <a:ext uri="{9D8B030D-6E8A-4147-A177-3AD203B41FA5}">
                      <a16:colId xmlns:a16="http://schemas.microsoft.com/office/drawing/2014/main" val="20003"/>
                    </a:ext>
                  </a:extLst>
                </a:gridCol>
                <a:gridCol w="3341810">
                  <a:extLst>
                    <a:ext uri="{9D8B030D-6E8A-4147-A177-3AD203B41FA5}">
                      <a16:colId xmlns:a16="http://schemas.microsoft.com/office/drawing/2014/main" val="20004"/>
                    </a:ext>
                  </a:extLst>
                </a:gridCol>
                <a:gridCol w="1948154">
                  <a:extLst>
                    <a:ext uri="{9D8B030D-6E8A-4147-A177-3AD203B41FA5}">
                      <a16:colId xmlns:a16="http://schemas.microsoft.com/office/drawing/2014/main" val="20005"/>
                    </a:ext>
                  </a:extLst>
                </a:gridCol>
              </a:tblGrid>
              <a:tr h="526589">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类别</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作者</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年份</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方法</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600" b="1" i="0" u="none" strike="noStrike" dirty="0" err="1">
                          <a:solidFill>
                            <a:srgbClr val="FFFFFF"/>
                          </a:solidFill>
                          <a:latin typeface="微软雅黑"/>
                          <a:ea typeface="微软雅黑"/>
                          <a:cs typeface="微软雅黑"/>
                          <a:sym typeface="微软雅黑"/>
                        </a:rPr>
                        <a:t>特点</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0"/>
                  </a:ext>
                </a:extLst>
              </a:tr>
              <a:tr h="916497">
                <a:tc rowSpan="6">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开放词汇与</a:t>
                      </a:r>
                      <a:endParaRPr lang="en-US" sz="1600" dirty="0"/>
                    </a:p>
                    <a:p>
                      <a:pPr marL="0" indent="0" algn="ctr" defTabSz="914400">
                        <a:lnSpc>
                          <a:spcPct val="100000"/>
                        </a:lnSpc>
                      </a:pPr>
                      <a:r>
                        <a:rPr lang="en-US" sz="1600" b="0" i="0" u="none" strike="noStrike" dirty="0" err="1">
                          <a:solidFill>
                            <a:srgbClr val="000000"/>
                          </a:solidFill>
                          <a:latin typeface="微软雅黑"/>
                          <a:ea typeface="微软雅黑"/>
                          <a:cs typeface="微软雅黑"/>
                          <a:sym typeface="微软雅黑"/>
                        </a:rPr>
                        <a:t>分割基础模型</a:t>
                      </a:r>
                      <a:endParaRPr lang="en-US" sz="1600" b="0" i="0" u="none" strike="noStrike" dirty="0">
                        <a:solidFill>
                          <a:srgbClr val="000000"/>
                        </a:solidFill>
                        <a:latin typeface="微软雅黑"/>
                        <a:ea typeface="微软雅黑"/>
                        <a:cs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Liu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2024</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Grounding </a:t>
                      </a:r>
                      <a:r>
                        <a:rPr lang="en-US" sz="1600" b="0" i="0" u="none" strike="noStrike" dirty="0" err="1">
                          <a:solidFill>
                            <a:srgbClr val="000000"/>
                          </a:solidFill>
                          <a:latin typeface="微软雅黑"/>
                          <a:ea typeface="微软雅黑"/>
                          <a:cs typeface="微软雅黑"/>
                          <a:sym typeface="微软雅黑"/>
                        </a:rPr>
                        <a:t>DINO：语言表征与检测架构结合，文本短语开放世界定位</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零样本定位，为低人工干预的数据初始化提供路径</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rowSpan="6">
                  <a:txBody>
                    <a:bodyPr/>
                    <a:lstStyle/>
                    <a:p>
                      <a:pPr marL="0" indent="0" algn="ctr" defTabSz="914400">
                        <a:lnSpc>
                          <a:spcPct val="100000"/>
                        </a:lnSpc>
                        <a:defRPr/>
                      </a:pPr>
                      <a:r>
                        <a:rPr lang="en-US" sz="1600" b="1" i="0" u="none" strike="noStrike">
                          <a:solidFill>
                            <a:srgbClr val="C00000"/>
                          </a:solidFill>
                          <a:latin typeface="微软雅黑"/>
                          <a:ea typeface="微软雅黑"/>
                          <a:cs typeface="微软雅黑"/>
                          <a:sym typeface="微软雅黑"/>
                        </a:rPr>
                        <a:t>现有文献多关注零样本直接感知，较少研究其预测结果如何稳定转化为大规模闭集训练标签。</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extLst>
                  <a:ext uri="{0D108BD9-81ED-4DB2-BD59-A6C34878D82A}">
                    <a16:rowId xmlns:a16="http://schemas.microsoft.com/office/drawing/2014/main" val="10001"/>
                  </a:ext>
                </a:extLst>
              </a:tr>
              <a:tr h="625435">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Fu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PET-DINO：统一视觉线索增强</a:t>
                      </a:r>
                      <a:r>
                        <a:rPr lang="en-US" sz="1600" b="0" i="0" u="none" strike="noStrike" dirty="0">
                          <a:solidFill>
                            <a:srgbClr val="000000"/>
                          </a:solidFill>
                          <a:latin typeface="微软雅黑"/>
                          <a:ea typeface="微软雅黑"/>
                          <a:cs typeface="微软雅黑"/>
                          <a:sym typeface="微软雅黑"/>
                        </a:rPr>
                        <a:t> Grounding DINO。</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复杂视觉概念下文本</a:t>
                      </a:r>
                      <a:r>
                        <a:rPr lang="en-US" altLang="zh-CN"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视觉提示对齐仍是开放集检测的重要问题</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625435">
                <a:tc vMerge="1">
                  <a:txBody>
                    <a:bodyPr/>
                    <a:lstStyle/>
                    <a:p>
                      <a:endParaRPr lang="zh-CN" altLang="en-US"/>
                    </a:p>
                  </a:txBody>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Kirillov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2023</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altLang="zh-CN" sz="1600" b="0" i="0" u="none" strike="noStrike" dirty="0">
                          <a:solidFill>
                            <a:srgbClr val="000000"/>
                          </a:solidFill>
                          <a:latin typeface="微软雅黑"/>
                          <a:ea typeface="微软雅黑"/>
                          <a:cs typeface="微软雅黑"/>
                          <a:sym typeface="微软雅黑"/>
                        </a:rPr>
                        <a:t>SAM</a:t>
                      </a:r>
                      <a:r>
                        <a:rPr lang="zh-CN" altLang="en-US" sz="1600" b="0" i="0" u="none" strike="noStrike" dirty="0">
                          <a:solidFill>
                            <a:srgbClr val="000000"/>
                          </a:solidFill>
                          <a:latin typeface="微软雅黑"/>
                          <a:ea typeface="微软雅黑"/>
                          <a:cs typeface="微软雅黑"/>
                          <a:sym typeface="微软雅黑"/>
                        </a:rPr>
                        <a:t>：通用提示驱动分割范式</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为精细边界提取和未知目标发现提供补充</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endParaRPr lang="zh-CN" altLang="en-US"/>
                    </a:p>
                  </a:txBody>
                  <a:tcPr/>
                </a:tc>
                <a:extLst>
                  <a:ext uri="{0D108BD9-81ED-4DB2-BD59-A6C34878D82A}">
                    <a16:rowId xmlns:a16="http://schemas.microsoft.com/office/drawing/2014/main" val="2329189027"/>
                  </a:ext>
                </a:extLst>
              </a:tr>
              <a:tr h="76029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Ravi 等</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SAM2 将分割范式扩展到时序视频。</a:t>
                      </a:r>
                      <a:endParaRPr lang="en-US" sz="16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支持视频时序分割与跟踪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631611">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Carion 等</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2026</a:t>
                      </a:r>
                      <a:endParaRPr lang="en-US" sz="16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SAM3 </a:t>
                      </a:r>
                      <a:r>
                        <a:rPr lang="en-US" sz="1600" b="0" i="0" u="none" strike="noStrike" dirty="0" err="1">
                          <a:solidFill>
                            <a:srgbClr val="000000"/>
                          </a:solidFill>
                          <a:latin typeface="微软雅黑"/>
                          <a:ea typeface="微软雅黑"/>
                          <a:cs typeface="微软雅黑"/>
                          <a:sym typeface="微软雅黑"/>
                        </a:rPr>
                        <a:t>进一步支持概念提示驱动的检测、分割和跟踪</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本文将其定义为</a:t>
                      </a:r>
                      <a:r>
                        <a:rPr lang="en-US" sz="1600" b="0" i="0" u="none" strike="noStrike" dirty="0">
                          <a:solidFill>
                            <a:srgbClr val="000000"/>
                          </a:solidFill>
                          <a:latin typeface="微软雅黑"/>
                          <a:ea typeface="微软雅黑"/>
                          <a:cs typeface="微软雅黑"/>
                          <a:sym typeface="微软雅黑"/>
                        </a:rPr>
                        <a:t> V1 </a:t>
                      </a:r>
                      <a:r>
                        <a:rPr lang="en-US" sz="1600" b="0" i="0" u="none" strike="noStrike" dirty="0" err="1">
                          <a:solidFill>
                            <a:srgbClr val="000000"/>
                          </a:solidFill>
                          <a:latin typeface="微软雅黑"/>
                          <a:ea typeface="微软雅黑"/>
                          <a:cs typeface="微软雅黑"/>
                          <a:sym typeface="微软雅黑"/>
                        </a:rPr>
                        <a:t>之后的可选后置校验模块</a:t>
                      </a:r>
                      <a:r>
                        <a:rPr lang="en-US" sz="1600" b="0" i="0" u="none" strike="noStrike" dirty="0">
                          <a:solidFill>
                            <a:srgbClr val="000000"/>
                          </a:solidFill>
                          <a:latin typeface="微软雅黑"/>
                          <a:ea typeface="微软雅黑"/>
                          <a:cs typeface="微软雅黑"/>
                          <a:sym typeface="微软雅黑"/>
                        </a:rPr>
                        <a:t>。</a:t>
                      </a:r>
                      <a:endParaRPr lang="en-US" sz="16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r h="804833">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Huseljic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en-US" altLang="zh-CN" sz="1600" b="0" i="0" u="none" strike="noStrike" cap="none">
                          <a:solidFill>
                            <a:srgbClr val="000000"/>
                          </a:solidFill>
                          <a:latin typeface="微软雅黑"/>
                          <a:ea typeface="微软雅黑"/>
                          <a:cs typeface="Times New Roman" panose="02020603050405020304" pitchFamily="18" charset="0"/>
                          <a:sym typeface="Arial"/>
                        </a:rPr>
                        <a:t>2025</a:t>
                      </a:r>
                      <a:endParaRPr lang="zh-CN" altLang="en-US" sz="1600" b="0" i="0" u="none" strike="noStrike" cap="none">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预训练检测器置信度校准系统评估</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a:txBody>
                    <a:bodyPr/>
                    <a:lstStyle/>
                    <a:p>
                      <a:pPr marL="0" marR="0" indent="0" algn="l" defTabSz="914400" rtl="0">
                        <a:lnSpc>
                          <a:spcPct val="100000"/>
                        </a:lnSpc>
                        <a:spcBef>
                          <a:spcPts val="0"/>
                        </a:spcBef>
                        <a:spcAft>
                          <a:spcPts val="0"/>
                        </a:spcAft>
                        <a:buClr>
                          <a:srgbClr val="000000"/>
                        </a:buClr>
                        <a:buFont typeface="Arial"/>
                        <a:buNone/>
                        <a:defRPr/>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置信度输出未必天然校准良好</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4">
                        <a:alpha val="100000"/>
                      </a:srgbClr>
                    </a:solidFill>
                  </a:tcPr>
                </a:tc>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ln w="12700" cap="flat" cmpd="sng">
            <a:noFill/>
            <a:prstDash val="solid"/>
            <a:round/>
          </a:ln>
        </p:spPr>
      </p:pic>
      <p:sp>
        <p:nvSpPr>
          <p:cNvPr id="4" name="AutoShape 4"/>
          <p:cNvSpPr/>
          <p:nvPr/>
        </p:nvSpPr>
        <p:spPr>
          <a:xfrm>
            <a:off x="779780" y="144780"/>
            <a:ext cx="404939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ctr" defTabSz="914400">
              <a:lnSpc>
                <a:spcPct val="100000"/>
              </a:lnSpc>
              <a:defRPr/>
            </a:pPr>
            <a:r>
              <a:rPr lang="en-US" sz="2400" b="1" i="0" u="none" strike="noStrike" dirty="0">
                <a:solidFill>
                  <a:srgbClr val="FFFFFF"/>
                </a:solidFill>
                <a:latin typeface="微软雅黑"/>
                <a:ea typeface="微软雅黑"/>
                <a:cs typeface="微软雅黑"/>
                <a:sym typeface="微软雅黑"/>
              </a:rPr>
              <a:t>2.3 </a:t>
            </a:r>
            <a:r>
              <a:rPr lang="en-US" sz="2400" b="1" i="0" u="none" strike="noStrike" dirty="0" err="1">
                <a:solidFill>
                  <a:srgbClr val="FFFFFF"/>
                </a:solidFill>
                <a:latin typeface="微软雅黑"/>
                <a:ea typeface="微软雅黑"/>
                <a:cs typeface="微软雅黑"/>
                <a:sym typeface="微软雅黑"/>
              </a:rPr>
              <a:t>标签噪声与伪标签评价</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584319064"/>
              </p:ext>
            </p:extLst>
          </p:nvPr>
        </p:nvGraphicFramePr>
        <p:xfrm>
          <a:off x="163196" y="894715"/>
          <a:ext cx="11642724" cy="5901549"/>
        </p:xfrm>
        <a:graphic>
          <a:graphicData uri="http://schemas.openxmlformats.org/drawingml/2006/table">
            <a:tbl>
              <a:tblPr>
                <a:effectLst/>
              </a:tblPr>
              <a:tblGrid>
                <a:gridCol w="1554071">
                  <a:extLst>
                    <a:ext uri="{9D8B030D-6E8A-4147-A177-3AD203B41FA5}">
                      <a16:colId xmlns:a16="http://schemas.microsoft.com/office/drawing/2014/main" val="20000"/>
                    </a:ext>
                  </a:extLst>
                </a:gridCol>
                <a:gridCol w="1217214">
                  <a:extLst>
                    <a:ext uri="{9D8B030D-6E8A-4147-A177-3AD203B41FA5}">
                      <a16:colId xmlns:a16="http://schemas.microsoft.com/office/drawing/2014/main" val="20001"/>
                    </a:ext>
                  </a:extLst>
                </a:gridCol>
                <a:gridCol w="855029">
                  <a:extLst>
                    <a:ext uri="{9D8B030D-6E8A-4147-A177-3AD203B41FA5}">
                      <a16:colId xmlns:a16="http://schemas.microsoft.com/office/drawing/2014/main" val="20002"/>
                    </a:ext>
                  </a:extLst>
                </a:gridCol>
                <a:gridCol w="4223918">
                  <a:extLst>
                    <a:ext uri="{9D8B030D-6E8A-4147-A177-3AD203B41FA5}">
                      <a16:colId xmlns:a16="http://schemas.microsoft.com/office/drawing/2014/main" val="20003"/>
                    </a:ext>
                  </a:extLst>
                </a:gridCol>
                <a:gridCol w="3792492">
                  <a:extLst>
                    <a:ext uri="{9D8B030D-6E8A-4147-A177-3AD203B41FA5}">
                      <a16:colId xmlns:a16="http://schemas.microsoft.com/office/drawing/2014/main" val="20004"/>
                    </a:ext>
                  </a:extLst>
                </a:gridCol>
              </a:tblGrid>
              <a:tr h="500573">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方法</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特点</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957982">
                <a:tc rowSpan="2">
                  <a:txBody>
                    <a:bodyPr/>
                    <a:lstStyle/>
                    <a:p>
                      <a:pPr marL="0" indent="0" algn="ctr" defTabSz="914400">
                        <a:lnSpc>
                          <a:spcPct val="100000"/>
                        </a:lnSpc>
                        <a:defRPr/>
                      </a:pPr>
                      <a:r>
                        <a:rPr lang="en-US" sz="1800" b="0" i="0" u="none" strike="noStrike" dirty="0" err="1">
                          <a:solidFill>
                            <a:srgbClr val="000000"/>
                          </a:solidFill>
                          <a:latin typeface="微软雅黑"/>
                          <a:ea typeface="微软雅黑"/>
                          <a:cs typeface="微软雅黑"/>
                          <a:sym typeface="微软雅黑"/>
                        </a:rPr>
                        <a:t>标签噪声与数据质量</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Frénay</a:t>
                      </a:r>
                      <a:r>
                        <a:rPr lang="en-US" sz="1600" b="0" i="0" u="none" strike="noStrike" dirty="0">
                          <a:solidFill>
                            <a:srgbClr val="000000"/>
                          </a:solidFill>
                          <a:latin typeface="微软雅黑"/>
                          <a:ea typeface="微软雅黑"/>
                          <a:cs typeface="微软雅黑"/>
                          <a:sym typeface="微软雅黑"/>
                        </a:rPr>
                        <a: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2014</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标签噪声分类综述：类别错误、漏标和定位噪声会干扰深度模型特征学习与泛化</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l" defTabSz="914400">
                        <a:lnSpc>
                          <a:spcPct val="100000"/>
                        </a:lnSpc>
                        <a:defRPr/>
                      </a:pPr>
                      <a:r>
                        <a:rPr lang="en-US" sz="1600" b="1" i="0" u="none" strike="noStrike" dirty="0" err="1">
                          <a:solidFill>
                            <a:srgbClr val="000000"/>
                          </a:solidFill>
                          <a:latin typeface="微软雅黑"/>
                          <a:ea typeface="微软雅黑"/>
                          <a:cs typeface="微软雅黑"/>
                          <a:sym typeface="微软雅黑"/>
                        </a:rPr>
                        <a:t>只靠标准</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IoU</a:t>
                      </a:r>
                      <a:r>
                        <a:rPr lang="en-US" sz="1600" b="1" i="0" u="none" strike="noStrike" dirty="0">
                          <a:solidFill>
                            <a:srgbClr val="000000"/>
                          </a:solidFill>
                          <a:latin typeface="微软雅黑"/>
                          <a:ea typeface="微软雅黑"/>
                          <a:cs typeface="微软雅黑"/>
                          <a:sym typeface="微软雅黑"/>
                        </a:rPr>
                        <a:t> </a:t>
                      </a:r>
                      <a:r>
                        <a:rPr lang="en-US" sz="1600" b="1" i="0" u="none" strike="noStrike" dirty="0" err="1">
                          <a:solidFill>
                            <a:srgbClr val="000000"/>
                          </a:solidFill>
                          <a:latin typeface="微软雅黑"/>
                          <a:ea typeface="微软雅黑"/>
                          <a:cs typeface="微软雅黑"/>
                          <a:sym typeface="微软雅黑"/>
                        </a:rPr>
                        <a:t>很难区分松紧风格与真实定位偏差，需结合边界敏感性与下游训练结果判断伪标签是否真正可用</a:t>
                      </a:r>
                      <a:r>
                        <a:rPr lang="zh-CN" altLang="en-US" sz="1600" b="1" i="0" u="none" strike="noStrike" dirty="0">
                          <a:solidFill>
                            <a:srgbClr val="000000"/>
                          </a:solidFill>
                          <a:latin typeface="微软雅黑"/>
                          <a:ea typeface="微软雅黑"/>
                          <a:cs typeface="微软雅黑"/>
                          <a:sym typeface="微软雅黑"/>
                        </a:rPr>
                        <a:t>。</a:t>
                      </a:r>
                      <a:endParaRPr lang="en-US" altLang="zh-CN" sz="1600" b="1" i="0" u="none" strike="noStrike" dirty="0">
                        <a:solidFill>
                          <a:srgbClr val="000000"/>
                        </a:solidFill>
                        <a:latin typeface="微软雅黑"/>
                        <a:ea typeface="微软雅黑"/>
                        <a:cs typeface="微软雅黑"/>
                        <a:sym typeface="微软雅黑"/>
                      </a:endParaRPr>
                    </a:p>
                    <a:p>
                      <a:pPr marL="0" indent="0" algn="l" defTabSz="914400">
                        <a:lnSpc>
                          <a:spcPct val="100000"/>
                        </a:lnSpc>
                        <a:defRPr/>
                      </a:pPr>
                      <a:endParaRPr lang="en-US" sz="1600" b="1" i="0" u="none" strike="noStrike" cap="none" dirty="0">
                        <a:solidFill>
                          <a:srgbClr val="000000"/>
                        </a:solidFill>
                        <a:latin typeface="微软雅黑"/>
                        <a:ea typeface="微软雅黑"/>
                        <a:sym typeface="微软雅黑"/>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1"/>
                  </a:ext>
                </a:extLst>
              </a:tr>
              <a:tr h="929950">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Northcutt 等</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2021</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测试集标签错误普遍存在：现有数据集多存在漏标、标签混淆和包围框尺度不一致</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endParaRPr sz="16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5352" marB="453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tc>
                  <a:txBody>
                    <a:bodyPr/>
                    <a:lstStyle/>
                    <a:p>
                      <a:pPr marL="0" marR="0" indent="0" algn="l" defTabSz="914400" rtl="0">
                        <a:lnSpc>
                          <a:spcPct val="100000"/>
                        </a:lnSpc>
                        <a:spcBef>
                          <a:spcPts val="0"/>
                        </a:spcBef>
                        <a:spcAft>
                          <a:spcPts val="0"/>
                        </a:spcAft>
                        <a:buClr>
                          <a:srgbClr val="000000"/>
                        </a:buClr>
                        <a:buFont typeface="Arial"/>
                        <a:defRPr/>
                      </a:pPr>
                      <a:r>
                        <a:rPr lang="zh-CN" altLang="en-US" sz="1600" b="1" i="0" u="none" strike="noStrike" cap="none" dirty="0">
                          <a:solidFill>
                            <a:srgbClr val="000000"/>
                          </a:solidFill>
                          <a:latin typeface="微软雅黑"/>
                          <a:ea typeface="微软雅黑"/>
                          <a:sym typeface="Arial"/>
                        </a:rPr>
                        <a:t>标签错误会干扰模型学习与基准评估</a:t>
                      </a: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2CC">
                        <a:alpha val="100000"/>
                      </a:srgbClr>
                    </a:solidFill>
                  </a:tcPr>
                </a:tc>
                <a:extLst>
                  <a:ext uri="{0D108BD9-81ED-4DB2-BD59-A6C34878D82A}">
                    <a16:rowId xmlns:a16="http://schemas.microsoft.com/office/drawing/2014/main" val="10002"/>
                  </a:ext>
                </a:extLst>
              </a:tr>
              <a:tr h="957982">
                <a:tc rowSpan="3">
                  <a:txBody>
                    <a:bodyPr/>
                    <a:lstStyle/>
                    <a:p>
                      <a:pPr marL="0" indent="0" algn="ctr" defTabSz="914400">
                        <a:lnSpc>
                          <a:spcPct val="100000"/>
                        </a:lnSpc>
                        <a:defRPr/>
                      </a:pPr>
                      <a:r>
                        <a:rPr lang="en-US" sz="1800" b="0" i="0" u="none" strike="noStrike">
                          <a:solidFill>
                            <a:srgbClr val="000000"/>
                          </a:solidFill>
                          <a:latin typeface="微软雅黑"/>
                          <a:ea typeface="微软雅黑"/>
                          <a:cs typeface="微软雅黑"/>
                          <a:sym typeface="微软雅黑"/>
                        </a:rPr>
                        <a:t>边界质量与下游效用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Cheng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2021</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a:solidFill>
                            <a:srgbClr val="000000"/>
                          </a:solidFill>
                          <a:latin typeface="微软雅黑"/>
                          <a:ea typeface="微软雅黑"/>
                          <a:cs typeface="微软雅黑"/>
                          <a:sym typeface="微软雅黑"/>
                        </a:rPr>
                        <a:t>Boundary </a:t>
                      </a:r>
                      <a:r>
                        <a:rPr lang="en-US" sz="1600" b="0" i="0" u="none" strike="noStrike" dirty="0" err="1">
                          <a:solidFill>
                            <a:srgbClr val="000000"/>
                          </a:solidFill>
                          <a:latin typeface="微软雅黑"/>
                          <a:ea typeface="微软雅黑"/>
                          <a:cs typeface="微软雅黑"/>
                          <a:sym typeface="微软雅黑"/>
                        </a:rPr>
                        <a:t>IoU：改进以对象为中心的图像分割评价</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lang="zh-CN" altLang="en-US"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rPr>
                        <a:t>传统区域重叠指标不能完全刻画边界质量</a:t>
                      </a: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altLang="zh-CN" sz="1600" b="1" i="0" u="none" strike="noStrike" dirty="0">
                        <a:solidFill>
                          <a:srgbClr val="000000"/>
                        </a:solidFill>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3"/>
                  </a:ext>
                </a:extLst>
              </a:tr>
              <a:tr h="705942">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Dinh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多尺度</a:t>
                      </a:r>
                      <a:r>
                        <a:rPr lang="en-US" sz="1600" b="0" i="0" u="none" strike="noStrike" dirty="0">
                          <a:solidFill>
                            <a:srgbClr val="000000"/>
                          </a:solidFill>
                          <a:latin typeface="微软雅黑"/>
                          <a:ea typeface="微软雅黑"/>
                          <a:cs typeface="微软雅黑"/>
                          <a:sym typeface="微软雅黑"/>
                        </a:rPr>
                        <a:t> tiling </a:t>
                      </a:r>
                      <a:r>
                        <a:rPr lang="en-US" sz="1600" b="0" i="0" u="none" strike="noStrike" dirty="0" err="1">
                          <a:solidFill>
                            <a:srgbClr val="000000"/>
                          </a:solidFill>
                          <a:latin typeface="微软雅黑"/>
                          <a:ea typeface="微软雅黑"/>
                          <a:cs typeface="微软雅黑"/>
                          <a:sym typeface="微软雅黑"/>
                        </a:rPr>
                        <a:t>伪标签用于密集场景目标检测</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marT="42545" marB="4254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伪标签评估应挂钩下游实际学习效应</a:t>
                      </a:r>
                      <a:endParaRPr kumimoji="0" lang="en-US" altLang="zh-CN" sz="1600" b="1" i="0" u="none" strike="noStrike" kern="0" cap="none" spc="0" normalizeH="0" baseline="0" noProof="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p>
                      <a:pPr marL="0" indent="0" algn="l">
                        <a:lnSpc>
                          <a:spcPct val="100000"/>
                        </a:lnSpc>
                        <a:defRPr/>
                      </a:pP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4"/>
                  </a:ext>
                </a:extLst>
              </a:tr>
              <a:tr h="1382536">
                <a:tc vMerge="1">
                  <a:txBody>
                    <a:bodyPr/>
                    <a:lstStyle/>
                    <a:p>
                      <a:pPr marL="0" indent="0" algn="ctr">
                        <a:lnSpc>
                          <a:spcPct val="100000"/>
                        </a:lnSpc>
                        <a:defRPr/>
                      </a:pPr>
                      <a:r>
                        <a:rPr lang="en-US" sz="1400" b="0" i="0" u="none" strike="noStrike">
                          <a:solidFill>
                            <a:srgbClr val="000000"/>
                          </a:solidFill>
                          <a:latin typeface="Arial"/>
                          <a:ea typeface="Arial"/>
                          <a:cs typeface="Arial"/>
                          <a:sym typeface="Arial"/>
                        </a:rPr>
                        <a:t> </a:t>
                      </a:r>
                      <a:endParaRPr lang="en-US" sz="1100"/>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Xin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a:solidFill>
                            <a:srgbClr val="000000"/>
                          </a:solidFill>
                          <a:latin typeface="微软雅黑"/>
                          <a:ea typeface="微软雅黑"/>
                          <a:cs typeface="微软雅黑"/>
                          <a:sym typeface="微软雅黑"/>
                        </a:rPr>
                        <a:t>2024</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DART：端到端自动检测标注与模型训练管线</a:t>
                      </a:r>
                      <a:r>
                        <a:rPr lang="en-US" sz="1600" b="0" i="0" u="none" strike="noStrike" dirty="0">
                          <a:solidFill>
                            <a:srgbClr val="000000"/>
                          </a:solidFill>
                          <a:latin typeface="微软雅黑"/>
                          <a:ea typeface="微软雅黑"/>
                          <a:cs typeface="微软雅黑"/>
                          <a:sym typeface="微软雅黑"/>
                        </a:rPr>
                        <a:t>。</a:t>
                      </a:r>
                      <a:endParaRPr lang="en-US" sz="1100" dirty="0"/>
                    </a:p>
                    <a:p>
                      <a:pPr marL="0" indent="0" algn="ctr" defTabSz="914400">
                        <a:lnSpc>
                          <a:spcPct val="100000"/>
                        </a:lnSpc>
                      </a:pPr>
                      <a:r>
                        <a:rPr lang="en-US" sz="1400" b="0" i="0" u="none" strike="noStrike" dirty="0">
                          <a:solidFill>
                            <a:srgbClr val="000000"/>
                          </a:solidFill>
                          <a:latin typeface="Arial"/>
                          <a:ea typeface="Arial"/>
                          <a:cs typeface="Arial"/>
                          <a:sym typeface="Arial"/>
                        </a:rPr>
                        <a:t> </a:t>
                      </a: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a:lnSpc>
                          <a:spcPct val="100000"/>
                        </a:lnSpc>
                        <a:defRPr/>
                      </a:pPr>
                      <a:r>
                        <a:rPr kumimoji="0" lang="zh-CN"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整合数据扩增、开放词汇目标框生成、伪标签审核和模型训练，实现无需人工参与的端到端全自动标注</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证明了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开放词汇打框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大模型审核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训练 </a:t>
                      </a:r>
                      <a:r>
                        <a:rPr kumimoji="0" lang="en-US" altLang="zh-CN"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YOLO" </a:t>
                      </a:r>
                      <a:r>
                        <a:rPr kumimoji="0" lang="zh-CN" alt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rPr>
                        <a:t>的全自动管线在刚性工业目标上的可行性</a:t>
                      </a:r>
                      <a:endParaRPr kumimoji="0" lang="en-US" sz="1600" b="1" i="0" u="none" strike="noStrike" kern="0" cap="none" spc="0" normalizeH="0" baseline="0" dirty="0">
                        <a:ln>
                          <a:noFill/>
                        </a:ln>
                        <a:solidFill>
                          <a:srgbClr val="000000"/>
                        </a:solidFill>
                        <a:effectLst/>
                        <a:uLnTx/>
                        <a:uFillTx/>
                        <a:latin typeface="Microsoft YaHei" panose="020B0503020204020204" pitchFamily="34" charset="-122"/>
                        <a:ea typeface="Microsoft YaHei" panose="020B0503020204020204" pitchFamily="34" charset="-122"/>
                        <a:cs typeface="Arial"/>
                        <a:sym typeface="Arial"/>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0"/>
            <a:ext cx="6096000" cy="68389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8"/>
                </a:cubicBezTo>
                <a:cubicBezTo>
                  <a:pt x="4942840" y="582056"/>
                  <a:pt x="4704524" y="749935"/>
                  <a:pt x="4410547" y="749935"/>
                </a:cubicBezTo>
                <a:lnTo>
                  <a:pt x="4387968" y="748332"/>
                </a:lnTo>
                <a:lnTo>
                  <a:pt x="4387968" y="749935"/>
                </a:lnTo>
                <a:lnTo>
                  <a:pt x="532293" y="749935"/>
                </a:lnTo>
                <a:cubicBezTo>
                  <a:pt x="238316" y="749935"/>
                  <a:pt x="0" y="582056"/>
                  <a:pt x="0" y="374968"/>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66040"/>
            <a:ext cx="617855" cy="617855"/>
          </a:xfrm>
          <a:prstGeom prst="rect">
            <a:avLst/>
          </a:prstGeom>
          <a:noFill/>
          <a:ln w="25400" cap="flat" cmpd="sng">
            <a:noFill/>
            <a:prstDash val="solid"/>
            <a:round/>
          </a:ln>
        </p:spPr>
      </p:pic>
      <p:sp>
        <p:nvSpPr>
          <p:cNvPr id="4" name="AutoShape 4"/>
          <p:cNvSpPr/>
          <p:nvPr/>
        </p:nvSpPr>
        <p:spPr>
          <a:xfrm>
            <a:off x="779780" y="14478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dirty="0">
                <a:solidFill>
                  <a:srgbClr val="FFFFFF"/>
                </a:solidFill>
                <a:latin typeface="微软雅黑"/>
                <a:ea typeface="微软雅黑"/>
                <a:cs typeface="微软雅黑"/>
                <a:sym typeface="微软雅黑"/>
              </a:rPr>
              <a:t>2.4 </a:t>
            </a:r>
            <a:r>
              <a:rPr lang="en-US" sz="2400" b="1" i="0" u="none" strike="noStrike" dirty="0" err="1">
                <a:solidFill>
                  <a:srgbClr val="FFFFFF"/>
                </a:solidFill>
                <a:latin typeface="微软雅黑"/>
                <a:ea typeface="微软雅黑"/>
                <a:cs typeface="微软雅黑"/>
                <a:sym typeface="微软雅黑"/>
              </a:rPr>
              <a:t>半监督</a:t>
            </a:r>
            <a:r>
              <a:rPr lang="zh-CN" altLang="en-US" sz="2400" b="1" i="0" u="none" strike="noStrike" dirty="0">
                <a:solidFill>
                  <a:srgbClr val="FFFFFF"/>
                </a:solidFill>
                <a:latin typeface="微软雅黑"/>
                <a:ea typeface="微软雅黑"/>
                <a:cs typeface="微软雅黑"/>
                <a:sym typeface="微软雅黑"/>
              </a:rPr>
              <a:t>弱监督</a:t>
            </a:r>
            <a:r>
              <a:rPr lang="en-US" sz="2400" b="1" i="0" u="none" strike="noStrike" dirty="0" err="1">
                <a:solidFill>
                  <a:srgbClr val="FFFFFF"/>
                </a:solidFill>
                <a:latin typeface="微软雅黑"/>
                <a:ea typeface="微软雅黑"/>
                <a:cs typeface="微软雅黑"/>
                <a:sym typeface="微软雅黑"/>
              </a:rPr>
              <a:t>与主动学习辅助标注</a:t>
            </a:r>
            <a:endParaRPr lang="en-US" sz="1100" dirty="0"/>
          </a:p>
        </p:txBody>
      </p:sp>
      <p:graphicFrame>
        <p:nvGraphicFramePr>
          <p:cNvPr id="5" name="Table 5"/>
          <p:cNvGraphicFramePr>
            <a:graphicFrameLocks noGrp="1"/>
          </p:cNvGraphicFramePr>
          <p:nvPr>
            <p:extLst>
              <p:ext uri="{D42A27DB-BD31-4B8C-83A1-F6EECF244321}">
                <p14:modId xmlns:p14="http://schemas.microsoft.com/office/powerpoint/2010/main" val="2767690719"/>
              </p:ext>
            </p:extLst>
          </p:nvPr>
        </p:nvGraphicFramePr>
        <p:xfrm>
          <a:off x="163196" y="904240"/>
          <a:ext cx="11563749" cy="5440001"/>
        </p:xfrm>
        <a:graphic>
          <a:graphicData uri="http://schemas.openxmlformats.org/drawingml/2006/table">
            <a:tbl>
              <a:tblPr>
                <a:effectLst/>
              </a:tblPr>
              <a:tblGrid>
                <a:gridCol w="890189">
                  <a:extLst>
                    <a:ext uri="{9D8B030D-6E8A-4147-A177-3AD203B41FA5}">
                      <a16:colId xmlns:a16="http://schemas.microsoft.com/office/drawing/2014/main" val="20000"/>
                    </a:ext>
                  </a:extLst>
                </a:gridCol>
                <a:gridCol w="1727734">
                  <a:extLst>
                    <a:ext uri="{9D8B030D-6E8A-4147-A177-3AD203B41FA5}">
                      <a16:colId xmlns:a16="http://schemas.microsoft.com/office/drawing/2014/main" val="20001"/>
                    </a:ext>
                  </a:extLst>
                </a:gridCol>
                <a:gridCol w="895862">
                  <a:extLst>
                    <a:ext uri="{9D8B030D-6E8A-4147-A177-3AD203B41FA5}">
                      <a16:colId xmlns:a16="http://schemas.microsoft.com/office/drawing/2014/main" val="20002"/>
                    </a:ext>
                  </a:extLst>
                </a:gridCol>
                <a:gridCol w="2710814">
                  <a:extLst>
                    <a:ext uri="{9D8B030D-6E8A-4147-A177-3AD203B41FA5}">
                      <a16:colId xmlns:a16="http://schemas.microsoft.com/office/drawing/2014/main" val="20003"/>
                    </a:ext>
                  </a:extLst>
                </a:gridCol>
                <a:gridCol w="2669575">
                  <a:extLst>
                    <a:ext uri="{9D8B030D-6E8A-4147-A177-3AD203B41FA5}">
                      <a16:colId xmlns:a16="http://schemas.microsoft.com/office/drawing/2014/main" val="61684881"/>
                    </a:ext>
                  </a:extLst>
                </a:gridCol>
                <a:gridCol w="2669575">
                  <a:extLst>
                    <a:ext uri="{9D8B030D-6E8A-4147-A177-3AD203B41FA5}">
                      <a16:colId xmlns:a16="http://schemas.microsoft.com/office/drawing/2014/main" val="20004"/>
                    </a:ext>
                  </a:extLst>
                </a:gridCol>
              </a:tblGrid>
              <a:tr h="751285">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类别</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dirty="0" err="1">
                          <a:solidFill>
                            <a:srgbClr val="FFFFFF"/>
                          </a:solidFill>
                          <a:latin typeface="微软雅黑"/>
                          <a:ea typeface="微软雅黑"/>
                          <a:cs typeface="微软雅黑"/>
                          <a:sym typeface="微软雅黑"/>
                        </a:rPr>
                        <a:t>作者</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438735">
                <a:tc rowSpan="5">
                  <a:txBody>
                    <a:bodyPr/>
                    <a:lstStyle/>
                    <a:p>
                      <a:pPr marL="0" indent="0" algn="ctr" defTabSz="914400">
                        <a:lnSpc>
                          <a:spcPct val="100000"/>
                        </a:lnSpc>
                        <a:defRPr/>
                      </a:pPr>
                      <a:r>
                        <a:rPr lang="zh-CN" altLang="en-US" sz="1600" b="0" i="0" u="none" strike="noStrike" dirty="0">
                          <a:solidFill>
                            <a:srgbClr val="000000"/>
                          </a:solidFill>
                          <a:latin typeface="微软雅黑"/>
                          <a:ea typeface="微软雅黑"/>
                          <a:cs typeface="微软雅黑"/>
                          <a:sym typeface="微软雅黑"/>
                        </a:rPr>
                        <a:t>弱监督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半监督</a:t>
                      </a:r>
                      <a:r>
                        <a:rPr lang="en-US" sz="1600" b="0" i="0" u="none" strike="noStrike" dirty="0">
                          <a:solidFill>
                            <a:srgbClr val="000000"/>
                          </a:solidFill>
                          <a:latin typeface="微软雅黑"/>
                          <a:ea typeface="微软雅黑"/>
                          <a:cs typeface="微软雅黑"/>
                          <a:sym typeface="微软雅黑"/>
                        </a:rPr>
                        <a:t>/</a:t>
                      </a:r>
                      <a:r>
                        <a:rPr lang="en-US" sz="1600" b="0" i="0" u="none" strike="noStrike" dirty="0" err="1">
                          <a:solidFill>
                            <a:srgbClr val="000000"/>
                          </a:solidFill>
                          <a:latin typeface="微软雅黑"/>
                          <a:ea typeface="微软雅黑"/>
                          <a:cs typeface="微软雅黑"/>
                          <a:sym typeface="微软雅黑"/>
                        </a:rPr>
                        <a:t>主动学习</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Burges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主动学习结合基础模型，</a:t>
                      </a:r>
                      <a:r>
                        <a:rPr lang="en-US" sz="1600" b="0" i="0" u="none" strike="noStrike" dirty="0" err="1">
                          <a:solidFill>
                            <a:srgbClr val="000000"/>
                          </a:solidFill>
                          <a:latin typeface="微软雅黑"/>
                          <a:ea typeface="微软雅黑"/>
                          <a:cs typeface="微软雅黑"/>
                          <a:sym typeface="微软雅黑"/>
                        </a:rPr>
                        <a:t>面向遥感目标检测的快速数据标注</a:t>
                      </a:r>
                      <a:r>
                        <a:rPr lang="en-US" sz="1600" b="0" i="0" u="none" strike="noStrike" dirty="0">
                          <a:solidFill>
                            <a:srgbClr val="000000"/>
                          </a:solidFill>
                          <a:latin typeface="微软雅黑"/>
                          <a:ea typeface="微软雅黑"/>
                          <a:cs typeface="微软雅黑"/>
                          <a:sym typeface="微软雅黑"/>
                        </a:rPr>
                        <a:t>。</a:t>
                      </a:r>
                      <a:endParaRPr lang="en-US" sz="1100" dirty="0"/>
                    </a:p>
                    <a:p>
                      <a:pPr algn="l"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defTabSz="914400">
                        <a:lnSpc>
                          <a:spcPct val="100000"/>
                        </a:lnSpc>
                      </a:pPr>
                      <a:r>
                        <a:rPr lang="zh-CN" altLang="en-US" sz="1600" b="0" i="0" u="none" strike="noStrike" cap="none" dirty="0">
                          <a:solidFill>
                            <a:srgbClr val="000000"/>
                          </a:solidFill>
                          <a:latin typeface="微软雅黑"/>
                          <a:ea typeface="微软雅黑"/>
                          <a:sym typeface="Arial"/>
                        </a:rPr>
                        <a:t>减少人工标注量</a:t>
                      </a:r>
                      <a:endParaRPr lang="en-US" sz="1600" b="0" i="0" u="none" strike="noStrike" cap="none" dirty="0">
                        <a:solidFill>
                          <a:srgbClr val="000000"/>
                        </a:solidFill>
                        <a:latin typeface="微软雅黑"/>
                        <a:ea typeface="微软雅黑"/>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rowSpan="5">
                  <a:txBody>
                    <a:bodyPr/>
                    <a:lstStyle/>
                    <a:p>
                      <a:pPr marL="0" indent="0" algn="ctr" defTabSz="914400">
                        <a:lnSpc>
                          <a:spcPct val="100000"/>
                        </a:lnSpc>
                        <a:defRPr/>
                      </a:pPr>
                      <a:r>
                        <a:rPr lang="en-US" sz="1600" b="0" i="0" u="none" strike="noStrike" dirty="0" err="1">
                          <a:solidFill>
                            <a:srgbClr val="000000"/>
                          </a:solidFill>
                          <a:latin typeface="微软雅黑"/>
                          <a:ea typeface="微软雅黑"/>
                          <a:cs typeface="微软雅黑"/>
                          <a:sym typeface="微软雅黑"/>
                        </a:rPr>
                        <a:t>基础模型辅助标注可减少人工标注量</a:t>
                      </a:r>
                      <a:r>
                        <a:rPr lang="en-US" sz="1600" b="0" i="0" u="none" strike="noStrike" dirty="0">
                          <a:solidFill>
                            <a:srgbClr val="000000"/>
                          </a:solidFill>
                          <a:latin typeface="微软雅黑"/>
                          <a:ea typeface="微软雅黑"/>
                          <a:cs typeface="微软雅黑"/>
                          <a:sym typeface="微软雅黑"/>
                        </a:rPr>
                        <a:t>，</a:t>
                      </a:r>
                      <a:r>
                        <a:rPr lang="zh-CN" altLang="en-US" sz="1600" b="0" i="0" u="none" strike="noStrike" dirty="0">
                          <a:solidFill>
                            <a:srgbClr val="000000"/>
                          </a:solidFill>
                          <a:latin typeface="微软雅黑"/>
                          <a:ea typeface="微软雅黑"/>
                          <a:cs typeface="微软雅黑"/>
                          <a:sym typeface="微软雅黑"/>
                        </a:rPr>
                        <a:t>基础模型能力拆分使用。</a:t>
                      </a:r>
                      <a:r>
                        <a:rPr lang="en-US" sz="1600" b="1" i="0" u="none" strike="noStrike" dirty="0" err="1">
                          <a:solidFill>
                            <a:srgbClr val="C00000"/>
                          </a:solidFill>
                          <a:latin typeface="微软雅黑"/>
                          <a:ea typeface="微软雅黑"/>
                          <a:cs typeface="微软雅黑"/>
                          <a:sym typeface="微软雅黑"/>
                        </a:rPr>
                        <a:t>但较少从系统工程角度讨论不同数据规模下标注范式的动态选择</a:t>
                      </a:r>
                      <a:r>
                        <a:rPr lang="en-US" sz="1600" b="1" i="0" u="none" strike="noStrike" dirty="0">
                          <a:solidFill>
                            <a:srgbClr val="C00000"/>
                          </a:solidFill>
                          <a:latin typeface="微软雅黑"/>
                          <a:ea typeface="微软雅黑"/>
                          <a:cs typeface="微软雅黑"/>
                          <a:sym typeface="微软雅黑"/>
                        </a:rPr>
                        <a:t>。</a:t>
                      </a:r>
                      <a:endParaRPr lang="en-US" sz="1100" dirty="0"/>
                    </a:p>
                    <a:p>
                      <a:pPr marL="0" indent="0" algn="ctr" defTabSz="914400">
                        <a:lnSpc>
                          <a:spcPct val="100000"/>
                        </a:lnSpc>
                      </a:pPr>
                      <a:endParaRPr lang="en-US" sz="1100" dirty="0"/>
                    </a:p>
                    <a:p>
                      <a:pPr algn="ctr" defTabSz="914400">
                        <a:lnSpc>
                          <a:spcPct val="100000"/>
                        </a:lnSpc>
                      </a:pP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extLst>
                  <a:ext uri="{0D108BD9-81ED-4DB2-BD59-A6C34878D82A}">
                    <a16:rowId xmlns:a16="http://schemas.microsoft.com/office/drawing/2014/main" val="10001"/>
                  </a:ext>
                </a:extLst>
              </a:tr>
              <a:tr h="76286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Zhang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高效半监督目标检测（Detection</a:t>
                      </a:r>
                      <a:r>
                        <a:rPr lang="en-US" sz="1600" b="0" i="0" u="none" strike="noStrike" dirty="0">
                          <a:solidFill>
                            <a:srgbClr val="000000"/>
                          </a:solidFill>
                          <a:latin typeface="微软雅黑"/>
                          <a:ea typeface="微软雅黑"/>
                          <a:cs typeface="微软雅黑"/>
                          <a:sym typeface="微软雅黑"/>
                        </a:rPr>
                        <a:t> Transformer）。</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en-US" sz="1600" b="0" i="0" u="none" strike="noStrike" cap="none" dirty="0">
                          <a:solidFill>
                            <a:srgbClr val="000000"/>
                          </a:solidFill>
                          <a:latin typeface="微软雅黑"/>
                          <a:ea typeface="微软雅黑"/>
                          <a:cs typeface="+mn-cs"/>
                          <a:sym typeface="Arial"/>
                        </a:rPr>
                        <a:t>少量标注＋大量未标注数据训练</a:t>
                      </a: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853925">
                <a:tc vMerge="1">
                  <a:txBody>
                    <a:bodyPr/>
                    <a:lstStyle/>
                    <a:p>
                      <a:endParaRPr lang="zh-CN" altLang="en-US"/>
                    </a:p>
                  </a:txBody>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He </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等</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2026</a:t>
                      </a:r>
                      <a:endParaRPr lang="zh-CN" altLang="en-US" sz="1600" b="0" i="0" u="none" strike="noStrike" cap="none" dirty="0">
                        <a:solidFill>
                          <a:srgbClr val="000000"/>
                        </a:solidFill>
                        <a:latin typeface="微软雅黑"/>
                        <a:ea typeface="微软雅黑"/>
                        <a:cs typeface="Times New Roman" panose="02020603050405020304" pitchFamily="18" charset="0"/>
                        <a:sym typeface="Arial"/>
                      </a:endParaRP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en-US" altLang="zh-CN" sz="1600" b="0" i="0" u="none" strike="noStrike" cap="none" dirty="0">
                          <a:solidFill>
                            <a:srgbClr val="000000"/>
                          </a:solidFill>
                          <a:latin typeface="微软雅黑"/>
                          <a:ea typeface="微软雅黑"/>
                          <a:cs typeface="Times New Roman" panose="02020603050405020304" pitchFamily="18" charset="0"/>
                          <a:sym typeface="Arial"/>
                        </a:rPr>
                        <a:t>ModuSeg</a:t>
                      </a:r>
                      <a:r>
                        <a:rPr lang="zh-CN" altLang="en-US" sz="1600" b="0" i="0" u="none" strike="noStrike" cap="none" dirty="0">
                          <a:solidFill>
                            <a:srgbClr val="000000"/>
                          </a:solidFill>
                          <a:latin typeface="微软雅黑"/>
                          <a:ea typeface="微软雅黑"/>
                          <a:cs typeface="Times New Roman" panose="02020603050405020304" pitchFamily="18" charset="0"/>
                          <a:sym typeface="Arial"/>
                        </a:rPr>
                        <a:t>：目标发现与语义检索解耦的弱监督分割</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lnSpc>
                          <a:spcPct val="114000"/>
                        </a:lnSpc>
                        <a:spcBef>
                          <a:spcPts val="100"/>
                        </a:spcBef>
                        <a:spcAft>
                          <a:spcPts val="100"/>
                        </a:spcAft>
                        <a:buNone/>
                      </a:pPr>
                      <a:r>
                        <a:rPr lang="zh-CN" altLang="en-US" sz="1600" b="0" i="0" u="none" strike="noStrike" cap="none" dirty="0">
                          <a:solidFill>
                            <a:srgbClr val="000000"/>
                          </a:solidFill>
                          <a:latin typeface="微软雅黑"/>
                          <a:ea typeface="微软雅黑"/>
                          <a:cs typeface="Times New Roman" panose="02020603050405020304" pitchFamily="18" charset="0"/>
                          <a:sym typeface="Arial"/>
                        </a:rPr>
                        <a:t>基础模型能力可拆分使用</a:t>
                      </a:r>
                    </a:p>
                  </a:txBody>
                  <a:tcPr marL="68580" marR="6858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endParaRPr lang="zh-CN" altLang="en-US"/>
                    </a:p>
                  </a:txBody>
                  <a:tcPr/>
                </a:tc>
                <a:extLst>
                  <a:ext uri="{0D108BD9-81ED-4DB2-BD59-A6C34878D82A}">
                    <a16:rowId xmlns:a16="http://schemas.microsoft.com/office/drawing/2014/main" val="2511637015"/>
                  </a:ext>
                </a:extLst>
              </a:tr>
              <a:tr h="760202">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Shehzadi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00000"/>
                          </a:solidFill>
                          <a:latin typeface="微软雅黑"/>
                          <a:ea typeface="微软雅黑"/>
                          <a:cs typeface="微软雅黑"/>
                          <a:sym typeface="微软雅黑"/>
                        </a:rPr>
                        <a:t>STEP-DETR：教师模型与伪标签引导文本查询</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半监督目标检测</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87299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600" b="0" i="0" u="none" strike="noStrike">
                          <a:solidFill>
                            <a:srgbClr val="000000"/>
                          </a:solidFill>
                          <a:latin typeface="微软雅黑"/>
                          <a:ea typeface="微软雅黑"/>
                          <a:cs typeface="微软雅黑"/>
                          <a:sym typeface="微软雅黑"/>
                        </a:rPr>
                        <a:t>Amershi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a:solidFill>
                            <a:srgbClr val="000000"/>
                          </a:solidFill>
                          <a:latin typeface="微软雅黑"/>
                          <a:ea typeface="微软雅黑"/>
                          <a:cs typeface="微软雅黑"/>
                          <a:sym typeface="微软雅黑"/>
                        </a:rPr>
                        <a:t>2019</a:t>
                      </a:r>
                      <a:endParaRPr lang="en-US" sz="1100" dirty="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marL="0" indent="0" algn="l" defTabSz="914400">
                        <a:lnSpc>
                          <a:spcPct val="100000"/>
                        </a:lnSpc>
                        <a:defRPr/>
                      </a:pPr>
                      <a:r>
                        <a:rPr lang="en-US" sz="1600" b="0" i="0" u="none" strike="noStrike" dirty="0" err="1">
                          <a:solidFill>
                            <a:srgbClr val="0D0D0D"/>
                          </a:solidFill>
                          <a:latin typeface="微软雅黑"/>
                          <a:ea typeface="微软雅黑"/>
                          <a:cs typeface="微软雅黑"/>
                          <a:sym typeface="微软雅黑"/>
                        </a:rPr>
                        <a:t>机器学习系统软件工程案例：</a:t>
                      </a:r>
                      <a:r>
                        <a:rPr lang="en-US" sz="1600" b="0" i="0" u="none" strike="noStrike" dirty="0" err="1">
                          <a:solidFill>
                            <a:srgbClr val="000000"/>
                          </a:solidFill>
                          <a:latin typeface="微软雅黑"/>
                          <a:ea typeface="微软雅黑"/>
                          <a:cs typeface="微软雅黑"/>
                          <a:sym typeface="微软雅黑"/>
                        </a:rPr>
                        <a:t>强调数据过程管理与可复现规范</a:t>
                      </a:r>
                      <a:r>
                        <a:rPr lang="en-US" sz="1600" b="0" i="0" u="none" strike="noStrike" dirty="0">
                          <a:solidFill>
                            <a:srgbClr val="000000"/>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a:txBody>
                    <a:bodyPr/>
                    <a:lstStyle/>
                    <a:p>
                      <a:pPr algn="l"/>
                      <a:r>
                        <a:rPr lang="zh-CN" altLang="zh-CN" sz="1600" b="0" i="0" u="none" strike="noStrike" cap="none" dirty="0">
                          <a:solidFill>
                            <a:srgbClr val="000000"/>
                          </a:solidFill>
                          <a:latin typeface="微软雅黑"/>
                          <a:ea typeface="微软雅黑"/>
                          <a:cs typeface="+mn-cs"/>
                          <a:sym typeface="Arial"/>
                        </a:rPr>
                        <a:t>强调数据过程管理与可复现规范</a:t>
                      </a:r>
                      <a:endParaRPr lang="zh-CN" altLang="en-US" sz="1600" b="0" i="0" u="none" strike="noStrike" cap="none" dirty="0">
                        <a:solidFill>
                          <a:srgbClr val="000000"/>
                        </a:solidFill>
                        <a:latin typeface="微软雅黑"/>
                        <a:ea typeface="微软雅黑"/>
                        <a:cs typeface="+mn-cs"/>
                        <a:sym typeface="Arial"/>
                      </a:endParaRPr>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6DCE5">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0" y="144780"/>
            <a:ext cx="4942840" cy="749935"/>
          </a:xfrm>
          <a:custGeom>
            <a:avLst/>
            <a:gdLst/>
            <a:ahLst/>
            <a:cxnLst/>
            <a:rect l="l" t="t" r="r" b="b"/>
            <a:pathLst>
              <a:path w="4942840" h="749935">
                <a:moveTo>
                  <a:pt x="532293" y="0"/>
                </a:moveTo>
                <a:lnTo>
                  <a:pt x="532300" y="0"/>
                </a:lnTo>
                <a:lnTo>
                  <a:pt x="4387968" y="0"/>
                </a:lnTo>
                <a:lnTo>
                  <a:pt x="4387968" y="1604"/>
                </a:lnTo>
                <a:lnTo>
                  <a:pt x="4410547" y="0"/>
                </a:lnTo>
                <a:cubicBezTo>
                  <a:pt x="4704524" y="0"/>
                  <a:pt x="4942840" y="167879"/>
                  <a:pt x="4942840" y="374967"/>
                </a:cubicBezTo>
                <a:cubicBezTo>
                  <a:pt x="4942840" y="582056"/>
                  <a:pt x="4704524" y="749935"/>
                  <a:pt x="4410547" y="749935"/>
                </a:cubicBezTo>
                <a:lnTo>
                  <a:pt x="4387968" y="748332"/>
                </a:lnTo>
                <a:lnTo>
                  <a:pt x="4387968" y="749935"/>
                </a:lnTo>
                <a:lnTo>
                  <a:pt x="532293" y="749935"/>
                </a:lnTo>
                <a:cubicBezTo>
                  <a:pt x="238316" y="749935"/>
                  <a:pt x="0" y="582056"/>
                  <a:pt x="0" y="374967"/>
                </a:cubicBezTo>
                <a:cubicBezTo>
                  <a:pt x="0" y="167879"/>
                  <a:pt x="238316" y="0"/>
                  <a:pt x="532293"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210820"/>
            <a:ext cx="617855" cy="617855"/>
          </a:xfrm>
          <a:prstGeom prst="rect">
            <a:avLst/>
          </a:prstGeom>
          <a:noFill/>
          <a:ln w="25400" cap="flat" cmpd="sng">
            <a:noFill/>
            <a:prstDash val="solid"/>
            <a:round/>
          </a:ln>
        </p:spPr>
      </p:pic>
      <p:sp>
        <p:nvSpPr>
          <p:cNvPr id="4" name="AutoShape 4"/>
          <p:cNvSpPr/>
          <p:nvPr/>
        </p:nvSpPr>
        <p:spPr>
          <a:xfrm>
            <a:off x="779780" y="289560"/>
            <a:ext cx="4049395" cy="460375"/>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just" defTabSz="914400">
              <a:lnSpc>
                <a:spcPct val="100000"/>
              </a:lnSpc>
              <a:defRPr/>
            </a:pPr>
            <a:r>
              <a:rPr lang="en-US" sz="2400" b="1" i="0" u="none" strike="noStrike">
                <a:solidFill>
                  <a:srgbClr val="FFFFFF"/>
                </a:solidFill>
                <a:latin typeface="微软雅黑"/>
                <a:ea typeface="微软雅黑"/>
                <a:cs typeface="微软雅黑"/>
                <a:sym typeface="微软雅黑"/>
              </a:rPr>
              <a:t>2.5 火烟场景应用研究</a:t>
            </a:r>
            <a:endParaRPr lang="en-US" sz="1100"/>
          </a:p>
        </p:txBody>
      </p:sp>
      <p:graphicFrame>
        <p:nvGraphicFramePr>
          <p:cNvPr id="5" name="Table 5"/>
          <p:cNvGraphicFramePr>
            <a:graphicFrameLocks noGrp="1"/>
          </p:cNvGraphicFramePr>
          <p:nvPr>
            <p:extLst>
              <p:ext uri="{D42A27DB-BD31-4B8C-83A1-F6EECF244321}">
                <p14:modId xmlns:p14="http://schemas.microsoft.com/office/powerpoint/2010/main" val="743927778"/>
              </p:ext>
            </p:extLst>
          </p:nvPr>
        </p:nvGraphicFramePr>
        <p:xfrm>
          <a:off x="217805" y="1330960"/>
          <a:ext cx="11756389" cy="5177790"/>
        </p:xfrm>
        <a:graphic>
          <a:graphicData uri="http://schemas.openxmlformats.org/drawingml/2006/table">
            <a:tbl>
              <a:tblPr>
                <a:effectLst/>
              </a:tblPr>
              <a:tblGrid>
                <a:gridCol w="1327792">
                  <a:extLst>
                    <a:ext uri="{9D8B030D-6E8A-4147-A177-3AD203B41FA5}">
                      <a16:colId xmlns:a16="http://schemas.microsoft.com/office/drawing/2014/main" val="20000"/>
                    </a:ext>
                  </a:extLst>
                </a:gridCol>
                <a:gridCol w="1892079">
                  <a:extLst>
                    <a:ext uri="{9D8B030D-6E8A-4147-A177-3AD203B41FA5}">
                      <a16:colId xmlns:a16="http://schemas.microsoft.com/office/drawing/2014/main" val="20001"/>
                    </a:ext>
                  </a:extLst>
                </a:gridCol>
                <a:gridCol w="963720">
                  <a:extLst>
                    <a:ext uri="{9D8B030D-6E8A-4147-A177-3AD203B41FA5}">
                      <a16:colId xmlns:a16="http://schemas.microsoft.com/office/drawing/2014/main" val="20002"/>
                    </a:ext>
                  </a:extLst>
                </a:gridCol>
                <a:gridCol w="2501688">
                  <a:extLst>
                    <a:ext uri="{9D8B030D-6E8A-4147-A177-3AD203B41FA5}">
                      <a16:colId xmlns:a16="http://schemas.microsoft.com/office/drawing/2014/main" val="20003"/>
                    </a:ext>
                  </a:extLst>
                </a:gridCol>
                <a:gridCol w="2535555">
                  <a:extLst>
                    <a:ext uri="{9D8B030D-6E8A-4147-A177-3AD203B41FA5}">
                      <a16:colId xmlns:a16="http://schemas.microsoft.com/office/drawing/2014/main" val="4212447098"/>
                    </a:ext>
                  </a:extLst>
                </a:gridCol>
                <a:gridCol w="2535555">
                  <a:extLst>
                    <a:ext uri="{9D8B030D-6E8A-4147-A177-3AD203B41FA5}">
                      <a16:colId xmlns:a16="http://schemas.microsoft.com/office/drawing/2014/main" val="20004"/>
                    </a:ext>
                  </a:extLst>
                </a:gridCol>
              </a:tblGrid>
              <a:tr h="692150">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类别</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作者</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年份</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800" b="1" i="0" u="none" strike="noStrike">
                          <a:solidFill>
                            <a:srgbClr val="FFFFFF"/>
                          </a:solidFill>
                          <a:latin typeface="微软雅黑"/>
                          <a:ea typeface="微软雅黑"/>
                          <a:cs typeface="微软雅黑"/>
                          <a:sym typeface="微软雅黑"/>
                        </a:rPr>
                        <a:t>方法</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gridSpan="2">
                  <a:txBody>
                    <a:bodyPr/>
                    <a:lstStyle/>
                    <a:p>
                      <a:pPr marL="0" indent="0" algn="ctr" defTabSz="914400">
                        <a:lnSpc>
                          <a:spcPct val="100000"/>
                        </a:lnSpc>
                        <a:defRPr/>
                      </a:pPr>
                      <a:r>
                        <a:rPr lang="en-US" sz="1800" b="1" i="0" u="none" strike="noStrike" dirty="0" err="1">
                          <a:solidFill>
                            <a:srgbClr val="FFFFFF"/>
                          </a:solidFill>
                          <a:latin typeface="微软雅黑"/>
                          <a:ea typeface="微软雅黑"/>
                          <a:sym typeface="微软雅黑"/>
                        </a:rPr>
                        <a:t>特点</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hMerge="1">
                  <a:txBody>
                    <a:bodyPr/>
                    <a:lstStyle/>
                    <a:p>
                      <a:endParaRPr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1155541">
                <a:tc rowSpan="4">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火烟检测与分割应用</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Joshi 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基础模型结合边界框的高效火焰检测。</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l" defTabSz="914400">
                        <a:lnSpc>
                          <a:spcPct val="100000"/>
                        </a:lnSpc>
                      </a:pPr>
                      <a:r>
                        <a:rPr lang="zh-CN" altLang="zh-CN" sz="1600" b="1" i="0" u="none" strike="noStrike" cap="none" dirty="0">
                          <a:solidFill>
                            <a:srgbClr val="000000"/>
                          </a:solidFill>
                          <a:latin typeface="微软雅黑"/>
                          <a:ea typeface="微软雅黑"/>
                          <a:cs typeface="+mn-cs"/>
                          <a:sym typeface="Arial"/>
                        </a:rPr>
                        <a:t>提升火焰定位粒度</a:t>
                      </a:r>
                      <a:endParaRPr lang="en-US" sz="1600" b="1" i="0" u="none" strike="noStrike" cap="none" dirty="0">
                        <a:solidFill>
                          <a:srgbClr val="000000"/>
                        </a:solidFill>
                        <a:latin typeface="微软雅黑"/>
                        <a:ea typeface="微软雅黑"/>
                        <a:cs typeface="微软雅黑"/>
                        <a:sym typeface="微软雅黑"/>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rowSpan="4">
                  <a:txBody>
                    <a:bodyPr/>
                    <a:lstStyle/>
                    <a:p>
                      <a:pPr marL="0" indent="0" algn="ctr" defTabSz="914400">
                        <a:lnSpc>
                          <a:spcPct val="100000"/>
                        </a:lnSpc>
                        <a:defRPr/>
                      </a:pPr>
                      <a:r>
                        <a:rPr lang="en-US" sz="1600" b="1" i="0" u="none" strike="noStrike" dirty="0" err="1">
                          <a:solidFill>
                            <a:srgbClr val="0D0D0D"/>
                          </a:solidFill>
                          <a:latin typeface="微软雅黑"/>
                          <a:ea typeface="微软雅黑"/>
                          <a:cs typeface="微软雅黑"/>
                          <a:sym typeface="微软雅黑"/>
                        </a:rPr>
                        <a:t>本文落点不同</a:t>
                      </a:r>
                      <a:r>
                        <a:rPr lang="en-US" sz="1600" b="1" i="0" u="none" strike="noStrike" dirty="0">
                          <a:solidFill>
                            <a:srgbClr val="0D0D0D"/>
                          </a:solidFill>
                          <a:latin typeface="微软雅黑"/>
                          <a:ea typeface="微软雅黑"/>
                          <a:cs typeface="微软雅黑"/>
                          <a:sym typeface="微软雅黑"/>
                        </a:rPr>
                        <a:t>：</a:t>
                      </a:r>
                      <a:endParaRPr lang="en-US" sz="1100" dirty="0"/>
                    </a:p>
                    <a:p>
                      <a:pPr marL="0" indent="0" algn="ctr" defTabSz="914400">
                        <a:lnSpc>
                          <a:spcPct val="100000"/>
                        </a:lnSpc>
                      </a:pPr>
                      <a:r>
                        <a:rPr lang="en-US" sz="1600" b="1" i="0" u="none" strike="noStrike" dirty="0" err="1">
                          <a:solidFill>
                            <a:srgbClr val="0D0D0D"/>
                          </a:solidFill>
                          <a:latin typeface="微软雅黑"/>
                          <a:ea typeface="微软雅黑"/>
                          <a:cs typeface="微软雅黑"/>
                          <a:sym typeface="微软雅黑"/>
                        </a:rPr>
                        <a:t>已有工作多把分割质量本身当目标，分割更细不代表转换出的检测框更适合训练</a:t>
                      </a:r>
                      <a:r>
                        <a:rPr lang="en-US" sz="1600" b="1" i="0" u="none" strike="noStrike" dirty="0">
                          <a:solidFill>
                            <a:srgbClr val="0D0D0D"/>
                          </a:solidFill>
                          <a:latin typeface="微软雅黑"/>
                          <a:ea typeface="微软雅黑"/>
                          <a:cs typeface="微软雅黑"/>
                          <a:sym typeface="微软雅黑"/>
                        </a:rPr>
                        <a:t>。</a:t>
                      </a: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extLst>
                  <a:ext uri="{0D108BD9-81ED-4DB2-BD59-A6C34878D82A}">
                    <a16:rowId xmlns:a16="http://schemas.microsoft.com/office/drawing/2014/main" val="10001"/>
                  </a:ext>
                </a:extLst>
              </a:tr>
              <a:tr h="1042035">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Cao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2026</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SAM </a:t>
                      </a:r>
                      <a:r>
                        <a:rPr lang="en-US" sz="1600" b="0" i="0" u="none" strike="noStrike" dirty="0" err="1">
                          <a:solidFill>
                            <a:srgbClr val="0D0D0D"/>
                          </a:solidFill>
                          <a:latin typeface="微软雅黑"/>
                          <a:ea typeface="微软雅黑"/>
                          <a:cs typeface="微软雅黑"/>
                          <a:sym typeface="微软雅黑"/>
                        </a:rPr>
                        <a:t>驱动的密度感知渐进式烟雾分割框架</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提升烟雾分割粒度</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2"/>
                  </a:ext>
                </a:extLst>
              </a:tr>
              <a:tr h="1132523">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Allabadi 等</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2025</a:t>
                      </a:r>
                      <a:endParaRPr lang="en-US" sz="1100"/>
                    </a:p>
                  </a:txBody>
                  <a:tcPr marL="13017" marR="13017" marT="13017"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在野外环境用 SAM 检测新目标物种。</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基础模型辅助未知目标发现</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3"/>
                  </a:ext>
                </a:extLst>
              </a:tr>
              <a:tr h="1155541">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ctr" defTabSz="914400">
                        <a:lnSpc>
                          <a:spcPct val="100000"/>
                        </a:lnSpc>
                        <a:defRPr/>
                      </a:pPr>
                      <a:r>
                        <a:rPr lang="en-US" sz="1600" b="0" i="0" u="none" strike="noStrike" dirty="0">
                          <a:solidFill>
                            <a:srgbClr val="0D0D0D"/>
                          </a:solidFill>
                          <a:latin typeface="微软雅黑"/>
                          <a:ea typeface="微软雅黑"/>
                          <a:cs typeface="微软雅黑"/>
                          <a:sym typeface="微软雅黑"/>
                        </a:rPr>
                        <a:t>W</a:t>
                      </a:r>
                      <a:r>
                        <a:rPr lang="en-US" altLang="zh-CN" sz="1600" b="0" i="0" u="none" strike="noStrike" dirty="0">
                          <a:solidFill>
                            <a:srgbClr val="0D0D0D"/>
                          </a:solidFill>
                          <a:latin typeface="微软雅黑"/>
                          <a:ea typeface="微软雅黑"/>
                          <a:cs typeface="微软雅黑"/>
                          <a:sym typeface="微软雅黑"/>
                        </a:rPr>
                        <a:t>ang</a:t>
                      </a:r>
                      <a:r>
                        <a:rPr lang="en-US" sz="1600" b="0" i="0" u="none" strike="noStrike" dirty="0">
                          <a:solidFill>
                            <a:srgbClr val="0D0D0D"/>
                          </a:solidFill>
                          <a:latin typeface="微软雅黑"/>
                          <a:ea typeface="微软雅黑"/>
                          <a:cs typeface="微软雅黑"/>
                          <a:sym typeface="微软雅黑"/>
                        </a:rPr>
                        <a:t> 等</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a:solidFill>
                            <a:srgbClr val="0D0D0D"/>
                          </a:solidFill>
                          <a:latin typeface="微软雅黑"/>
                          <a:ea typeface="微软雅黑"/>
                          <a:cs typeface="微软雅黑"/>
                          <a:sym typeface="微软雅黑"/>
                        </a:rPr>
                        <a:t>2024</a:t>
                      </a:r>
                      <a:endParaRPr lang="en-US" sz="110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marL="0" indent="0" algn="ctr" defTabSz="914400">
                        <a:lnSpc>
                          <a:spcPct val="100000"/>
                        </a:lnSpc>
                        <a:defRPr/>
                      </a:pPr>
                      <a:r>
                        <a:rPr lang="en-US" sz="1600" b="0" i="0" u="none" strike="noStrike" dirty="0" err="1">
                          <a:solidFill>
                            <a:srgbClr val="0D0D0D"/>
                          </a:solidFill>
                          <a:latin typeface="微软雅黑"/>
                          <a:ea typeface="微软雅黑"/>
                          <a:cs typeface="微软雅黑"/>
                          <a:sym typeface="微软雅黑"/>
                        </a:rPr>
                        <a:t>面向遥感森林火烟检测的多面合成数据集</a:t>
                      </a:r>
                      <a:r>
                        <a:rPr lang="en-US" sz="1600" b="0" i="0" u="none" strike="noStrike" dirty="0">
                          <a:solidFill>
                            <a:srgbClr val="0D0D0D"/>
                          </a:solidFill>
                          <a:latin typeface="微软雅黑"/>
                          <a:ea typeface="微软雅黑"/>
                          <a:cs typeface="微软雅黑"/>
                          <a:sym typeface="微软雅黑"/>
                        </a:rPr>
                        <a:t>。</a:t>
                      </a:r>
                      <a:endParaRPr lang="en-US" sz="1100" dirty="0"/>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a:txBody>
                    <a:bodyPr/>
                    <a:lstStyle/>
                    <a:p>
                      <a:pPr algn="l"/>
                      <a:r>
                        <a:rPr lang="zh-CN" altLang="zh-CN" sz="1600" b="1" i="0" u="none" strike="noStrike" cap="none" dirty="0">
                          <a:solidFill>
                            <a:srgbClr val="000000"/>
                          </a:solidFill>
                          <a:latin typeface="微软雅黑"/>
                          <a:ea typeface="微软雅黑"/>
                          <a:cs typeface="+mn-cs"/>
                          <a:sym typeface="Arial"/>
                        </a:rPr>
                        <a:t>提供火烟检测多面合成数据</a:t>
                      </a:r>
                      <a:endParaRPr lang="zh-CN" altLang="en-US" sz="1600" b="1" i="0" u="none" strike="noStrike" cap="none" dirty="0">
                        <a:solidFill>
                          <a:srgbClr val="000000"/>
                        </a:solidFill>
                        <a:latin typeface="微软雅黑"/>
                        <a:ea typeface="微软雅黑"/>
                        <a:sym typeface="Arial"/>
                      </a:endParaRPr>
                    </a:p>
                  </a:txBody>
                  <a:tcPr marL="13017" marR="13017" marT="13017">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F0D9">
                        <a:alpha val="100000"/>
                      </a:srgbClr>
                    </a:solidFill>
                  </a:tcPr>
                </a:tc>
                <a:tc vMerge="1">
                  <a:txBody>
                    <a:bodyPr/>
                    <a:lstStyle/>
                    <a:p>
                      <a:pPr algn="ctr">
                        <a:defRPr/>
                      </a:pPr>
                      <a:endParaRPr/>
                    </a:p>
                  </a:txBody>
                  <a:tcPr marL="101600" marR="101600" marT="101600" marB="101600" anchor="ctr">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27000"/>
            <a:ext cx="3263900" cy="609600"/>
          </a:xfrm>
          <a:prstGeom prst="roundRect">
            <a:avLst>
              <a:gd name="adj" fmla="val 41665"/>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77800" y="152400"/>
            <a:ext cx="558800" cy="558800"/>
          </a:xfrm>
          <a:prstGeom prst="rect">
            <a:avLst/>
          </a:prstGeom>
          <a:ln w="12700" cap="flat" cmpd="sng">
            <a:noFill/>
            <a:prstDash val="solid"/>
            <a:round/>
          </a:ln>
        </p:spPr>
      </p:pic>
      <p:sp>
        <p:nvSpPr>
          <p:cNvPr id="4" name="AutoShape 4"/>
          <p:cNvSpPr/>
          <p:nvPr/>
        </p:nvSpPr>
        <p:spPr>
          <a:xfrm>
            <a:off x="812800" y="190500"/>
            <a:ext cx="2501900" cy="508000"/>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2200" b="1" i="0" u="none" strike="noStrike">
                <a:solidFill>
                  <a:srgbClr val="FFFFFF"/>
                </a:solidFill>
                <a:latin typeface="微软雅黑"/>
                <a:ea typeface="微软雅黑"/>
                <a:cs typeface="微软雅黑"/>
                <a:sym typeface="微软雅黑"/>
              </a:rPr>
              <a:t>研究现状与缺口</a:t>
            </a:r>
            <a:endParaRPr lang="en-US" sz="1100"/>
          </a:p>
        </p:txBody>
      </p:sp>
      <p:grpSp>
        <p:nvGrpSpPr>
          <p:cNvPr id="27" name="组合 26">
            <a:extLst>
              <a:ext uri="{FF2B5EF4-FFF2-40B4-BE49-F238E27FC236}">
                <a16:creationId xmlns:a16="http://schemas.microsoft.com/office/drawing/2014/main" id="{C9E31411-22CC-225A-5152-C8679B6CF71A}"/>
              </a:ext>
            </a:extLst>
          </p:cNvPr>
          <p:cNvGrpSpPr/>
          <p:nvPr/>
        </p:nvGrpSpPr>
        <p:grpSpPr>
          <a:xfrm>
            <a:off x="457200" y="1092200"/>
            <a:ext cx="11176000" cy="4508500"/>
            <a:chOff x="508000" y="1651000"/>
            <a:chExt cx="11176000" cy="4508500"/>
          </a:xfrm>
        </p:grpSpPr>
        <p:sp>
          <p:nvSpPr>
            <p:cNvPr id="5" name="AutoShape 5"/>
            <p:cNvSpPr/>
            <p:nvPr/>
          </p:nvSpPr>
          <p:spPr>
            <a:xfrm>
              <a:off x="50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841500"/>
              <a:ext cx="304800" cy="304800"/>
            </a:xfrm>
            <a:prstGeom prst="rect">
              <a:avLst/>
            </a:prstGeom>
          </p:spPr>
        </p:pic>
        <p:sp>
          <p:nvSpPr>
            <p:cNvPr id="7" name="AutoShape 7"/>
            <p:cNvSpPr/>
            <p:nvPr/>
          </p:nvSpPr>
          <p:spPr>
            <a:xfrm>
              <a:off x="107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01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传统目标检测：标注瓶颈</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8" name="AutoShape 8"/>
            <p:cNvSpPr/>
            <p:nvPr/>
          </p:nvSpPr>
          <p:spPr>
            <a:xfrm>
              <a:off x="69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长期依赖全监督学习，算法效果高度依赖高质量人工标注。数据的“质”与“量”难以协同供给，成为模型规模化训练的核心制约因素</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9" name="AutoShape 9"/>
            <p:cNvSpPr/>
            <p:nvPr/>
          </p:nvSpPr>
          <p:spPr>
            <a:xfrm>
              <a:off x="431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08500" y="1841500"/>
              <a:ext cx="304800" cy="304800"/>
            </a:xfrm>
            <a:prstGeom prst="rect">
              <a:avLst/>
            </a:prstGeom>
          </p:spPr>
        </p:pic>
        <p:sp>
          <p:nvSpPr>
            <p:cNvPr id="11" name="AutoShape 11"/>
            <p:cNvSpPr/>
            <p:nvPr/>
          </p:nvSpPr>
          <p:spPr>
            <a:xfrm>
              <a:off x="488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02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开放词汇检测：转化断层</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2" name="AutoShape 12"/>
            <p:cNvSpPr/>
            <p:nvPr/>
          </p:nvSpPr>
          <p:spPr>
            <a:xfrm>
              <a:off x="450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altLang="zh-CN"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Grounding DINO </a:t>
              </a:r>
              <a:r>
                <a:rPr lang="zh-CN" alt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等已实现开放世界定位，但对其检出结果向闭集训练标签转化过程的稳定性、以及伪标签驱动下游检测器的泛化效能，系统评估不足</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3" name="AutoShape 13"/>
            <p:cNvSpPr/>
            <p:nvPr/>
          </p:nvSpPr>
          <p:spPr>
            <a:xfrm>
              <a:off x="8128000" y="1651000"/>
              <a:ext cx="3556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18500" y="1841500"/>
              <a:ext cx="304800" cy="304800"/>
            </a:xfrm>
            <a:prstGeom prst="rect">
              <a:avLst/>
            </a:prstGeom>
          </p:spPr>
        </p:pic>
        <p:sp>
          <p:nvSpPr>
            <p:cNvPr id="15" name="AutoShape 15"/>
            <p:cNvSpPr/>
            <p:nvPr/>
          </p:nvSpPr>
          <p:spPr>
            <a:xfrm>
              <a:off x="8699500" y="1841500"/>
              <a:ext cx="28575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03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SAM系列：应用场景受限</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16" name="AutoShape 16"/>
            <p:cNvSpPr/>
            <p:nvPr/>
          </p:nvSpPr>
          <p:spPr>
            <a:xfrm>
              <a:off x="8318500" y="2349500"/>
              <a:ext cx="3175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err="1">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虽提供细粒度空间信息，但鲜少验证其在审核、补漏及边界调整中的作用，且精细分割未必适配检测框的训练需求，存在转化鸿沟</a:t>
              </a: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17" name="AutoShape 17"/>
            <p:cNvSpPr/>
            <p:nvPr/>
          </p:nvSpPr>
          <p:spPr>
            <a:xfrm>
              <a:off x="508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00" y="4254500"/>
              <a:ext cx="304800" cy="304800"/>
            </a:xfrm>
            <a:prstGeom prst="rect">
              <a:avLst/>
            </a:prstGeom>
          </p:spPr>
        </p:pic>
        <p:sp>
          <p:nvSpPr>
            <p:cNvPr id="19" name="AutoShape 19"/>
            <p:cNvSpPr/>
            <p:nvPr/>
          </p:nvSpPr>
          <p:spPr>
            <a:xfrm>
              <a:off x="1079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04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自动标签评价：指标体系单一</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0" name="AutoShape 20"/>
            <p:cNvSpPr/>
            <p:nvPr/>
          </p:nvSpPr>
          <p:spPr>
            <a:xfrm>
              <a:off x="698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仅依靠标准IoU指标难以有效区分标注风格差异与真实定位偏差，无法准确判断伪标签是否真正适用于下游训练，需建立结合实际训练效果的综合评价体系。</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sp>
          <p:nvSpPr>
            <p:cNvPr id="21" name="AutoShape 21"/>
            <p:cNvSpPr/>
            <p:nvPr/>
          </p:nvSpPr>
          <p:spPr>
            <a:xfrm>
              <a:off x="6223000" y="4064000"/>
              <a:ext cx="5461000" cy="2095500"/>
            </a:xfrm>
            <a:prstGeom prst="roundRect">
              <a:avLst>
                <a:gd name="adj" fmla="val 0"/>
              </a:avLst>
            </a:prstGeom>
            <a:ln/>
          </p:spPr>
          <p:style>
            <a:lnRef idx="2">
              <a:schemeClr val="accent1"/>
            </a:lnRef>
            <a:fillRef idx="1">
              <a:schemeClr val="lt1"/>
            </a:fillRef>
            <a:effectRef idx="0">
              <a:schemeClr val="accent1"/>
            </a:effectRef>
            <a:fontRef idx="minor">
              <a:schemeClr val="dk1"/>
            </a:fontRef>
          </p:style>
          <p:txBody>
            <a:bodyPr vert="horz" wrap="square" lIns="0" tIns="0" rIns="0" bIns="0" rtlCol="0" anchor="ctr">
              <a:noAutofit/>
            </a:bodyPr>
            <a:lstStyle/>
            <a:p>
              <a:pPr marL="0" indent="0" algn="ctr"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254500"/>
              <a:ext cx="304800" cy="304800"/>
            </a:xfrm>
            <a:prstGeom prst="rect">
              <a:avLst/>
            </a:prstGeom>
          </p:spPr>
        </p:pic>
        <p:sp>
          <p:nvSpPr>
            <p:cNvPr id="23" name="AutoShape 23"/>
            <p:cNvSpPr/>
            <p:nvPr/>
          </p:nvSpPr>
          <p:spPr>
            <a:xfrm>
              <a:off x="6794500" y="4254500"/>
              <a:ext cx="4699000" cy="381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25000"/>
                </a:lnSpc>
                <a:defRPr/>
              </a:pPr>
              <a:r>
                <a:rPr lang="en-US" sz="1600" b="1" i="0" u="none" strike="noStrike" dirty="0">
                  <a:solidFill>
                    <a:srgbClr val="0A3760"/>
                  </a:solidFill>
                  <a:latin typeface="Microsoft YaHei" panose="020B0503020204020204" pitchFamily="34" charset="-122"/>
                  <a:ea typeface="Microsoft YaHei" panose="020B0503020204020204" pitchFamily="34" charset="-122"/>
                  <a:cs typeface="Noto Sans SC"/>
                  <a:sym typeface="Noto Sans SC"/>
                </a:rPr>
                <a:t>05 </a:t>
              </a:r>
              <a:r>
                <a:rPr lang="en-US" sz="1600" b="1" i="0" u="none" strike="noStrike" dirty="0" err="1">
                  <a:solidFill>
                    <a:srgbClr val="0A3760"/>
                  </a:solidFill>
                  <a:latin typeface="Microsoft YaHei" panose="020B0503020204020204" pitchFamily="34" charset="-122"/>
                  <a:ea typeface="Microsoft YaHei" panose="020B0503020204020204" pitchFamily="34" charset="-122"/>
                  <a:cs typeface="Noto Sans SC"/>
                  <a:sym typeface="Noto Sans SC"/>
                </a:rPr>
                <a:t>数据制备：范式动态适配缺失</a:t>
              </a:r>
              <a:endParaRPr lang="en-US" sz="1100" dirty="0">
                <a:solidFill>
                  <a:srgbClr val="0A3760"/>
                </a:solidFill>
                <a:latin typeface="Microsoft YaHei" panose="020B0503020204020204" pitchFamily="34" charset="-122"/>
                <a:ea typeface="Microsoft YaHei" panose="020B0503020204020204" pitchFamily="34" charset="-122"/>
              </a:endParaRPr>
            </a:p>
          </p:txBody>
        </p:sp>
        <p:sp>
          <p:nvSpPr>
            <p:cNvPr id="24" name="AutoShape 24"/>
            <p:cNvSpPr/>
            <p:nvPr/>
          </p:nvSpPr>
          <p:spPr>
            <a:xfrm>
              <a:off x="6413500" y="4762500"/>
              <a:ext cx="5080000" cy="12065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333"/>
                </a:lnSpc>
                <a:defRPr/>
              </a:pPr>
              <a:r>
                <a:rPr lang="en-US" sz="1300" b="0" i="0" u="none" strike="noStrike" dirty="0">
                  <a:solidFill>
                    <a:schemeClr val="tx1">
                      <a:lumMod val="85000"/>
                      <a:lumOff val="15000"/>
                    </a:schemeClr>
                  </a:solidFill>
                  <a:latin typeface="Microsoft YaHei" panose="020B0503020204020204" pitchFamily="34" charset="-122"/>
                  <a:ea typeface="Microsoft YaHei" panose="020B0503020204020204" pitchFamily="34" charset="-122"/>
                  <a:cs typeface="Noto Sans SC"/>
                  <a:sym typeface="Noto Sans SC"/>
                </a:rPr>
                <a:t>现有研究虽证明基础模型可减轻标注负担，但缺乏从系统工程视角，针对不同数据规模探讨标注范式的动态选择与效率优化，难以适配多样化的训练场景需求。</a:t>
              </a:r>
              <a:endParaRPr lang="en-US" sz="1100" dirty="0">
                <a:solidFill>
                  <a:schemeClr val="tx1">
                    <a:lumMod val="85000"/>
                    <a:lumOff val="15000"/>
                  </a:schemeClr>
                </a:solidFill>
                <a:latin typeface="Microsoft YaHei" panose="020B0503020204020204" pitchFamily="34" charset="-122"/>
                <a:ea typeface="Microsoft YaHei" panose="020B0503020204020204" pitchFamily="34" charset="-122"/>
              </a:endParaRPr>
            </a:p>
          </p:txBody>
        </p:sp>
      </p:grpSp>
      <p:sp>
        <p:nvSpPr>
          <p:cNvPr id="26" name="AutoShape 8">
            <a:extLst>
              <a:ext uri="{FF2B5EF4-FFF2-40B4-BE49-F238E27FC236}">
                <a16:creationId xmlns:a16="http://schemas.microsoft.com/office/drawing/2014/main" id="{454D9460-D9EB-7C17-9DC0-443D95E2737C}"/>
              </a:ext>
            </a:extLst>
          </p:cNvPr>
          <p:cNvSpPr/>
          <p:nvPr/>
        </p:nvSpPr>
        <p:spPr>
          <a:xfrm>
            <a:off x="-12383" y="5727700"/>
            <a:ext cx="12115165" cy="409575"/>
          </a:xfrm>
          <a:prstGeom prst="roundRect">
            <a:avLst>
              <a:gd name="adj" fmla="val 50000"/>
            </a:avLst>
          </a:prstGeom>
          <a:noFill/>
          <a:ln w="12700" cap="flat" cmpd="sng">
            <a:noFill/>
            <a:prstDash val="solid"/>
            <a:round/>
          </a:ln>
        </p:spPr>
        <p:txBody>
          <a:bodyPr vert="horz" wrap="square" lIns="91440" tIns="45720" rIns="91440" bIns="45720" rtlCol="0" anchor="t">
            <a:noAutofit/>
          </a:bodyPr>
          <a:lstStyle/>
          <a:p>
            <a:pPr marL="0" indent="457200" algn="just" defTabSz="914400">
              <a:lnSpc>
                <a:spcPct val="150000"/>
              </a:lnSpc>
              <a:defRPr/>
            </a:pPr>
            <a:r>
              <a:rPr lang="en-US" b="1" i="0" u="none" strike="noStrike" dirty="0">
                <a:solidFill>
                  <a:srgbClr val="FF0000"/>
                </a:solidFill>
                <a:latin typeface="微软雅黑"/>
                <a:ea typeface="微软雅黑"/>
                <a:cs typeface="微软雅黑"/>
                <a:sym typeface="微软雅黑"/>
              </a:rPr>
              <a:t>本文把人工标注、V1 </a:t>
            </a:r>
            <a:r>
              <a:rPr lang="en-US" b="1" i="0" u="none" strike="noStrike" dirty="0" err="1">
                <a:solidFill>
                  <a:srgbClr val="FF0000"/>
                </a:solidFill>
                <a:latin typeface="微软雅黑"/>
                <a:ea typeface="微软雅黑"/>
                <a:cs typeface="微软雅黑"/>
                <a:sym typeface="微软雅黑"/>
              </a:rPr>
              <a:t>单级自动化和</a:t>
            </a:r>
            <a:r>
              <a:rPr lang="en-US" b="1" i="0" u="none" strike="noStrike" dirty="0">
                <a:solidFill>
                  <a:srgbClr val="FF0000"/>
                </a:solidFill>
                <a:latin typeface="微软雅黑"/>
                <a:ea typeface="微软雅黑"/>
                <a:cs typeface="微软雅黑"/>
                <a:sym typeface="微软雅黑"/>
              </a:rPr>
              <a:t> SAM3 </a:t>
            </a:r>
            <a:r>
              <a:rPr lang="en-US" b="1" i="0" u="none" strike="noStrike" dirty="0" err="1">
                <a:solidFill>
                  <a:srgbClr val="FF0000"/>
                </a:solidFill>
                <a:latin typeface="微软雅黑"/>
                <a:ea typeface="微软雅黑"/>
                <a:cs typeface="微软雅黑"/>
                <a:sym typeface="微软雅黑"/>
              </a:rPr>
              <a:t>级联方案放在</a:t>
            </a:r>
            <a:r>
              <a:rPr lang="en-US" b="1" i="0" u="none" strike="noStrike" dirty="0">
                <a:solidFill>
                  <a:srgbClr val="FF0000"/>
                </a:solidFill>
                <a:latin typeface="微软雅黑"/>
                <a:ea typeface="微软雅黑"/>
                <a:cs typeface="微软雅黑"/>
                <a:sym typeface="微软雅黑"/>
              </a:rPr>
              <a:t> 1k、10k、100k </a:t>
            </a:r>
            <a:r>
              <a:rPr lang="en-US" b="1" i="0" u="none" strike="noStrike" dirty="0" err="1">
                <a:solidFill>
                  <a:srgbClr val="FF0000"/>
                </a:solidFill>
                <a:latin typeface="微软雅黑"/>
                <a:ea typeface="微软雅黑"/>
                <a:cs typeface="微软雅黑"/>
                <a:sym typeface="微软雅黑"/>
              </a:rPr>
              <a:t>三种规模下比较，用</a:t>
            </a:r>
            <a:r>
              <a:rPr lang="en-US" b="1" i="0" u="none" strike="noStrike" dirty="0">
                <a:solidFill>
                  <a:srgbClr val="FF0000"/>
                </a:solidFill>
                <a:latin typeface="微软雅黑"/>
                <a:ea typeface="微软雅黑"/>
                <a:cs typeface="微软雅黑"/>
                <a:sym typeface="微软雅黑"/>
              </a:rPr>
              <a:t> Pareto </a:t>
            </a:r>
            <a:r>
              <a:rPr lang="en-US" b="1" i="0" u="none" strike="noStrike" dirty="0" err="1">
                <a:solidFill>
                  <a:srgbClr val="FF0000"/>
                </a:solidFill>
                <a:latin typeface="微软雅黑"/>
                <a:ea typeface="微软雅黑"/>
                <a:cs typeface="微软雅黑"/>
                <a:sym typeface="微软雅黑"/>
              </a:rPr>
              <a:t>关系筛选流程</a:t>
            </a:r>
            <a:r>
              <a:rPr lang="en-US" b="1" i="0" u="none" strike="noStrike" dirty="0">
                <a:solidFill>
                  <a:srgbClr val="FF0000"/>
                </a:solidFill>
                <a:latin typeface="微软雅黑"/>
                <a:ea typeface="微软雅黑"/>
                <a:cs typeface="微软雅黑"/>
                <a:sym typeface="微软雅黑"/>
              </a:rPr>
              <a:t>。</a:t>
            </a:r>
            <a:endParaRPr lang="en-US" dirty="0"/>
          </a:p>
          <a:p>
            <a:pPr marL="0" indent="0" algn="l" defTabSz="914400">
              <a:lnSpc>
                <a:spcPct val="150000"/>
              </a:lnSpc>
            </a:pPr>
            <a:r>
              <a:rPr lang="en-US" b="0" i="0" u="none" strike="noStrike" dirty="0">
                <a:solidFill>
                  <a:srgbClr val="000000"/>
                </a:solidFill>
                <a:latin typeface="等线"/>
                <a:ea typeface="等线"/>
                <a:cs typeface="等线"/>
                <a:sym typeface="等线"/>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103370" y="3271520"/>
            <a:ext cx="5932170"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3. 研究内容与路线</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3978455" y="222170"/>
            <a:ext cx="2915285" cy="34480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650" b="1" i="0" u="none" strike="noStrike" dirty="0" err="1">
                <a:solidFill>
                  <a:srgbClr val="2C3E50"/>
                </a:solidFill>
                <a:latin typeface="微软雅黑"/>
                <a:ea typeface="微软雅黑"/>
                <a:cs typeface="微软雅黑"/>
                <a:sym typeface="微软雅黑"/>
              </a:rPr>
              <a:t>火烟伪标签级联生产与验证技术路线</a:t>
            </a:r>
            <a:endParaRPr lang="en-US" sz="1100" dirty="0"/>
          </a:p>
        </p:txBody>
      </p:sp>
      <p:sp>
        <p:nvSpPr>
          <p:cNvPr id="3" name="Freeform 3"/>
          <p:cNvSpPr/>
          <p:nvPr/>
        </p:nvSpPr>
        <p:spPr>
          <a:xfrm>
            <a:off x="115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8F4F8">
              <a:alpha val="100000"/>
            </a:srgbClr>
          </a:solidFill>
          <a:ln w="12700" cap="flat" cmpd="sng">
            <a:solidFill>
              <a:srgbClr val="3498DB">
                <a:alpha val="100000"/>
              </a:srgbClr>
            </a:solidFill>
            <a:prstDash val="solid"/>
            <a:miter lim="1000000"/>
          </a:ln>
        </p:spPr>
        <p:txBody>
          <a:bodyPr vert="horz" wrap="square" lIns="91440" tIns="45720" rIns="91440" bIns="45720" rtlCol="0" anchor="ctr" anchorCtr="0"/>
          <a:lstStyle/>
          <a:p>
            <a:pPr algn="l">
              <a:defRPr/>
            </a:pPr>
            <a:endParaRPr/>
          </a:p>
        </p:txBody>
      </p:sp>
      <p:sp>
        <p:nvSpPr>
          <p:cNvPr id="4" name="AutoShape 4"/>
          <p:cNvSpPr/>
          <p:nvPr/>
        </p:nvSpPr>
        <p:spPr>
          <a:xfrm>
            <a:off x="1158695" y="731520"/>
            <a:ext cx="1672590" cy="27241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阶段一：数据与测试治理</a:t>
            </a:r>
            <a:endParaRPr lang="en-US" sz="1100" dirty="0"/>
          </a:p>
        </p:txBody>
      </p:sp>
      <p:sp>
        <p:nvSpPr>
          <p:cNvPr id="5" name="Freeform 5"/>
          <p:cNvSpPr/>
          <p:nvPr/>
        </p:nvSpPr>
        <p:spPr>
          <a:xfrm>
            <a:off x="1311275" y="1024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6" name="AutoShape 6"/>
          <p:cNvSpPr/>
          <p:nvPr/>
        </p:nvSpPr>
        <p:spPr>
          <a:xfrm>
            <a:off x="1537335" y="1072515"/>
            <a:ext cx="1148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多源火烟图像</a:t>
            </a:r>
            <a:endParaRPr lang="en-US" sz="1100"/>
          </a:p>
        </p:txBody>
      </p:sp>
      <p:sp>
        <p:nvSpPr>
          <p:cNvPr id="7" name="Freeform 7"/>
          <p:cNvSpPr/>
          <p:nvPr/>
        </p:nvSpPr>
        <p:spPr>
          <a:xfrm>
            <a:off x="1311275" y="144081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8" name="AutoShape 8"/>
          <p:cNvSpPr/>
          <p:nvPr/>
        </p:nvSpPr>
        <p:spPr>
          <a:xfrm>
            <a:off x="1456055" y="147129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训练</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开发</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隔离测试集划分</a:t>
            </a:r>
            <a:endParaRPr lang="en-US" sz="1100" dirty="0"/>
          </a:p>
        </p:txBody>
      </p:sp>
      <p:sp>
        <p:nvSpPr>
          <p:cNvPr id="9" name="Freeform 9"/>
          <p:cNvSpPr/>
          <p:nvPr/>
        </p:nvSpPr>
        <p:spPr>
          <a:xfrm>
            <a:off x="1311275" y="1786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0" name="AutoShape 10"/>
          <p:cNvSpPr/>
          <p:nvPr/>
        </p:nvSpPr>
        <p:spPr>
          <a:xfrm>
            <a:off x="1410515" y="1840865"/>
            <a:ext cx="9753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数据谱系与元数据版本固化</a:t>
            </a:r>
            <a:endParaRPr lang="en-US" sz="1100" dirty="0"/>
          </a:p>
        </p:txBody>
      </p:sp>
      <p:sp>
        <p:nvSpPr>
          <p:cNvPr id="11" name="Freeform 11"/>
          <p:cNvSpPr/>
          <p:nvPr/>
        </p:nvSpPr>
        <p:spPr>
          <a:xfrm>
            <a:off x="1311275" y="2167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3498DB">
              <a:alpha val="100000"/>
            </a:srgbClr>
          </a:solidFill>
          <a:ln w="12700" cap="flat" cmpd="sng">
            <a:solidFill>
              <a:srgbClr val="2980B9">
                <a:alpha val="100000"/>
              </a:srgbClr>
            </a:solidFill>
            <a:prstDash val="solid"/>
            <a:miter lim="1000000"/>
          </a:ln>
        </p:spPr>
        <p:txBody>
          <a:bodyPr vert="horz" wrap="square" lIns="91440" tIns="45720" rIns="91440" bIns="45720" rtlCol="0" anchor="ctr" anchorCtr="0"/>
          <a:lstStyle/>
          <a:p>
            <a:pPr algn="l">
              <a:defRPr/>
            </a:pPr>
            <a:endParaRPr/>
          </a:p>
        </p:txBody>
      </p:sp>
      <p:sp>
        <p:nvSpPr>
          <p:cNvPr id="12" name="AutoShape 12"/>
          <p:cNvSpPr/>
          <p:nvPr/>
        </p:nvSpPr>
        <p:spPr>
          <a:xfrm>
            <a:off x="1562735" y="2215515"/>
            <a:ext cx="10972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提示词空间与阈值检索</a:t>
            </a:r>
            <a:endParaRPr lang="en-US" sz="1100" dirty="0"/>
          </a:p>
        </p:txBody>
      </p:sp>
      <p:sp>
        <p:nvSpPr>
          <p:cNvPr id="13" name="Freeform 13"/>
          <p:cNvSpPr/>
          <p:nvPr/>
        </p:nvSpPr>
        <p:spPr>
          <a:xfrm>
            <a:off x="1311275" y="2548255"/>
            <a:ext cx="1600200" cy="304800"/>
          </a:xfrm>
          <a:custGeom>
            <a:avLst/>
            <a:gdLst/>
            <a:ahLst/>
            <a:cxnLst/>
            <a:rect l="l" t="t" r="r" b="b"/>
            <a:pathLst>
              <a:path w="1600200" h="304800">
                <a:moveTo>
                  <a:pt x="1562100" y="0"/>
                </a:moveTo>
                <a:cubicBezTo>
                  <a:pt x="1583143" y="0"/>
                  <a:pt x="1600200" y="0"/>
                  <a:pt x="1600200" y="0"/>
                </a:cubicBezTo>
                <a:lnTo>
                  <a:pt x="1600200" y="304800"/>
                </a:lnTo>
                <a:cubicBezTo>
                  <a:pt x="1600200" y="304800"/>
                  <a:pt x="1583143" y="304800"/>
                  <a:pt x="1562100" y="304800"/>
                </a:cubicBezTo>
                <a:lnTo>
                  <a:pt x="38100" y="304800"/>
                </a:lnTo>
                <a:cubicBezTo>
                  <a:pt x="17057" y="304800"/>
                  <a:pt x="0" y="304800"/>
                  <a:pt x="0" y="3048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14" name="AutoShape 14"/>
          <p:cNvSpPr/>
          <p:nvPr/>
        </p:nvSpPr>
        <p:spPr>
          <a:xfrm>
            <a:off x="1577975" y="2596515"/>
            <a:ext cx="10668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训练集用于 YOLO 训练</a:t>
            </a:r>
            <a:endParaRPr lang="en-US" sz="1100"/>
          </a:p>
        </p:txBody>
      </p:sp>
      <p:sp>
        <p:nvSpPr>
          <p:cNvPr id="15" name="Freeform 15"/>
          <p:cNvSpPr/>
          <p:nvPr/>
        </p:nvSpPr>
        <p:spPr>
          <a:xfrm>
            <a:off x="3064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6" name="Freeform 16"/>
          <p:cNvSpPr/>
          <p:nvPr/>
        </p:nvSpPr>
        <p:spPr>
          <a:xfrm>
            <a:off x="3444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E8F5E8">
              <a:alpha val="100000"/>
            </a:srgbClr>
          </a:solidFill>
          <a:ln w="12700" cap="flat" cmpd="sng">
            <a:solidFill>
              <a:srgbClr val="27AE60">
                <a:alpha val="100000"/>
              </a:srgbClr>
            </a:solidFill>
            <a:prstDash val="solid"/>
            <a:miter lim="1000000"/>
          </a:ln>
        </p:spPr>
        <p:txBody>
          <a:bodyPr vert="horz" wrap="square" lIns="91440" tIns="45720" rIns="91440" bIns="45720" rtlCol="0" anchor="ctr" anchorCtr="0"/>
          <a:lstStyle/>
          <a:p>
            <a:pPr algn="l">
              <a:defRPr/>
            </a:pPr>
            <a:endParaRPr/>
          </a:p>
        </p:txBody>
      </p:sp>
      <p:sp>
        <p:nvSpPr>
          <p:cNvPr id="17" name="AutoShape 17"/>
          <p:cNvSpPr/>
          <p:nvPr/>
        </p:nvSpPr>
        <p:spPr>
          <a:xfrm>
            <a:off x="3539191" y="744332"/>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阶段二：V1 </a:t>
            </a:r>
            <a:r>
              <a:rPr lang="en-US" sz="1200" b="1" i="0" u="none" strike="noStrike" dirty="0" err="1">
                <a:solidFill>
                  <a:srgbClr val="2C3E50"/>
                </a:solidFill>
                <a:latin typeface="微软雅黑"/>
                <a:ea typeface="微软雅黑"/>
                <a:cs typeface="微软雅黑"/>
                <a:sym typeface="微软雅黑"/>
              </a:rPr>
              <a:t>自动生成与验证</a:t>
            </a:r>
            <a:endParaRPr lang="en-US" sz="1100" dirty="0"/>
          </a:p>
        </p:txBody>
      </p:sp>
      <p:sp>
        <p:nvSpPr>
          <p:cNvPr id="18" name="Freeform 18"/>
          <p:cNvSpPr/>
          <p:nvPr/>
        </p:nvSpPr>
        <p:spPr>
          <a:xfrm>
            <a:off x="35972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19" name="AutoShape 19"/>
          <p:cNvSpPr/>
          <p:nvPr/>
        </p:nvSpPr>
        <p:spPr>
          <a:xfrm>
            <a:off x="3536315" y="1334602"/>
            <a:ext cx="518160" cy="184785"/>
          </a:xfrm>
          <a:prstGeom prst="rect">
            <a:avLst/>
          </a:prstGeom>
          <a:noFill/>
          <a:ln w="12700" cap="flat" cmpd="sng">
            <a:noFill/>
            <a:prstDash val="solid"/>
            <a:round/>
          </a:ln>
        </p:spPr>
        <p:txBody>
          <a:bodyPr vert="horz" wrap="none" lIns="91440" tIns="45720" rIns="91440" bIns="45720" rtlCol="0" anchor="t">
            <a:noAutofit/>
          </a:bodyPr>
          <a:lstStyle/>
          <a:p>
            <a:pPr marL="0" indent="0" defTabSz="914400">
              <a:lnSpc>
                <a:spcPct val="100000"/>
              </a:lnSpc>
              <a:defRPr/>
            </a:pPr>
            <a:r>
              <a:rPr lang="en-US" sz="825" b="0" i="0" u="none" strike="noStrike" dirty="0">
                <a:solidFill>
                  <a:srgbClr val="FFFFFF"/>
                </a:solidFill>
                <a:latin typeface="微软雅黑"/>
                <a:ea typeface="微软雅黑"/>
                <a:cs typeface="微软雅黑"/>
                <a:sym typeface="微软雅黑"/>
              </a:rPr>
              <a:t>Grounding DINO</a:t>
            </a:r>
            <a:endParaRPr lang="en-US" sz="1100" dirty="0"/>
          </a:p>
        </p:txBody>
      </p:sp>
      <p:sp>
        <p:nvSpPr>
          <p:cNvPr id="20" name="AutoShape 20"/>
          <p:cNvSpPr/>
          <p:nvPr/>
        </p:nvSpPr>
        <p:spPr>
          <a:xfrm>
            <a:off x="37230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dirty="0" err="1">
                <a:solidFill>
                  <a:srgbClr val="FFFFFF"/>
                </a:solidFill>
                <a:latin typeface="微软雅黑"/>
                <a:ea typeface="微软雅黑"/>
                <a:cs typeface="微软雅黑"/>
                <a:sym typeface="微软雅黑"/>
              </a:rPr>
              <a:t>擅长：文本</a:t>
            </a:r>
            <a:r>
              <a:rPr lang="en-US" sz="675" b="0" i="0" u="none" strike="noStrike" dirty="0">
                <a:solidFill>
                  <a:srgbClr val="FFFFFF"/>
                </a:solidFill>
                <a:latin typeface="微软雅黑"/>
                <a:ea typeface="微软雅黑"/>
                <a:cs typeface="微软雅黑"/>
                <a:sym typeface="微软雅黑"/>
              </a:rPr>
              <a:t>—</a:t>
            </a:r>
            <a:r>
              <a:rPr lang="en-US" sz="675" b="0" i="0" u="none" strike="noStrike" dirty="0" err="1">
                <a:solidFill>
                  <a:srgbClr val="FFFFFF"/>
                </a:solidFill>
                <a:latin typeface="微软雅黑"/>
                <a:ea typeface="微软雅黑"/>
                <a:cs typeface="微软雅黑"/>
                <a:sym typeface="微软雅黑"/>
              </a:rPr>
              <a:t>视觉</a:t>
            </a:r>
            <a:endParaRPr lang="en-US" sz="1100" dirty="0"/>
          </a:p>
        </p:txBody>
      </p:sp>
      <p:sp>
        <p:nvSpPr>
          <p:cNvPr id="21" name="AutoShape 21"/>
          <p:cNvSpPr/>
          <p:nvPr/>
        </p:nvSpPr>
        <p:spPr>
          <a:xfrm>
            <a:off x="38258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语义对齐</a:t>
            </a:r>
            <a:endParaRPr lang="en-US" sz="1100"/>
          </a:p>
        </p:txBody>
      </p:sp>
      <p:sp>
        <p:nvSpPr>
          <p:cNvPr id="22" name="Freeform 22"/>
          <p:cNvSpPr/>
          <p:nvPr/>
        </p:nvSpPr>
        <p:spPr>
          <a:xfrm>
            <a:off x="4664075" y="1329055"/>
            <a:ext cx="914400" cy="457200"/>
          </a:xfrm>
          <a:custGeom>
            <a:avLst/>
            <a:gdLst/>
            <a:ahLst/>
            <a:cxnLst/>
            <a:rect l="l" t="t" r="r" b="b"/>
            <a:pathLst>
              <a:path w="914400" h="457200">
                <a:moveTo>
                  <a:pt x="876300" y="0"/>
                </a:moveTo>
                <a:cubicBezTo>
                  <a:pt x="897343" y="0"/>
                  <a:pt x="914400" y="0"/>
                  <a:pt x="914400" y="0"/>
                </a:cubicBezTo>
                <a:lnTo>
                  <a:pt x="914400" y="457200"/>
                </a:lnTo>
                <a:cubicBezTo>
                  <a:pt x="914400" y="457200"/>
                  <a:pt x="897343" y="457200"/>
                  <a:pt x="876300" y="457200"/>
                </a:cubicBezTo>
                <a:lnTo>
                  <a:pt x="38100" y="457200"/>
                </a:lnTo>
                <a:cubicBezTo>
                  <a:pt x="17057" y="457200"/>
                  <a:pt x="0" y="457200"/>
                  <a:pt x="0" y="457200"/>
                </a:cubicBezTo>
                <a:lnTo>
                  <a:pt x="0" y="0"/>
                </a:lnTo>
                <a:cubicBezTo>
                  <a:pt x="0" y="0"/>
                  <a:pt x="17057" y="0"/>
                  <a:pt x="38100" y="0"/>
                </a:cubicBezTo>
                <a:close/>
              </a:path>
            </a:pathLst>
          </a:custGeom>
          <a:solidFill>
            <a:srgbClr val="27AE60">
              <a:alpha val="100000"/>
            </a:srgbClr>
          </a:solidFill>
          <a:ln w="12700" cap="flat" cmpd="sng">
            <a:solidFill>
              <a:srgbClr val="229954">
                <a:alpha val="100000"/>
              </a:srgbClr>
            </a:solidFill>
            <a:prstDash val="solid"/>
            <a:miter lim="1000000"/>
          </a:ln>
        </p:spPr>
        <p:txBody>
          <a:bodyPr vert="horz" wrap="square" lIns="91440" tIns="45720" rIns="91440" bIns="45720" rtlCol="0" anchor="ctr" anchorCtr="0"/>
          <a:lstStyle/>
          <a:p>
            <a:pPr algn="l">
              <a:defRPr/>
            </a:pPr>
            <a:endParaRPr/>
          </a:p>
        </p:txBody>
      </p:sp>
      <p:sp>
        <p:nvSpPr>
          <p:cNvPr id="23" name="AutoShape 23"/>
          <p:cNvSpPr/>
          <p:nvPr/>
        </p:nvSpPr>
        <p:spPr>
          <a:xfrm>
            <a:off x="4728845" y="1342390"/>
            <a:ext cx="462280" cy="18478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dirty="0" err="1">
                <a:solidFill>
                  <a:srgbClr val="FFFFFF"/>
                </a:solidFill>
                <a:latin typeface="微软雅黑"/>
                <a:ea typeface="微软雅黑"/>
                <a:cs typeface="微软雅黑"/>
                <a:sym typeface="微软雅黑"/>
              </a:rPr>
              <a:t>批量生成</a:t>
            </a:r>
            <a:endParaRPr lang="en-US" sz="1100" dirty="0"/>
          </a:p>
        </p:txBody>
      </p:sp>
      <p:sp>
        <p:nvSpPr>
          <p:cNvPr id="24" name="AutoShape 24"/>
          <p:cNvSpPr/>
          <p:nvPr/>
        </p:nvSpPr>
        <p:spPr>
          <a:xfrm>
            <a:off x="4789805" y="1477645"/>
            <a:ext cx="662940" cy="182245"/>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675" b="0" i="0" u="none" strike="noStrike" dirty="0">
                <a:solidFill>
                  <a:srgbClr val="FFFFFF"/>
                </a:solidFill>
                <a:latin typeface="微软雅黑"/>
                <a:ea typeface="微软雅黑"/>
                <a:cs typeface="微软雅黑"/>
                <a:sym typeface="微软雅黑"/>
              </a:rPr>
              <a:t>V1 </a:t>
            </a:r>
            <a:r>
              <a:rPr lang="en-US" sz="675" b="0" i="0" u="none" strike="noStrike" dirty="0" err="1">
                <a:solidFill>
                  <a:srgbClr val="FFFFFF"/>
                </a:solidFill>
                <a:latin typeface="微软雅黑"/>
                <a:ea typeface="微软雅黑"/>
                <a:cs typeface="微软雅黑"/>
                <a:sym typeface="微软雅黑"/>
              </a:rPr>
              <a:t>基准</a:t>
            </a:r>
            <a:r>
              <a:rPr lang="en-US" altLang="ja-JP" sz="800" dirty="0" err="1">
                <a:solidFill>
                  <a:srgbClr val="FFFFFF"/>
                </a:solidFill>
                <a:latin typeface="微软雅黑"/>
                <a:ea typeface="微软雅黑"/>
                <a:cs typeface="微软雅黑"/>
                <a:sym typeface="微软雅黑"/>
              </a:rPr>
              <a:t>伪标签</a:t>
            </a:r>
            <a:endParaRPr lang="en-US" altLang="ja-JP" sz="1800" dirty="0"/>
          </a:p>
        </p:txBody>
      </p:sp>
      <p:sp>
        <p:nvSpPr>
          <p:cNvPr id="25" name="AutoShape 25"/>
          <p:cNvSpPr/>
          <p:nvPr/>
        </p:nvSpPr>
        <p:spPr>
          <a:xfrm>
            <a:off x="4892675" y="1576705"/>
            <a:ext cx="457200"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endParaRPr lang="en-US" sz="1100" dirty="0"/>
          </a:p>
        </p:txBody>
      </p:sp>
      <p:sp>
        <p:nvSpPr>
          <p:cNvPr id="26" name="Freeform 26"/>
          <p:cNvSpPr/>
          <p:nvPr/>
        </p:nvSpPr>
        <p:spPr>
          <a:xfrm>
            <a:off x="3597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27" name="AutoShape 27"/>
          <p:cNvSpPr/>
          <p:nvPr/>
        </p:nvSpPr>
        <p:spPr>
          <a:xfrm>
            <a:off x="3810635" y="1910715"/>
            <a:ext cx="15544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00" b="0" i="0" u="none" strike="noStrike" dirty="0" err="1">
                <a:solidFill>
                  <a:srgbClr val="FFFFFF"/>
                </a:solidFill>
                <a:latin typeface="微软雅黑"/>
                <a:ea typeface="微软雅黑"/>
                <a:cs typeface="微软雅黑"/>
                <a:sym typeface="微软雅黑"/>
              </a:rPr>
              <a:t>标签质量分析：漏检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误检</a:t>
            </a:r>
            <a:r>
              <a:rPr lang="en-US" sz="800" b="0" i="0" u="none" strike="noStrike" dirty="0">
                <a:solidFill>
                  <a:srgbClr val="FFFFFF"/>
                </a:solidFill>
                <a:latin typeface="微软雅黑"/>
                <a:ea typeface="微软雅黑"/>
                <a:cs typeface="微软雅黑"/>
                <a:sym typeface="微软雅黑"/>
              </a:rPr>
              <a:t>/</a:t>
            </a:r>
            <a:r>
              <a:rPr lang="en-US" sz="800" b="0" i="0" u="none" strike="noStrike" dirty="0" err="1">
                <a:solidFill>
                  <a:srgbClr val="FFFFFF"/>
                </a:solidFill>
                <a:latin typeface="微软雅黑"/>
                <a:ea typeface="微软雅黑"/>
                <a:cs typeface="微软雅黑"/>
                <a:sym typeface="微软雅黑"/>
              </a:rPr>
              <a:t>框偏差</a:t>
            </a:r>
            <a:endParaRPr lang="en-US" sz="1050" dirty="0"/>
          </a:p>
        </p:txBody>
      </p:sp>
      <p:sp>
        <p:nvSpPr>
          <p:cNvPr id="28" name="AutoShape 28"/>
          <p:cNvSpPr/>
          <p:nvPr/>
        </p:nvSpPr>
        <p:spPr>
          <a:xfrm>
            <a:off x="3822700" y="2040890"/>
            <a:ext cx="153098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V1 直接用于 YOLO 下游基线</a:t>
            </a:r>
            <a:endParaRPr lang="en-US" sz="1100"/>
          </a:p>
        </p:txBody>
      </p:sp>
      <p:sp>
        <p:nvSpPr>
          <p:cNvPr id="29" name="Freeform 29"/>
          <p:cNvSpPr/>
          <p:nvPr/>
        </p:nvSpPr>
        <p:spPr>
          <a:xfrm>
            <a:off x="3597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30" name="AutoShape 30"/>
          <p:cNvSpPr/>
          <p:nvPr/>
        </p:nvSpPr>
        <p:spPr>
          <a:xfrm>
            <a:off x="4313555" y="24060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FFFFFF"/>
                </a:solidFill>
                <a:latin typeface="微软雅黑"/>
                <a:ea typeface="微软雅黑"/>
                <a:cs typeface="微软雅黑"/>
                <a:sym typeface="微软雅黑"/>
              </a:rPr>
              <a:t>开发准入门槛</a:t>
            </a:r>
            <a:endParaRPr lang="en-US" sz="1100"/>
          </a:p>
        </p:txBody>
      </p:sp>
      <p:sp>
        <p:nvSpPr>
          <p:cNvPr id="31" name="AutoShape 31"/>
          <p:cNvSpPr/>
          <p:nvPr/>
        </p:nvSpPr>
        <p:spPr>
          <a:xfrm>
            <a:off x="3957955" y="2536190"/>
            <a:ext cx="1260475"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静态指标 + 下游 mAP 双重判断</a:t>
            </a:r>
            <a:endParaRPr lang="en-US" sz="1100"/>
          </a:p>
        </p:txBody>
      </p:sp>
      <p:sp>
        <p:nvSpPr>
          <p:cNvPr id="32" name="AutoShape 32"/>
          <p:cNvSpPr/>
          <p:nvPr/>
        </p:nvSpPr>
        <p:spPr>
          <a:xfrm>
            <a:off x="4153535" y="2650490"/>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判断 V1 是否具备使用价值</a:t>
            </a:r>
            <a:endParaRPr lang="en-US" sz="1100"/>
          </a:p>
        </p:txBody>
      </p:sp>
      <p:sp>
        <p:nvSpPr>
          <p:cNvPr id="33" name="Freeform 33"/>
          <p:cNvSpPr/>
          <p:nvPr/>
        </p:nvSpPr>
        <p:spPr>
          <a:xfrm>
            <a:off x="5731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34" name="Freeform 34"/>
          <p:cNvSpPr/>
          <p:nvPr/>
        </p:nvSpPr>
        <p:spPr>
          <a:xfrm>
            <a:off x="6111875" y="719455"/>
            <a:ext cx="2286000" cy="2286000"/>
          </a:xfrm>
          <a:custGeom>
            <a:avLst/>
            <a:gdLst/>
            <a:ahLst/>
            <a:cxnLst/>
            <a:rect l="l" t="t" r="r" b="b"/>
            <a:pathLst>
              <a:path w="2286000" h="2286000">
                <a:moveTo>
                  <a:pt x="2209800" y="0"/>
                </a:moveTo>
                <a:cubicBezTo>
                  <a:pt x="2251884" y="0"/>
                  <a:pt x="2286000" y="0"/>
                  <a:pt x="2286000" y="0"/>
                </a:cubicBezTo>
                <a:lnTo>
                  <a:pt x="2286000" y="2286000"/>
                </a:lnTo>
                <a:cubicBezTo>
                  <a:pt x="2286000" y="2286000"/>
                  <a:pt x="2251884" y="2286000"/>
                  <a:pt x="2209800" y="2286000"/>
                </a:cubicBezTo>
                <a:lnTo>
                  <a:pt x="76200" y="2286000"/>
                </a:lnTo>
                <a:cubicBezTo>
                  <a:pt x="34116" y="2286000"/>
                  <a:pt x="0" y="2286000"/>
                  <a:pt x="0" y="2286000"/>
                </a:cubicBezTo>
                <a:lnTo>
                  <a:pt x="0" y="0"/>
                </a:lnTo>
                <a:cubicBezTo>
                  <a:pt x="0" y="0"/>
                  <a:pt x="34116" y="0"/>
                  <a:pt x="76200" y="0"/>
                </a:cubicBezTo>
                <a:close/>
              </a:path>
            </a:pathLst>
          </a:custGeom>
          <a:solidFill>
            <a:srgbClr val="FEF5E7">
              <a:alpha val="100000"/>
            </a:srgbClr>
          </a:solidFill>
          <a:ln w="12700" cap="flat" cmpd="sng">
            <a:solidFill>
              <a:srgbClr val="F39C12">
                <a:alpha val="100000"/>
              </a:srgbClr>
            </a:solidFill>
            <a:prstDash val="solid"/>
            <a:miter lim="1000000"/>
          </a:ln>
        </p:spPr>
        <p:txBody>
          <a:bodyPr vert="horz" wrap="square" lIns="91440" tIns="45720" rIns="91440" bIns="45720" rtlCol="0" anchor="ctr" anchorCtr="0"/>
          <a:lstStyle/>
          <a:p>
            <a:pPr algn="l">
              <a:defRPr/>
            </a:pPr>
            <a:endParaRPr/>
          </a:p>
        </p:txBody>
      </p:sp>
      <p:sp>
        <p:nvSpPr>
          <p:cNvPr id="35" name="AutoShape 35"/>
          <p:cNvSpPr/>
          <p:nvPr/>
        </p:nvSpPr>
        <p:spPr>
          <a:xfrm>
            <a:off x="6340475" y="73505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a:solidFill>
                  <a:srgbClr val="2C3E50"/>
                </a:solidFill>
                <a:latin typeface="微软雅黑"/>
                <a:ea typeface="微软雅黑"/>
                <a:cs typeface="微软雅黑"/>
                <a:sym typeface="微软雅黑"/>
              </a:rPr>
              <a:t>阶段三：SAM3 </a:t>
            </a:r>
            <a:r>
              <a:rPr lang="en-US" sz="1200" b="1" i="0" u="none" strike="noStrike" dirty="0" err="1">
                <a:solidFill>
                  <a:srgbClr val="2C3E50"/>
                </a:solidFill>
                <a:latin typeface="微软雅黑"/>
                <a:ea typeface="微软雅黑"/>
                <a:cs typeface="微软雅黑"/>
                <a:sym typeface="微软雅黑"/>
              </a:rPr>
              <a:t>后置处理</a:t>
            </a:r>
            <a:endParaRPr lang="en-US" sz="1100" dirty="0"/>
          </a:p>
        </p:txBody>
      </p:sp>
      <p:sp>
        <p:nvSpPr>
          <p:cNvPr id="36" name="Freeform 36"/>
          <p:cNvSpPr/>
          <p:nvPr/>
        </p:nvSpPr>
        <p:spPr>
          <a:xfrm>
            <a:off x="6264275" y="10242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95A5A6">
              <a:alpha val="100000"/>
            </a:srgbClr>
          </a:solidFill>
          <a:ln w="12700" cap="flat" cmpd="sng">
            <a:solidFill>
              <a:srgbClr val="7F8C8D">
                <a:alpha val="100000"/>
              </a:srgbClr>
            </a:solidFill>
            <a:prstDash val="solid"/>
            <a:miter lim="1000000"/>
          </a:ln>
        </p:spPr>
        <p:txBody>
          <a:bodyPr vert="horz" wrap="square" lIns="91440" tIns="45720" rIns="91440" bIns="45720" rtlCol="0" anchor="ctr" anchorCtr="0"/>
          <a:lstStyle/>
          <a:p>
            <a:pPr algn="l">
              <a:defRPr/>
            </a:pPr>
            <a:endParaRPr/>
          </a:p>
        </p:txBody>
      </p:sp>
      <p:sp>
        <p:nvSpPr>
          <p:cNvPr id="37" name="AutoShape 37"/>
          <p:cNvSpPr/>
          <p:nvPr/>
        </p:nvSpPr>
        <p:spPr>
          <a:xfrm>
            <a:off x="6305550" y="1024255"/>
            <a:ext cx="1671955" cy="18224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后置节点权限拆分：不默认覆盖</a:t>
            </a:r>
            <a:r>
              <a:rPr lang="en-US" sz="900" b="0" i="0" u="none" strike="noStrike" dirty="0">
                <a:solidFill>
                  <a:srgbClr val="FFFFFF"/>
                </a:solidFill>
                <a:latin typeface="微软雅黑"/>
                <a:ea typeface="微软雅黑"/>
                <a:cs typeface="微软雅黑"/>
                <a:sym typeface="微软雅黑"/>
              </a:rPr>
              <a:t> V1</a:t>
            </a:r>
            <a:endParaRPr lang="en-US" sz="1100" dirty="0"/>
          </a:p>
        </p:txBody>
      </p:sp>
      <p:sp>
        <p:nvSpPr>
          <p:cNvPr id="38" name="AutoShape 38"/>
          <p:cNvSpPr/>
          <p:nvPr/>
        </p:nvSpPr>
        <p:spPr>
          <a:xfrm>
            <a:off x="6462395" y="1168400"/>
            <a:ext cx="1173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Verifier / Append / Refiner 三类角色</a:t>
            </a:r>
            <a:endParaRPr lang="en-US" sz="1100"/>
          </a:p>
        </p:txBody>
      </p:sp>
      <p:sp>
        <p:nvSpPr>
          <p:cNvPr id="39" name="Freeform 39"/>
          <p:cNvSpPr/>
          <p:nvPr/>
        </p:nvSpPr>
        <p:spPr>
          <a:xfrm>
            <a:off x="62642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0" name="AutoShape 40"/>
          <p:cNvSpPr/>
          <p:nvPr/>
        </p:nvSpPr>
        <p:spPr>
          <a:xfrm>
            <a:off x="6287135" y="1431289"/>
            <a:ext cx="558800" cy="39306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Verifier</a:t>
            </a:r>
            <a:endParaRPr lang="en-US" sz="750" dirty="0">
              <a:solidFill>
                <a:srgbClr val="FFFFFF"/>
              </a:solidFill>
              <a:latin typeface="微软雅黑"/>
              <a:ea typeface="微软雅黑"/>
              <a:cs typeface="微软雅黑"/>
              <a:sym typeface="微软雅黑"/>
            </a:endParaRP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审核候选</a:t>
            </a:r>
            <a:endParaRPr lang="en-US" sz="750" dirty="0"/>
          </a:p>
        </p:txBody>
      </p:sp>
      <p:sp>
        <p:nvSpPr>
          <p:cNvPr id="41" name="AutoShape 41"/>
          <p:cNvSpPr/>
          <p:nvPr/>
        </p:nvSpPr>
        <p:spPr>
          <a:xfrm>
            <a:off x="63061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2" name="AutoShape 42"/>
          <p:cNvSpPr/>
          <p:nvPr/>
        </p:nvSpPr>
        <p:spPr>
          <a:xfrm>
            <a:off x="63404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3" name="Freeform 43"/>
          <p:cNvSpPr/>
          <p:nvPr/>
        </p:nvSpPr>
        <p:spPr>
          <a:xfrm>
            <a:off x="69500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4" name="AutoShape 44"/>
          <p:cNvSpPr/>
          <p:nvPr/>
        </p:nvSpPr>
        <p:spPr>
          <a:xfrm>
            <a:off x="7011035" y="1431290"/>
            <a:ext cx="487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FFFFFF"/>
                </a:solidFill>
                <a:latin typeface="微软雅黑"/>
                <a:ea typeface="微软雅黑"/>
                <a:cs typeface="微软雅黑"/>
                <a:sym typeface="微软雅黑"/>
              </a:rPr>
              <a:t>Append</a:t>
            </a:r>
          </a:p>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补漏</a:t>
            </a:r>
            <a:endParaRPr lang="en-US" sz="1100" dirty="0"/>
          </a:p>
        </p:txBody>
      </p:sp>
      <p:sp>
        <p:nvSpPr>
          <p:cNvPr id="45" name="AutoShape 45"/>
          <p:cNvSpPr/>
          <p:nvPr/>
        </p:nvSpPr>
        <p:spPr>
          <a:xfrm>
            <a:off x="7026275" y="155384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6" name="AutoShape 46"/>
          <p:cNvSpPr/>
          <p:nvPr/>
        </p:nvSpPr>
        <p:spPr>
          <a:xfrm>
            <a:off x="70262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47" name="Freeform 47"/>
          <p:cNvSpPr/>
          <p:nvPr/>
        </p:nvSpPr>
        <p:spPr>
          <a:xfrm>
            <a:off x="7635875" y="1405255"/>
            <a:ext cx="609600" cy="457200"/>
          </a:xfrm>
          <a:custGeom>
            <a:avLst/>
            <a:gdLst/>
            <a:ahLst/>
            <a:cxnLst/>
            <a:rect l="l" t="t" r="r" b="b"/>
            <a:pathLst>
              <a:path w="609600" h="457200">
                <a:moveTo>
                  <a:pt x="571500" y="0"/>
                </a:moveTo>
                <a:cubicBezTo>
                  <a:pt x="592543" y="0"/>
                  <a:pt x="609600" y="0"/>
                  <a:pt x="609600" y="0"/>
                </a:cubicBezTo>
                <a:lnTo>
                  <a:pt x="609600" y="457200"/>
                </a:lnTo>
                <a:cubicBezTo>
                  <a:pt x="609600" y="457200"/>
                  <a:pt x="592543" y="457200"/>
                  <a:pt x="571500" y="457200"/>
                </a:cubicBezTo>
                <a:lnTo>
                  <a:pt x="38100" y="457200"/>
                </a:lnTo>
                <a:cubicBezTo>
                  <a:pt x="17057" y="457200"/>
                  <a:pt x="0" y="457200"/>
                  <a:pt x="0" y="457200"/>
                </a:cubicBezTo>
                <a:lnTo>
                  <a:pt x="0" y="0"/>
                </a:lnTo>
                <a:cubicBezTo>
                  <a:pt x="0" y="0"/>
                  <a:pt x="17057" y="0"/>
                  <a:pt x="38100" y="0"/>
                </a:cubicBezTo>
                <a:close/>
              </a:path>
            </a:pathLst>
          </a:custGeom>
          <a:solidFill>
            <a:srgbClr val="E67E22">
              <a:alpha val="100000"/>
            </a:srgbClr>
          </a:solidFill>
          <a:ln w="12700" cap="flat" cmpd="sng">
            <a:solidFill>
              <a:srgbClr val="D68910">
                <a:alpha val="100000"/>
              </a:srgbClr>
            </a:solidFill>
            <a:prstDash val="solid"/>
            <a:miter lim="1000000"/>
          </a:ln>
        </p:spPr>
        <p:txBody>
          <a:bodyPr vert="horz" wrap="square" lIns="91440" tIns="45720" rIns="91440" bIns="45720" rtlCol="0" anchor="ctr" anchorCtr="0"/>
          <a:lstStyle/>
          <a:p>
            <a:pPr algn="l">
              <a:defRPr/>
            </a:pPr>
            <a:endParaRPr/>
          </a:p>
        </p:txBody>
      </p:sp>
      <p:sp>
        <p:nvSpPr>
          <p:cNvPr id="48" name="AutoShape 48"/>
          <p:cNvSpPr/>
          <p:nvPr/>
        </p:nvSpPr>
        <p:spPr>
          <a:xfrm>
            <a:off x="7696835" y="1431290"/>
            <a:ext cx="487680" cy="374650"/>
          </a:xfrm>
          <a:prstGeom prst="rect">
            <a:avLst/>
          </a:prstGeom>
          <a:noFill/>
          <a:ln w="12700" cap="flat" cmpd="sng">
            <a:noFill/>
            <a:prstDash val="solid"/>
            <a:round/>
          </a:ln>
        </p:spPr>
        <p:txBody>
          <a:bodyPr vert="horz" wrap="none" lIns="91440" tIns="45720" rIns="91440" bIns="45720" rtlCol="0" anchor="t">
            <a:noAutofit/>
          </a:bodyPr>
          <a:lstStyle/>
          <a:p>
            <a:pPr>
              <a:defRPr/>
            </a:pPr>
            <a:r>
              <a:rPr lang="en-US" sz="750" b="0" i="0" u="none" strike="noStrike" dirty="0">
                <a:solidFill>
                  <a:srgbClr val="FFFFFF"/>
                </a:solidFill>
                <a:latin typeface="微软雅黑"/>
                <a:ea typeface="微软雅黑"/>
                <a:cs typeface="微软雅黑"/>
                <a:sym typeface="微软雅黑"/>
              </a:rPr>
              <a:t>Refiner</a:t>
            </a:r>
            <a:endParaRPr lang="en-US" sz="750" dirty="0">
              <a:solidFill>
                <a:srgbClr val="FFFFFF"/>
              </a:solidFill>
              <a:latin typeface="微软雅黑"/>
              <a:ea typeface="微软雅黑"/>
              <a:cs typeface="微软雅黑"/>
              <a:sym typeface="微软雅黑"/>
            </a:endParaRPr>
          </a:p>
          <a:p>
            <a:pPr>
              <a:defRPr/>
            </a:pPr>
            <a:r>
              <a:rPr lang="zh-CN" altLang="en-US" sz="750" dirty="0">
                <a:solidFill>
                  <a:schemeClr val="bg1"/>
                </a:solidFill>
                <a:latin typeface="Microsoft YaHei" panose="020B0503020204020204" pitchFamily="34" charset="-122"/>
                <a:ea typeface="Microsoft YaHei" panose="020B0503020204020204" pitchFamily="34" charset="-122"/>
              </a:rPr>
              <a:t>修改边界</a:t>
            </a:r>
            <a:endParaRPr lang="en-US" sz="750" dirty="0">
              <a:solidFill>
                <a:schemeClr val="bg1"/>
              </a:solidFill>
              <a:latin typeface="Microsoft YaHei" panose="020B0503020204020204" pitchFamily="34" charset="-122"/>
              <a:ea typeface="Microsoft YaHei" panose="020B0503020204020204" pitchFamily="34" charset="-122"/>
            </a:endParaRPr>
          </a:p>
        </p:txBody>
      </p:sp>
      <p:sp>
        <p:nvSpPr>
          <p:cNvPr id="49" name="AutoShape 49"/>
          <p:cNvSpPr/>
          <p:nvPr/>
        </p:nvSpPr>
        <p:spPr>
          <a:xfrm>
            <a:off x="7677785" y="1553845"/>
            <a:ext cx="52578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0" name="AutoShape 50"/>
          <p:cNvSpPr/>
          <p:nvPr/>
        </p:nvSpPr>
        <p:spPr>
          <a:xfrm>
            <a:off x="7712075" y="1652905"/>
            <a:ext cx="457200" cy="182245"/>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51" name="Freeform 51"/>
          <p:cNvSpPr/>
          <p:nvPr/>
        </p:nvSpPr>
        <p:spPr>
          <a:xfrm>
            <a:off x="6264275" y="1938655"/>
            <a:ext cx="1981200" cy="304800"/>
          </a:xfrm>
          <a:custGeom>
            <a:avLst/>
            <a:gdLst/>
            <a:ahLst/>
            <a:cxnLst/>
            <a:rect l="l" t="t" r="r" b="b"/>
            <a:pathLst>
              <a:path w="1981200" h="304800">
                <a:moveTo>
                  <a:pt x="1943100" y="0"/>
                </a:moveTo>
                <a:cubicBezTo>
                  <a:pt x="1964143" y="0"/>
                  <a:pt x="1981200" y="0"/>
                  <a:pt x="1981200" y="0"/>
                </a:cubicBezTo>
                <a:lnTo>
                  <a:pt x="1981200" y="304800"/>
                </a:lnTo>
                <a:cubicBezTo>
                  <a:pt x="1981200" y="304800"/>
                  <a:pt x="1964143" y="304800"/>
                  <a:pt x="1943100" y="304800"/>
                </a:cubicBezTo>
                <a:lnTo>
                  <a:pt x="38100" y="304800"/>
                </a:lnTo>
                <a:cubicBezTo>
                  <a:pt x="17057" y="304800"/>
                  <a:pt x="0" y="304800"/>
                  <a:pt x="0" y="304800"/>
                </a:cubicBezTo>
                <a:lnTo>
                  <a:pt x="0" y="0"/>
                </a:lnTo>
                <a:cubicBezTo>
                  <a:pt x="0" y="0"/>
                  <a:pt x="17057" y="0"/>
                  <a:pt x="38100" y="0"/>
                </a:cubicBezTo>
                <a:close/>
              </a:path>
            </a:pathLst>
          </a:custGeom>
          <a:solidFill>
            <a:srgbClr val="8E44AD">
              <a:alpha val="100000"/>
            </a:srgbClr>
          </a:solidFill>
          <a:ln w="12700" cap="flat" cmpd="sng">
            <a:solidFill>
              <a:srgbClr val="7D3C98">
                <a:alpha val="100000"/>
              </a:srgbClr>
            </a:solidFill>
            <a:prstDash val="solid"/>
            <a:miter lim="1000000"/>
          </a:ln>
        </p:spPr>
        <p:txBody>
          <a:bodyPr vert="horz" wrap="square" lIns="91440" tIns="45720" rIns="91440" bIns="45720" rtlCol="0" anchor="ctr" anchorCtr="0"/>
          <a:lstStyle/>
          <a:p>
            <a:pPr algn="l">
              <a:defRPr/>
            </a:pPr>
            <a:endParaRPr/>
          </a:p>
        </p:txBody>
      </p:sp>
      <p:sp>
        <p:nvSpPr>
          <p:cNvPr id="52" name="AutoShape 52"/>
          <p:cNvSpPr/>
          <p:nvPr/>
        </p:nvSpPr>
        <p:spPr>
          <a:xfrm>
            <a:off x="6845935" y="1910715"/>
            <a:ext cx="8178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Stage-Gate：</a:t>
            </a:r>
            <a:r>
              <a:rPr lang="en-US" sz="500" b="0" i="0" u="none" strike="noStrike" dirty="0" err="1">
                <a:solidFill>
                  <a:srgbClr val="FFFFFF"/>
                </a:solidFill>
                <a:latin typeface="微软雅黑"/>
                <a:ea typeface="微软雅黑"/>
                <a:cs typeface="微软雅黑"/>
                <a:sym typeface="微软雅黑"/>
              </a:rPr>
              <a:t>Go</a:t>
            </a:r>
            <a:r>
              <a:rPr lang="en-US" sz="500" b="0" i="0" u="none" strike="noStrike" dirty="0">
                <a:solidFill>
                  <a:srgbClr val="FFFFFF"/>
                </a:solidFill>
                <a:latin typeface="微软雅黑"/>
                <a:ea typeface="微软雅黑"/>
                <a:cs typeface="微软雅黑"/>
                <a:sym typeface="微软雅黑"/>
              </a:rPr>
              <a:t> / Hold / Stop</a:t>
            </a:r>
            <a:endParaRPr lang="en-US" sz="1100" dirty="0"/>
          </a:p>
        </p:txBody>
      </p:sp>
      <p:sp>
        <p:nvSpPr>
          <p:cNvPr id="53" name="AutoShape 53"/>
          <p:cNvSpPr/>
          <p:nvPr/>
        </p:nvSpPr>
        <p:spPr>
          <a:xfrm>
            <a:off x="6401435" y="2040890"/>
            <a:ext cx="1706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多随机种子稳定性复验</a:t>
            </a:r>
            <a:endParaRPr lang="en-US" sz="1100" dirty="0"/>
          </a:p>
        </p:txBody>
      </p:sp>
      <p:sp>
        <p:nvSpPr>
          <p:cNvPr id="54" name="Freeform 54"/>
          <p:cNvSpPr/>
          <p:nvPr/>
        </p:nvSpPr>
        <p:spPr>
          <a:xfrm>
            <a:off x="6264275" y="2395855"/>
            <a:ext cx="1981200" cy="457200"/>
          </a:xfrm>
          <a:custGeom>
            <a:avLst/>
            <a:gdLst/>
            <a:ahLst/>
            <a:cxnLst/>
            <a:rect l="l" t="t" r="r" b="b"/>
            <a:pathLst>
              <a:path w="1981200" h="457200">
                <a:moveTo>
                  <a:pt x="1943100" y="0"/>
                </a:moveTo>
                <a:cubicBezTo>
                  <a:pt x="1964143" y="0"/>
                  <a:pt x="1981200" y="0"/>
                  <a:pt x="1981200" y="0"/>
                </a:cubicBezTo>
                <a:lnTo>
                  <a:pt x="1981200" y="457200"/>
                </a:lnTo>
                <a:cubicBezTo>
                  <a:pt x="1981200" y="457200"/>
                  <a:pt x="1964143" y="457200"/>
                  <a:pt x="1943100" y="457200"/>
                </a:cubicBezTo>
                <a:lnTo>
                  <a:pt x="38100" y="457200"/>
                </a:lnTo>
                <a:cubicBezTo>
                  <a:pt x="17057" y="457200"/>
                  <a:pt x="0" y="457200"/>
                  <a:pt x="0" y="457200"/>
                </a:cubicBezTo>
                <a:lnTo>
                  <a:pt x="0" y="0"/>
                </a:lnTo>
                <a:cubicBezTo>
                  <a:pt x="0" y="0"/>
                  <a:pt x="17057" y="0"/>
                  <a:pt x="38100" y="0"/>
                </a:cubicBezTo>
                <a:close/>
              </a:path>
            </a:pathLst>
          </a:custGeom>
          <a:solidFill>
            <a:srgbClr val="2C3E50">
              <a:alpha val="100000"/>
            </a:srgbClr>
          </a:solidFill>
          <a:ln w="12700" cap="flat" cmpd="sng">
            <a:solidFill>
              <a:srgbClr val="34495E">
                <a:alpha val="100000"/>
              </a:srgbClr>
            </a:solidFill>
            <a:prstDash val="solid"/>
            <a:miter lim="1000000"/>
          </a:ln>
        </p:spPr>
        <p:txBody>
          <a:bodyPr vert="horz" wrap="square" lIns="91440" tIns="45720" rIns="91440" bIns="45720" rtlCol="0" anchor="ctr" anchorCtr="0"/>
          <a:lstStyle/>
          <a:p>
            <a:pPr algn="l">
              <a:defRPr/>
            </a:pPr>
            <a:endParaRPr/>
          </a:p>
        </p:txBody>
      </p:sp>
      <p:sp>
        <p:nvSpPr>
          <p:cNvPr id="55" name="AutoShape 55"/>
          <p:cNvSpPr/>
          <p:nvPr/>
        </p:nvSpPr>
        <p:spPr>
          <a:xfrm>
            <a:off x="6592887" y="237934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多规模</a:t>
            </a:r>
            <a:r>
              <a:rPr lang="en-US" sz="900" b="0" i="0" u="none" strike="noStrike" dirty="0">
                <a:solidFill>
                  <a:srgbClr val="FFFFFF"/>
                </a:solidFill>
                <a:latin typeface="微软雅黑"/>
                <a:ea typeface="微软雅黑"/>
                <a:cs typeface="微软雅黑"/>
                <a:sym typeface="微软雅黑"/>
              </a:rPr>
              <a:t> 1k/10k/100k </a:t>
            </a:r>
            <a:r>
              <a:rPr lang="en-US" sz="900" b="0" i="0" u="none" strike="noStrike" dirty="0" err="1">
                <a:solidFill>
                  <a:srgbClr val="FFFFFF"/>
                </a:solidFill>
                <a:latin typeface="微软雅黑"/>
                <a:ea typeface="微软雅黑"/>
                <a:cs typeface="微软雅黑"/>
                <a:sym typeface="微软雅黑"/>
              </a:rPr>
              <a:t>推演</a:t>
            </a:r>
            <a:endParaRPr lang="en-US" sz="1100" dirty="0"/>
          </a:p>
        </p:txBody>
      </p:sp>
      <p:sp>
        <p:nvSpPr>
          <p:cNvPr id="56" name="AutoShape 56"/>
          <p:cNvSpPr/>
          <p:nvPr/>
        </p:nvSpPr>
        <p:spPr>
          <a:xfrm>
            <a:off x="6591935" y="2536190"/>
            <a:ext cx="13258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检测效果 / 制备时间 / 人工投入</a:t>
            </a:r>
            <a:endParaRPr lang="en-US" sz="1100"/>
          </a:p>
        </p:txBody>
      </p:sp>
      <p:sp>
        <p:nvSpPr>
          <p:cNvPr id="57" name="AutoShape 57"/>
          <p:cNvSpPr/>
          <p:nvPr/>
        </p:nvSpPr>
        <p:spPr>
          <a:xfrm>
            <a:off x="6858635" y="2650490"/>
            <a:ext cx="7924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Pareto 非支配比较</a:t>
            </a:r>
            <a:endParaRPr lang="en-US" sz="1100"/>
          </a:p>
        </p:txBody>
      </p:sp>
      <p:sp>
        <p:nvSpPr>
          <p:cNvPr id="58" name="Freeform 58"/>
          <p:cNvSpPr/>
          <p:nvPr/>
        </p:nvSpPr>
        <p:spPr>
          <a:xfrm>
            <a:off x="8398055" y="1786391"/>
            <a:ext cx="228600" cy="152400"/>
          </a:xfrm>
          <a:custGeom>
            <a:avLst/>
            <a:gdLst/>
            <a:ahLst/>
            <a:cxnLst/>
            <a:rect l="l" t="t" r="r" b="b"/>
            <a:pathLst>
              <a:path w="228600" h="152400">
                <a:moveTo>
                  <a:pt x="0" y="76200"/>
                </a:moveTo>
                <a:lnTo>
                  <a:pt x="228600" y="76200"/>
                </a:lnTo>
                <a:lnTo>
                  <a:pt x="152400" y="152400"/>
                </a:lnTo>
                <a:lnTo>
                  <a:pt x="152400" y="0"/>
                </a:lnTo>
                <a:lnTo>
                  <a:pt x="228600" y="76200"/>
                </a:lnTo>
                <a:close/>
              </a:path>
            </a:pathLst>
          </a:custGeom>
          <a:solidFill>
            <a:srgbClr val="34495E">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59" name="Freeform 59"/>
          <p:cNvSpPr/>
          <p:nvPr/>
        </p:nvSpPr>
        <p:spPr>
          <a:xfrm>
            <a:off x="8778875" y="719455"/>
            <a:ext cx="1905000" cy="2286000"/>
          </a:xfrm>
          <a:custGeom>
            <a:avLst/>
            <a:gdLst/>
            <a:ahLst/>
            <a:cxnLst/>
            <a:rect l="l" t="t" r="r" b="b"/>
            <a:pathLst>
              <a:path w="1905000" h="2286000">
                <a:moveTo>
                  <a:pt x="1828800" y="0"/>
                </a:moveTo>
                <a:cubicBezTo>
                  <a:pt x="1870884" y="0"/>
                  <a:pt x="1905000" y="0"/>
                  <a:pt x="1905000" y="0"/>
                </a:cubicBezTo>
                <a:lnTo>
                  <a:pt x="1905000" y="2286000"/>
                </a:lnTo>
                <a:cubicBezTo>
                  <a:pt x="1905000" y="2286000"/>
                  <a:pt x="1870884" y="2286000"/>
                  <a:pt x="1828800" y="2286000"/>
                </a:cubicBezTo>
                <a:lnTo>
                  <a:pt x="76200" y="2286000"/>
                </a:lnTo>
                <a:cubicBezTo>
                  <a:pt x="34116" y="2286000"/>
                  <a:pt x="0" y="2286000"/>
                  <a:pt x="0" y="2286000"/>
                </a:cubicBezTo>
                <a:lnTo>
                  <a:pt x="0" y="0"/>
                </a:lnTo>
                <a:cubicBezTo>
                  <a:pt x="0" y="0"/>
                  <a:pt x="34116" y="0"/>
                  <a:pt x="76200" y="0"/>
                </a:cubicBezTo>
                <a:close/>
              </a:path>
            </a:pathLst>
          </a:custGeom>
          <a:solidFill>
            <a:srgbClr val="ECF0F1">
              <a:alpha val="100000"/>
            </a:srgbClr>
          </a:solidFill>
          <a:ln w="12700" cap="flat" cmpd="sng">
            <a:solidFill>
              <a:srgbClr val="95A5A6">
                <a:alpha val="100000"/>
              </a:srgbClr>
            </a:solidFill>
            <a:prstDash val="solid"/>
            <a:miter lim="1000000"/>
          </a:ln>
        </p:spPr>
        <p:txBody>
          <a:bodyPr vert="horz" wrap="square" lIns="91440" tIns="45720" rIns="91440" bIns="45720" rtlCol="0" anchor="ctr" anchorCtr="0"/>
          <a:lstStyle/>
          <a:p>
            <a:pPr algn="l">
              <a:defRPr/>
            </a:pPr>
            <a:endParaRPr/>
          </a:p>
        </p:txBody>
      </p:sp>
      <p:sp>
        <p:nvSpPr>
          <p:cNvPr id="60" name="AutoShape 60"/>
          <p:cNvSpPr/>
          <p:nvPr/>
        </p:nvSpPr>
        <p:spPr>
          <a:xfrm>
            <a:off x="8778875" y="725170"/>
            <a:ext cx="1158240" cy="2520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1" i="0" u="none" strike="noStrike" dirty="0" err="1">
                <a:solidFill>
                  <a:srgbClr val="2C3E50"/>
                </a:solidFill>
                <a:latin typeface="微软雅黑"/>
                <a:ea typeface="微软雅黑"/>
                <a:cs typeface="微软雅黑"/>
                <a:sym typeface="微软雅黑"/>
              </a:rPr>
              <a:t>阶段四：流程选型与交付</a:t>
            </a:r>
            <a:endParaRPr lang="en-US" sz="1100" dirty="0"/>
          </a:p>
        </p:txBody>
      </p:sp>
      <p:sp>
        <p:nvSpPr>
          <p:cNvPr id="61" name="Freeform 61"/>
          <p:cNvSpPr/>
          <p:nvPr/>
        </p:nvSpPr>
        <p:spPr>
          <a:xfrm>
            <a:off x="8931275" y="10242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34495E">
              <a:alpha val="100000"/>
            </a:srgbClr>
          </a:solidFill>
          <a:ln w="12700" cap="flat" cmpd="sng">
            <a:solidFill>
              <a:srgbClr val="2C3E50">
                <a:alpha val="100000"/>
              </a:srgbClr>
            </a:solidFill>
            <a:prstDash val="solid"/>
            <a:miter lim="1000000"/>
          </a:ln>
        </p:spPr>
        <p:txBody>
          <a:bodyPr vert="horz" wrap="square" lIns="91440" tIns="45720" rIns="91440" bIns="45720" rtlCol="0" anchor="ctr" anchorCtr="0"/>
          <a:lstStyle/>
          <a:p>
            <a:pPr algn="l">
              <a:defRPr/>
            </a:pPr>
            <a:endParaRPr/>
          </a:p>
        </p:txBody>
      </p:sp>
      <p:sp>
        <p:nvSpPr>
          <p:cNvPr id="62" name="AutoShape 62"/>
          <p:cNvSpPr/>
          <p:nvPr/>
        </p:nvSpPr>
        <p:spPr>
          <a:xfrm>
            <a:off x="9034816" y="1034415"/>
            <a:ext cx="64008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选定推荐生产流程</a:t>
            </a:r>
            <a:endParaRPr lang="en-US" sz="1100" dirty="0"/>
          </a:p>
        </p:txBody>
      </p:sp>
      <p:sp>
        <p:nvSpPr>
          <p:cNvPr id="63" name="AutoShape 63"/>
          <p:cNvSpPr/>
          <p:nvPr/>
        </p:nvSpPr>
        <p:spPr>
          <a:xfrm>
            <a:off x="9297035" y="11645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a:solidFill>
                  <a:srgbClr val="FFFFFF"/>
                </a:solidFill>
                <a:latin typeface="微软雅黑"/>
                <a:ea typeface="微软雅黑"/>
                <a:cs typeface="微软雅黑"/>
                <a:sym typeface="微软雅黑"/>
              </a:rPr>
              <a:t>落实到具体工作安排</a:t>
            </a:r>
            <a:endParaRPr lang="en-US" sz="1100"/>
          </a:p>
        </p:txBody>
      </p:sp>
      <p:sp>
        <p:nvSpPr>
          <p:cNvPr id="64" name="Freeform 64"/>
          <p:cNvSpPr/>
          <p:nvPr/>
        </p:nvSpPr>
        <p:spPr>
          <a:xfrm>
            <a:off x="8931275" y="149923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E74C3C">
              <a:alpha val="100000"/>
            </a:srgbClr>
          </a:solidFill>
          <a:ln w="12700" cap="flat" cmpd="sng">
            <a:solidFill>
              <a:srgbClr val="C0392B">
                <a:alpha val="100000"/>
              </a:srgbClr>
            </a:solidFill>
            <a:prstDash val="solid"/>
            <a:miter lim="1000000"/>
          </a:ln>
        </p:spPr>
        <p:txBody>
          <a:bodyPr vert="horz" wrap="square" lIns="91440" tIns="45720" rIns="91440" bIns="45720" rtlCol="0" anchor="ctr" anchorCtr="0"/>
          <a:lstStyle/>
          <a:p>
            <a:pPr algn="l">
              <a:defRPr/>
            </a:pPr>
            <a:endParaRPr/>
          </a:p>
        </p:txBody>
      </p:sp>
      <p:sp>
        <p:nvSpPr>
          <p:cNvPr id="65" name="AutoShape 65"/>
          <p:cNvSpPr/>
          <p:nvPr/>
        </p:nvSpPr>
        <p:spPr>
          <a:xfrm>
            <a:off x="9035700" y="14916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全链路元数据可追溯</a:t>
            </a:r>
            <a:endParaRPr lang="en-US" sz="1100" dirty="0"/>
          </a:p>
        </p:txBody>
      </p:sp>
      <p:sp>
        <p:nvSpPr>
          <p:cNvPr id="66" name="AutoShape 66"/>
          <p:cNvSpPr/>
          <p:nvPr/>
        </p:nvSpPr>
        <p:spPr>
          <a:xfrm>
            <a:off x="9297035" y="1621790"/>
            <a:ext cx="8686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跟踪执行效果和异常</a:t>
            </a:r>
            <a:endParaRPr lang="en-US" sz="1100" dirty="0"/>
          </a:p>
        </p:txBody>
      </p:sp>
      <p:sp>
        <p:nvSpPr>
          <p:cNvPr id="67" name="Freeform 67"/>
          <p:cNvSpPr/>
          <p:nvPr/>
        </p:nvSpPr>
        <p:spPr>
          <a:xfrm>
            <a:off x="8931275" y="1938655"/>
            <a:ext cx="1600200" cy="381000"/>
          </a:xfrm>
          <a:custGeom>
            <a:avLst/>
            <a:gdLst/>
            <a:ahLst/>
            <a:cxnLst/>
            <a:rect l="l" t="t" r="r" b="b"/>
            <a:pathLst>
              <a:path w="1600200" h="381000">
                <a:moveTo>
                  <a:pt x="1562100" y="0"/>
                </a:moveTo>
                <a:cubicBezTo>
                  <a:pt x="1583143" y="0"/>
                  <a:pt x="1600200" y="0"/>
                  <a:pt x="1600200" y="0"/>
                </a:cubicBezTo>
                <a:lnTo>
                  <a:pt x="1600200" y="381000"/>
                </a:lnTo>
                <a:cubicBezTo>
                  <a:pt x="1600200" y="381000"/>
                  <a:pt x="1583143" y="381000"/>
                  <a:pt x="1562100" y="381000"/>
                </a:cubicBezTo>
                <a:lnTo>
                  <a:pt x="38100" y="381000"/>
                </a:lnTo>
                <a:cubicBezTo>
                  <a:pt x="17057" y="381000"/>
                  <a:pt x="0" y="381000"/>
                  <a:pt x="0" y="381000"/>
                </a:cubicBezTo>
                <a:lnTo>
                  <a:pt x="0" y="0"/>
                </a:lnTo>
                <a:cubicBezTo>
                  <a:pt x="0" y="0"/>
                  <a:pt x="17057" y="0"/>
                  <a:pt x="38100" y="0"/>
                </a:cubicBezTo>
                <a:close/>
              </a:path>
            </a:pathLst>
          </a:custGeom>
          <a:solidFill>
            <a:srgbClr val="F39C12">
              <a:alpha val="100000"/>
            </a:srgbClr>
          </a:solidFill>
          <a:ln w="12700" cap="flat" cmpd="sng">
            <a:solidFill>
              <a:srgbClr val="E67E22">
                <a:alpha val="100000"/>
              </a:srgbClr>
            </a:solidFill>
            <a:prstDash val="solid"/>
            <a:miter lim="1000000"/>
          </a:ln>
        </p:spPr>
        <p:txBody>
          <a:bodyPr vert="horz" wrap="square" lIns="91440" tIns="45720" rIns="91440" bIns="45720" rtlCol="0" anchor="ctr" anchorCtr="0"/>
          <a:lstStyle/>
          <a:p>
            <a:pPr algn="l">
              <a:defRPr/>
            </a:pPr>
            <a:endParaRPr/>
          </a:p>
        </p:txBody>
      </p:sp>
      <p:sp>
        <p:nvSpPr>
          <p:cNvPr id="68" name="AutoShape 68"/>
          <p:cNvSpPr/>
          <p:nvPr/>
        </p:nvSpPr>
        <p:spPr>
          <a:xfrm>
            <a:off x="9008815" y="19488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核心效用指标报告</a:t>
            </a:r>
            <a:endParaRPr lang="en-US" sz="1100" dirty="0"/>
          </a:p>
        </p:txBody>
      </p:sp>
      <p:sp>
        <p:nvSpPr>
          <p:cNvPr id="69" name="AutoShape 69"/>
          <p:cNvSpPr/>
          <p:nvPr/>
        </p:nvSpPr>
        <p:spPr>
          <a:xfrm>
            <a:off x="9274178" y="2078430"/>
            <a:ext cx="792480" cy="19177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统计各项指标表现</a:t>
            </a:r>
            <a:endParaRPr lang="en-US" sz="1100" dirty="0"/>
          </a:p>
        </p:txBody>
      </p:sp>
      <p:sp>
        <p:nvSpPr>
          <p:cNvPr id="70" name="Freeform 70"/>
          <p:cNvSpPr/>
          <p:nvPr/>
        </p:nvSpPr>
        <p:spPr>
          <a:xfrm>
            <a:off x="8931275" y="2395855"/>
            <a:ext cx="1600200" cy="457200"/>
          </a:xfrm>
          <a:custGeom>
            <a:avLst/>
            <a:gdLst/>
            <a:ahLst/>
            <a:cxnLst/>
            <a:rect l="l" t="t" r="r" b="b"/>
            <a:pathLst>
              <a:path w="1600200" h="457200">
                <a:moveTo>
                  <a:pt x="1562100" y="0"/>
                </a:moveTo>
                <a:cubicBezTo>
                  <a:pt x="1583143" y="0"/>
                  <a:pt x="1600200" y="0"/>
                  <a:pt x="1600200" y="0"/>
                </a:cubicBezTo>
                <a:lnTo>
                  <a:pt x="1600200" y="457200"/>
                </a:lnTo>
                <a:cubicBezTo>
                  <a:pt x="1600200" y="457200"/>
                  <a:pt x="1583143" y="457200"/>
                  <a:pt x="1562100" y="457200"/>
                </a:cubicBezTo>
                <a:lnTo>
                  <a:pt x="38100" y="457200"/>
                </a:lnTo>
                <a:cubicBezTo>
                  <a:pt x="17057" y="457200"/>
                  <a:pt x="0" y="457200"/>
                  <a:pt x="0" y="457200"/>
                </a:cubicBezTo>
                <a:lnTo>
                  <a:pt x="0" y="0"/>
                </a:lnTo>
                <a:cubicBezTo>
                  <a:pt x="0" y="0"/>
                  <a:pt x="17057" y="0"/>
                  <a:pt x="38100" y="0"/>
                </a:cubicBezTo>
                <a:close/>
              </a:path>
            </a:pathLst>
          </a:custGeom>
          <a:solidFill>
            <a:srgbClr val="17A2B8">
              <a:alpha val="100000"/>
            </a:srgbClr>
          </a:solidFill>
          <a:ln w="12700" cap="flat" cmpd="sng">
            <a:solidFill>
              <a:srgbClr val="138496">
                <a:alpha val="100000"/>
              </a:srgbClr>
            </a:solidFill>
            <a:prstDash val="solid"/>
            <a:miter lim="1000000"/>
          </a:ln>
        </p:spPr>
        <p:txBody>
          <a:bodyPr vert="horz" wrap="square" lIns="91440" tIns="45720" rIns="91440" bIns="45720" rtlCol="0" anchor="ctr" anchorCtr="0"/>
          <a:lstStyle/>
          <a:p>
            <a:pPr algn="l">
              <a:defRPr/>
            </a:pPr>
            <a:endParaRPr/>
          </a:p>
        </p:txBody>
      </p:sp>
      <p:sp>
        <p:nvSpPr>
          <p:cNvPr id="71" name="AutoShape 71"/>
          <p:cNvSpPr/>
          <p:nvPr/>
        </p:nvSpPr>
        <p:spPr>
          <a:xfrm>
            <a:off x="8999858" y="2444115"/>
            <a:ext cx="5486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原始数据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配置</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权重反查</a:t>
            </a:r>
            <a:endParaRPr lang="en-US" sz="1100" dirty="0"/>
          </a:p>
        </p:txBody>
      </p:sp>
      <p:sp>
        <p:nvSpPr>
          <p:cNvPr id="72" name="AutoShape 72"/>
          <p:cNvSpPr/>
          <p:nvPr/>
        </p:nvSpPr>
        <p:spPr>
          <a:xfrm>
            <a:off x="9220835" y="2574290"/>
            <a:ext cx="1021080" cy="19177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73" name="AutoShape 73"/>
          <p:cNvSpPr/>
          <p:nvPr/>
        </p:nvSpPr>
        <p:spPr>
          <a:xfrm>
            <a:off x="9354856" y="2599578"/>
            <a:ext cx="868680" cy="1917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FFFFFF"/>
                </a:solidFill>
                <a:latin typeface="微软雅黑"/>
                <a:ea typeface="微软雅黑"/>
                <a:cs typeface="微软雅黑"/>
                <a:sym typeface="微软雅黑"/>
              </a:rPr>
              <a:t>论文与复现材料</a:t>
            </a:r>
            <a:endParaRPr lang="en-US" sz="1100" dirty="0"/>
          </a:p>
        </p:txBody>
      </p:sp>
      <p:sp>
        <p:nvSpPr>
          <p:cNvPr id="74" name="Freeform 74"/>
          <p:cNvSpPr/>
          <p:nvPr/>
        </p:nvSpPr>
        <p:spPr>
          <a:xfrm>
            <a:off x="3825875" y="3005455"/>
            <a:ext cx="5905500" cy="533400"/>
          </a:xfrm>
          <a:custGeom>
            <a:avLst/>
            <a:gdLst/>
            <a:ahLst/>
            <a:cxnLst/>
            <a:rect l="l" t="t" r="r" b="b"/>
            <a:pathLst>
              <a:path w="5905500" h="533400">
                <a:moveTo>
                  <a:pt x="5905500" y="0"/>
                </a:moveTo>
                <a:cubicBezTo>
                  <a:pt x="5905500" y="355603"/>
                  <a:pt x="4953000" y="533400"/>
                  <a:pt x="3048000" y="533400"/>
                </a:cubicBezTo>
                <a:cubicBezTo>
                  <a:pt x="1015997" y="533400"/>
                  <a:pt x="0" y="406397"/>
                  <a:pt x="0" y="152400"/>
                </a:cubicBezTo>
              </a:path>
            </a:pathLst>
          </a:custGeom>
          <a:noFill/>
          <a:ln w="254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75" name="Freeform 75"/>
          <p:cNvSpPr/>
          <p:nvPr/>
        </p:nvSpPr>
        <p:spPr>
          <a:xfrm>
            <a:off x="3749675" y="3119755"/>
            <a:ext cx="152400" cy="76200"/>
          </a:xfrm>
          <a:custGeom>
            <a:avLst/>
            <a:gdLst/>
            <a:ahLst/>
            <a:cxnLst/>
            <a:rect l="l" t="t" r="r" b="b"/>
            <a:pathLst>
              <a:path w="152400" h="76200">
                <a:moveTo>
                  <a:pt x="76200" y="0"/>
                </a:moveTo>
                <a:lnTo>
                  <a:pt x="0" y="38100"/>
                </a:lnTo>
                <a:lnTo>
                  <a:pt x="76200" y="76200"/>
                </a:lnTo>
                <a:lnTo>
                  <a:pt x="152400" y="38100"/>
                </a:lnTo>
                <a:close/>
              </a:path>
            </a:pathLst>
          </a:custGeom>
          <a:solidFill>
            <a:srgbClr val="E74C3C">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76" name="AutoShape 76"/>
          <p:cNvSpPr/>
          <p:nvPr/>
        </p:nvSpPr>
        <p:spPr>
          <a:xfrm>
            <a:off x="6355715" y="3532505"/>
            <a:ext cx="103632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E74C3C"/>
                </a:solidFill>
                <a:latin typeface="微软雅黑"/>
                <a:ea typeface="微软雅黑"/>
                <a:cs typeface="微软雅黑"/>
                <a:sym typeface="微软雅黑"/>
              </a:rPr>
              <a:t>多规模选型 + 敏感性分析</a:t>
            </a:r>
            <a:endParaRPr lang="en-US" sz="1100"/>
          </a:p>
        </p:txBody>
      </p:sp>
      <p:sp>
        <p:nvSpPr>
          <p:cNvPr id="77" name="AutoShape 77"/>
          <p:cNvSpPr/>
          <p:nvPr/>
        </p:nvSpPr>
        <p:spPr>
          <a:xfrm>
            <a:off x="5913755" y="3701415"/>
            <a:ext cx="192024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E74C3C"/>
                </a:solidFill>
                <a:latin typeface="微软雅黑"/>
                <a:ea typeface="微软雅黑"/>
                <a:cs typeface="微软雅黑"/>
                <a:sym typeface="微软雅黑"/>
              </a:rPr>
              <a:t>为不同约束场景提供流程建议</a:t>
            </a:r>
            <a:endParaRPr lang="en-US" sz="1100"/>
          </a:p>
        </p:txBody>
      </p:sp>
      <p:sp>
        <p:nvSpPr>
          <p:cNvPr id="78" name="Freeform 78"/>
          <p:cNvSpPr/>
          <p:nvPr/>
        </p:nvSpPr>
        <p:spPr>
          <a:xfrm>
            <a:off x="1158875" y="4148455"/>
            <a:ext cx="9525000" cy="1143000"/>
          </a:xfrm>
          <a:custGeom>
            <a:avLst/>
            <a:gdLst/>
            <a:ahLst/>
            <a:cxnLst/>
            <a:rect l="l" t="t" r="r" b="b"/>
            <a:pathLst>
              <a:path w="9525000" h="1143000">
                <a:moveTo>
                  <a:pt x="9448800" y="0"/>
                </a:moveTo>
                <a:cubicBezTo>
                  <a:pt x="9490884" y="0"/>
                  <a:pt x="9525000" y="0"/>
                  <a:pt x="9525000" y="0"/>
                </a:cubicBezTo>
                <a:lnTo>
                  <a:pt x="9525000" y="1143000"/>
                </a:lnTo>
                <a:cubicBezTo>
                  <a:pt x="9525000" y="1143000"/>
                  <a:pt x="9490884" y="1143000"/>
                  <a:pt x="9448800" y="1143000"/>
                </a:cubicBezTo>
                <a:lnTo>
                  <a:pt x="76200" y="1143000"/>
                </a:lnTo>
                <a:cubicBezTo>
                  <a:pt x="34116" y="1143000"/>
                  <a:pt x="0" y="1143000"/>
                  <a:pt x="0" y="1143000"/>
                </a:cubicBezTo>
                <a:lnTo>
                  <a:pt x="0" y="0"/>
                </a:lnTo>
                <a:cubicBezTo>
                  <a:pt x="0" y="0"/>
                  <a:pt x="34116" y="0"/>
                  <a:pt x="76200" y="0"/>
                </a:cubicBezTo>
                <a:close/>
              </a:path>
            </a:pathLst>
          </a:custGeom>
          <a:solidFill>
            <a:srgbClr val="D1F2EB">
              <a:alpha val="100000"/>
            </a:srgbClr>
          </a:solidFill>
          <a:ln w="12700" cap="flat" cmpd="sng">
            <a:solidFill>
              <a:srgbClr val="52C41A">
                <a:alpha val="100000"/>
              </a:srgbClr>
            </a:solidFill>
            <a:prstDash val="solid"/>
            <a:miter lim="1000000"/>
          </a:ln>
        </p:spPr>
        <p:txBody>
          <a:bodyPr vert="horz" wrap="square" lIns="91440" tIns="45720" rIns="91440" bIns="45720" rtlCol="0" anchor="ctr" anchorCtr="0"/>
          <a:lstStyle/>
          <a:p>
            <a:pPr algn="l">
              <a:defRPr/>
            </a:pPr>
            <a:endParaRPr/>
          </a:p>
        </p:txBody>
      </p:sp>
      <p:sp>
        <p:nvSpPr>
          <p:cNvPr id="79" name="AutoShape 79"/>
          <p:cNvSpPr/>
          <p:nvPr/>
        </p:nvSpPr>
        <p:spPr>
          <a:xfrm>
            <a:off x="5349875" y="4148455"/>
            <a:ext cx="1387475" cy="29908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350" b="1" i="0" u="none" strike="noStrike">
                <a:solidFill>
                  <a:srgbClr val="2C3E50"/>
                </a:solidFill>
                <a:latin typeface="微软雅黑"/>
                <a:ea typeface="微软雅黑"/>
                <a:cs typeface="微软雅黑"/>
                <a:sym typeface="微软雅黑"/>
              </a:rPr>
              <a:t>研究带来的价值</a:t>
            </a:r>
            <a:endParaRPr lang="en-US" sz="1100"/>
          </a:p>
        </p:txBody>
      </p:sp>
      <p:sp>
        <p:nvSpPr>
          <p:cNvPr id="80" name="Freeform 80"/>
          <p:cNvSpPr/>
          <p:nvPr/>
        </p:nvSpPr>
        <p:spPr>
          <a:xfrm>
            <a:off x="153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1" name="AutoShape 81"/>
          <p:cNvSpPr/>
          <p:nvPr/>
        </p:nvSpPr>
        <p:spPr>
          <a:xfrm>
            <a:off x="1837055" y="4561205"/>
            <a:ext cx="92964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标签制备成本测算</a:t>
            </a:r>
            <a:endParaRPr lang="en-US" sz="1100"/>
          </a:p>
        </p:txBody>
      </p:sp>
      <p:sp>
        <p:nvSpPr>
          <p:cNvPr id="82" name="AutoShape 82"/>
          <p:cNvSpPr/>
          <p:nvPr/>
        </p:nvSpPr>
        <p:spPr>
          <a:xfrm>
            <a:off x="1517015" y="4806179"/>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a:solidFill>
                  <a:srgbClr val="FFFFFF"/>
                </a:solidFill>
                <a:latin typeface="微软雅黑"/>
                <a:ea typeface="微软雅黑"/>
                <a:cs typeface="微软雅黑"/>
                <a:sym typeface="微软雅黑"/>
              </a:rPr>
              <a:t>GPU </a:t>
            </a:r>
            <a:r>
              <a:rPr lang="en-US" sz="900" b="0" i="0" u="none" strike="noStrike" dirty="0" err="1">
                <a:solidFill>
                  <a:srgbClr val="FFFFFF"/>
                </a:solidFill>
                <a:latin typeface="微软雅黑"/>
                <a:ea typeface="微软雅黑"/>
                <a:cs typeface="微软雅黑"/>
                <a:sym typeface="微软雅黑"/>
              </a:rPr>
              <a:t>机时与人工工时待测算</a:t>
            </a:r>
            <a:endParaRPr lang="en-US" sz="1100" dirty="0"/>
          </a:p>
        </p:txBody>
      </p:sp>
      <p:sp>
        <p:nvSpPr>
          <p:cNvPr id="83" name="AutoShape 83"/>
          <p:cNvSpPr/>
          <p:nvPr/>
        </p:nvSpPr>
        <p:spPr>
          <a:xfrm>
            <a:off x="1890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4" name="AutoShape 84"/>
          <p:cNvSpPr/>
          <p:nvPr/>
        </p:nvSpPr>
        <p:spPr>
          <a:xfrm>
            <a:off x="193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5" name="Freeform 85"/>
          <p:cNvSpPr/>
          <p:nvPr/>
        </p:nvSpPr>
        <p:spPr>
          <a:xfrm>
            <a:off x="344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86" name="AutoShape 86"/>
          <p:cNvSpPr/>
          <p:nvPr/>
        </p:nvSpPr>
        <p:spPr>
          <a:xfrm>
            <a:off x="3795395" y="4561205"/>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标签质量诊断</a:t>
            </a:r>
            <a:endParaRPr lang="en-US" sz="1100"/>
          </a:p>
        </p:txBody>
      </p:sp>
      <p:sp>
        <p:nvSpPr>
          <p:cNvPr id="87" name="AutoShape 87"/>
          <p:cNvSpPr/>
          <p:nvPr/>
        </p:nvSpPr>
        <p:spPr>
          <a:xfrm>
            <a:off x="3399155" y="4758055"/>
            <a:ext cx="91440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验证漏检</a:t>
            </a:r>
            <a:r>
              <a:rPr lang="en-US" sz="900" b="0" i="0" u="none" strike="noStrike" dirty="0">
                <a:solidFill>
                  <a:srgbClr val="FFFFFF"/>
                </a:solidFill>
                <a:latin typeface="微软雅黑"/>
                <a:ea typeface="微软雅黑"/>
                <a:cs typeface="微软雅黑"/>
                <a:sym typeface="微软雅黑"/>
              </a:rPr>
              <a:t>/</a:t>
            </a:r>
            <a:r>
              <a:rPr lang="en-US" sz="900" b="0" i="0" u="none" strike="noStrike" dirty="0" err="1">
                <a:solidFill>
                  <a:srgbClr val="FFFFFF"/>
                </a:solidFill>
                <a:latin typeface="微软雅黑"/>
                <a:ea typeface="微软雅黑"/>
                <a:cs typeface="微软雅黑"/>
                <a:sym typeface="微软雅黑"/>
              </a:rPr>
              <a:t>误检能否下降</a:t>
            </a:r>
            <a:r>
              <a:rPr lang="en-US" sz="900" b="0" i="0" u="none" strike="noStrike" dirty="0">
                <a:solidFill>
                  <a:srgbClr val="FFFFFF"/>
                </a:solidFill>
                <a:latin typeface="微软雅黑"/>
                <a:ea typeface="微软雅黑"/>
                <a:cs typeface="微软雅黑"/>
                <a:sym typeface="微软雅黑"/>
              </a:rPr>
              <a:t>、</a:t>
            </a: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下游</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mAP</a:t>
            </a:r>
            <a:r>
              <a:rPr lang="en-US" sz="900" b="0" i="0" u="none" strike="noStrike" dirty="0">
                <a:solidFill>
                  <a:srgbClr val="FFFFFF"/>
                </a:solidFill>
                <a:latin typeface="微软雅黑"/>
                <a:ea typeface="微软雅黑"/>
                <a:cs typeface="微软雅黑"/>
                <a:sym typeface="微软雅黑"/>
              </a:rPr>
              <a:t> </a:t>
            </a:r>
            <a:r>
              <a:rPr lang="en-US" sz="900" b="0" i="0" u="none" strike="noStrike" dirty="0" err="1">
                <a:solidFill>
                  <a:srgbClr val="FFFFFF"/>
                </a:solidFill>
                <a:latin typeface="微软雅黑"/>
                <a:ea typeface="微软雅黑"/>
                <a:cs typeface="微软雅黑"/>
                <a:sym typeface="微软雅黑"/>
              </a:rPr>
              <a:t>能否提升</a:t>
            </a:r>
            <a:endParaRPr lang="en-US" sz="1100" dirty="0"/>
          </a:p>
        </p:txBody>
      </p:sp>
      <p:sp>
        <p:nvSpPr>
          <p:cNvPr id="88" name="AutoShape 88"/>
          <p:cNvSpPr/>
          <p:nvPr/>
        </p:nvSpPr>
        <p:spPr>
          <a:xfrm>
            <a:off x="3795395" y="48444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89" name="AutoShape 89"/>
          <p:cNvSpPr/>
          <p:nvPr/>
        </p:nvSpPr>
        <p:spPr>
          <a:xfrm>
            <a:off x="3886835" y="4958715"/>
            <a:ext cx="64008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0" name="Freeform 90"/>
          <p:cNvSpPr/>
          <p:nvPr/>
        </p:nvSpPr>
        <p:spPr>
          <a:xfrm>
            <a:off x="534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1" name="AutoShape 91"/>
          <p:cNvSpPr/>
          <p:nvPr/>
        </p:nvSpPr>
        <p:spPr>
          <a:xfrm>
            <a:off x="5647055" y="4561205"/>
            <a:ext cx="92964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人工负担可控</a:t>
            </a:r>
            <a:endParaRPr lang="en-US" sz="1100"/>
          </a:p>
        </p:txBody>
      </p:sp>
      <p:sp>
        <p:nvSpPr>
          <p:cNvPr id="92" name="AutoShape 92"/>
          <p:cNvSpPr/>
          <p:nvPr/>
        </p:nvSpPr>
        <p:spPr>
          <a:xfrm>
            <a:off x="5349875" y="4759960"/>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只做必要抽检与修正</a:t>
            </a:r>
            <a:endParaRPr lang="en-US" sz="1100" dirty="0"/>
          </a:p>
        </p:txBody>
      </p:sp>
      <p:sp>
        <p:nvSpPr>
          <p:cNvPr id="93" name="AutoShape 93"/>
          <p:cNvSpPr/>
          <p:nvPr/>
        </p:nvSpPr>
        <p:spPr>
          <a:xfrm>
            <a:off x="574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4" name="AutoShape 94"/>
          <p:cNvSpPr/>
          <p:nvPr/>
        </p:nvSpPr>
        <p:spPr>
          <a:xfrm>
            <a:off x="5700395" y="4958715"/>
            <a:ext cx="82296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5" name="Freeform 95"/>
          <p:cNvSpPr/>
          <p:nvPr/>
        </p:nvSpPr>
        <p:spPr>
          <a:xfrm>
            <a:off x="7254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96" name="AutoShape 96"/>
          <p:cNvSpPr/>
          <p:nvPr/>
        </p:nvSpPr>
        <p:spPr>
          <a:xfrm>
            <a:off x="7605395" y="4561205"/>
            <a:ext cx="822960" cy="23241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a:solidFill>
                  <a:srgbClr val="FFFFFF"/>
                </a:solidFill>
                <a:latin typeface="微软雅黑"/>
                <a:ea typeface="微软雅黑"/>
                <a:cs typeface="微软雅黑"/>
                <a:sym typeface="微软雅黑"/>
              </a:rPr>
              <a:t>流程可复现</a:t>
            </a:r>
            <a:endParaRPr lang="en-US" sz="1100"/>
          </a:p>
        </p:txBody>
      </p:sp>
      <p:sp>
        <p:nvSpPr>
          <p:cNvPr id="97" name="AutoShape 97"/>
          <p:cNvSpPr/>
          <p:nvPr/>
        </p:nvSpPr>
        <p:spPr>
          <a:xfrm>
            <a:off x="7224395" y="4725534"/>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可记录、可追溯、可反查</a:t>
            </a:r>
            <a:endParaRPr lang="en-US" sz="1100" dirty="0"/>
          </a:p>
        </p:txBody>
      </p:sp>
      <p:sp>
        <p:nvSpPr>
          <p:cNvPr id="98" name="AutoShape 98"/>
          <p:cNvSpPr/>
          <p:nvPr/>
        </p:nvSpPr>
        <p:spPr>
          <a:xfrm>
            <a:off x="7651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99" name="Freeform 99"/>
          <p:cNvSpPr/>
          <p:nvPr/>
        </p:nvSpPr>
        <p:spPr>
          <a:xfrm>
            <a:off x="9159875" y="4529455"/>
            <a:ext cx="1524000" cy="609600"/>
          </a:xfrm>
          <a:custGeom>
            <a:avLst/>
            <a:gdLst/>
            <a:ahLst/>
            <a:cxnLst/>
            <a:rect l="l" t="t" r="r" b="b"/>
            <a:pathLst>
              <a:path w="1524000" h="609600">
                <a:moveTo>
                  <a:pt x="1485900" y="0"/>
                </a:moveTo>
                <a:cubicBezTo>
                  <a:pt x="1506943" y="0"/>
                  <a:pt x="1524000" y="0"/>
                  <a:pt x="1524000" y="0"/>
                </a:cubicBezTo>
                <a:lnTo>
                  <a:pt x="1524000" y="609600"/>
                </a:lnTo>
                <a:cubicBezTo>
                  <a:pt x="1524000" y="609600"/>
                  <a:pt x="1506943" y="609600"/>
                  <a:pt x="1485900" y="609600"/>
                </a:cubicBezTo>
                <a:lnTo>
                  <a:pt x="38100" y="609600"/>
                </a:lnTo>
                <a:cubicBezTo>
                  <a:pt x="17057" y="609600"/>
                  <a:pt x="0" y="609600"/>
                  <a:pt x="0" y="609600"/>
                </a:cubicBezTo>
                <a:lnTo>
                  <a:pt x="0" y="0"/>
                </a:lnTo>
                <a:cubicBezTo>
                  <a:pt x="0" y="0"/>
                  <a:pt x="17057" y="0"/>
                  <a:pt x="38100" y="0"/>
                </a:cubicBezTo>
                <a:close/>
              </a:path>
            </a:pathLst>
          </a:custGeom>
          <a:solidFill>
            <a:srgbClr val="52C41A">
              <a:alpha val="100000"/>
            </a:srgbClr>
          </a:solidFill>
          <a:ln w="12700" cap="flat" cmpd="sng">
            <a:solidFill>
              <a:srgbClr val="389E0D">
                <a:alpha val="100000"/>
              </a:srgbClr>
            </a:solidFill>
            <a:prstDash val="solid"/>
            <a:miter lim="1000000"/>
          </a:ln>
        </p:spPr>
        <p:txBody>
          <a:bodyPr vert="horz" wrap="square" lIns="91440" tIns="45720" rIns="91440" bIns="45720" rtlCol="0" anchor="ctr" anchorCtr="0"/>
          <a:lstStyle/>
          <a:p>
            <a:pPr algn="l">
              <a:defRPr/>
            </a:pPr>
            <a:endParaRPr/>
          </a:p>
        </p:txBody>
      </p:sp>
      <p:sp>
        <p:nvSpPr>
          <p:cNvPr id="100" name="AutoShape 100"/>
          <p:cNvSpPr/>
          <p:nvPr/>
        </p:nvSpPr>
        <p:spPr>
          <a:xfrm>
            <a:off x="9190993" y="4547870"/>
            <a:ext cx="822960" cy="23241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1050" b="1" i="0" u="none" strike="noStrike" dirty="0" err="1">
                <a:solidFill>
                  <a:srgbClr val="FFFFFF"/>
                </a:solidFill>
                <a:latin typeface="微软雅黑"/>
                <a:ea typeface="微软雅黑"/>
                <a:cs typeface="微软雅黑"/>
                <a:sym typeface="微软雅黑"/>
              </a:rPr>
              <a:t>非刚性目标流程参考</a:t>
            </a:r>
            <a:endParaRPr lang="en-US" sz="1100" dirty="0"/>
          </a:p>
        </p:txBody>
      </p:sp>
      <p:sp>
        <p:nvSpPr>
          <p:cNvPr id="101" name="AutoShape 101"/>
          <p:cNvSpPr/>
          <p:nvPr/>
        </p:nvSpPr>
        <p:spPr>
          <a:xfrm>
            <a:off x="9130030" y="47301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为同类非刚性目标</a:t>
            </a:r>
            <a:endParaRPr lang="en-US" sz="900" b="0" i="0" u="none" strike="noStrike" dirty="0">
              <a:solidFill>
                <a:srgbClr val="FFFFFF"/>
              </a:solidFill>
              <a:latin typeface="微软雅黑"/>
              <a:ea typeface="微软雅黑"/>
              <a:cs typeface="微软雅黑"/>
              <a:sym typeface="微软雅黑"/>
            </a:endParaRPr>
          </a:p>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提供流程参考</a:t>
            </a:r>
            <a:endParaRPr lang="en-US" sz="1100" dirty="0"/>
          </a:p>
        </p:txBody>
      </p:sp>
      <p:sp>
        <p:nvSpPr>
          <p:cNvPr id="102" name="AutoShape 102"/>
          <p:cNvSpPr/>
          <p:nvPr/>
        </p:nvSpPr>
        <p:spPr>
          <a:xfrm>
            <a:off x="9556115" y="48444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3" name="AutoShape 103"/>
          <p:cNvSpPr/>
          <p:nvPr/>
        </p:nvSpPr>
        <p:spPr>
          <a:xfrm>
            <a:off x="9556115" y="4958715"/>
            <a:ext cx="731520" cy="212090"/>
          </a:xfrm>
          <a:prstGeom prst="roundRect">
            <a:avLst>
              <a:gd name="adj" fmla="val 0"/>
            </a:avLst>
          </a:prstGeom>
          <a:noFill/>
          <a:ln w="25400" cap="flat" cmpd="sng">
            <a:noFill/>
            <a:prstDash val="solid"/>
            <a:round/>
          </a:ln>
        </p:spPr>
        <p:txBody>
          <a:bodyPr vert="horz" wrap="none" lIns="91440" tIns="45720" rIns="91440" bIns="45720" rtlCol="0" anchor="t" anchorCtr="0"/>
          <a:lstStyle/>
          <a:p>
            <a:pPr algn="l">
              <a:defRPr/>
            </a:pPr>
            <a:endParaRPr/>
          </a:p>
        </p:txBody>
      </p:sp>
      <p:sp>
        <p:nvSpPr>
          <p:cNvPr id="104" name="Freeform 104"/>
          <p:cNvSpPr/>
          <p:nvPr/>
        </p:nvSpPr>
        <p:spPr>
          <a:xfrm>
            <a:off x="2301875" y="5596255"/>
            <a:ext cx="7620000" cy="609600"/>
          </a:xfrm>
          <a:custGeom>
            <a:avLst/>
            <a:gdLst/>
            <a:ahLst/>
            <a:cxnLst/>
            <a:rect l="l" t="t" r="r" b="b"/>
            <a:pathLst>
              <a:path w="7620000" h="609600">
                <a:moveTo>
                  <a:pt x="7543800" y="0"/>
                </a:moveTo>
                <a:cubicBezTo>
                  <a:pt x="7585884" y="0"/>
                  <a:pt x="7620000" y="0"/>
                  <a:pt x="7620000" y="0"/>
                </a:cubicBezTo>
                <a:lnTo>
                  <a:pt x="7620000" y="609600"/>
                </a:lnTo>
                <a:cubicBezTo>
                  <a:pt x="7620000" y="609600"/>
                  <a:pt x="7585884" y="609600"/>
                  <a:pt x="7543800" y="609600"/>
                </a:cubicBezTo>
                <a:lnTo>
                  <a:pt x="76200" y="609600"/>
                </a:lnTo>
                <a:cubicBezTo>
                  <a:pt x="34116" y="609600"/>
                  <a:pt x="0" y="609600"/>
                  <a:pt x="0" y="609600"/>
                </a:cubicBezTo>
                <a:lnTo>
                  <a:pt x="0" y="0"/>
                </a:lnTo>
                <a:cubicBezTo>
                  <a:pt x="0" y="0"/>
                  <a:pt x="34116" y="0"/>
                  <a:pt x="76200" y="0"/>
                </a:cubicBezTo>
                <a:close/>
              </a:path>
            </a:pathLst>
          </a:custGeom>
          <a:solidFill>
            <a:srgbClr val="FFF3CD">
              <a:alpha val="100000"/>
            </a:srgbClr>
          </a:solidFill>
          <a:ln w="12700" cap="flat" cmpd="sng">
            <a:solidFill>
              <a:srgbClr val="FFC107">
                <a:alpha val="100000"/>
              </a:srgbClr>
            </a:solidFill>
            <a:prstDash val="solid"/>
            <a:miter lim="1000000"/>
          </a:ln>
        </p:spPr>
        <p:txBody>
          <a:bodyPr vert="horz" wrap="square" lIns="91440" tIns="45720" rIns="91440" bIns="45720" rtlCol="0" anchor="ctr" anchorCtr="0"/>
          <a:lstStyle/>
          <a:p>
            <a:pPr algn="l">
              <a:defRPr/>
            </a:pPr>
            <a:endParaRPr/>
          </a:p>
        </p:txBody>
      </p:sp>
      <p:sp>
        <p:nvSpPr>
          <p:cNvPr id="105" name="AutoShape 105"/>
          <p:cNvSpPr/>
          <p:nvPr/>
        </p:nvSpPr>
        <p:spPr>
          <a:xfrm>
            <a:off x="5715635" y="5612130"/>
            <a:ext cx="792480" cy="25209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200" b="1" i="0" u="none" strike="noStrike">
                <a:solidFill>
                  <a:srgbClr val="856404"/>
                </a:solidFill>
                <a:latin typeface="微软雅黑"/>
                <a:ea typeface="微软雅黑"/>
                <a:cs typeface="微软雅黑"/>
                <a:sym typeface="微软雅黑"/>
              </a:rPr>
              <a:t>核心创新点</a:t>
            </a:r>
            <a:endParaRPr lang="en-US" sz="1100"/>
          </a:p>
        </p:txBody>
      </p:sp>
      <p:sp>
        <p:nvSpPr>
          <p:cNvPr id="106" name="AutoShape 106"/>
          <p:cNvSpPr/>
          <p:nvPr/>
        </p:nvSpPr>
        <p:spPr>
          <a:xfrm>
            <a:off x="3006725" y="5835015"/>
            <a:ext cx="87630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GD定位+SAM3审核+YOLO裁判</a:t>
            </a:r>
            <a:endParaRPr lang="en-US" sz="1100"/>
          </a:p>
        </p:txBody>
      </p:sp>
      <p:sp>
        <p:nvSpPr>
          <p:cNvPr id="107" name="AutoShape 107"/>
          <p:cNvSpPr/>
          <p:nvPr/>
        </p:nvSpPr>
        <p:spPr>
          <a:xfrm>
            <a:off x="4557395" y="5835015"/>
            <a:ext cx="868680" cy="2298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856404"/>
                </a:solidFill>
                <a:latin typeface="微软雅黑"/>
                <a:ea typeface="微软雅黑"/>
                <a:cs typeface="微软雅黑"/>
                <a:sym typeface="微软雅黑"/>
              </a:rPr>
              <a:t>权限隔离与阶段门控</a:t>
            </a:r>
            <a:endParaRPr lang="en-US" sz="1100"/>
          </a:p>
        </p:txBody>
      </p:sp>
      <p:sp>
        <p:nvSpPr>
          <p:cNvPr id="108" name="AutoShape 108"/>
          <p:cNvSpPr/>
          <p:nvPr/>
        </p:nvSpPr>
        <p:spPr>
          <a:xfrm>
            <a:off x="6081395" y="5835015"/>
            <a:ext cx="82296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精度</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时间</a:t>
            </a:r>
            <a:r>
              <a:rPr lang="en-US" sz="900" b="0" i="0" u="none" strike="noStrike" dirty="0">
                <a:solidFill>
                  <a:srgbClr val="856404"/>
                </a:solidFill>
                <a:latin typeface="微软雅黑"/>
                <a:ea typeface="微软雅黑"/>
                <a:cs typeface="微软雅黑"/>
                <a:sym typeface="微软雅黑"/>
              </a:rPr>
              <a:t>/</a:t>
            </a:r>
            <a:r>
              <a:rPr lang="en-US" sz="900" b="0" i="0" u="none" strike="noStrike" dirty="0" err="1">
                <a:solidFill>
                  <a:srgbClr val="856404"/>
                </a:solidFill>
                <a:latin typeface="微软雅黑"/>
                <a:ea typeface="微软雅黑"/>
                <a:cs typeface="微软雅黑"/>
                <a:sym typeface="微软雅黑"/>
              </a:rPr>
              <a:t>人工</a:t>
            </a:r>
            <a:r>
              <a:rPr lang="en-US" sz="900" b="0" i="0" u="none" strike="noStrike" dirty="0">
                <a:solidFill>
                  <a:srgbClr val="856404"/>
                </a:solidFill>
                <a:latin typeface="微软雅黑"/>
                <a:ea typeface="微软雅黑"/>
                <a:cs typeface="微软雅黑"/>
                <a:sym typeface="微软雅黑"/>
              </a:rPr>
              <a:t> Pareto </a:t>
            </a:r>
            <a:r>
              <a:rPr lang="en-US" sz="900" b="0" i="0" u="none" strike="noStrike" dirty="0" err="1">
                <a:solidFill>
                  <a:srgbClr val="856404"/>
                </a:solidFill>
                <a:latin typeface="微软雅黑"/>
                <a:ea typeface="微软雅黑"/>
                <a:cs typeface="微软雅黑"/>
                <a:sym typeface="微软雅黑"/>
              </a:rPr>
              <a:t>权衡</a:t>
            </a:r>
            <a:endParaRPr lang="en-US" sz="1100" dirty="0"/>
          </a:p>
        </p:txBody>
      </p:sp>
      <p:sp>
        <p:nvSpPr>
          <p:cNvPr id="109" name="AutoShape 109"/>
          <p:cNvSpPr/>
          <p:nvPr/>
        </p:nvSpPr>
        <p:spPr>
          <a:xfrm>
            <a:off x="7651115" y="58350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856404"/>
                </a:solidFill>
                <a:latin typeface="微软雅黑"/>
                <a:ea typeface="微软雅黑"/>
                <a:cs typeface="微软雅黑"/>
                <a:sym typeface="微软雅黑"/>
              </a:rPr>
              <a:t>多规模流程选型</a:t>
            </a:r>
            <a:endParaRPr lang="en-US" sz="1100" dirty="0"/>
          </a:p>
        </p:txBody>
      </p:sp>
      <p:sp>
        <p:nvSpPr>
          <p:cNvPr id="110" name="AutoShape 110"/>
          <p:cNvSpPr/>
          <p:nvPr/>
        </p:nvSpPr>
        <p:spPr>
          <a:xfrm>
            <a:off x="5205095" y="5949315"/>
            <a:ext cx="1814195"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a:solidFill>
                  <a:srgbClr val="856404"/>
                </a:solidFill>
                <a:latin typeface="微软雅黑"/>
                <a:ea typeface="微软雅黑"/>
                <a:cs typeface="微软雅黑"/>
                <a:sym typeface="微软雅黑"/>
              </a:rPr>
              <a:t>"</a:t>
            </a:r>
            <a:r>
              <a:rPr lang="en-US" sz="900" b="0" i="0" u="none" strike="noStrike">
                <a:solidFill>
                  <a:srgbClr val="856404"/>
                </a:solidFill>
                <a:latin typeface="微软雅黑"/>
                <a:ea typeface="微软雅黑"/>
                <a:cs typeface="微软雅黑"/>
                <a:sym typeface="微软雅黑"/>
              </a:rPr>
              <a:t>单次人工标注</a:t>
            </a:r>
            <a:r>
              <a:rPr lang="en-US" sz="825" b="0" i="0" u="none" strike="noStrike">
                <a:solidFill>
                  <a:srgbClr val="856404"/>
                </a:solidFill>
                <a:latin typeface="微软雅黑"/>
                <a:ea typeface="微软雅黑"/>
                <a:cs typeface="微软雅黑"/>
                <a:sym typeface="微软雅黑"/>
              </a:rPr>
              <a:t>""</a:t>
            </a:r>
            <a:r>
              <a:rPr lang="en-US" sz="900" b="0" i="0" u="none" strike="noStrike">
                <a:solidFill>
                  <a:srgbClr val="856404"/>
                </a:solidFill>
                <a:latin typeface="微软雅黑"/>
                <a:ea typeface="微软雅黑"/>
                <a:cs typeface="微软雅黑"/>
                <a:sym typeface="微软雅黑"/>
              </a:rPr>
              <a:t>可复现的</a:t>
            </a:r>
            <a:r>
              <a:rPr lang="en-US" sz="825" b="0" i="0" u="none" strike="noStrike">
                <a:solidFill>
                  <a:srgbClr val="856404"/>
                </a:solidFill>
                <a:latin typeface="微软雅黑"/>
                <a:ea typeface="微软雅黑"/>
                <a:cs typeface="微软雅黑"/>
                <a:sym typeface="微软雅黑"/>
              </a:rPr>
              <a:t>+</a:t>
            </a:r>
            <a:r>
              <a:rPr lang="en-US" sz="900" b="0" i="0" u="none" strike="noStrike">
                <a:solidFill>
                  <a:srgbClr val="856404"/>
                </a:solidFill>
                <a:latin typeface="微软雅黑"/>
                <a:ea typeface="微软雅黑"/>
                <a:cs typeface="微软雅黑"/>
                <a:sym typeface="微软雅黑"/>
              </a:rPr>
              <a:t>伪标签生产流程</a:t>
            </a:r>
            <a:r>
              <a:rPr lang="en-US" sz="825" b="0" i="0" u="none" strike="noStrike">
                <a:solidFill>
                  <a:srgbClr val="856404"/>
                </a:solidFill>
                <a:latin typeface="微软雅黑"/>
                <a:ea typeface="微软雅黑"/>
                <a:cs typeface="微软雅黑"/>
                <a:sym typeface="微软雅黑"/>
              </a:rPr>
              <a:t>"</a:t>
            </a:r>
            <a:endParaRPr lang="en-US" sz="1100"/>
          </a:p>
        </p:txBody>
      </p:sp>
      <p:sp>
        <p:nvSpPr>
          <p:cNvPr id="111" name="Freeform 111"/>
          <p:cNvSpPr/>
          <p:nvPr/>
        </p:nvSpPr>
        <p:spPr>
          <a:xfrm>
            <a:off x="1158875" y="6358255"/>
            <a:ext cx="3810000" cy="457200"/>
          </a:xfrm>
          <a:custGeom>
            <a:avLst/>
            <a:gdLst/>
            <a:ahLst/>
            <a:cxnLst/>
            <a:rect l="l" t="t" r="r" b="b"/>
            <a:pathLst>
              <a:path w="3810000" h="457200">
                <a:moveTo>
                  <a:pt x="3771900" y="0"/>
                </a:moveTo>
                <a:cubicBezTo>
                  <a:pt x="3792943" y="0"/>
                  <a:pt x="3810000" y="0"/>
                  <a:pt x="3810000" y="0"/>
                </a:cubicBezTo>
                <a:lnTo>
                  <a:pt x="3810000" y="457200"/>
                </a:lnTo>
                <a:cubicBezTo>
                  <a:pt x="3810000" y="457200"/>
                  <a:pt x="3792943" y="457200"/>
                  <a:pt x="3771900" y="457200"/>
                </a:cubicBezTo>
                <a:lnTo>
                  <a:pt x="38100" y="457200"/>
                </a:lnTo>
                <a:cubicBezTo>
                  <a:pt x="17057" y="457200"/>
                  <a:pt x="0" y="457200"/>
                  <a:pt x="0" y="457200"/>
                </a:cubicBezTo>
                <a:lnTo>
                  <a:pt x="0" y="0"/>
                </a:lnTo>
                <a:cubicBezTo>
                  <a:pt x="0" y="0"/>
                  <a:pt x="17057" y="0"/>
                  <a:pt x="38100" y="0"/>
                </a:cubicBezTo>
                <a:close/>
              </a:path>
            </a:pathLst>
          </a:custGeom>
          <a:solidFill>
            <a:srgbClr val="F8F9FA">
              <a:alpha val="100000"/>
            </a:srgbClr>
          </a:solidFill>
          <a:ln w="12700" cap="flat" cmpd="sng">
            <a:solidFill>
              <a:srgbClr val="DEE2E6">
                <a:alpha val="100000"/>
              </a:srgbClr>
            </a:solidFill>
            <a:prstDash val="solid"/>
            <a:miter lim="1000000"/>
          </a:ln>
        </p:spPr>
        <p:txBody>
          <a:bodyPr vert="horz" wrap="square" lIns="91440" tIns="45720" rIns="91440" bIns="45720" rtlCol="0" anchor="ctr" anchorCtr="0"/>
          <a:lstStyle/>
          <a:p>
            <a:pPr algn="l">
              <a:defRPr/>
            </a:pPr>
            <a:endParaRPr/>
          </a:p>
        </p:txBody>
      </p:sp>
      <p:sp>
        <p:nvSpPr>
          <p:cNvPr id="112" name="AutoShape 112"/>
          <p:cNvSpPr/>
          <p:nvPr/>
        </p:nvSpPr>
        <p:spPr>
          <a:xfrm>
            <a:off x="1143635" y="6351905"/>
            <a:ext cx="609600" cy="232410"/>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1050" b="1" i="0" u="none" strike="noStrike">
                <a:solidFill>
                  <a:srgbClr val="2C3E50"/>
                </a:solidFill>
                <a:latin typeface="微软雅黑"/>
                <a:ea typeface="微软雅黑"/>
                <a:cs typeface="微软雅黑"/>
                <a:sym typeface="微软雅黑"/>
              </a:rPr>
              <a:t>流程说明</a:t>
            </a:r>
            <a:endParaRPr lang="en-US" sz="1100"/>
          </a:p>
        </p:txBody>
      </p:sp>
      <p:sp>
        <p:nvSpPr>
          <p:cNvPr id="113" name="Freeform 113"/>
          <p:cNvSpPr/>
          <p:nvPr/>
        </p:nvSpPr>
        <p:spPr>
          <a:xfrm>
            <a:off x="12503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3498DB">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4" name="AutoShape 114"/>
          <p:cNvSpPr/>
          <p:nvPr/>
        </p:nvSpPr>
        <p:spPr>
          <a:xfrm>
            <a:off x="133413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2C3E50"/>
                </a:solidFill>
                <a:latin typeface="微软雅黑"/>
                <a:ea typeface="微软雅黑"/>
                <a:cs typeface="微软雅黑"/>
                <a:sym typeface="微软雅黑"/>
              </a:rPr>
              <a:t>数据与测试治理</a:t>
            </a:r>
            <a:endParaRPr lang="en-US" sz="1100"/>
          </a:p>
        </p:txBody>
      </p:sp>
      <p:sp>
        <p:nvSpPr>
          <p:cNvPr id="115" name="Freeform 115"/>
          <p:cNvSpPr/>
          <p:nvPr/>
        </p:nvSpPr>
        <p:spPr>
          <a:xfrm>
            <a:off x="20123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27AE60">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6" name="AutoShape 116"/>
          <p:cNvSpPr/>
          <p:nvPr/>
        </p:nvSpPr>
        <p:spPr>
          <a:xfrm>
            <a:off x="2096135" y="6520815"/>
            <a:ext cx="628015"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825" b="0" i="0" u="none" strike="noStrike">
                <a:solidFill>
                  <a:srgbClr val="2C3E50"/>
                </a:solidFill>
                <a:latin typeface="微软雅黑"/>
                <a:ea typeface="微软雅黑"/>
                <a:cs typeface="微软雅黑"/>
                <a:sym typeface="微软雅黑"/>
              </a:rPr>
              <a:t>AI</a:t>
            </a:r>
            <a:r>
              <a:rPr lang="en-US" sz="900" b="0" i="0" u="none" strike="noStrike">
                <a:solidFill>
                  <a:srgbClr val="2C3E50"/>
                </a:solidFill>
                <a:latin typeface="微软雅黑"/>
                <a:ea typeface="微软雅黑"/>
                <a:cs typeface="微软雅黑"/>
                <a:sym typeface="微软雅黑"/>
              </a:rPr>
              <a:t>V1自动生成</a:t>
            </a:r>
            <a:endParaRPr lang="en-US" sz="1100"/>
          </a:p>
        </p:txBody>
      </p:sp>
      <p:sp>
        <p:nvSpPr>
          <p:cNvPr id="117" name="Freeform 117"/>
          <p:cNvSpPr/>
          <p:nvPr/>
        </p:nvSpPr>
        <p:spPr>
          <a:xfrm>
            <a:off x="27743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F39C12">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18" name="AutoShape 118"/>
          <p:cNvSpPr/>
          <p:nvPr/>
        </p:nvSpPr>
        <p:spPr>
          <a:xfrm>
            <a:off x="285813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2C3E50"/>
                </a:solidFill>
                <a:latin typeface="微软雅黑"/>
                <a:ea typeface="微软雅黑"/>
                <a:cs typeface="微软雅黑"/>
                <a:sym typeface="微软雅黑"/>
              </a:rPr>
              <a:t>SAM3后置</a:t>
            </a:r>
            <a:endParaRPr lang="en-US" sz="1100"/>
          </a:p>
        </p:txBody>
      </p:sp>
      <p:sp>
        <p:nvSpPr>
          <p:cNvPr id="119" name="Freeform 119"/>
          <p:cNvSpPr/>
          <p:nvPr/>
        </p:nvSpPr>
        <p:spPr>
          <a:xfrm>
            <a:off x="3612515" y="6563995"/>
            <a:ext cx="121920" cy="121920"/>
          </a:xfrm>
          <a:custGeom>
            <a:avLst/>
            <a:gdLst/>
            <a:ahLst/>
            <a:cxnLst/>
            <a:rect l="l" t="t" r="r" b="b"/>
            <a:pathLst>
              <a:path w="121920" h="121920">
                <a:moveTo>
                  <a:pt x="121920" y="60960"/>
                </a:moveTo>
                <a:cubicBezTo>
                  <a:pt x="121920" y="94626"/>
                  <a:pt x="94626" y="121920"/>
                  <a:pt x="60960" y="121920"/>
                </a:cubicBezTo>
                <a:cubicBezTo>
                  <a:pt x="27294" y="121920"/>
                  <a:pt x="0" y="94626"/>
                  <a:pt x="0" y="60960"/>
                </a:cubicBezTo>
                <a:cubicBezTo>
                  <a:pt x="0" y="27294"/>
                  <a:pt x="27294" y="0"/>
                  <a:pt x="60960" y="0"/>
                </a:cubicBezTo>
                <a:cubicBezTo>
                  <a:pt x="94626" y="0"/>
                  <a:pt x="121920" y="27294"/>
                  <a:pt x="121920" y="60960"/>
                </a:cubicBezTo>
                <a:close/>
              </a:path>
            </a:pathLst>
          </a:custGeom>
          <a:solidFill>
            <a:srgbClr val="95A5A6">
              <a:alpha val="100000"/>
            </a:srgbClr>
          </a:solidFill>
          <a:ln w="25400" cap="flat" cmpd="sng">
            <a:noFill/>
            <a:prstDash val="solid"/>
            <a:round/>
          </a:ln>
        </p:spPr>
        <p:txBody>
          <a:bodyPr vert="horz" wrap="square" lIns="91440" tIns="45720" rIns="91440" bIns="45720" rtlCol="0" anchor="ctr" anchorCtr="0"/>
          <a:lstStyle/>
          <a:p>
            <a:pPr algn="l">
              <a:defRPr/>
            </a:pPr>
            <a:endParaRPr/>
          </a:p>
        </p:txBody>
      </p:sp>
      <p:sp>
        <p:nvSpPr>
          <p:cNvPr id="120" name="AutoShape 120"/>
          <p:cNvSpPr/>
          <p:nvPr/>
        </p:nvSpPr>
        <p:spPr>
          <a:xfrm>
            <a:off x="369633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2C3E50"/>
                </a:solidFill>
                <a:latin typeface="微软雅黑"/>
                <a:ea typeface="微软雅黑"/>
                <a:cs typeface="微软雅黑"/>
                <a:sym typeface="微软雅黑"/>
              </a:rPr>
              <a:t>稳定性复验</a:t>
            </a:r>
            <a:endParaRPr lang="en-US" sz="1100"/>
          </a:p>
        </p:txBody>
      </p:sp>
      <p:sp>
        <p:nvSpPr>
          <p:cNvPr id="121" name="Freeform 121"/>
          <p:cNvSpPr/>
          <p:nvPr/>
        </p:nvSpPr>
        <p:spPr>
          <a:xfrm>
            <a:off x="4283075" y="6624955"/>
            <a:ext cx="228600" cy="0"/>
          </a:xfrm>
          <a:custGeom>
            <a:avLst/>
            <a:gdLst/>
            <a:ahLst/>
            <a:cxnLst/>
            <a:rect l="l" t="t" r="r" b="b"/>
            <a:pathLst>
              <a:path w="228600">
                <a:moveTo>
                  <a:pt x="0" y="0"/>
                </a:moveTo>
                <a:lnTo>
                  <a:pt x="228600" y="0"/>
                </a:lnTo>
              </a:path>
            </a:pathLst>
          </a:custGeom>
          <a:solidFill>
            <a:srgbClr val="000000">
              <a:alpha val="100000"/>
            </a:srgbClr>
          </a:solidFill>
          <a:ln w="12700" cap="flat" cmpd="sng">
            <a:solidFill>
              <a:srgbClr val="E74C3C">
                <a:alpha val="100000"/>
              </a:srgbClr>
            </a:solidFill>
            <a:prstDash val="solid"/>
            <a:miter lim="1000000"/>
          </a:ln>
        </p:spPr>
        <p:txBody>
          <a:bodyPr vert="horz" wrap="square" lIns="91440" tIns="45720" rIns="91440" bIns="45720" rtlCol="0" anchor="ctr" anchorCtr="0"/>
          <a:lstStyle/>
          <a:p>
            <a:pPr algn="l">
              <a:defRPr/>
            </a:pPr>
            <a:endParaRPr/>
          </a:p>
        </p:txBody>
      </p:sp>
      <p:sp>
        <p:nvSpPr>
          <p:cNvPr id="122" name="AutoShape 122"/>
          <p:cNvSpPr/>
          <p:nvPr/>
        </p:nvSpPr>
        <p:spPr>
          <a:xfrm>
            <a:off x="4458335" y="6520815"/>
            <a:ext cx="731520" cy="21209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2C3E50"/>
                </a:solidFill>
                <a:latin typeface="微软雅黑"/>
                <a:ea typeface="微软雅黑"/>
                <a:cs typeface="微软雅黑"/>
                <a:sym typeface="微软雅黑"/>
              </a:rPr>
              <a:t>多规模选型</a:t>
            </a:r>
            <a:endParaRPr lang="en-US" sz="1100"/>
          </a:p>
        </p:txBody>
      </p:sp>
      <p:pic>
        <p:nvPicPr>
          <p:cNvPr id="123" name="Picture 123"/>
          <p:cNvPicPr>
            <a:picLocks noChangeAspect="1"/>
          </p:cNvPicPr>
          <p:nvPr/>
        </p:nvPicPr>
        <p:blipFill>
          <a:blip r:embed="rId4"/>
          <a:srcRect/>
          <a:stretch>
            <a:fillRect/>
          </a:stretch>
        </p:blipFill>
        <p:spPr>
          <a:xfrm>
            <a:off x="364490" y="119380"/>
            <a:ext cx="518160" cy="518160"/>
          </a:xfrm>
          <a:prstGeom prst="rect">
            <a:avLst/>
          </a:prstGeom>
          <a:noFill/>
          <a:ln w="25400" cap="flat" cmpd="sng">
            <a:noFill/>
            <a:prstDash val="solid"/>
            <a:rou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AutoShape 2"/>
          <p:cNvSpPr/>
          <p:nvPr/>
        </p:nvSpPr>
        <p:spPr>
          <a:xfrm>
            <a:off x="4585335" y="100167"/>
            <a:ext cx="1783080" cy="393151"/>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800" b="1" i="0" u="none" strike="noStrike" dirty="0" err="1">
                <a:solidFill>
                  <a:srgbClr val="2C3E50"/>
                </a:solidFill>
                <a:latin typeface="微软雅黑"/>
                <a:ea typeface="微软雅黑"/>
                <a:cs typeface="微软雅黑"/>
                <a:sym typeface="微软雅黑"/>
              </a:rPr>
              <a:t>数据划分与</a:t>
            </a:r>
            <a:r>
              <a:rPr lang="en-US" sz="1800" b="1" i="0" u="none" strike="noStrike" dirty="0">
                <a:solidFill>
                  <a:srgbClr val="2C3E50"/>
                </a:solidFill>
                <a:latin typeface="微软雅黑"/>
                <a:ea typeface="微软雅黑"/>
                <a:cs typeface="微软雅黑"/>
                <a:sym typeface="微软雅黑"/>
              </a:rPr>
              <a:t> V1 </a:t>
            </a:r>
            <a:r>
              <a:rPr lang="en-US" sz="1800" b="1" i="0" u="none" strike="noStrike" dirty="0" err="1">
                <a:solidFill>
                  <a:srgbClr val="2C3E50"/>
                </a:solidFill>
                <a:latin typeface="微软雅黑"/>
                <a:ea typeface="微软雅黑"/>
                <a:cs typeface="微软雅黑"/>
                <a:sym typeface="微软雅黑"/>
              </a:rPr>
              <a:t>生成流程</a:t>
            </a:r>
            <a:endParaRPr lang="en-US" sz="1100" dirty="0"/>
          </a:p>
        </p:txBody>
      </p:sp>
      <p:sp>
        <p:nvSpPr>
          <p:cNvPr id="3" name="AutoShape 3"/>
          <p:cNvSpPr/>
          <p:nvPr/>
        </p:nvSpPr>
        <p:spPr>
          <a:xfrm>
            <a:off x="4709160" y="412149"/>
            <a:ext cx="2773680" cy="292581"/>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200" b="0" i="0" u="none" strike="noStrike" dirty="0" err="1">
                <a:solidFill>
                  <a:srgbClr val="7F8C8D"/>
                </a:solidFill>
                <a:latin typeface="微软雅黑"/>
                <a:ea typeface="微软雅黑"/>
                <a:cs typeface="微软雅黑"/>
                <a:sym typeface="微软雅黑"/>
              </a:rPr>
              <a:t>从多源火烟图像到可训练的</a:t>
            </a:r>
            <a:r>
              <a:rPr lang="en-US" sz="1200" b="0" i="0" u="none" strike="noStrike" dirty="0">
                <a:solidFill>
                  <a:srgbClr val="7F8C8D"/>
                </a:solidFill>
                <a:latin typeface="微软雅黑"/>
                <a:ea typeface="微软雅黑"/>
                <a:cs typeface="微软雅黑"/>
                <a:sym typeface="微软雅黑"/>
              </a:rPr>
              <a:t> V1 </a:t>
            </a:r>
            <a:r>
              <a:rPr lang="en-US" sz="1200" b="0" i="0" u="none" strike="noStrike" dirty="0" err="1">
                <a:solidFill>
                  <a:srgbClr val="7F8C8D"/>
                </a:solidFill>
                <a:latin typeface="微软雅黑"/>
                <a:ea typeface="微软雅黑"/>
                <a:cs typeface="微软雅黑"/>
                <a:sym typeface="微软雅黑"/>
              </a:rPr>
              <a:t>伪标签</a:t>
            </a:r>
            <a:endParaRPr lang="en-US" sz="1100" dirty="0"/>
          </a:p>
        </p:txBody>
      </p:sp>
      <p:sp>
        <p:nvSpPr>
          <p:cNvPr id="4" name="Freeform 4"/>
          <p:cNvSpPr/>
          <p:nvPr/>
        </p:nvSpPr>
        <p:spPr>
          <a:xfrm>
            <a:off x="1809750" y="952500"/>
            <a:ext cx="8572500" cy="952500"/>
          </a:xfrm>
          <a:custGeom>
            <a:avLst/>
            <a:gdLst/>
            <a:ahLst/>
            <a:cxnLst/>
            <a:rect l="l" t="t" r="r" b="b"/>
            <a:pathLst>
              <a:path w="8572500" h="952500">
                <a:moveTo>
                  <a:pt x="8477250" y="0"/>
                </a:moveTo>
                <a:cubicBezTo>
                  <a:pt x="8529855" y="0"/>
                  <a:pt x="8572500" y="0"/>
                  <a:pt x="8572500" y="0"/>
                </a:cubicBezTo>
                <a:lnTo>
                  <a:pt x="8572500" y="952500"/>
                </a:lnTo>
                <a:cubicBezTo>
                  <a:pt x="8572500" y="952500"/>
                  <a:pt x="8529855" y="952500"/>
                  <a:pt x="8477250" y="952500"/>
                </a:cubicBezTo>
                <a:lnTo>
                  <a:pt x="95250" y="952500"/>
                </a:lnTo>
                <a:cubicBezTo>
                  <a:pt x="42645" y="952500"/>
                  <a:pt x="0" y="952500"/>
                  <a:pt x="0" y="952500"/>
                </a:cubicBezTo>
                <a:lnTo>
                  <a:pt x="0" y="0"/>
                </a:lnTo>
                <a:cubicBezTo>
                  <a:pt x="0" y="0"/>
                  <a:pt x="42645" y="0"/>
                  <a:pt x="95250" y="0"/>
                </a:cubicBezTo>
                <a:close/>
              </a:path>
            </a:pathLst>
          </a:custGeom>
          <a:gradFill rotWithShape="1">
            <a:gsLst>
              <a:gs pos="0">
                <a:srgbClr val="3498DB">
                  <a:alpha val="100000"/>
                </a:srgbClr>
              </a:gs>
              <a:gs pos="50000">
                <a:srgbClr val="2E8CCA">
                  <a:alpha val="100000"/>
                </a:srgbClr>
              </a:gs>
              <a:gs pos="100000">
                <a:srgbClr val="2980B9">
                  <a:alpha val="100000"/>
                </a:srgbClr>
              </a:gs>
            </a:gsLst>
            <a:lin ang="2700000"/>
          </a:gra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5" name="AutoShape 5"/>
          <p:cNvSpPr/>
          <p:nvPr/>
        </p:nvSpPr>
        <p:spPr>
          <a:xfrm>
            <a:off x="4079875" y="963295"/>
            <a:ext cx="4733925" cy="29908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1350" b="1" i="0" u="none" strike="noStrike" dirty="0" err="1">
                <a:solidFill>
                  <a:srgbClr val="FFFFFF"/>
                </a:solidFill>
                <a:latin typeface="微软雅黑"/>
                <a:ea typeface="微软雅黑"/>
                <a:cs typeface="微软雅黑"/>
                <a:sym typeface="微软雅黑"/>
              </a:rPr>
              <a:t>第一步：数据划分与测试隔离（</a:t>
            </a:r>
            <a:r>
              <a:rPr lang="en-US" sz="1350" b="1" i="0" u="none" strike="noStrike" dirty="0" err="1">
                <a:solidFill>
                  <a:srgbClr val="FFFFFF"/>
                </a:solidFill>
                <a:latin typeface="Arial"/>
                <a:ea typeface="Arial"/>
                <a:cs typeface="Arial"/>
                <a:sym typeface="Arial"/>
              </a:rPr>
              <a:t>目前</a:t>
            </a:r>
            <a:r>
              <a:rPr lang="en-US" sz="1350" b="1" i="0" u="none" strike="noStrike" dirty="0" err="1">
                <a:solidFill>
                  <a:srgbClr val="FFFFFF"/>
                </a:solidFill>
                <a:latin typeface="微软雅黑"/>
                <a:ea typeface="微软雅黑"/>
                <a:cs typeface="微软雅黑"/>
                <a:sym typeface="微软雅黑"/>
              </a:rPr>
              <a:t>）已完成</a:t>
            </a:r>
            <a:endParaRPr lang="en-US" sz="1100" dirty="0"/>
          </a:p>
        </p:txBody>
      </p:sp>
      <p:sp>
        <p:nvSpPr>
          <p:cNvPr id="6" name="Freeform 6"/>
          <p:cNvSpPr/>
          <p:nvPr/>
        </p:nvSpPr>
        <p:spPr>
          <a:xfrm>
            <a:off x="2095500" y="1333500"/>
            <a:ext cx="1428750" cy="476250"/>
          </a:xfrm>
          <a:custGeom>
            <a:avLst/>
            <a:gdLst/>
            <a:ahLst/>
            <a:cxnLst/>
            <a:rect l="l" t="t" r="r" b="b"/>
            <a:pathLst>
              <a:path w="1428750" h="476250">
                <a:moveTo>
                  <a:pt x="1381125" y="0"/>
                </a:moveTo>
                <a:cubicBezTo>
                  <a:pt x="1407428" y="0"/>
                  <a:pt x="1428750" y="0"/>
                  <a:pt x="1428750" y="0"/>
                </a:cubicBezTo>
                <a:lnTo>
                  <a:pt x="1428750" y="476250"/>
                </a:lnTo>
                <a:cubicBezTo>
                  <a:pt x="1428750" y="476250"/>
                  <a:pt x="1407428" y="476250"/>
                  <a:pt x="1381125" y="476250"/>
                </a:cubicBezTo>
                <a:lnTo>
                  <a:pt x="47625" y="476250"/>
                </a:lnTo>
                <a:cubicBezTo>
                  <a:pt x="21322" y="476250"/>
                  <a:pt x="0" y="476250"/>
                  <a:pt x="0" y="476250"/>
                </a:cubicBezTo>
                <a:lnTo>
                  <a:pt x="0" y="0"/>
                </a:lnTo>
                <a:cubicBezTo>
                  <a:pt x="0" y="0"/>
                  <a:pt x="21322"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7" name="AutoShape 7"/>
          <p:cNvSpPr/>
          <p:nvPr/>
        </p:nvSpPr>
        <p:spPr>
          <a:xfrm>
            <a:off x="2375535" y="1357338"/>
            <a:ext cx="8686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训练集</a:t>
            </a:r>
            <a:endParaRPr lang="en-US" sz="1100"/>
          </a:p>
        </p:txBody>
      </p:sp>
      <p:sp>
        <p:nvSpPr>
          <p:cNvPr id="8" name="AutoShape 8"/>
          <p:cNvSpPr/>
          <p:nvPr/>
        </p:nvSpPr>
        <p:spPr>
          <a:xfrm>
            <a:off x="2337435" y="1520370"/>
            <a:ext cx="94488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用于 YOLO 训练</a:t>
            </a:r>
            <a:endParaRPr lang="en-US" sz="1100"/>
          </a:p>
        </p:txBody>
      </p:sp>
      <p:sp>
        <p:nvSpPr>
          <p:cNvPr id="9" name="Freeform 9"/>
          <p:cNvSpPr/>
          <p:nvPr/>
        </p:nvSpPr>
        <p:spPr>
          <a:xfrm>
            <a:off x="3714750" y="1333500"/>
            <a:ext cx="1428750" cy="476250"/>
          </a:xfrm>
          <a:custGeom>
            <a:avLst/>
            <a:gdLst/>
            <a:ahLst/>
            <a:cxnLst/>
            <a:rect l="l" t="t" r="r" b="b"/>
            <a:pathLst>
              <a:path w="1428750" h="476250">
                <a:moveTo>
                  <a:pt x="1381125" y="0"/>
                </a:moveTo>
                <a:cubicBezTo>
                  <a:pt x="1407428" y="0"/>
                  <a:pt x="1428750" y="0"/>
                  <a:pt x="1428750" y="0"/>
                </a:cubicBezTo>
                <a:lnTo>
                  <a:pt x="1428750" y="476250"/>
                </a:lnTo>
                <a:cubicBezTo>
                  <a:pt x="1428750" y="476250"/>
                  <a:pt x="1407428" y="476250"/>
                  <a:pt x="1381125" y="476250"/>
                </a:cubicBezTo>
                <a:lnTo>
                  <a:pt x="47625" y="476250"/>
                </a:lnTo>
                <a:cubicBezTo>
                  <a:pt x="21322" y="476250"/>
                  <a:pt x="0" y="476250"/>
                  <a:pt x="0" y="476250"/>
                </a:cubicBezTo>
                <a:lnTo>
                  <a:pt x="0" y="0"/>
                </a:lnTo>
                <a:cubicBezTo>
                  <a:pt x="0" y="0"/>
                  <a:pt x="21322"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10" name="AutoShape 10"/>
          <p:cNvSpPr/>
          <p:nvPr/>
        </p:nvSpPr>
        <p:spPr>
          <a:xfrm>
            <a:off x="4109085" y="13573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开发集</a:t>
            </a:r>
            <a:endParaRPr lang="en-US" sz="1100"/>
          </a:p>
        </p:txBody>
      </p:sp>
      <p:sp>
        <p:nvSpPr>
          <p:cNvPr id="11" name="AutoShape 11"/>
          <p:cNvSpPr/>
          <p:nvPr/>
        </p:nvSpPr>
        <p:spPr>
          <a:xfrm>
            <a:off x="4004310" y="1520370"/>
            <a:ext cx="8496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提示词与阈值检索</a:t>
            </a:r>
            <a:endParaRPr lang="en-US" sz="1100"/>
          </a:p>
        </p:txBody>
      </p:sp>
      <p:sp>
        <p:nvSpPr>
          <p:cNvPr id="12" name="Freeform 12"/>
          <p:cNvSpPr/>
          <p:nvPr/>
        </p:nvSpPr>
        <p:spPr>
          <a:xfrm>
            <a:off x="5334000" y="1333500"/>
            <a:ext cx="1428750" cy="476250"/>
          </a:xfrm>
          <a:custGeom>
            <a:avLst/>
            <a:gdLst/>
            <a:ahLst/>
            <a:cxnLst/>
            <a:rect l="l" t="t" r="r" b="b"/>
            <a:pathLst>
              <a:path w="1428750" h="476250">
                <a:moveTo>
                  <a:pt x="1381125" y="0"/>
                </a:moveTo>
                <a:cubicBezTo>
                  <a:pt x="1407428" y="0"/>
                  <a:pt x="1428750" y="0"/>
                  <a:pt x="1428750" y="0"/>
                </a:cubicBezTo>
                <a:lnTo>
                  <a:pt x="1428750" y="476250"/>
                </a:lnTo>
                <a:cubicBezTo>
                  <a:pt x="1428750" y="476250"/>
                  <a:pt x="1407428" y="476250"/>
                  <a:pt x="1381125" y="476250"/>
                </a:cubicBezTo>
                <a:lnTo>
                  <a:pt x="47625" y="476250"/>
                </a:lnTo>
                <a:cubicBezTo>
                  <a:pt x="21323" y="476250"/>
                  <a:pt x="0" y="476250"/>
                  <a:pt x="0" y="4762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13" name="AutoShape 13"/>
          <p:cNvSpPr/>
          <p:nvPr/>
        </p:nvSpPr>
        <p:spPr>
          <a:xfrm>
            <a:off x="5728335" y="13573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隔离测试集</a:t>
            </a:r>
            <a:endParaRPr lang="en-US" sz="1100"/>
          </a:p>
        </p:txBody>
      </p:sp>
      <p:sp>
        <p:nvSpPr>
          <p:cNvPr id="14" name="AutoShape 14"/>
          <p:cNvSpPr/>
          <p:nvPr/>
        </p:nvSpPr>
        <p:spPr>
          <a:xfrm>
            <a:off x="5695020" y="1520370"/>
            <a:ext cx="706708"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Arial"/>
                <a:ea typeface="Arial"/>
                <a:cs typeface="Arial"/>
                <a:sym typeface="Arial"/>
              </a:rPr>
              <a:t>禁止参与</a:t>
            </a:r>
            <a:r>
              <a:rPr lang="en-US" sz="750" b="0" i="0" u="none" strike="noStrike">
                <a:solidFill>
                  <a:srgbClr val="7F8C8D"/>
                </a:solidFill>
                <a:latin typeface="微软雅黑"/>
                <a:ea typeface="微软雅黑"/>
                <a:cs typeface="微软雅黑"/>
                <a:sym typeface="微软雅黑"/>
              </a:rPr>
              <a:t> </a:t>
            </a:r>
            <a:r>
              <a:rPr lang="en-US" sz="750" b="0" i="0" u="none" strike="noStrike">
                <a:solidFill>
                  <a:srgbClr val="7F8C8D"/>
                </a:solidFill>
                <a:latin typeface="Arial"/>
                <a:ea typeface="Arial"/>
                <a:cs typeface="Arial"/>
                <a:sym typeface="Arial"/>
              </a:rPr>
              <a:t>调参</a:t>
            </a:r>
            <a:r>
              <a:rPr lang="en-US" sz="750" b="0" i="0" u="none" strike="noStrike">
                <a:solidFill>
                  <a:srgbClr val="7F8C8D"/>
                </a:solidFill>
                <a:latin typeface="微软雅黑"/>
                <a:ea typeface="微软雅黑"/>
                <a:cs typeface="微软雅黑"/>
                <a:sym typeface="微软雅黑"/>
              </a:rPr>
              <a:t>等</a:t>
            </a:r>
            <a:endParaRPr lang="en-US" sz="1100"/>
          </a:p>
        </p:txBody>
      </p:sp>
      <p:sp>
        <p:nvSpPr>
          <p:cNvPr id="15" name="Freeform 15"/>
          <p:cNvSpPr/>
          <p:nvPr/>
        </p:nvSpPr>
        <p:spPr>
          <a:xfrm>
            <a:off x="6953250" y="1333500"/>
            <a:ext cx="1428750" cy="476250"/>
          </a:xfrm>
          <a:custGeom>
            <a:avLst/>
            <a:gdLst/>
            <a:ahLst/>
            <a:cxnLst/>
            <a:rect l="l" t="t" r="r" b="b"/>
            <a:pathLst>
              <a:path w="1428750" h="476250">
                <a:moveTo>
                  <a:pt x="1381125" y="0"/>
                </a:moveTo>
                <a:cubicBezTo>
                  <a:pt x="1407428" y="0"/>
                  <a:pt x="1428750" y="0"/>
                  <a:pt x="1428750" y="0"/>
                </a:cubicBezTo>
                <a:lnTo>
                  <a:pt x="1428750" y="476250"/>
                </a:lnTo>
                <a:cubicBezTo>
                  <a:pt x="1428750" y="476250"/>
                  <a:pt x="1407428" y="476250"/>
                  <a:pt x="1381125" y="476250"/>
                </a:cubicBezTo>
                <a:lnTo>
                  <a:pt x="47625" y="476250"/>
                </a:lnTo>
                <a:cubicBezTo>
                  <a:pt x="21323" y="476250"/>
                  <a:pt x="0" y="476250"/>
                  <a:pt x="0" y="4762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16" name="AutoShape 16"/>
          <p:cNvSpPr/>
          <p:nvPr/>
        </p:nvSpPr>
        <p:spPr>
          <a:xfrm>
            <a:off x="7347585" y="13573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数据谱系</a:t>
            </a:r>
            <a:endParaRPr lang="en-US" sz="1100"/>
          </a:p>
        </p:txBody>
      </p:sp>
      <p:sp>
        <p:nvSpPr>
          <p:cNvPr id="17" name="AutoShape 17"/>
          <p:cNvSpPr/>
          <p:nvPr/>
        </p:nvSpPr>
        <p:spPr>
          <a:xfrm>
            <a:off x="7242810" y="1520370"/>
            <a:ext cx="8496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按来源分组划分</a:t>
            </a:r>
            <a:endParaRPr lang="en-US" sz="1100"/>
          </a:p>
        </p:txBody>
      </p:sp>
      <p:sp>
        <p:nvSpPr>
          <p:cNvPr id="18" name="Freeform 18"/>
          <p:cNvSpPr/>
          <p:nvPr/>
        </p:nvSpPr>
        <p:spPr>
          <a:xfrm>
            <a:off x="8572500" y="1333500"/>
            <a:ext cx="1428750" cy="476250"/>
          </a:xfrm>
          <a:custGeom>
            <a:avLst/>
            <a:gdLst/>
            <a:ahLst/>
            <a:cxnLst/>
            <a:rect l="l" t="t" r="r" b="b"/>
            <a:pathLst>
              <a:path w="1428750" h="476250">
                <a:moveTo>
                  <a:pt x="1381125" y="0"/>
                </a:moveTo>
                <a:cubicBezTo>
                  <a:pt x="1407428" y="0"/>
                  <a:pt x="1428750" y="0"/>
                  <a:pt x="1428750" y="0"/>
                </a:cubicBezTo>
                <a:lnTo>
                  <a:pt x="1428750" y="476250"/>
                </a:lnTo>
                <a:cubicBezTo>
                  <a:pt x="1428750" y="476250"/>
                  <a:pt x="1407428" y="476250"/>
                  <a:pt x="1381125" y="476250"/>
                </a:cubicBezTo>
                <a:lnTo>
                  <a:pt x="47625" y="476250"/>
                </a:lnTo>
                <a:cubicBezTo>
                  <a:pt x="21323" y="476250"/>
                  <a:pt x="0" y="476250"/>
                  <a:pt x="0" y="4762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19" name="AutoShape 19"/>
          <p:cNvSpPr/>
          <p:nvPr/>
        </p:nvSpPr>
        <p:spPr>
          <a:xfrm>
            <a:off x="8966835" y="13573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元数据</a:t>
            </a:r>
            <a:endParaRPr lang="en-US" sz="1100"/>
          </a:p>
        </p:txBody>
      </p:sp>
      <p:sp>
        <p:nvSpPr>
          <p:cNvPr id="20" name="AutoShape 20"/>
          <p:cNvSpPr/>
          <p:nvPr/>
        </p:nvSpPr>
        <p:spPr>
          <a:xfrm>
            <a:off x="8980170" y="1503066"/>
            <a:ext cx="8496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7F8C8D"/>
                </a:solidFill>
                <a:latin typeface="微软雅黑"/>
                <a:ea typeface="微软雅黑"/>
                <a:cs typeface="微软雅黑"/>
                <a:sym typeface="微软雅黑"/>
              </a:rPr>
              <a:t>版本固化</a:t>
            </a:r>
            <a:endParaRPr lang="en-US" sz="1100" dirty="0"/>
          </a:p>
        </p:txBody>
      </p:sp>
      <p:sp>
        <p:nvSpPr>
          <p:cNvPr id="21" name="Freeform 21"/>
          <p:cNvSpPr/>
          <p:nvPr/>
        </p:nvSpPr>
        <p:spPr>
          <a:xfrm>
            <a:off x="1809750" y="2286000"/>
            <a:ext cx="8572500" cy="1143000"/>
          </a:xfrm>
          <a:custGeom>
            <a:avLst/>
            <a:gdLst/>
            <a:ahLst/>
            <a:cxnLst/>
            <a:rect l="l" t="t" r="r" b="b"/>
            <a:pathLst>
              <a:path w="8572500" h="1143000">
                <a:moveTo>
                  <a:pt x="8477250" y="0"/>
                </a:moveTo>
                <a:cubicBezTo>
                  <a:pt x="8529855" y="0"/>
                  <a:pt x="8572500" y="0"/>
                  <a:pt x="8572500" y="0"/>
                </a:cubicBezTo>
                <a:lnTo>
                  <a:pt x="8572500" y="1143000"/>
                </a:lnTo>
                <a:cubicBezTo>
                  <a:pt x="8572500" y="1143000"/>
                  <a:pt x="8529855" y="1143000"/>
                  <a:pt x="8477250" y="1143000"/>
                </a:cubicBezTo>
                <a:lnTo>
                  <a:pt x="95250" y="1143000"/>
                </a:lnTo>
                <a:cubicBezTo>
                  <a:pt x="42645" y="1143000"/>
                  <a:pt x="0" y="1143000"/>
                  <a:pt x="0" y="1143000"/>
                </a:cubicBezTo>
                <a:lnTo>
                  <a:pt x="0" y="0"/>
                </a:lnTo>
                <a:cubicBezTo>
                  <a:pt x="0" y="0"/>
                  <a:pt x="42645" y="0"/>
                  <a:pt x="95250" y="0"/>
                </a:cubicBezTo>
                <a:close/>
              </a:path>
            </a:pathLst>
          </a:custGeom>
          <a:gradFill rotWithShape="1">
            <a:gsLst>
              <a:gs pos="0">
                <a:srgbClr val="9B59B6">
                  <a:alpha val="100000"/>
                </a:srgbClr>
              </a:gs>
              <a:gs pos="50000">
                <a:srgbClr val="944EB1">
                  <a:alpha val="100000"/>
                </a:srgbClr>
              </a:gs>
              <a:gs pos="100000">
                <a:srgbClr val="8E44AD">
                  <a:alpha val="100000"/>
                </a:srgbClr>
              </a:gs>
            </a:gsLst>
            <a:lin ang="2700000"/>
          </a:gra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22" name="AutoShape 22"/>
          <p:cNvSpPr/>
          <p:nvPr/>
        </p:nvSpPr>
        <p:spPr>
          <a:xfrm>
            <a:off x="4975860" y="2296795"/>
            <a:ext cx="3962400" cy="299085"/>
          </a:xfrm>
          <a:prstGeom prst="rect">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1350" b="1" i="0" u="none" strike="noStrike" dirty="0" err="1">
                <a:solidFill>
                  <a:srgbClr val="FFFFFF"/>
                </a:solidFill>
                <a:latin typeface="微软雅黑"/>
                <a:ea typeface="微软雅黑"/>
                <a:cs typeface="微软雅黑"/>
                <a:sym typeface="微软雅黑"/>
              </a:rPr>
              <a:t>第二步：提示词与阈值冻结</a:t>
            </a:r>
            <a:r>
              <a:rPr lang="zh-CN" altLang="en-US" sz="1350" b="1" i="0" u="none" strike="noStrike" dirty="0">
                <a:solidFill>
                  <a:srgbClr val="FFFFFF"/>
                </a:solidFill>
                <a:latin typeface="微软雅黑"/>
                <a:ea typeface="微软雅黑"/>
                <a:cs typeface="微软雅黑"/>
                <a:sym typeface="微软雅黑"/>
              </a:rPr>
              <a:t>（目前）已完成</a:t>
            </a:r>
            <a:endParaRPr lang="en-US" sz="1100" dirty="0"/>
          </a:p>
        </p:txBody>
      </p:sp>
      <p:sp>
        <p:nvSpPr>
          <p:cNvPr id="23" name="Freeform 23"/>
          <p:cNvSpPr/>
          <p:nvPr/>
        </p:nvSpPr>
        <p:spPr>
          <a:xfrm>
            <a:off x="2095500" y="2667000"/>
            <a:ext cx="1238250" cy="666750"/>
          </a:xfrm>
          <a:custGeom>
            <a:avLst/>
            <a:gdLst/>
            <a:ahLst/>
            <a:cxnLst/>
            <a:rect l="l" t="t" r="r" b="b"/>
            <a:pathLst>
              <a:path w="1238250" h="666750">
                <a:moveTo>
                  <a:pt x="1190625" y="0"/>
                </a:moveTo>
                <a:cubicBezTo>
                  <a:pt x="1216928" y="0"/>
                  <a:pt x="1238250" y="0"/>
                  <a:pt x="1238250" y="0"/>
                </a:cubicBezTo>
                <a:lnTo>
                  <a:pt x="1238250" y="666750"/>
                </a:lnTo>
                <a:cubicBezTo>
                  <a:pt x="1238250" y="666750"/>
                  <a:pt x="1216928" y="666750"/>
                  <a:pt x="1190625" y="666750"/>
                </a:cubicBezTo>
                <a:lnTo>
                  <a:pt x="47625" y="666750"/>
                </a:lnTo>
                <a:cubicBezTo>
                  <a:pt x="21322" y="666750"/>
                  <a:pt x="0" y="666750"/>
                  <a:pt x="0" y="666750"/>
                </a:cubicBezTo>
                <a:lnTo>
                  <a:pt x="0" y="0"/>
                </a:lnTo>
                <a:cubicBezTo>
                  <a:pt x="0" y="0"/>
                  <a:pt x="21322"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24" name="AutoShape 24"/>
          <p:cNvSpPr/>
          <p:nvPr/>
        </p:nvSpPr>
        <p:spPr>
          <a:xfrm>
            <a:off x="2337435" y="2690838"/>
            <a:ext cx="7543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候选提示词评测</a:t>
            </a:r>
            <a:endParaRPr lang="en-US" sz="1100"/>
          </a:p>
        </p:txBody>
      </p:sp>
      <p:sp>
        <p:nvSpPr>
          <p:cNvPr id="25" name="AutoShape 25"/>
          <p:cNvSpPr/>
          <p:nvPr/>
        </p:nvSpPr>
        <p:spPr>
          <a:xfrm>
            <a:off x="2385060" y="2853870"/>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在开发集上</a:t>
            </a:r>
            <a:endParaRPr lang="en-US" sz="1100"/>
          </a:p>
        </p:txBody>
      </p:sp>
      <p:sp>
        <p:nvSpPr>
          <p:cNvPr id="26" name="AutoShape 26"/>
          <p:cNvSpPr/>
          <p:nvPr/>
        </p:nvSpPr>
        <p:spPr>
          <a:xfrm>
            <a:off x="2385060" y="2977695"/>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独立评测</a:t>
            </a:r>
            <a:endParaRPr lang="en-US" sz="1100"/>
          </a:p>
        </p:txBody>
      </p:sp>
      <p:sp>
        <p:nvSpPr>
          <p:cNvPr id="27" name="AutoShape 27"/>
          <p:cNvSpPr/>
          <p:nvPr/>
        </p:nvSpPr>
        <p:spPr>
          <a:xfrm>
            <a:off x="2345294" y="3101520"/>
            <a:ext cx="73866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E74C3C"/>
                </a:solidFill>
                <a:latin typeface="微软雅黑"/>
                <a:ea typeface="微软雅黑"/>
                <a:cs typeface="微软雅黑"/>
                <a:sym typeface="微软雅黑"/>
              </a:rPr>
              <a:t>评估指标</a:t>
            </a:r>
            <a:r>
              <a:rPr lang="en-US" sz="750" b="0" i="0" u="none" strike="noStrike">
                <a:solidFill>
                  <a:srgbClr val="E74C3C"/>
                </a:solidFill>
                <a:latin typeface="Arial"/>
                <a:ea typeface="Arial"/>
                <a:cs typeface="Arial"/>
                <a:sym typeface="Arial"/>
              </a:rPr>
              <a:t>P/R/F1/IoU</a:t>
            </a:r>
            <a:endParaRPr lang="en-US" sz="1100"/>
          </a:p>
        </p:txBody>
      </p:sp>
      <p:sp>
        <p:nvSpPr>
          <p:cNvPr id="28" name="Freeform 28"/>
          <p:cNvSpPr/>
          <p:nvPr/>
        </p:nvSpPr>
        <p:spPr>
          <a:xfrm>
            <a:off x="3524250" y="2667000"/>
            <a:ext cx="1238250" cy="666750"/>
          </a:xfrm>
          <a:custGeom>
            <a:avLst/>
            <a:gdLst/>
            <a:ahLst/>
            <a:cxnLst/>
            <a:rect l="l" t="t" r="r" b="b"/>
            <a:pathLst>
              <a:path w="1238250" h="666750">
                <a:moveTo>
                  <a:pt x="1190625" y="0"/>
                </a:moveTo>
                <a:cubicBezTo>
                  <a:pt x="1216928" y="0"/>
                  <a:pt x="1238250" y="0"/>
                  <a:pt x="1238250" y="0"/>
                </a:cubicBezTo>
                <a:lnTo>
                  <a:pt x="1238250" y="666750"/>
                </a:lnTo>
                <a:cubicBezTo>
                  <a:pt x="1238250" y="666750"/>
                  <a:pt x="1216928" y="666750"/>
                  <a:pt x="1190625" y="666750"/>
                </a:cubicBezTo>
                <a:lnTo>
                  <a:pt x="47625" y="666750"/>
                </a:lnTo>
                <a:cubicBezTo>
                  <a:pt x="21322" y="666750"/>
                  <a:pt x="0" y="666750"/>
                  <a:pt x="0" y="666750"/>
                </a:cubicBezTo>
                <a:lnTo>
                  <a:pt x="0" y="0"/>
                </a:lnTo>
                <a:cubicBezTo>
                  <a:pt x="0" y="0"/>
                  <a:pt x="21322"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29" name="AutoShape 29"/>
          <p:cNvSpPr/>
          <p:nvPr/>
        </p:nvSpPr>
        <p:spPr>
          <a:xfrm>
            <a:off x="3766185" y="2690838"/>
            <a:ext cx="7543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网格搜索</a:t>
            </a:r>
            <a:endParaRPr lang="en-US" sz="1100"/>
          </a:p>
        </p:txBody>
      </p:sp>
      <p:sp>
        <p:nvSpPr>
          <p:cNvPr id="30" name="AutoShape 30"/>
          <p:cNvSpPr/>
          <p:nvPr/>
        </p:nvSpPr>
        <p:spPr>
          <a:xfrm>
            <a:off x="3766185" y="2853870"/>
            <a:ext cx="75438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连续置信区间</a:t>
            </a:r>
            <a:endParaRPr lang="en-US" sz="1100"/>
          </a:p>
        </p:txBody>
      </p:sp>
      <p:sp>
        <p:nvSpPr>
          <p:cNvPr id="31" name="AutoShape 31"/>
          <p:cNvSpPr/>
          <p:nvPr/>
        </p:nvSpPr>
        <p:spPr>
          <a:xfrm>
            <a:off x="3813810" y="2977695"/>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阈值扫描</a:t>
            </a:r>
            <a:endParaRPr lang="en-US" sz="1100"/>
          </a:p>
        </p:txBody>
      </p:sp>
      <p:sp>
        <p:nvSpPr>
          <p:cNvPr id="32" name="AutoShape 32"/>
          <p:cNvSpPr/>
          <p:nvPr/>
        </p:nvSpPr>
        <p:spPr>
          <a:xfrm>
            <a:off x="3499486" y="3101520"/>
            <a:ext cx="10020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E74C3C"/>
                </a:solidFill>
                <a:latin typeface="微软雅黑"/>
                <a:ea typeface="微软雅黑"/>
                <a:cs typeface="微软雅黑"/>
                <a:sym typeface="微软雅黑"/>
              </a:rPr>
              <a:t>收敛优先级</a:t>
            </a:r>
            <a:r>
              <a:rPr lang="en-US" sz="750" b="0" i="0" u="none" strike="noStrike" dirty="0" err="1">
                <a:solidFill>
                  <a:srgbClr val="E74C3C"/>
                </a:solidFill>
                <a:latin typeface="Arial"/>
                <a:ea typeface="Arial"/>
                <a:cs typeface="Arial"/>
                <a:sym typeface="Arial"/>
              </a:rPr>
              <a:t>mAP</a:t>
            </a:r>
            <a:r>
              <a:rPr lang="en-US" sz="750" b="0" i="0" u="none" strike="noStrike" dirty="0">
                <a:solidFill>
                  <a:srgbClr val="E74C3C"/>
                </a:solidFill>
                <a:latin typeface="Arial"/>
                <a:ea typeface="Arial"/>
                <a:cs typeface="Arial"/>
                <a:sym typeface="Arial"/>
              </a:rPr>
              <a:t>→</a:t>
            </a:r>
          </a:p>
          <a:p>
            <a:pPr marL="0" indent="0" algn="l" defTabSz="914400">
              <a:lnSpc>
                <a:spcPct val="100000"/>
              </a:lnSpc>
              <a:defRPr/>
            </a:pPr>
            <a:r>
              <a:rPr lang="en-US" sz="750" b="0" i="0" u="none" strike="noStrike" dirty="0">
                <a:solidFill>
                  <a:srgbClr val="E74C3C"/>
                </a:solidFill>
                <a:latin typeface="Arial"/>
                <a:ea typeface="Arial"/>
                <a:cs typeface="Arial"/>
                <a:sym typeface="Arial"/>
              </a:rPr>
              <a:t>AP75→F1</a:t>
            </a:r>
            <a:endParaRPr lang="en-US" sz="1100" dirty="0"/>
          </a:p>
        </p:txBody>
      </p:sp>
      <p:sp>
        <p:nvSpPr>
          <p:cNvPr id="33" name="Freeform 33"/>
          <p:cNvSpPr/>
          <p:nvPr/>
        </p:nvSpPr>
        <p:spPr>
          <a:xfrm>
            <a:off x="4953000" y="2667000"/>
            <a:ext cx="1238250" cy="666750"/>
          </a:xfrm>
          <a:custGeom>
            <a:avLst/>
            <a:gdLst/>
            <a:ahLst/>
            <a:cxnLst/>
            <a:rect l="l" t="t" r="r" b="b"/>
            <a:pathLst>
              <a:path w="1238250" h="666750">
                <a:moveTo>
                  <a:pt x="1190625" y="0"/>
                </a:moveTo>
                <a:cubicBezTo>
                  <a:pt x="1216928" y="0"/>
                  <a:pt x="1238250" y="0"/>
                  <a:pt x="1238250" y="0"/>
                </a:cubicBezTo>
                <a:lnTo>
                  <a:pt x="1238250" y="666750"/>
                </a:lnTo>
                <a:cubicBezTo>
                  <a:pt x="1238250" y="666750"/>
                  <a:pt x="1216928" y="666750"/>
                  <a:pt x="1190625" y="666750"/>
                </a:cubicBezTo>
                <a:lnTo>
                  <a:pt x="47625" y="666750"/>
                </a:lnTo>
                <a:cubicBezTo>
                  <a:pt x="21323" y="666750"/>
                  <a:pt x="0" y="666750"/>
                  <a:pt x="0" y="6667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34" name="AutoShape 34"/>
          <p:cNvSpPr/>
          <p:nvPr/>
        </p:nvSpPr>
        <p:spPr>
          <a:xfrm>
            <a:off x="5109305" y="2683368"/>
            <a:ext cx="7543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dirty="0">
                <a:solidFill>
                  <a:srgbClr val="2C3E50"/>
                </a:solidFill>
                <a:latin typeface="微软雅黑"/>
                <a:ea typeface="微软雅黑"/>
                <a:cs typeface="微软雅黑"/>
                <a:sym typeface="微软雅黑"/>
              </a:rPr>
              <a:t>Bootstrap </a:t>
            </a:r>
            <a:r>
              <a:rPr lang="en-US" sz="900" b="1" i="0" u="none" strike="noStrike" dirty="0" err="1">
                <a:solidFill>
                  <a:srgbClr val="2C3E50"/>
                </a:solidFill>
                <a:latin typeface="微软雅黑"/>
                <a:ea typeface="微软雅黑"/>
                <a:cs typeface="微软雅黑"/>
                <a:sym typeface="微软雅黑"/>
              </a:rPr>
              <a:t>重采样</a:t>
            </a:r>
            <a:endParaRPr lang="en-US" sz="1100" dirty="0"/>
          </a:p>
        </p:txBody>
      </p:sp>
      <p:sp>
        <p:nvSpPr>
          <p:cNvPr id="35" name="AutoShape 35"/>
          <p:cNvSpPr/>
          <p:nvPr/>
        </p:nvSpPr>
        <p:spPr>
          <a:xfrm>
            <a:off x="5242560" y="2853870"/>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a:solidFill>
                  <a:srgbClr val="7F8C8D"/>
                </a:solidFill>
                <a:latin typeface="微软雅黑"/>
                <a:ea typeface="微软雅黑"/>
                <a:cs typeface="微软雅黑"/>
                <a:sym typeface="微软雅黑"/>
              </a:rPr>
              <a:t>95% </a:t>
            </a:r>
            <a:r>
              <a:rPr lang="en-US" sz="750" b="0" i="0" u="none" strike="noStrike" dirty="0" err="1">
                <a:solidFill>
                  <a:srgbClr val="7F8C8D"/>
                </a:solidFill>
                <a:latin typeface="微软雅黑"/>
                <a:ea typeface="微软雅黑"/>
                <a:cs typeface="微软雅黑"/>
                <a:sym typeface="微软雅黑"/>
              </a:rPr>
              <a:t>置信区间</a:t>
            </a:r>
            <a:endParaRPr lang="en-US" sz="1100" dirty="0"/>
          </a:p>
        </p:txBody>
      </p:sp>
      <p:sp>
        <p:nvSpPr>
          <p:cNvPr id="36" name="AutoShape 36"/>
          <p:cNvSpPr/>
          <p:nvPr/>
        </p:nvSpPr>
        <p:spPr>
          <a:xfrm>
            <a:off x="5290185" y="2977695"/>
            <a:ext cx="56388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稳定性估计</a:t>
            </a:r>
            <a:endParaRPr lang="en-US" sz="1100"/>
          </a:p>
        </p:txBody>
      </p:sp>
      <p:sp>
        <p:nvSpPr>
          <p:cNvPr id="37" name="AutoShape 37"/>
          <p:cNvSpPr/>
          <p:nvPr/>
        </p:nvSpPr>
        <p:spPr>
          <a:xfrm>
            <a:off x="5189539" y="3101520"/>
            <a:ext cx="76517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2ECC71"/>
                </a:solidFill>
                <a:latin typeface="微软雅黑"/>
                <a:ea typeface="微软雅黑"/>
                <a:cs typeface="微软雅黑"/>
                <a:sym typeface="微软雅黑"/>
              </a:rPr>
              <a:t>保存形式</a:t>
            </a:r>
            <a:r>
              <a:rPr lang="en-US" sz="750" b="0" i="0" u="none" strike="noStrike" dirty="0" err="1">
                <a:solidFill>
                  <a:srgbClr val="2ECC71"/>
                </a:solidFill>
                <a:latin typeface="Arial"/>
                <a:ea typeface="Arial"/>
                <a:cs typeface="Arial"/>
                <a:sym typeface="Arial"/>
              </a:rPr>
              <a:t>YAML</a:t>
            </a:r>
            <a:r>
              <a:rPr lang="en-US" sz="750" b="0" i="0" u="none" strike="noStrike" dirty="0">
                <a:solidFill>
                  <a:srgbClr val="2ECC71"/>
                </a:solidFill>
                <a:latin typeface="Arial"/>
                <a:ea typeface="Arial"/>
                <a:cs typeface="Arial"/>
                <a:sym typeface="Arial"/>
              </a:rPr>
              <a:t> </a:t>
            </a:r>
            <a:r>
              <a:rPr lang="en-US" sz="750" b="0" i="0" u="none" strike="noStrike" dirty="0" err="1">
                <a:solidFill>
                  <a:srgbClr val="2ECC71"/>
                </a:solidFill>
                <a:latin typeface="Arial"/>
                <a:ea typeface="Arial"/>
                <a:cs typeface="Arial"/>
                <a:sym typeface="Arial"/>
              </a:rPr>
              <a:t>配置</a:t>
            </a:r>
            <a:endParaRPr lang="en-US" sz="1100" dirty="0"/>
          </a:p>
        </p:txBody>
      </p:sp>
      <p:sp>
        <p:nvSpPr>
          <p:cNvPr id="38" name="Freeform 38"/>
          <p:cNvSpPr/>
          <p:nvPr/>
        </p:nvSpPr>
        <p:spPr>
          <a:xfrm>
            <a:off x="6381750" y="2667000"/>
            <a:ext cx="1238250" cy="666750"/>
          </a:xfrm>
          <a:custGeom>
            <a:avLst/>
            <a:gdLst/>
            <a:ahLst/>
            <a:cxnLst/>
            <a:rect l="l" t="t" r="r" b="b"/>
            <a:pathLst>
              <a:path w="1238250" h="666750">
                <a:moveTo>
                  <a:pt x="1190625" y="0"/>
                </a:moveTo>
                <a:cubicBezTo>
                  <a:pt x="1216928" y="0"/>
                  <a:pt x="1238250" y="0"/>
                  <a:pt x="1238250" y="0"/>
                </a:cubicBezTo>
                <a:lnTo>
                  <a:pt x="1238250" y="666750"/>
                </a:lnTo>
                <a:cubicBezTo>
                  <a:pt x="1238250" y="666750"/>
                  <a:pt x="1216928" y="666750"/>
                  <a:pt x="1190625" y="666750"/>
                </a:cubicBezTo>
                <a:lnTo>
                  <a:pt x="47625" y="666750"/>
                </a:lnTo>
                <a:cubicBezTo>
                  <a:pt x="21323" y="666750"/>
                  <a:pt x="0" y="666750"/>
                  <a:pt x="0" y="6667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39" name="AutoShape 39"/>
          <p:cNvSpPr/>
          <p:nvPr/>
        </p:nvSpPr>
        <p:spPr>
          <a:xfrm>
            <a:off x="6680835" y="26908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版本硬冻结</a:t>
            </a:r>
            <a:endParaRPr lang="en-US" sz="1100"/>
          </a:p>
        </p:txBody>
      </p:sp>
      <p:sp>
        <p:nvSpPr>
          <p:cNvPr id="40" name="AutoShape 40"/>
          <p:cNvSpPr/>
          <p:nvPr/>
        </p:nvSpPr>
        <p:spPr>
          <a:xfrm>
            <a:off x="6623685" y="2853870"/>
            <a:ext cx="75438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提示词与阈值</a:t>
            </a:r>
            <a:endParaRPr lang="en-US" sz="1100"/>
          </a:p>
        </p:txBody>
      </p:sp>
      <p:sp>
        <p:nvSpPr>
          <p:cNvPr id="41" name="AutoShape 41"/>
          <p:cNvSpPr/>
          <p:nvPr/>
        </p:nvSpPr>
        <p:spPr>
          <a:xfrm>
            <a:off x="6598416" y="2977695"/>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dirty="0" err="1">
                <a:solidFill>
                  <a:srgbClr val="7F8C8D"/>
                </a:solidFill>
                <a:latin typeface="微软雅黑"/>
                <a:ea typeface="微软雅黑"/>
                <a:cs typeface="微软雅黑"/>
                <a:sym typeface="微软雅黑"/>
              </a:rPr>
              <a:t>作为超参数统一管理</a:t>
            </a:r>
            <a:endParaRPr lang="en-US" sz="1100" dirty="0"/>
          </a:p>
        </p:txBody>
      </p:sp>
      <p:sp>
        <p:nvSpPr>
          <p:cNvPr id="42" name="AutoShape 42"/>
          <p:cNvSpPr/>
          <p:nvPr/>
        </p:nvSpPr>
        <p:spPr>
          <a:xfrm>
            <a:off x="6591872" y="3101520"/>
            <a:ext cx="818004" cy="217153"/>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43" name="Freeform 43"/>
          <p:cNvSpPr/>
          <p:nvPr/>
        </p:nvSpPr>
        <p:spPr>
          <a:xfrm>
            <a:off x="7810500" y="2667000"/>
            <a:ext cx="1238250" cy="666750"/>
          </a:xfrm>
          <a:custGeom>
            <a:avLst/>
            <a:gdLst/>
            <a:ahLst/>
            <a:cxnLst/>
            <a:rect l="l" t="t" r="r" b="b"/>
            <a:pathLst>
              <a:path w="1238250" h="666750">
                <a:moveTo>
                  <a:pt x="1190625" y="0"/>
                </a:moveTo>
                <a:cubicBezTo>
                  <a:pt x="1216928" y="0"/>
                  <a:pt x="1238250" y="0"/>
                  <a:pt x="1238250" y="0"/>
                </a:cubicBezTo>
                <a:lnTo>
                  <a:pt x="1238250" y="666750"/>
                </a:lnTo>
                <a:cubicBezTo>
                  <a:pt x="1238250" y="666750"/>
                  <a:pt x="1216928" y="666750"/>
                  <a:pt x="1190625" y="666750"/>
                </a:cubicBezTo>
                <a:lnTo>
                  <a:pt x="47625" y="666750"/>
                </a:lnTo>
                <a:cubicBezTo>
                  <a:pt x="21323" y="666750"/>
                  <a:pt x="0" y="666750"/>
                  <a:pt x="0" y="66675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44" name="AutoShape 44"/>
          <p:cNvSpPr/>
          <p:nvPr/>
        </p:nvSpPr>
        <p:spPr>
          <a:xfrm>
            <a:off x="8109585" y="2690838"/>
            <a:ext cx="6400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2C3E50"/>
                </a:solidFill>
                <a:latin typeface="微软雅黑"/>
                <a:ea typeface="微软雅黑"/>
                <a:cs typeface="微软雅黑"/>
                <a:sym typeface="微软雅黑"/>
              </a:rPr>
              <a:t>标签诊断</a:t>
            </a:r>
            <a:endParaRPr lang="en-US" sz="1100"/>
          </a:p>
        </p:txBody>
      </p:sp>
      <p:sp>
        <p:nvSpPr>
          <p:cNvPr id="45" name="AutoShape 45"/>
          <p:cNvSpPr/>
          <p:nvPr/>
        </p:nvSpPr>
        <p:spPr>
          <a:xfrm>
            <a:off x="8147685" y="2853870"/>
            <a:ext cx="56388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漏检/误检</a:t>
            </a:r>
            <a:endParaRPr lang="en-US" sz="1100"/>
          </a:p>
        </p:txBody>
      </p:sp>
      <p:sp>
        <p:nvSpPr>
          <p:cNvPr id="46" name="AutoShape 46"/>
          <p:cNvSpPr/>
          <p:nvPr/>
        </p:nvSpPr>
        <p:spPr>
          <a:xfrm>
            <a:off x="8100060" y="2977695"/>
            <a:ext cx="659130"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7F8C8D"/>
                </a:solidFill>
                <a:latin typeface="微软雅黑"/>
                <a:ea typeface="微软雅黑"/>
                <a:cs typeface="微软雅黑"/>
                <a:sym typeface="微软雅黑"/>
              </a:rPr>
              <a:t>框偏差统计</a:t>
            </a:r>
            <a:endParaRPr lang="en-US" sz="1100"/>
          </a:p>
        </p:txBody>
      </p:sp>
      <p:sp>
        <p:nvSpPr>
          <p:cNvPr id="47" name="AutoShape 47"/>
          <p:cNvSpPr/>
          <p:nvPr/>
        </p:nvSpPr>
        <p:spPr>
          <a:xfrm>
            <a:off x="8033808" y="3101520"/>
            <a:ext cx="791633"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2ECC71"/>
                </a:solidFill>
                <a:latin typeface="微软雅黑"/>
                <a:ea typeface="微软雅黑"/>
                <a:cs typeface="微软雅黑"/>
                <a:sym typeface="微软雅黑"/>
              </a:rPr>
              <a:t>输出</a:t>
            </a:r>
            <a:r>
              <a:rPr lang="en-US" sz="750" b="0" i="0" u="none" strike="noStrike">
                <a:solidFill>
                  <a:srgbClr val="2ECC71"/>
                </a:solidFill>
                <a:latin typeface="Arial"/>
                <a:ea typeface="Arial"/>
                <a:cs typeface="Arial"/>
                <a:sym typeface="Arial"/>
              </a:rPr>
              <a:t>P/R/mAP</a:t>
            </a:r>
            <a:endParaRPr lang="en-US" sz="1100"/>
          </a:p>
        </p:txBody>
      </p:sp>
      <p:sp>
        <p:nvSpPr>
          <p:cNvPr id="48" name="Freeform 48"/>
          <p:cNvSpPr/>
          <p:nvPr/>
        </p:nvSpPr>
        <p:spPr>
          <a:xfrm>
            <a:off x="9239250" y="2667000"/>
            <a:ext cx="857250" cy="666750"/>
          </a:xfrm>
          <a:custGeom>
            <a:avLst/>
            <a:gdLst/>
            <a:ahLst/>
            <a:cxnLst/>
            <a:rect l="l" t="t" r="r" b="b"/>
            <a:pathLst>
              <a:path w="857250" h="666750">
                <a:moveTo>
                  <a:pt x="809625" y="0"/>
                </a:moveTo>
                <a:cubicBezTo>
                  <a:pt x="835927" y="0"/>
                  <a:pt x="857250" y="0"/>
                  <a:pt x="857250" y="0"/>
                </a:cubicBezTo>
                <a:lnTo>
                  <a:pt x="857250" y="666750"/>
                </a:lnTo>
                <a:cubicBezTo>
                  <a:pt x="857250" y="666750"/>
                  <a:pt x="835927" y="666750"/>
                  <a:pt x="809625" y="666750"/>
                </a:cubicBezTo>
                <a:lnTo>
                  <a:pt x="47625" y="666750"/>
                </a:lnTo>
                <a:cubicBezTo>
                  <a:pt x="21323" y="666750"/>
                  <a:pt x="0" y="666750"/>
                  <a:pt x="0" y="666750"/>
                </a:cubicBezTo>
                <a:lnTo>
                  <a:pt x="0" y="0"/>
                </a:lnTo>
                <a:cubicBezTo>
                  <a:pt x="0" y="0"/>
                  <a:pt x="21323" y="0"/>
                  <a:pt x="47625" y="0"/>
                </a:cubicBezTo>
                <a:close/>
              </a:path>
            </a:pathLst>
          </a:custGeom>
          <a:solidFill>
            <a:srgbClr val="F39C12">
              <a:alpha val="10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49" name="AutoShape 49"/>
          <p:cNvSpPr/>
          <p:nvPr/>
        </p:nvSpPr>
        <p:spPr>
          <a:xfrm>
            <a:off x="9290685" y="2738463"/>
            <a:ext cx="754380"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1" i="0" u="none" strike="noStrike">
                <a:solidFill>
                  <a:srgbClr val="FFFFFF"/>
                </a:solidFill>
                <a:latin typeface="微软雅黑"/>
                <a:ea typeface="微软雅黑"/>
                <a:cs typeface="微软雅黑"/>
                <a:sym typeface="微软雅黑"/>
              </a:rPr>
              <a:t>下游验证</a:t>
            </a:r>
            <a:endParaRPr lang="en-US" sz="1100"/>
          </a:p>
        </p:txBody>
      </p:sp>
      <p:sp>
        <p:nvSpPr>
          <p:cNvPr id="50" name="AutoShape 50"/>
          <p:cNvSpPr/>
          <p:nvPr/>
        </p:nvSpPr>
        <p:spPr>
          <a:xfrm>
            <a:off x="9404985" y="2911573"/>
            <a:ext cx="525780" cy="204581"/>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统一 YOLO 训练</a:t>
            </a:r>
            <a:endParaRPr lang="en-US" sz="1100"/>
          </a:p>
        </p:txBody>
      </p:sp>
      <p:sp>
        <p:nvSpPr>
          <p:cNvPr id="51" name="AutoShape 51"/>
          <p:cNvSpPr/>
          <p:nvPr/>
        </p:nvSpPr>
        <p:spPr>
          <a:xfrm>
            <a:off x="9404985" y="3025873"/>
            <a:ext cx="525780" cy="204581"/>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性能保留率</a:t>
            </a:r>
            <a:endParaRPr lang="en-US" sz="1100"/>
          </a:p>
        </p:txBody>
      </p:sp>
      <p:sp>
        <p:nvSpPr>
          <p:cNvPr id="52" name="AutoShape 52"/>
          <p:cNvSpPr/>
          <p:nvPr/>
        </p:nvSpPr>
        <p:spPr>
          <a:xfrm>
            <a:off x="9404985" y="3140173"/>
            <a:ext cx="525780" cy="204581"/>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675" b="0" i="0" u="none" strike="noStrike">
                <a:solidFill>
                  <a:srgbClr val="FFFFFF"/>
                </a:solidFill>
                <a:latin typeface="微软雅黑"/>
                <a:ea typeface="微软雅黑"/>
                <a:cs typeface="微软雅黑"/>
                <a:sym typeface="微软雅黑"/>
              </a:rPr>
              <a:t>判断 V1 价值</a:t>
            </a:r>
            <a:endParaRPr lang="en-US" sz="1100"/>
          </a:p>
        </p:txBody>
      </p:sp>
      <p:sp>
        <p:nvSpPr>
          <p:cNvPr id="53" name="Freeform 53"/>
          <p:cNvSpPr/>
          <p:nvPr/>
        </p:nvSpPr>
        <p:spPr>
          <a:xfrm>
            <a:off x="1809750" y="3810000"/>
            <a:ext cx="8572500" cy="1143000"/>
          </a:xfrm>
          <a:custGeom>
            <a:avLst/>
            <a:gdLst/>
            <a:ahLst/>
            <a:cxnLst/>
            <a:rect l="l" t="t" r="r" b="b"/>
            <a:pathLst>
              <a:path w="8572500" h="1143000">
                <a:moveTo>
                  <a:pt x="8477250" y="0"/>
                </a:moveTo>
                <a:cubicBezTo>
                  <a:pt x="8529855" y="0"/>
                  <a:pt x="8572500" y="0"/>
                  <a:pt x="8572500" y="0"/>
                </a:cubicBezTo>
                <a:lnTo>
                  <a:pt x="8572500" y="1143000"/>
                </a:lnTo>
                <a:cubicBezTo>
                  <a:pt x="8572500" y="1143000"/>
                  <a:pt x="8529855" y="1143000"/>
                  <a:pt x="8477250" y="1143000"/>
                </a:cubicBezTo>
                <a:lnTo>
                  <a:pt x="95250" y="1143000"/>
                </a:lnTo>
                <a:cubicBezTo>
                  <a:pt x="42645" y="1143000"/>
                  <a:pt x="0" y="1143000"/>
                  <a:pt x="0" y="1143000"/>
                </a:cubicBezTo>
                <a:lnTo>
                  <a:pt x="0" y="0"/>
                </a:lnTo>
                <a:cubicBezTo>
                  <a:pt x="0" y="0"/>
                  <a:pt x="42645" y="0"/>
                  <a:pt x="95250" y="0"/>
                </a:cubicBezTo>
                <a:close/>
              </a:path>
            </a:pathLst>
          </a:custGeom>
          <a:gradFill rotWithShape="1">
            <a:gsLst>
              <a:gs pos="0">
                <a:srgbClr val="2ECC71">
                  <a:alpha val="100000"/>
                </a:srgbClr>
              </a:gs>
              <a:gs pos="50000">
                <a:srgbClr val="2ABD68">
                  <a:alpha val="100000"/>
                </a:srgbClr>
              </a:gs>
              <a:gs pos="100000">
                <a:srgbClr val="27AE60">
                  <a:alpha val="100000"/>
                </a:srgbClr>
              </a:gs>
            </a:gsLst>
            <a:lin ang="2700000"/>
          </a:gra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54" name="AutoShape 54"/>
          <p:cNvSpPr/>
          <p:nvPr/>
        </p:nvSpPr>
        <p:spPr>
          <a:xfrm>
            <a:off x="4890135" y="3820795"/>
            <a:ext cx="3543935" cy="299085"/>
          </a:xfrm>
          <a:prstGeom prst="rect">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1350" b="1" i="0" u="none" strike="noStrike" dirty="0">
                <a:solidFill>
                  <a:srgbClr val="FFFFFF"/>
                </a:solidFill>
                <a:latin typeface="微软雅黑"/>
                <a:ea typeface="微软雅黑"/>
                <a:cs typeface="微软雅黑"/>
                <a:sym typeface="微软雅黑"/>
              </a:rPr>
              <a:t>第三步：V1 </a:t>
            </a:r>
            <a:r>
              <a:rPr lang="en-US" sz="1350" b="1" i="0" u="none" strike="noStrike" dirty="0" err="1">
                <a:solidFill>
                  <a:srgbClr val="FFFFFF"/>
                </a:solidFill>
                <a:latin typeface="微软雅黑"/>
                <a:ea typeface="微软雅黑"/>
                <a:cs typeface="微软雅黑"/>
                <a:sym typeface="微软雅黑"/>
              </a:rPr>
              <a:t>批量生成与诊断</a:t>
            </a:r>
            <a:endParaRPr lang="en-US" sz="1100" dirty="0"/>
          </a:p>
        </p:txBody>
      </p:sp>
      <p:sp>
        <p:nvSpPr>
          <p:cNvPr id="55" name="Freeform 55"/>
          <p:cNvSpPr/>
          <p:nvPr/>
        </p:nvSpPr>
        <p:spPr>
          <a:xfrm>
            <a:off x="2286000" y="4286250"/>
            <a:ext cx="1905000" cy="571500"/>
          </a:xfrm>
          <a:custGeom>
            <a:avLst/>
            <a:gdLst/>
            <a:ahLst/>
            <a:cxnLst/>
            <a:rect l="l" t="t" r="r" b="b"/>
            <a:pathLst>
              <a:path w="1905000" h="571500">
                <a:moveTo>
                  <a:pt x="1857375" y="0"/>
                </a:moveTo>
                <a:cubicBezTo>
                  <a:pt x="1883678" y="0"/>
                  <a:pt x="1905000" y="0"/>
                  <a:pt x="1905000" y="0"/>
                </a:cubicBezTo>
                <a:lnTo>
                  <a:pt x="1905000" y="571500"/>
                </a:lnTo>
                <a:cubicBezTo>
                  <a:pt x="1905000" y="571500"/>
                  <a:pt x="1883678" y="571500"/>
                  <a:pt x="1857375" y="571500"/>
                </a:cubicBezTo>
                <a:lnTo>
                  <a:pt x="47625" y="571500"/>
                </a:lnTo>
                <a:cubicBezTo>
                  <a:pt x="21322" y="571500"/>
                  <a:pt x="0" y="571500"/>
                  <a:pt x="0" y="571500"/>
                </a:cubicBezTo>
                <a:lnTo>
                  <a:pt x="0" y="0"/>
                </a:lnTo>
                <a:cubicBezTo>
                  <a:pt x="0" y="0"/>
                  <a:pt x="21322"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56" name="AutoShape 56"/>
          <p:cNvSpPr/>
          <p:nvPr/>
        </p:nvSpPr>
        <p:spPr>
          <a:xfrm>
            <a:off x="2502731" y="4339401"/>
            <a:ext cx="975687" cy="267438"/>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dirty="0" err="1">
                <a:solidFill>
                  <a:srgbClr val="2C3E50"/>
                </a:solidFill>
                <a:latin typeface="微软雅黑"/>
                <a:ea typeface="微软雅黑"/>
                <a:cs typeface="微软雅黑"/>
                <a:sym typeface="微软雅黑"/>
              </a:rPr>
              <a:t>训练集</a:t>
            </a:r>
            <a:r>
              <a:rPr lang="en-US" sz="1050" b="1" i="0" u="none" strike="noStrike" dirty="0" err="1">
                <a:solidFill>
                  <a:srgbClr val="2C3E50"/>
                </a:solidFill>
                <a:latin typeface="Arial"/>
                <a:ea typeface="Arial"/>
                <a:cs typeface="Arial"/>
                <a:sym typeface="Arial"/>
              </a:rPr>
              <a:t>批量推理产出</a:t>
            </a:r>
            <a:r>
              <a:rPr lang="en-US" sz="1050" b="1" i="0" u="none" strike="noStrike" dirty="0">
                <a:solidFill>
                  <a:srgbClr val="2C3E50"/>
                </a:solidFill>
                <a:latin typeface="Arial"/>
                <a:ea typeface="Arial"/>
                <a:cs typeface="Arial"/>
                <a:sym typeface="Arial"/>
              </a:rPr>
              <a:t> V1</a:t>
            </a:r>
            <a:endParaRPr lang="en-US" sz="1100" dirty="0"/>
          </a:p>
        </p:txBody>
      </p:sp>
      <p:sp>
        <p:nvSpPr>
          <p:cNvPr id="57" name="Freeform 57"/>
          <p:cNvSpPr/>
          <p:nvPr/>
        </p:nvSpPr>
        <p:spPr>
          <a:xfrm>
            <a:off x="4381500" y="4286250"/>
            <a:ext cx="1905000" cy="571500"/>
          </a:xfrm>
          <a:custGeom>
            <a:avLst/>
            <a:gdLst/>
            <a:ahLst/>
            <a:cxnLst/>
            <a:rect l="l" t="t" r="r" b="b"/>
            <a:pathLst>
              <a:path w="1905000" h="571500">
                <a:moveTo>
                  <a:pt x="1857375" y="0"/>
                </a:moveTo>
                <a:cubicBezTo>
                  <a:pt x="1883678" y="0"/>
                  <a:pt x="1905000" y="0"/>
                  <a:pt x="1905000" y="0"/>
                </a:cubicBezTo>
                <a:lnTo>
                  <a:pt x="1905000" y="571500"/>
                </a:lnTo>
                <a:cubicBezTo>
                  <a:pt x="1905000" y="571500"/>
                  <a:pt x="1883678" y="571500"/>
                  <a:pt x="1857375" y="571500"/>
                </a:cubicBezTo>
                <a:lnTo>
                  <a:pt x="47625" y="571500"/>
                </a:lnTo>
                <a:cubicBezTo>
                  <a:pt x="21323" y="571500"/>
                  <a:pt x="0" y="571500"/>
                  <a:pt x="0" y="57150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58" name="AutoShape 58"/>
          <p:cNvSpPr/>
          <p:nvPr/>
        </p:nvSpPr>
        <p:spPr>
          <a:xfrm>
            <a:off x="4648536" y="4331990"/>
            <a:ext cx="975687" cy="267438"/>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dirty="0" err="1">
                <a:solidFill>
                  <a:srgbClr val="2C3E50"/>
                </a:solidFill>
                <a:latin typeface="微软雅黑"/>
                <a:ea typeface="微软雅黑"/>
                <a:cs typeface="微软雅黑"/>
                <a:sym typeface="微软雅黑"/>
              </a:rPr>
              <a:t>验证集</a:t>
            </a:r>
            <a:r>
              <a:rPr lang="en-US" sz="1050" b="1" i="0" u="none" strike="noStrike" dirty="0" err="1">
                <a:solidFill>
                  <a:srgbClr val="2C3E50"/>
                </a:solidFill>
                <a:latin typeface="Arial"/>
                <a:ea typeface="Arial"/>
                <a:cs typeface="Arial"/>
                <a:sym typeface="Arial"/>
              </a:rPr>
              <a:t>YOLO</a:t>
            </a:r>
            <a:r>
              <a:rPr lang="en-US" sz="1050" b="1" i="0" u="none" strike="noStrike" dirty="0">
                <a:solidFill>
                  <a:srgbClr val="2C3E50"/>
                </a:solidFill>
                <a:latin typeface="Arial"/>
                <a:ea typeface="Arial"/>
                <a:cs typeface="Arial"/>
                <a:sym typeface="Arial"/>
              </a:rPr>
              <a:t> </a:t>
            </a:r>
            <a:r>
              <a:rPr lang="en-US" sz="1050" b="1" i="0" u="none" strike="noStrike" dirty="0" err="1">
                <a:solidFill>
                  <a:srgbClr val="2C3E50"/>
                </a:solidFill>
                <a:latin typeface="Arial"/>
                <a:ea typeface="Arial"/>
                <a:cs typeface="Arial"/>
                <a:sym typeface="Arial"/>
              </a:rPr>
              <a:t>下游基线</a:t>
            </a:r>
            <a:endParaRPr lang="en-US" sz="1100" dirty="0"/>
          </a:p>
        </p:txBody>
      </p:sp>
      <p:sp>
        <p:nvSpPr>
          <p:cNvPr id="59" name="Freeform 59"/>
          <p:cNvSpPr/>
          <p:nvPr/>
        </p:nvSpPr>
        <p:spPr>
          <a:xfrm>
            <a:off x="6477000" y="4286250"/>
            <a:ext cx="1905000" cy="571500"/>
          </a:xfrm>
          <a:custGeom>
            <a:avLst/>
            <a:gdLst/>
            <a:ahLst/>
            <a:cxnLst/>
            <a:rect l="l" t="t" r="r" b="b"/>
            <a:pathLst>
              <a:path w="1905000" h="571500">
                <a:moveTo>
                  <a:pt x="1857375" y="0"/>
                </a:moveTo>
                <a:cubicBezTo>
                  <a:pt x="1883678" y="0"/>
                  <a:pt x="1905000" y="0"/>
                  <a:pt x="1905000" y="0"/>
                </a:cubicBezTo>
                <a:lnTo>
                  <a:pt x="1905000" y="571500"/>
                </a:lnTo>
                <a:cubicBezTo>
                  <a:pt x="1905000" y="571500"/>
                  <a:pt x="1883678" y="571500"/>
                  <a:pt x="1857375" y="571500"/>
                </a:cubicBezTo>
                <a:lnTo>
                  <a:pt x="47625" y="571500"/>
                </a:lnTo>
                <a:cubicBezTo>
                  <a:pt x="21323" y="571500"/>
                  <a:pt x="0" y="571500"/>
                  <a:pt x="0" y="571500"/>
                </a:cubicBezTo>
                <a:lnTo>
                  <a:pt x="0" y="0"/>
                </a:lnTo>
                <a:cubicBezTo>
                  <a:pt x="0" y="0"/>
                  <a:pt x="21323" y="0"/>
                  <a:pt x="47625" y="0"/>
                </a:cubicBezTo>
                <a:close/>
              </a:path>
            </a:pathLst>
          </a:custGeom>
          <a:solidFill>
            <a:srgbClr val="FFFFFF">
              <a:alpha val="9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60" name="AutoShape 60"/>
          <p:cNvSpPr/>
          <p:nvPr/>
        </p:nvSpPr>
        <p:spPr>
          <a:xfrm>
            <a:off x="6652683" y="4304562"/>
            <a:ext cx="975687" cy="267438"/>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1" i="0" u="none" strike="noStrike" dirty="0" err="1">
                <a:solidFill>
                  <a:srgbClr val="2C3E50"/>
                </a:solidFill>
                <a:latin typeface="微软雅黑"/>
                <a:ea typeface="微软雅黑"/>
                <a:cs typeface="微软雅黑"/>
                <a:sym typeface="微软雅黑"/>
              </a:rPr>
              <a:t>测试集</a:t>
            </a:r>
            <a:r>
              <a:rPr lang="en-US" sz="1050" b="1" i="0" u="none" strike="noStrike" dirty="0" err="1">
                <a:solidFill>
                  <a:srgbClr val="2C3E50"/>
                </a:solidFill>
                <a:latin typeface="Arial"/>
                <a:ea typeface="Arial"/>
                <a:cs typeface="Arial"/>
                <a:sym typeface="Arial"/>
              </a:rPr>
              <a:t>YOLO</a:t>
            </a:r>
            <a:r>
              <a:rPr lang="en-US" sz="1050" b="1" i="0" u="none" strike="noStrike" dirty="0">
                <a:solidFill>
                  <a:srgbClr val="2C3E50"/>
                </a:solidFill>
                <a:latin typeface="Arial"/>
                <a:ea typeface="Arial"/>
                <a:cs typeface="Arial"/>
                <a:sym typeface="Arial"/>
              </a:rPr>
              <a:t> </a:t>
            </a:r>
            <a:r>
              <a:rPr lang="en-US" sz="1050" b="1" i="0" u="none" strike="noStrike" dirty="0" err="1">
                <a:solidFill>
                  <a:srgbClr val="2C3E50"/>
                </a:solidFill>
                <a:latin typeface="Arial"/>
                <a:ea typeface="Arial"/>
                <a:cs typeface="Arial"/>
                <a:sym typeface="Arial"/>
              </a:rPr>
              <a:t>下游基线</a:t>
            </a:r>
            <a:endParaRPr lang="en-US" sz="1100" dirty="0"/>
          </a:p>
        </p:txBody>
      </p:sp>
      <p:sp>
        <p:nvSpPr>
          <p:cNvPr id="61" name="Freeform 61"/>
          <p:cNvSpPr/>
          <p:nvPr/>
        </p:nvSpPr>
        <p:spPr>
          <a:xfrm>
            <a:off x="8572500" y="4286250"/>
            <a:ext cx="1524000" cy="571500"/>
          </a:xfrm>
          <a:custGeom>
            <a:avLst/>
            <a:gdLst/>
            <a:ahLst/>
            <a:cxnLst/>
            <a:rect l="l" t="t" r="r" b="b"/>
            <a:pathLst>
              <a:path w="1524000" h="571500">
                <a:moveTo>
                  <a:pt x="1476375" y="0"/>
                </a:moveTo>
                <a:cubicBezTo>
                  <a:pt x="1502678" y="0"/>
                  <a:pt x="1524000" y="0"/>
                  <a:pt x="1524000" y="0"/>
                </a:cubicBezTo>
                <a:lnTo>
                  <a:pt x="1524000" y="571500"/>
                </a:lnTo>
                <a:cubicBezTo>
                  <a:pt x="1524000" y="571500"/>
                  <a:pt x="1502678" y="571500"/>
                  <a:pt x="1476375" y="571500"/>
                </a:cubicBezTo>
                <a:lnTo>
                  <a:pt x="47625" y="571500"/>
                </a:lnTo>
                <a:cubicBezTo>
                  <a:pt x="21323" y="571500"/>
                  <a:pt x="0" y="571500"/>
                  <a:pt x="0" y="571500"/>
                </a:cubicBezTo>
                <a:lnTo>
                  <a:pt x="0" y="0"/>
                </a:lnTo>
                <a:cubicBezTo>
                  <a:pt x="0" y="0"/>
                  <a:pt x="21323" y="0"/>
                  <a:pt x="47625" y="0"/>
                </a:cubicBezTo>
                <a:close/>
              </a:path>
            </a:pathLst>
          </a:custGeom>
          <a:solidFill>
            <a:srgbClr val="34495E">
              <a:alpha val="10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62" name="AutoShape 62"/>
          <p:cNvSpPr/>
          <p:nvPr/>
        </p:nvSpPr>
        <p:spPr>
          <a:xfrm>
            <a:off x="8814435" y="4279853"/>
            <a:ext cx="1040130" cy="280009"/>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125" b="1" i="0" u="none" strike="noStrike">
                <a:solidFill>
                  <a:srgbClr val="FFFFFF"/>
                </a:solidFill>
                <a:latin typeface="微软雅黑"/>
                <a:ea typeface="微软雅黑"/>
                <a:cs typeface="微软雅黑"/>
                <a:sym typeface="微软雅黑"/>
              </a:rPr>
              <a:t>标签层诊断</a:t>
            </a:r>
            <a:endParaRPr lang="en-US" sz="1100"/>
          </a:p>
        </p:txBody>
      </p:sp>
      <p:sp>
        <p:nvSpPr>
          <p:cNvPr id="63" name="AutoShape 63"/>
          <p:cNvSpPr/>
          <p:nvPr/>
        </p:nvSpPr>
        <p:spPr>
          <a:xfrm>
            <a:off x="8938683" y="4473120"/>
            <a:ext cx="791633"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BDC3C7"/>
                </a:solidFill>
                <a:latin typeface="微软雅黑"/>
                <a:ea typeface="微软雅黑"/>
                <a:cs typeface="微软雅黑"/>
                <a:sym typeface="微软雅黑"/>
              </a:rPr>
              <a:t>静态指标</a:t>
            </a:r>
            <a:r>
              <a:rPr lang="en-US" sz="750" b="0" i="0" u="none" strike="noStrike">
                <a:solidFill>
                  <a:srgbClr val="BDC3C7"/>
                </a:solidFill>
                <a:latin typeface="Arial"/>
                <a:ea typeface="Arial"/>
                <a:cs typeface="Arial"/>
                <a:sym typeface="Arial"/>
              </a:rPr>
              <a:t>P/R/mAP</a:t>
            </a:r>
            <a:endParaRPr lang="en-US" sz="1100"/>
          </a:p>
        </p:txBody>
      </p:sp>
      <p:sp>
        <p:nvSpPr>
          <p:cNvPr id="64" name="AutoShape 64"/>
          <p:cNvSpPr/>
          <p:nvPr/>
        </p:nvSpPr>
        <p:spPr>
          <a:xfrm>
            <a:off x="8938683" y="4587420"/>
            <a:ext cx="791633"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BDC3C7"/>
                </a:solidFill>
                <a:latin typeface="微软雅黑"/>
                <a:ea typeface="微软雅黑"/>
                <a:cs typeface="微软雅黑"/>
                <a:sym typeface="微软雅黑"/>
              </a:rPr>
              <a:t>性能保留率</a:t>
            </a:r>
            <a:r>
              <a:rPr lang="en-US" sz="750" b="0" i="0" u="none" strike="noStrike">
                <a:solidFill>
                  <a:srgbClr val="BDC3C7"/>
                </a:solidFill>
                <a:latin typeface="Arial"/>
                <a:ea typeface="Arial"/>
                <a:cs typeface="Arial"/>
                <a:sym typeface="Arial"/>
              </a:rPr>
              <a:t>相对人工 GT</a:t>
            </a:r>
            <a:endParaRPr lang="en-US" sz="1100"/>
          </a:p>
        </p:txBody>
      </p:sp>
      <p:sp>
        <p:nvSpPr>
          <p:cNvPr id="65" name="AutoShape 65"/>
          <p:cNvSpPr/>
          <p:nvPr/>
        </p:nvSpPr>
        <p:spPr>
          <a:xfrm>
            <a:off x="8938683" y="4701720"/>
            <a:ext cx="791633" cy="21715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750" b="0" i="0" u="none" strike="noStrike">
                <a:solidFill>
                  <a:srgbClr val="BDC3C7"/>
                </a:solidFill>
                <a:latin typeface="微软雅黑"/>
                <a:ea typeface="微软雅黑"/>
                <a:cs typeface="微软雅黑"/>
                <a:sym typeface="微软雅黑"/>
              </a:rPr>
              <a:t>可复现性</a:t>
            </a:r>
            <a:r>
              <a:rPr lang="en-US" sz="750" b="0" i="0" u="none" strike="noStrike">
                <a:solidFill>
                  <a:srgbClr val="BDC3C7"/>
                </a:solidFill>
                <a:latin typeface="Arial"/>
                <a:ea typeface="Arial"/>
                <a:cs typeface="Arial"/>
                <a:sym typeface="Arial"/>
              </a:rPr>
              <a:t>版本可反查</a:t>
            </a:r>
            <a:endParaRPr lang="en-US" sz="1100"/>
          </a:p>
        </p:txBody>
      </p:sp>
      <p:sp>
        <p:nvSpPr>
          <p:cNvPr id="66" name="Freeform 66"/>
          <p:cNvSpPr/>
          <p:nvPr/>
        </p:nvSpPr>
        <p:spPr>
          <a:xfrm>
            <a:off x="1809750" y="5334000"/>
            <a:ext cx="8572500" cy="762000"/>
          </a:xfrm>
          <a:custGeom>
            <a:avLst/>
            <a:gdLst/>
            <a:ahLst/>
            <a:cxnLst/>
            <a:rect l="l" t="t" r="r" b="b"/>
            <a:pathLst>
              <a:path w="8572500" h="762000">
                <a:moveTo>
                  <a:pt x="8477250" y="0"/>
                </a:moveTo>
                <a:cubicBezTo>
                  <a:pt x="8529855" y="0"/>
                  <a:pt x="8572500" y="0"/>
                  <a:pt x="8572500" y="0"/>
                </a:cubicBezTo>
                <a:lnTo>
                  <a:pt x="8572500" y="762000"/>
                </a:lnTo>
                <a:cubicBezTo>
                  <a:pt x="8572500" y="762000"/>
                  <a:pt x="8529855" y="762000"/>
                  <a:pt x="8477250" y="762000"/>
                </a:cubicBezTo>
                <a:lnTo>
                  <a:pt x="95250" y="762000"/>
                </a:lnTo>
                <a:cubicBezTo>
                  <a:pt x="42645" y="762000"/>
                  <a:pt x="0" y="762000"/>
                  <a:pt x="0" y="762000"/>
                </a:cubicBezTo>
                <a:lnTo>
                  <a:pt x="0" y="0"/>
                </a:lnTo>
                <a:cubicBezTo>
                  <a:pt x="0" y="0"/>
                  <a:pt x="42645" y="0"/>
                  <a:pt x="95250" y="0"/>
                </a:cubicBezTo>
                <a:close/>
              </a:path>
            </a:pathLst>
          </a:custGeom>
          <a:solidFill>
            <a:srgbClr val="E67E22">
              <a:alpha val="100000"/>
            </a:srgbClr>
          </a:solidFill>
          <a:ln w="12700" cap="flat" cmpd="sng">
            <a:noFill/>
            <a:prstDash val="solid"/>
            <a:round/>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67" name="AutoShape 67"/>
          <p:cNvSpPr/>
          <p:nvPr/>
        </p:nvSpPr>
        <p:spPr>
          <a:xfrm>
            <a:off x="4718685" y="5344992"/>
            <a:ext cx="2754630" cy="317723"/>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350" b="1" i="0" u="none" strike="noStrike">
                <a:solidFill>
                  <a:srgbClr val="FFFFFF"/>
                </a:solidFill>
                <a:latin typeface="微软雅黑"/>
                <a:ea typeface="微软雅黑"/>
                <a:cs typeface="微软雅黑"/>
                <a:sym typeface="微软雅黑"/>
              </a:rPr>
              <a:t>最终输出：V1 基准伪标签</a:t>
            </a:r>
            <a:endParaRPr lang="en-US" sz="1100"/>
          </a:p>
        </p:txBody>
      </p:sp>
      <p:sp>
        <p:nvSpPr>
          <p:cNvPr id="68" name="AutoShape 68"/>
          <p:cNvSpPr/>
          <p:nvPr/>
        </p:nvSpPr>
        <p:spPr>
          <a:xfrm>
            <a:off x="4520565" y="5585643"/>
            <a:ext cx="3934846" cy="267438"/>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1050" b="0" i="0" u="none" strike="noStrike" dirty="0" err="1">
                <a:solidFill>
                  <a:srgbClr val="FFFFFF"/>
                </a:solidFill>
                <a:latin typeface="微软雅黑"/>
                <a:ea typeface="微软雅黑"/>
                <a:cs typeface="微软雅黑"/>
                <a:sym typeface="微软雅黑"/>
              </a:rPr>
              <a:t>总计</a:t>
            </a:r>
            <a:r>
              <a:rPr lang="en-US" sz="1050" b="0" i="0" u="none" strike="noStrike" dirty="0" err="1">
                <a:solidFill>
                  <a:srgbClr val="FFFFFF"/>
                </a:solidFill>
                <a:latin typeface="Arial"/>
                <a:ea typeface="Arial"/>
                <a:cs typeface="Arial"/>
                <a:sym typeface="Arial"/>
              </a:rPr>
              <a:t>约</a:t>
            </a:r>
            <a:r>
              <a:rPr lang="en-US" sz="1050" b="0" i="0" u="none" strike="noStrike" dirty="0">
                <a:solidFill>
                  <a:srgbClr val="FFFFFF"/>
                </a:solidFill>
                <a:latin typeface="Arial"/>
                <a:ea typeface="Arial"/>
                <a:cs typeface="Arial"/>
                <a:sym typeface="Arial"/>
              </a:rPr>
              <a:t> 3000</a:t>
            </a:r>
            <a:r>
              <a:rPr lang="en-US" sz="1050" b="0" i="0" u="none" strike="noStrike" dirty="0">
                <a:solidFill>
                  <a:srgbClr val="FFFFFF"/>
                </a:solidFill>
                <a:latin typeface="微软雅黑"/>
                <a:ea typeface="微软雅黑"/>
                <a:cs typeface="微软雅黑"/>
                <a:sym typeface="微软雅黑"/>
              </a:rPr>
              <a:t>张图像</a:t>
            </a:r>
            <a:r>
              <a:rPr lang="en-US" sz="1050" b="0" i="0" u="none" strike="noStrike" dirty="0">
                <a:solidFill>
                  <a:srgbClr val="FFFFFF"/>
                </a:solidFill>
                <a:latin typeface="Arial"/>
                <a:ea typeface="Arial"/>
                <a:cs typeface="Arial"/>
                <a:sym typeface="Arial"/>
              </a:rPr>
              <a:t> | </a:t>
            </a:r>
            <a:r>
              <a:rPr lang="en-US" sz="1050" b="0" i="0" u="none" strike="noStrike" dirty="0" err="1">
                <a:solidFill>
                  <a:srgbClr val="FFFFFF"/>
                </a:solidFill>
                <a:latin typeface="微软雅黑"/>
                <a:ea typeface="微软雅黑"/>
                <a:cs typeface="微软雅黑"/>
                <a:sym typeface="微软雅黑"/>
              </a:rPr>
              <a:t>可直接用于</a:t>
            </a:r>
            <a:r>
              <a:rPr lang="en-US" sz="1050" b="0" i="0" u="none" strike="noStrike" dirty="0" err="1">
                <a:solidFill>
                  <a:srgbClr val="FFFFFF"/>
                </a:solidFill>
                <a:latin typeface="Arial"/>
                <a:ea typeface="Arial"/>
                <a:cs typeface="Arial"/>
                <a:sym typeface="Arial"/>
              </a:rPr>
              <a:t>YOLO</a:t>
            </a:r>
            <a:r>
              <a:rPr lang="en-US" sz="1050" b="0" i="0" u="none" strike="noStrike" dirty="0" err="1">
                <a:solidFill>
                  <a:srgbClr val="FFFFFF"/>
                </a:solidFill>
                <a:latin typeface="微软雅黑"/>
                <a:ea typeface="微软雅黑"/>
                <a:cs typeface="微软雅黑"/>
                <a:sym typeface="微软雅黑"/>
              </a:rPr>
              <a:t>训练</a:t>
            </a:r>
            <a:endParaRPr lang="en-US" sz="1100" dirty="0"/>
          </a:p>
        </p:txBody>
      </p:sp>
      <p:sp>
        <p:nvSpPr>
          <p:cNvPr id="69" name="AutoShape 69"/>
          <p:cNvSpPr/>
          <p:nvPr/>
        </p:nvSpPr>
        <p:spPr>
          <a:xfrm>
            <a:off x="4718685" y="5761425"/>
            <a:ext cx="3476595" cy="242295"/>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dirty="0" err="1">
                <a:solidFill>
                  <a:srgbClr val="FFFFFF"/>
                </a:solidFill>
                <a:latin typeface="微软雅黑"/>
                <a:ea typeface="微软雅黑"/>
                <a:cs typeface="微软雅黑"/>
                <a:sym typeface="微软雅黑"/>
              </a:rPr>
              <a:t>数据格式：标签版本</a:t>
            </a:r>
            <a:r>
              <a:rPr lang="en-US" sz="900" b="0" i="0" u="none" strike="noStrike" dirty="0">
                <a:solidFill>
                  <a:srgbClr val="FFFFFF"/>
                </a:solidFill>
                <a:latin typeface="微软雅黑"/>
                <a:ea typeface="微软雅黑"/>
                <a:cs typeface="微软雅黑"/>
                <a:sym typeface="微软雅黑"/>
              </a:rPr>
              <a:t> + </a:t>
            </a:r>
            <a:r>
              <a:rPr lang="en-US" sz="900" b="0" i="0" u="none" strike="noStrike" dirty="0" err="1">
                <a:solidFill>
                  <a:srgbClr val="FFFFFF"/>
                </a:solidFill>
                <a:latin typeface="微软雅黑"/>
                <a:ea typeface="微软雅黑"/>
                <a:cs typeface="微软雅黑"/>
                <a:sym typeface="微软雅黑"/>
              </a:rPr>
              <a:t>配置指纹</a:t>
            </a:r>
            <a:r>
              <a:rPr lang="en-US" sz="900" b="0" i="0" u="none" strike="noStrike" dirty="0">
                <a:solidFill>
                  <a:srgbClr val="FFFFFF"/>
                </a:solidFill>
                <a:latin typeface="微软雅黑"/>
                <a:ea typeface="微软雅黑"/>
                <a:cs typeface="微软雅黑"/>
                <a:sym typeface="微软雅黑"/>
              </a:rPr>
              <a:t> + </a:t>
            </a:r>
            <a:r>
              <a:rPr lang="en-US" sz="900" b="0" i="0" u="none" strike="noStrike" dirty="0" err="1">
                <a:solidFill>
                  <a:srgbClr val="FFFFFF"/>
                </a:solidFill>
                <a:latin typeface="微软雅黑"/>
                <a:ea typeface="微软雅黑"/>
                <a:cs typeface="微软雅黑"/>
                <a:sym typeface="微软雅黑"/>
              </a:rPr>
              <a:t>训练记录</a:t>
            </a:r>
            <a:endParaRPr lang="en-US" sz="1100" dirty="0"/>
          </a:p>
        </p:txBody>
      </p:sp>
      <p:sp>
        <p:nvSpPr>
          <p:cNvPr id="70" name="Freeform 70"/>
          <p:cNvSpPr/>
          <p:nvPr/>
        </p:nvSpPr>
        <p:spPr>
          <a:xfrm>
            <a:off x="6096000" y="1905000"/>
            <a:ext cx="0" cy="333375"/>
          </a:xfrm>
          <a:custGeom>
            <a:avLst/>
            <a:gdLst/>
            <a:ahLst/>
            <a:cxnLst/>
            <a:rect l="l" t="t" r="r" b="b"/>
            <a:pathLst>
              <a:path h="333375">
                <a:moveTo>
                  <a:pt x="0" y="0"/>
                </a:moveTo>
                <a:lnTo>
                  <a:pt x="0" y="333375"/>
                </a:lnTo>
              </a:path>
            </a:pathLst>
          </a:custGeom>
          <a:solidFill>
            <a:srgbClr val="000000">
              <a:alpha val="100000"/>
            </a:srgbClr>
          </a:solidFill>
          <a:ln w="38100" cap="flat" cmpd="sng">
            <a:solidFill>
              <a:srgbClr val="34495E">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71" name="Freeform 71"/>
          <p:cNvSpPr/>
          <p:nvPr/>
        </p:nvSpPr>
        <p:spPr>
          <a:xfrm>
            <a:off x="6096000" y="3429000"/>
            <a:ext cx="0" cy="333375"/>
          </a:xfrm>
          <a:custGeom>
            <a:avLst/>
            <a:gdLst/>
            <a:ahLst/>
            <a:cxnLst/>
            <a:rect l="l" t="t" r="r" b="b"/>
            <a:pathLst>
              <a:path h="333375">
                <a:moveTo>
                  <a:pt x="0" y="0"/>
                </a:moveTo>
                <a:lnTo>
                  <a:pt x="0" y="333375"/>
                </a:lnTo>
              </a:path>
            </a:pathLst>
          </a:custGeom>
          <a:solidFill>
            <a:srgbClr val="000000">
              <a:alpha val="100000"/>
            </a:srgbClr>
          </a:solidFill>
          <a:ln w="38100" cap="flat" cmpd="sng">
            <a:solidFill>
              <a:srgbClr val="34495E">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72" name="Freeform 72"/>
          <p:cNvSpPr/>
          <p:nvPr/>
        </p:nvSpPr>
        <p:spPr>
          <a:xfrm>
            <a:off x="6096000" y="4953000"/>
            <a:ext cx="0" cy="333375"/>
          </a:xfrm>
          <a:custGeom>
            <a:avLst/>
            <a:gdLst/>
            <a:ahLst/>
            <a:cxnLst/>
            <a:rect l="l" t="t" r="r" b="b"/>
            <a:pathLst>
              <a:path h="333375">
                <a:moveTo>
                  <a:pt x="0" y="0"/>
                </a:moveTo>
                <a:lnTo>
                  <a:pt x="0" y="333375"/>
                </a:lnTo>
              </a:path>
            </a:pathLst>
          </a:custGeom>
          <a:solidFill>
            <a:srgbClr val="000000">
              <a:alpha val="100000"/>
            </a:srgbClr>
          </a:solidFill>
          <a:ln w="38100" cap="flat" cmpd="sng">
            <a:solidFill>
              <a:srgbClr val="34495E">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73" name="Freeform 73"/>
          <p:cNvSpPr/>
          <p:nvPr/>
        </p:nvSpPr>
        <p:spPr>
          <a:xfrm>
            <a:off x="1809750" y="6286500"/>
            <a:ext cx="8572500" cy="381000"/>
          </a:xfrm>
          <a:custGeom>
            <a:avLst/>
            <a:gdLst/>
            <a:ahLst/>
            <a:cxnLst/>
            <a:rect l="l" t="t" r="r" b="b"/>
            <a:pathLst>
              <a:path w="8572500" h="381000">
                <a:moveTo>
                  <a:pt x="8524875" y="0"/>
                </a:moveTo>
                <a:cubicBezTo>
                  <a:pt x="8551177" y="0"/>
                  <a:pt x="8572500" y="0"/>
                  <a:pt x="8572500" y="0"/>
                </a:cubicBezTo>
                <a:lnTo>
                  <a:pt x="8572500" y="381000"/>
                </a:lnTo>
                <a:cubicBezTo>
                  <a:pt x="8572500" y="381000"/>
                  <a:pt x="8551177" y="381000"/>
                  <a:pt x="8524875" y="381000"/>
                </a:cubicBezTo>
                <a:lnTo>
                  <a:pt x="47625" y="381000"/>
                </a:lnTo>
                <a:cubicBezTo>
                  <a:pt x="21322" y="381000"/>
                  <a:pt x="0" y="381000"/>
                  <a:pt x="0" y="381000"/>
                </a:cubicBezTo>
                <a:lnTo>
                  <a:pt x="0" y="0"/>
                </a:lnTo>
                <a:cubicBezTo>
                  <a:pt x="0" y="0"/>
                  <a:pt x="21322" y="0"/>
                  <a:pt x="47625" y="0"/>
                </a:cubicBezTo>
                <a:close/>
              </a:path>
            </a:pathLst>
          </a:custGeom>
          <a:solidFill>
            <a:srgbClr val="F8F9FA">
              <a:alpha val="100000"/>
            </a:srgbClr>
          </a:solidFill>
          <a:ln w="12700" cap="flat" cmpd="sng">
            <a:solidFill>
              <a:srgbClr val="BDC3C7">
                <a:alpha val="100000"/>
              </a:srgbClr>
            </a:solidFill>
            <a:prstDash val="solid"/>
            <a:miter lim="1000000"/>
          </a:ln>
        </p:spPr>
        <p:txBody>
          <a:bodyPr vert="horz" wrap="square" lIns="91440" tIns="45720" rIns="91440" bIns="45720" rtlCol="0" anchor="ctr">
            <a:noAutofit/>
          </a:bodyPr>
          <a:lstStyle/>
          <a:p>
            <a:pPr marL="0" indent="0" algn="l">
              <a:lnSpc>
                <a:spcPct val="100000"/>
              </a:lnSpc>
              <a:defRPr/>
            </a:pPr>
            <a:r>
              <a:rPr lang="en-US" sz="1400" b="0" i="0" u="none" strike="noStrike">
                <a:solidFill>
                  <a:srgbClr val="000000"/>
                </a:solidFill>
                <a:latin typeface="Arial"/>
                <a:ea typeface="Arial"/>
                <a:cs typeface="Arial"/>
                <a:sym typeface="Arial"/>
              </a:rPr>
              <a:t> </a:t>
            </a:r>
            <a:endParaRPr lang="en-US" sz="1100"/>
          </a:p>
        </p:txBody>
      </p:sp>
      <p:sp>
        <p:nvSpPr>
          <p:cNvPr id="74" name="AutoShape 74"/>
          <p:cNvSpPr/>
          <p:nvPr/>
        </p:nvSpPr>
        <p:spPr>
          <a:xfrm>
            <a:off x="3876001" y="6307938"/>
            <a:ext cx="4558030" cy="229870"/>
          </a:xfrm>
          <a:prstGeom prst="rect">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900" b="0" i="0" u="none" strike="noStrike">
                <a:solidFill>
                  <a:srgbClr val="2C3E50"/>
                </a:solidFill>
                <a:latin typeface="Noto Sans SC"/>
                <a:ea typeface="Noto Sans SC"/>
                <a:cs typeface="Noto Sans SC"/>
                <a:sym typeface="Noto Sans SC"/>
              </a:rPr>
              <a:t>💡</a:t>
            </a:r>
            <a:r>
              <a:rPr lang="en-US" sz="900" b="0" i="0" u="none" strike="noStrike">
                <a:solidFill>
                  <a:srgbClr val="2C3E50"/>
                </a:solidFill>
                <a:latin typeface="Arial"/>
                <a:ea typeface="Arial"/>
                <a:cs typeface="Arial"/>
                <a:sym typeface="Arial"/>
              </a:rPr>
              <a:t> </a:t>
            </a:r>
            <a:r>
              <a:rPr lang="en-US" sz="900" b="0" i="0" u="none" strike="noStrike">
                <a:solidFill>
                  <a:srgbClr val="2C3E50"/>
                </a:solidFill>
                <a:latin typeface="微软雅黑"/>
                <a:ea typeface="微软雅黑"/>
                <a:cs typeface="微软雅黑"/>
                <a:sym typeface="微软雅黑"/>
              </a:rPr>
              <a:t>关键优势：训练/开发/隔离测试物理隔离，参数配置与评估基准可复现，避免数据泄漏</a:t>
            </a:r>
            <a:endParaRPr lang="en-US" sz="1100"/>
          </a:p>
        </p:txBody>
      </p:sp>
      <p:pic>
        <p:nvPicPr>
          <p:cNvPr id="75" name="Picture 75"/>
          <p:cNvPicPr>
            <a:picLocks noChangeAspect="1"/>
          </p:cNvPicPr>
          <p:nvPr/>
        </p:nvPicPr>
        <p:blipFill>
          <a:blip r:embed="rId4"/>
          <a:srcRect/>
          <a:stretch>
            <a:fillRect/>
          </a:stretch>
        </p:blipFill>
        <p:spPr>
          <a:xfrm>
            <a:off x="304165" y="186690"/>
            <a:ext cx="526415" cy="526415"/>
          </a:xfrm>
          <a:prstGeom prst="rect">
            <a:avLst/>
          </a:prstGeom>
          <a:ln w="12700" cap="flat" cmpd="sng">
            <a:noFill/>
            <a:prstDash val="solid"/>
            <a:rou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173" y="2922324"/>
            <a:ext cx="6261654" cy="1348631"/>
          </a:xfrm>
          <a:custGeom>
            <a:avLst/>
            <a:gdLst/>
            <a:ahLst/>
            <a:cxnLst/>
            <a:rect l="l" t="t" r="r" b="b"/>
            <a:pathLst>
              <a:path w="6261654" h="1348631">
                <a:moveTo>
                  <a:pt x="674315" y="0"/>
                </a:moveTo>
                <a:lnTo>
                  <a:pt x="674326" y="1"/>
                </a:lnTo>
                <a:lnTo>
                  <a:pt x="5558735" y="1"/>
                </a:lnTo>
                <a:lnTo>
                  <a:pt x="5558735" y="2885"/>
                </a:lnTo>
                <a:lnTo>
                  <a:pt x="5587340" y="1"/>
                </a:lnTo>
                <a:cubicBezTo>
                  <a:pt x="5959753" y="1"/>
                  <a:pt x="6261654" y="301902"/>
                  <a:pt x="6261654" y="674315"/>
                </a:cubicBezTo>
                <a:cubicBezTo>
                  <a:pt x="6261654" y="1046730"/>
                  <a:pt x="5959753" y="1348631"/>
                  <a:pt x="5587340" y="1348631"/>
                </a:cubicBezTo>
                <a:lnTo>
                  <a:pt x="5558735" y="1345748"/>
                </a:lnTo>
                <a:lnTo>
                  <a:pt x="5558735" y="1348630"/>
                </a:lnTo>
                <a:lnTo>
                  <a:pt x="674315" y="1348630"/>
                </a:lnTo>
                <a:cubicBezTo>
                  <a:pt x="301901" y="1348630"/>
                  <a:pt x="0" y="1046729"/>
                  <a:pt x="0" y="674315"/>
                </a:cubicBezTo>
                <a:cubicBezTo>
                  <a:pt x="0" y="301901"/>
                  <a:pt x="301901" y="0"/>
                  <a:pt x="674315"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3670300" y="3271520"/>
            <a:ext cx="5556250" cy="119888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4.研究创新点与预期贡献</a:t>
            </a:r>
            <a:endParaRPr lang="en-US" sz="1100"/>
          </a:p>
          <a:p>
            <a:pPr marL="0" indent="0" algn="l" defTabSz="914400">
              <a:lnSpc>
                <a:spcPct val="100000"/>
              </a:lnSpc>
            </a:pPr>
            <a:r>
              <a:rPr lang="en-US" sz="3600" b="0" i="0" u="none" strike="noStrike">
                <a:solidFill>
                  <a:srgbClr val="000000"/>
                </a:solidFill>
                <a:latin typeface="等线"/>
                <a:ea typeface="等线"/>
                <a:cs typeface="等线"/>
                <a:sym typeface="等线"/>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4"/>
          <a:srcRect/>
          <a:stretch>
            <a:fillRect/>
          </a:stretch>
        </p:blipFill>
        <p:spPr>
          <a:xfrm>
            <a:off x="4018691" y="4924757"/>
            <a:ext cx="7724775" cy="1845797"/>
          </a:xfrm>
          <a:prstGeom prst="rect">
            <a:avLst/>
          </a:prstGeom>
          <a:noFill/>
          <a:ln w="25400" cap="flat" cmpd="sng">
            <a:noFill/>
            <a:prstDash val="solid"/>
            <a:round/>
          </a:ln>
        </p:spPr>
      </p:pic>
      <p:pic>
        <p:nvPicPr>
          <p:cNvPr id="3" name="Picture 3"/>
          <p:cNvPicPr>
            <a:picLocks noChangeAspect="1"/>
          </p:cNvPicPr>
          <p:nvPr/>
        </p:nvPicPr>
        <p:blipFill>
          <a:blip r:embed="rId4"/>
          <a:srcRect/>
          <a:stretch>
            <a:fillRect/>
          </a:stretch>
        </p:blipFill>
        <p:spPr>
          <a:xfrm>
            <a:off x="4018691" y="2980914"/>
            <a:ext cx="7724775" cy="1845797"/>
          </a:xfrm>
          <a:prstGeom prst="rect">
            <a:avLst/>
          </a:prstGeom>
          <a:noFill/>
          <a:ln w="25400" cap="flat" cmpd="sng">
            <a:noFill/>
            <a:prstDash val="solid"/>
            <a:round/>
          </a:ln>
        </p:spPr>
      </p:pic>
      <p:pic>
        <p:nvPicPr>
          <p:cNvPr id="4" name="Picture 4"/>
          <p:cNvPicPr>
            <a:picLocks noChangeAspect="1"/>
          </p:cNvPicPr>
          <p:nvPr/>
        </p:nvPicPr>
        <p:blipFill>
          <a:blip r:embed="rId4"/>
          <a:srcRect/>
          <a:stretch>
            <a:fillRect/>
          </a:stretch>
        </p:blipFill>
        <p:spPr>
          <a:xfrm>
            <a:off x="4018966" y="1175051"/>
            <a:ext cx="7724775" cy="1695450"/>
          </a:xfrm>
          <a:prstGeom prst="rect">
            <a:avLst/>
          </a:prstGeom>
          <a:noFill/>
          <a:ln w="25400" cap="flat" cmpd="sng">
            <a:noFill/>
            <a:prstDash val="solid"/>
            <a:round/>
          </a:ln>
        </p:spPr>
      </p:pic>
      <p:sp>
        <p:nvSpPr>
          <p:cNvPr id="5" name="AutoShape 5"/>
          <p:cNvSpPr/>
          <p:nvPr/>
        </p:nvSpPr>
        <p:spPr>
          <a:xfrm>
            <a:off x="5161144" y="5581542"/>
            <a:ext cx="6412026" cy="1038666"/>
          </a:xfrm>
          <a:prstGeom prst="roundRect">
            <a:avLst>
              <a:gd name="adj" fmla="val 0"/>
            </a:avLst>
          </a:prstGeom>
          <a:noFill/>
          <a:ln w="25400" cap="flat" cmpd="sng">
            <a:noFill/>
            <a:prstDash val="solid"/>
            <a:round/>
          </a:ln>
        </p:spPr>
        <p:txBody>
          <a:bodyPr vert="horz" wrap="square" lIns="0" tIns="0" rIns="0" bIns="0" rtlCol="0" anchor="t" anchorCtr="0"/>
          <a:lstStyle/>
          <a:p>
            <a:pPr algn="just">
              <a:defRPr/>
            </a:pP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面向火烟边界弥散、非刚性等视觉特征，构建“</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Grounding DINO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定位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SAM3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审核补漏 </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YOLO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裁判”的三级级联架构；通过按角色分离权限，严格限制后置节点改框权力，避免多模型级联的负向修改与几何退化；引入阶段门控实现数据制备流程标准化，提升工业级复现性。与把大模型当更强标注器直接替换框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避免负向修改与几何退化，提升可复现性。</a:t>
            </a:r>
          </a:p>
          <a:p>
            <a:pPr algn="just">
              <a:defRPr/>
            </a:pPr>
            <a:endParaRPr lang="en-US" sz="1100" dirty="0">
              <a:latin typeface="Microsoft YaHei" panose="020B0503020204020204" pitchFamily="34" charset="-122"/>
              <a:ea typeface="Microsoft YaHei" panose="020B0503020204020204" pitchFamily="34" charset="-122"/>
            </a:endParaRPr>
          </a:p>
        </p:txBody>
      </p:sp>
      <p:sp>
        <p:nvSpPr>
          <p:cNvPr id="6" name="AutoShape 6"/>
          <p:cNvSpPr/>
          <p:nvPr/>
        </p:nvSpPr>
        <p:spPr>
          <a:xfrm>
            <a:off x="5150566" y="5087473"/>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弱监督</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异构大模型级联</a:t>
            </a:r>
            <a:r>
              <a:rPr lang="zh-CN" altLang="en-US" sz="1800" b="1" i="0" u="none" strike="noStrike"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伪标签生成</a:t>
            </a: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管线</a:t>
            </a:r>
            <a:endParaRPr lang="en-US" sz="1100" dirty="0">
              <a:latin typeface="Microsoft YaHei" panose="020B0503020204020204" pitchFamily="34" charset="-122"/>
              <a:ea typeface="Microsoft YaHei" panose="020B0503020204020204" pitchFamily="34" charset="-122"/>
            </a:endParaRPr>
          </a:p>
        </p:txBody>
      </p:sp>
      <p:sp>
        <p:nvSpPr>
          <p:cNvPr id="7" name="AutoShape 7"/>
          <p:cNvSpPr/>
          <p:nvPr/>
        </p:nvSpPr>
        <p:spPr>
          <a:xfrm>
            <a:off x="5161144" y="3674244"/>
            <a:ext cx="6412026" cy="1050156"/>
          </a:xfrm>
          <a:prstGeom prst="roundRect">
            <a:avLst>
              <a:gd name="adj" fmla="val 0"/>
            </a:avLst>
          </a:prstGeom>
          <a:noFill/>
          <a:ln w="12700" cap="flat" cmpd="sng">
            <a:noFill/>
            <a:prstDash val="solid"/>
            <a:round/>
          </a:ln>
        </p:spPr>
        <p:txBody>
          <a:bodyPr vert="horz" wrap="square" lIns="0" tIns="0" rIns="0" bIns="0" rtlCol="0" anchor="t">
            <a:noAutofit/>
          </a:bodyPr>
          <a:lstStyle/>
          <a:p>
            <a:pPr algn="just">
              <a:defRPr/>
            </a:pPr>
            <a:r>
              <a:rPr kumimoji="1" lang="zh-CN" altLang="en-US" dirty="0">
                <a:latin typeface="Microsoft YaHei" panose="020B0503020204020204" pitchFamily="34" charset="-122"/>
                <a:ea typeface="Microsoft YaHei" panose="020B0503020204020204" pitchFamily="34" charset="-122"/>
                <a:sym typeface="MiSans"/>
              </a:rPr>
              <a:t>将经验</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文本提示转为可冻结的工程参数，按“独立评测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主排序</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稳定区间</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硬冻结”四步法确定提示词与阈值；引入中心点偏移与边界容差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IoU</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审计标注风格差异，通过模型</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测试集冲突仲裁及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IoF</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包含率过滤阻断定位噪声；针对火焰类别设计保守验证策略，保障召回并压制误检。与只凭经验试提示词、只看单一 </a:t>
            </a:r>
            <a:r>
              <a:rPr lang="en-US" altLang="zh-CN" dirty="0" err="1">
                <a:solidFill>
                  <a:srgbClr val="262626"/>
                </a:solidFill>
                <a:latin typeface="Microsoft YaHei" panose="020B0503020204020204" pitchFamily="34" charset="-122"/>
                <a:ea typeface="Microsoft YaHei" panose="020B0503020204020204" pitchFamily="34" charset="-122"/>
                <a:cs typeface="MiSans"/>
                <a:sym typeface="MiSans"/>
              </a:rPr>
              <a:t>mAP</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 </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不同</a:t>
            </a:r>
            <a:r>
              <a:rPr lang="en-US" altLang="zh-CN" dirty="0">
                <a:solidFill>
                  <a:srgbClr val="262626"/>
                </a:solidFill>
                <a:latin typeface="Microsoft YaHei" panose="020B0503020204020204" pitchFamily="34" charset="-122"/>
                <a:ea typeface="Microsoft YaHei" panose="020B0503020204020204" pitchFamily="34" charset="-122"/>
                <a:cs typeface="MiSans"/>
                <a:sym typeface="MiSans"/>
              </a:rPr>
              <a:t>——</a:t>
            </a:r>
            <a:r>
              <a:rPr lang="zh-CN" altLang="en-US" dirty="0">
                <a:solidFill>
                  <a:srgbClr val="262626"/>
                </a:solidFill>
                <a:latin typeface="Microsoft YaHei" panose="020B0503020204020204" pitchFamily="34" charset="-122"/>
                <a:ea typeface="Microsoft YaHei" panose="020B0503020204020204" pitchFamily="34" charset="-122"/>
                <a:cs typeface="MiSans"/>
                <a:sym typeface="MiSans"/>
              </a:rPr>
              <a:t>稳定、高效、可复现。</a:t>
            </a:r>
            <a:endParaRPr lang="en-US" sz="1100" dirty="0">
              <a:latin typeface="Microsoft YaHei" panose="020B0503020204020204" pitchFamily="34" charset="-122"/>
              <a:ea typeface="Microsoft YaHei" panose="020B0503020204020204" pitchFamily="34" charset="-122"/>
            </a:endParaRPr>
          </a:p>
        </p:txBody>
      </p:sp>
      <p:sp>
        <p:nvSpPr>
          <p:cNvPr id="8" name="AutoShape 8"/>
          <p:cNvSpPr/>
          <p:nvPr/>
        </p:nvSpPr>
        <p:spPr>
          <a:xfrm>
            <a:off x="5150566" y="316405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marL="0" indent="0" algn="l" defTabSz="914400">
              <a:lnSpc>
                <a:spcPct val="100000"/>
              </a:lnSpc>
              <a:defRPr/>
            </a:pPr>
            <a:r>
              <a:rPr lang="en-US" sz="1800" b="1" i="0" u="none" strike="noStrike" dirty="0" err="1">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低预算提示冻结与噪声审计</a:t>
            </a:r>
            <a:endParaRPr lang="en-US" sz="1100" dirty="0">
              <a:latin typeface="Microsoft YaHei" panose="020B0503020204020204" pitchFamily="34" charset="-122"/>
              <a:ea typeface="Microsoft YaHei" panose="020B0503020204020204" pitchFamily="34" charset="-122"/>
            </a:endParaRPr>
          </a:p>
        </p:txBody>
      </p:sp>
      <p:sp>
        <p:nvSpPr>
          <p:cNvPr id="9" name="AutoShape 9"/>
          <p:cNvSpPr/>
          <p:nvPr/>
        </p:nvSpPr>
        <p:spPr>
          <a:xfrm>
            <a:off x="5103598" y="1707496"/>
            <a:ext cx="6412026" cy="984570"/>
          </a:xfrm>
          <a:prstGeom prst="roundRect">
            <a:avLst>
              <a:gd name="adj" fmla="val 0"/>
            </a:avLst>
          </a:prstGeom>
          <a:noFill/>
          <a:ln w="12700" cap="flat" cmpd="sng">
            <a:noFill/>
            <a:prstDash val="solid"/>
            <a:round/>
          </a:ln>
        </p:spPr>
        <p:txBody>
          <a:bodyPr vert="horz" wrap="square" lIns="0" tIns="0" rIns="0" bIns="0" rtlCol="0" anchor="t">
            <a:noAutofit/>
          </a:bodyPr>
          <a:lstStyle/>
          <a:p>
            <a:pPr marL="0" indent="0" algn="just" defTabSz="914400">
              <a:lnSpc>
                <a:spcPct val="150000"/>
              </a:lnSpc>
              <a:defRPr/>
            </a:pPr>
            <a:endParaRPr lang="en-US" sz="1100" dirty="0">
              <a:latin typeface="Microsoft YaHei" panose="020B0503020204020204" pitchFamily="34" charset="-122"/>
              <a:ea typeface="Microsoft YaHei" panose="020B0503020204020204" pitchFamily="34" charset="-122"/>
            </a:endParaRPr>
          </a:p>
        </p:txBody>
      </p:sp>
      <p:sp>
        <p:nvSpPr>
          <p:cNvPr id="10" name="AutoShape 10"/>
          <p:cNvSpPr/>
          <p:nvPr/>
        </p:nvSpPr>
        <p:spPr>
          <a:xfrm>
            <a:off x="5149296" y="1299698"/>
            <a:ext cx="5528761" cy="480976"/>
          </a:xfrm>
          <a:prstGeom prst="roundRect">
            <a:avLst>
              <a:gd name="adj" fmla="val 0"/>
            </a:avLst>
          </a:prstGeom>
          <a:noFill/>
          <a:ln w="12700" cap="flat" cmpd="sng">
            <a:noFill/>
            <a:prstDash val="solid"/>
            <a:round/>
          </a:ln>
        </p:spPr>
        <p:txBody>
          <a:bodyPr vert="horz" wrap="square" lIns="0" tIns="0" rIns="0" bIns="0" rtlCol="0" anchor="ctr">
            <a:noAutofit/>
          </a:bodyPr>
          <a:lstStyle/>
          <a:p>
            <a:pPr>
              <a:defRPr/>
            </a:pP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标注成本独立核算与跨尺度情景 </a:t>
            </a:r>
            <a:r>
              <a:rPr lang="en-US" altLang="zh-CN"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Pareto </a:t>
            </a:r>
            <a:r>
              <a:rPr lang="zh-CN" altLang="en-US" sz="1800" b="1" dirty="0">
                <a:solidFill>
                  <a:srgbClr val="0A3760"/>
                </a:solidFill>
                <a:effectLst>
                  <a:outerShdw blurRad="38100" dist="25400" dir="5400000" algn="ctr">
                    <a:srgbClr val="6E747A">
                      <a:alpha val="43000"/>
                    </a:srgbClr>
                  </a:outerShdw>
                </a:effectLst>
                <a:latin typeface="Microsoft YaHei" panose="020B0503020204020204" pitchFamily="34" charset="-122"/>
                <a:ea typeface="Microsoft YaHei" panose="020B0503020204020204" pitchFamily="34" charset="-122"/>
                <a:cs typeface="MiSans"/>
                <a:sym typeface="MiSans"/>
              </a:rPr>
              <a:t>选型矩阵</a:t>
            </a:r>
            <a:endParaRPr lang="en-US" sz="1100" dirty="0">
              <a:latin typeface="Microsoft YaHei" panose="020B0503020204020204" pitchFamily="34" charset="-122"/>
              <a:ea typeface="Microsoft YaHei" panose="020B0503020204020204" pitchFamily="34" charset="-122"/>
            </a:endParaRPr>
          </a:p>
        </p:txBody>
      </p:sp>
      <p:sp>
        <p:nvSpPr>
          <p:cNvPr id="11" name="AutoShape 11"/>
          <p:cNvSpPr/>
          <p:nvPr/>
        </p:nvSpPr>
        <p:spPr>
          <a:xfrm>
            <a:off x="4036695" y="394335"/>
            <a:ext cx="6780530" cy="622935"/>
          </a:xfrm>
          <a:prstGeom prst="roundRect">
            <a:avLst>
              <a:gd name="adj" fmla="val 0"/>
            </a:avLst>
          </a:prstGeom>
          <a:noFill/>
          <a:ln w="25400" cap="flat" cmpd="sng">
            <a:noFill/>
            <a:prstDash val="solid"/>
            <a:round/>
          </a:ln>
        </p:spPr>
        <p:txBody>
          <a:bodyPr vert="horz" wrap="square" lIns="91440" tIns="45720" rIns="91440" bIns="45720" rtlCol="0" anchor="ctr" anchorCtr="0"/>
          <a:lstStyle/>
          <a:p>
            <a:pPr marL="0" indent="0" algn="l" defTabSz="914400">
              <a:lnSpc>
                <a:spcPct val="100000"/>
              </a:lnSpc>
              <a:defRPr/>
            </a:pPr>
            <a:r>
              <a:rPr lang="en-US" sz="2800" b="1" i="0" u="none" strike="noStrike" dirty="0" err="1">
                <a:solidFill>
                  <a:srgbClr val="0A3760"/>
                </a:solidFill>
                <a:effectLst>
                  <a:outerShdw blurRad="38100" dist="25400" dir="5400000" algn="ctr">
                    <a:srgbClr val="6E747A">
                      <a:alpha val="43000"/>
                    </a:srgbClr>
                  </a:outerShdw>
                </a:effectLst>
                <a:latin typeface="MiSans"/>
                <a:ea typeface="MiSans"/>
                <a:cs typeface="MiSans"/>
                <a:sym typeface="MiSans"/>
              </a:rPr>
              <a:t>拟形成的特色与贡献</a:t>
            </a:r>
            <a:endParaRPr lang="en-US" sz="1100" dirty="0"/>
          </a:p>
        </p:txBody>
      </p:sp>
      <p:pic>
        <p:nvPicPr>
          <p:cNvPr id="12" name="Picture 12"/>
          <p:cNvPicPr>
            <a:picLocks noChangeAspect="1"/>
          </p:cNvPicPr>
          <p:nvPr/>
        </p:nvPicPr>
        <p:blipFill>
          <a:blip r:embed="rId5"/>
          <a:srcRect/>
          <a:stretch>
            <a:fillRect/>
          </a:stretch>
        </p:blipFill>
        <p:spPr>
          <a:xfrm>
            <a:off x="4224655" y="1465580"/>
            <a:ext cx="722630" cy="722630"/>
          </a:xfrm>
          <a:prstGeom prst="rect">
            <a:avLst/>
          </a:prstGeom>
          <a:noFill/>
          <a:ln w="25400" cap="flat" cmpd="sng">
            <a:noFill/>
            <a:prstDash val="solid"/>
            <a:round/>
          </a:ln>
        </p:spPr>
      </p:pic>
      <p:pic>
        <p:nvPicPr>
          <p:cNvPr id="13" name="Picture 13"/>
          <p:cNvPicPr>
            <a:picLocks noChangeAspect="1"/>
          </p:cNvPicPr>
          <p:nvPr/>
        </p:nvPicPr>
        <p:blipFill>
          <a:blip r:embed="rId6"/>
          <a:srcRect/>
          <a:stretch>
            <a:fillRect/>
          </a:stretch>
        </p:blipFill>
        <p:spPr>
          <a:xfrm>
            <a:off x="4224655" y="3239770"/>
            <a:ext cx="722630" cy="722630"/>
          </a:xfrm>
          <a:prstGeom prst="rect">
            <a:avLst/>
          </a:prstGeom>
          <a:noFill/>
          <a:ln w="25400" cap="flat" cmpd="sng">
            <a:noFill/>
            <a:prstDash val="solid"/>
            <a:round/>
          </a:ln>
        </p:spPr>
      </p:pic>
      <p:pic>
        <p:nvPicPr>
          <p:cNvPr id="14" name="Picture 14"/>
          <p:cNvPicPr>
            <a:picLocks noChangeAspect="1"/>
          </p:cNvPicPr>
          <p:nvPr/>
        </p:nvPicPr>
        <p:blipFill>
          <a:blip r:embed="rId7"/>
          <a:srcRect/>
          <a:stretch>
            <a:fillRect/>
          </a:stretch>
        </p:blipFill>
        <p:spPr>
          <a:xfrm>
            <a:off x="4224655" y="5179060"/>
            <a:ext cx="722630" cy="722630"/>
          </a:xfrm>
          <a:prstGeom prst="rect">
            <a:avLst/>
          </a:prstGeom>
          <a:noFill/>
          <a:ln w="25400" cap="flat" cmpd="sng">
            <a:noFill/>
            <a:prstDash val="solid"/>
            <a:round/>
          </a:ln>
        </p:spPr>
      </p:pic>
      <p:pic>
        <p:nvPicPr>
          <p:cNvPr id="15" name="Picture 15"/>
          <p:cNvPicPr>
            <a:picLocks noChangeAspect="1"/>
          </p:cNvPicPr>
          <p:nvPr/>
        </p:nvPicPr>
        <p:blipFill>
          <a:blip r:embed="rId8"/>
          <a:srcRect/>
          <a:stretch>
            <a:fillRect/>
          </a:stretch>
        </p:blipFill>
        <p:spPr>
          <a:xfrm>
            <a:off x="10999470" y="509270"/>
            <a:ext cx="762000" cy="298450"/>
          </a:xfrm>
          <a:prstGeom prst="rect">
            <a:avLst/>
          </a:prstGeom>
          <a:noFill/>
          <a:ln w="25400" cap="flat" cmpd="sng">
            <a:noFill/>
            <a:prstDash val="solid"/>
            <a:round/>
          </a:ln>
        </p:spPr>
      </p:pic>
      <p:sp>
        <p:nvSpPr>
          <p:cNvPr id="17" name="Freeform 17"/>
          <p:cNvSpPr/>
          <p:nvPr/>
        </p:nvSpPr>
        <p:spPr>
          <a:xfrm>
            <a:off x="788278" y="2650790"/>
            <a:ext cx="3016554" cy="686405"/>
          </a:xfrm>
          <a:custGeom>
            <a:avLst/>
            <a:gdLst/>
            <a:ahLst/>
            <a:cxnLst/>
            <a:rect l="l" t="t" r="r" b="b"/>
            <a:pathLst>
              <a:path w="3016554" h="686405">
                <a:moveTo>
                  <a:pt x="725999" y="0"/>
                </a:moveTo>
                <a:lnTo>
                  <a:pt x="3016554" y="254950"/>
                </a:lnTo>
                <a:lnTo>
                  <a:pt x="2341206" y="627570"/>
                </a:lnTo>
                <a:lnTo>
                  <a:pt x="0" y="686405"/>
                </a:lnTo>
                <a:lnTo>
                  <a:pt x="725999"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0" name="Freeform 20"/>
          <p:cNvSpPr/>
          <p:nvPr/>
        </p:nvSpPr>
        <p:spPr>
          <a:xfrm>
            <a:off x="1339812" y="2900255"/>
            <a:ext cx="2459391" cy="1444018"/>
          </a:xfrm>
          <a:custGeom>
            <a:avLst/>
            <a:gdLst/>
            <a:ahLst/>
            <a:cxnLst/>
            <a:rect l="l" t="t" r="r" b="b"/>
            <a:pathLst>
              <a:path w="2459391" h="1444018">
                <a:moveTo>
                  <a:pt x="2459391" y="0"/>
                </a:moveTo>
                <a:lnTo>
                  <a:pt x="2431316" y="350210"/>
                </a:lnTo>
                <a:lnTo>
                  <a:pt x="230217" y="1444018"/>
                </a:lnTo>
                <a:lnTo>
                  <a:pt x="0" y="1372057"/>
                </a:lnTo>
                <a:lnTo>
                  <a:pt x="2459391"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1" name="Freeform 21"/>
          <p:cNvSpPr/>
          <p:nvPr/>
        </p:nvSpPr>
        <p:spPr>
          <a:xfrm>
            <a:off x="1339812" y="4257920"/>
            <a:ext cx="1682742" cy="570890"/>
          </a:xfrm>
          <a:custGeom>
            <a:avLst/>
            <a:gdLst/>
            <a:ahLst/>
            <a:cxnLst/>
            <a:rect l="l" t="t" r="r" b="b"/>
            <a:pathLst>
              <a:path w="1682742" h="570890">
                <a:moveTo>
                  <a:pt x="0" y="0"/>
                </a:moveTo>
                <a:lnTo>
                  <a:pt x="50651" y="172251"/>
                </a:lnTo>
                <a:lnTo>
                  <a:pt x="1277534" y="570890"/>
                </a:lnTo>
                <a:lnTo>
                  <a:pt x="1682742" y="565969"/>
                </a:lnTo>
                <a:lnTo>
                  <a:pt x="0" y="0"/>
                </a:ln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3" name="Freeform 23"/>
          <p:cNvSpPr/>
          <p:nvPr/>
        </p:nvSpPr>
        <p:spPr>
          <a:xfrm>
            <a:off x="1559300" y="4824013"/>
            <a:ext cx="1468881" cy="100745"/>
          </a:xfrm>
          <a:custGeom>
            <a:avLst/>
            <a:gdLst/>
            <a:ahLst/>
            <a:cxnLst/>
            <a:rect l="l" t="t" r="r" b="b"/>
            <a:pathLst>
              <a:path w="1468881" h="100745">
                <a:moveTo>
                  <a:pt x="95674" y="100745"/>
                </a:moveTo>
                <a:lnTo>
                  <a:pt x="1373207" y="100745"/>
                </a:lnTo>
                <a:lnTo>
                  <a:pt x="1468881" y="0"/>
                </a:lnTo>
                <a:lnTo>
                  <a:pt x="0" y="9595"/>
                </a:lnTo>
                <a:lnTo>
                  <a:pt x="95674" y="100745"/>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5" name="AutoShape 25"/>
          <p:cNvSpPr/>
          <p:nvPr/>
        </p:nvSpPr>
        <p:spPr>
          <a:xfrm>
            <a:off x="1652160" y="5189638"/>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nvGrpSpPr>
          <p:cNvPr id="35" name="组合 34">
            <a:extLst>
              <a:ext uri="{FF2B5EF4-FFF2-40B4-BE49-F238E27FC236}">
                <a16:creationId xmlns:a16="http://schemas.microsoft.com/office/drawing/2014/main" id="{92435C59-AC21-C428-7FB5-59073E758E51}"/>
              </a:ext>
            </a:extLst>
          </p:cNvPr>
          <p:cNvGrpSpPr/>
          <p:nvPr/>
        </p:nvGrpSpPr>
        <p:grpSpPr>
          <a:xfrm>
            <a:off x="255773" y="1721150"/>
            <a:ext cx="3543430" cy="4208309"/>
            <a:chOff x="255773" y="1721150"/>
            <a:chExt cx="3543430" cy="4208309"/>
          </a:xfrm>
        </p:grpSpPr>
        <p:sp>
          <p:nvSpPr>
            <p:cNvPr id="16" name="Freeform 16"/>
            <p:cNvSpPr/>
            <p:nvPr/>
          </p:nvSpPr>
          <p:spPr>
            <a:xfrm>
              <a:off x="2227430" y="1721150"/>
              <a:ext cx="1202963" cy="642184"/>
            </a:xfrm>
            <a:custGeom>
              <a:avLst/>
              <a:gdLst/>
              <a:ahLst/>
              <a:cxnLst/>
              <a:rect l="l" t="t" r="r" b="b"/>
              <a:pathLst>
                <a:path w="1202963" h="642184">
                  <a:moveTo>
                    <a:pt x="274204" y="0"/>
                  </a:moveTo>
                  <a:lnTo>
                    <a:pt x="1202963" y="378176"/>
                  </a:lnTo>
                  <a:lnTo>
                    <a:pt x="787234" y="642184"/>
                  </a:lnTo>
                  <a:lnTo>
                    <a:pt x="0" y="249739"/>
                  </a:lnTo>
                  <a:lnTo>
                    <a:pt x="274204" y="0"/>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8" name="Freeform 18"/>
            <p:cNvSpPr/>
            <p:nvPr/>
          </p:nvSpPr>
          <p:spPr>
            <a:xfrm>
              <a:off x="1011806" y="2070304"/>
              <a:ext cx="2787397" cy="1775040"/>
            </a:xfrm>
            <a:custGeom>
              <a:avLst/>
              <a:gdLst/>
              <a:ahLst/>
              <a:cxnLst/>
              <a:rect l="l" t="t" r="r" b="b"/>
              <a:pathLst>
                <a:path w="2787397" h="1775040">
                  <a:moveTo>
                    <a:pt x="2409349" y="0"/>
                  </a:moveTo>
                  <a:lnTo>
                    <a:pt x="2787397" y="697508"/>
                  </a:lnTo>
                  <a:lnTo>
                    <a:pt x="338550" y="1775040"/>
                  </a:lnTo>
                  <a:lnTo>
                    <a:pt x="0" y="1726935"/>
                  </a:lnTo>
                  <a:lnTo>
                    <a:pt x="2409349" y="0"/>
                  </a:lnTo>
                  <a:close/>
                </a:path>
              </a:pathLst>
            </a:custGeom>
            <a:solidFill>
              <a:srgbClr val="00ACC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19" name="Freeform 19"/>
            <p:cNvSpPr/>
            <p:nvPr/>
          </p:nvSpPr>
          <p:spPr>
            <a:xfrm>
              <a:off x="1013394" y="3787774"/>
              <a:ext cx="2245531" cy="623661"/>
            </a:xfrm>
            <a:custGeom>
              <a:avLst/>
              <a:gdLst/>
              <a:ahLst/>
              <a:cxnLst/>
              <a:rect l="l" t="t" r="r" b="b"/>
              <a:pathLst>
                <a:path w="2245531" h="623661">
                  <a:moveTo>
                    <a:pt x="0" y="0"/>
                  </a:moveTo>
                  <a:lnTo>
                    <a:pt x="95674" y="167909"/>
                  </a:lnTo>
                  <a:lnTo>
                    <a:pt x="1682741" y="623661"/>
                  </a:lnTo>
                  <a:lnTo>
                    <a:pt x="2245531" y="393386"/>
                  </a:lnTo>
                  <a:lnTo>
                    <a:pt x="0" y="0"/>
                  </a:lnTo>
                  <a:close/>
                </a:path>
              </a:pathLst>
            </a:custGeom>
            <a:solidFill>
              <a:srgbClr val="068F8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2" name="Freeform 22"/>
            <p:cNvSpPr/>
            <p:nvPr/>
          </p:nvSpPr>
          <p:spPr>
            <a:xfrm>
              <a:off x="1564928" y="4185959"/>
              <a:ext cx="1682742" cy="652447"/>
            </a:xfrm>
            <a:custGeom>
              <a:avLst/>
              <a:gdLst/>
              <a:ahLst/>
              <a:cxnLst/>
              <a:rect l="l" t="t" r="r" b="b"/>
              <a:pathLst>
                <a:path w="1682742" h="652447">
                  <a:moveTo>
                    <a:pt x="1682742" y="0"/>
                  </a:moveTo>
                  <a:lnTo>
                    <a:pt x="1571302" y="350210"/>
                  </a:lnTo>
                  <a:lnTo>
                    <a:pt x="462476" y="647649"/>
                  </a:lnTo>
                  <a:lnTo>
                    <a:pt x="0" y="652447"/>
                  </a:lnTo>
                  <a:lnTo>
                    <a:pt x="1682742" y="0"/>
                  </a:lnTo>
                  <a:close/>
                </a:path>
              </a:pathLst>
            </a:custGeom>
            <a:solidFill>
              <a:srgbClr val="34CFBB">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4" name="AutoShape 24"/>
            <p:cNvSpPr/>
            <p:nvPr/>
          </p:nvSpPr>
          <p:spPr>
            <a:xfrm>
              <a:off x="1652160" y="5034711"/>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6" name="AutoShape 26"/>
            <p:cNvSpPr/>
            <p:nvPr/>
          </p:nvSpPr>
          <p:spPr>
            <a:xfrm>
              <a:off x="1652160" y="5344566"/>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7" name="AutoShape 27"/>
            <p:cNvSpPr/>
            <p:nvPr/>
          </p:nvSpPr>
          <p:spPr>
            <a:xfrm>
              <a:off x="1652160" y="5499493"/>
              <a:ext cx="1283161" cy="89952"/>
            </a:xfrm>
            <a:prstGeom prst="roundRect">
              <a:avLst>
                <a:gd name="adj" fmla="val 16667"/>
              </a:avLst>
            </a:pr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8" name="Freeform 28"/>
            <p:cNvSpPr/>
            <p:nvPr/>
          </p:nvSpPr>
          <p:spPr>
            <a:xfrm>
              <a:off x="1652160" y="5631955"/>
              <a:ext cx="1283161" cy="297504"/>
            </a:xfrm>
            <a:custGeom>
              <a:avLst/>
              <a:gdLst/>
              <a:ahLst/>
              <a:cxnLst/>
              <a:rect l="l" t="t" r="r" b="b"/>
              <a:pathLst>
                <a:path w="1283161" h="297504">
                  <a:moveTo>
                    <a:pt x="240943" y="196093"/>
                  </a:moveTo>
                  <a:lnTo>
                    <a:pt x="1033774" y="196093"/>
                  </a:lnTo>
                  <a:lnTo>
                    <a:pt x="1033774" y="270402"/>
                  </a:lnTo>
                  <a:cubicBezTo>
                    <a:pt x="1033774" y="285370"/>
                    <a:pt x="1019538" y="297504"/>
                    <a:pt x="1001979" y="297504"/>
                  </a:cubicBezTo>
                  <a:lnTo>
                    <a:pt x="272736" y="297504"/>
                  </a:lnTo>
                  <a:cubicBezTo>
                    <a:pt x="255177" y="297504"/>
                    <a:pt x="240943" y="285370"/>
                    <a:pt x="240943" y="270402"/>
                  </a:cubicBezTo>
                  <a:close/>
                  <a:moveTo>
                    <a:pt x="32620" y="61587"/>
                  </a:moveTo>
                  <a:lnTo>
                    <a:pt x="1250541" y="61587"/>
                  </a:lnTo>
                  <a:lnTo>
                    <a:pt x="1108053" y="196093"/>
                  </a:lnTo>
                  <a:lnTo>
                    <a:pt x="1033774" y="196093"/>
                  </a:lnTo>
                  <a:lnTo>
                    <a:pt x="1033774" y="161994"/>
                  </a:lnTo>
                  <a:cubicBezTo>
                    <a:pt x="1033774" y="147025"/>
                    <a:pt x="1019538" y="134892"/>
                    <a:pt x="1001979" y="134892"/>
                  </a:cubicBezTo>
                  <a:lnTo>
                    <a:pt x="272736" y="134892"/>
                  </a:lnTo>
                  <a:cubicBezTo>
                    <a:pt x="255177" y="134892"/>
                    <a:pt x="240943" y="147025"/>
                    <a:pt x="240943" y="161994"/>
                  </a:cubicBezTo>
                  <a:lnTo>
                    <a:pt x="240943" y="196093"/>
                  </a:lnTo>
                  <a:lnTo>
                    <a:pt x="175108" y="196093"/>
                  </a:lnTo>
                  <a:close/>
                  <a:moveTo>
                    <a:pt x="1283161" y="30794"/>
                  </a:moveTo>
                  <a:lnTo>
                    <a:pt x="1283161" y="51322"/>
                  </a:lnTo>
                  <a:cubicBezTo>
                    <a:pt x="1283161" y="56991"/>
                    <a:pt x="1277770" y="61587"/>
                    <a:pt x="1271119" y="61587"/>
                  </a:cubicBezTo>
                  <a:lnTo>
                    <a:pt x="1250541" y="61587"/>
                  </a:lnTo>
                  <a:close/>
                  <a:moveTo>
                    <a:pt x="0" y="30794"/>
                  </a:moveTo>
                  <a:lnTo>
                    <a:pt x="32620" y="61587"/>
                  </a:lnTo>
                  <a:lnTo>
                    <a:pt x="12042" y="61587"/>
                  </a:lnTo>
                  <a:cubicBezTo>
                    <a:pt x="5391" y="61587"/>
                    <a:pt x="0" y="56991"/>
                    <a:pt x="0" y="51322"/>
                  </a:cubicBezTo>
                  <a:close/>
                  <a:moveTo>
                    <a:pt x="12042" y="0"/>
                  </a:moveTo>
                  <a:lnTo>
                    <a:pt x="1271119" y="0"/>
                  </a:lnTo>
                  <a:cubicBezTo>
                    <a:pt x="1277770" y="0"/>
                    <a:pt x="1283161" y="4596"/>
                    <a:pt x="1283161" y="10265"/>
                  </a:cubicBezTo>
                  <a:lnTo>
                    <a:pt x="1283161" y="30794"/>
                  </a:lnTo>
                  <a:lnTo>
                    <a:pt x="0" y="30794"/>
                  </a:lnTo>
                  <a:lnTo>
                    <a:pt x="0" y="10265"/>
                  </a:lnTo>
                  <a:cubicBezTo>
                    <a:pt x="0" y="4596"/>
                    <a:pt x="5391" y="0"/>
                    <a:pt x="12042" y="0"/>
                  </a:cubicBezTo>
                  <a:close/>
                </a:path>
              </a:pathLst>
            </a:custGeom>
            <a:solidFill>
              <a:srgbClr val="465A66">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29" name="AutoShape 29"/>
            <p:cNvSpPr/>
            <p:nvPr/>
          </p:nvSpPr>
          <p:spPr>
            <a:xfrm rot="-2586808">
              <a:off x="255773" y="2029257"/>
              <a:ext cx="2350930" cy="587020"/>
            </a:xfrm>
            <a:prstGeom prst="trapezoid">
              <a:avLst>
                <a:gd name="adj" fmla="val 95892"/>
              </a:avLst>
            </a:pr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grpSp>
      <p:sp>
        <p:nvSpPr>
          <p:cNvPr id="30" name="Freeform 30"/>
          <p:cNvSpPr/>
          <p:nvPr/>
        </p:nvSpPr>
        <p:spPr>
          <a:xfrm>
            <a:off x="2463804" y="1715685"/>
            <a:ext cx="958149" cy="399383"/>
          </a:xfrm>
          <a:custGeom>
            <a:avLst/>
            <a:gdLst/>
            <a:ahLst/>
            <a:cxnLst/>
            <a:rect l="l" t="t" r="r" b="b"/>
            <a:pathLst>
              <a:path w="958149" h="399383">
                <a:moveTo>
                  <a:pt x="958149" y="356206"/>
                </a:moveTo>
                <a:lnTo>
                  <a:pt x="97081" y="0"/>
                </a:lnTo>
                <a:lnTo>
                  <a:pt x="0" y="82754"/>
                </a:lnTo>
                <a:lnTo>
                  <a:pt x="856847" y="384990"/>
                </a:lnTo>
                <a:lnTo>
                  <a:pt x="894836" y="399383"/>
                </a:lnTo>
                <a:lnTo>
                  <a:pt x="958149" y="356206"/>
                </a:lnTo>
                <a:close/>
              </a:path>
            </a:pathLst>
          </a:custGeom>
          <a:solidFill>
            <a:srgbClr val="6FD57F">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1" name="Freeform 31"/>
          <p:cNvSpPr/>
          <p:nvPr/>
        </p:nvSpPr>
        <p:spPr>
          <a:xfrm>
            <a:off x="775434" y="2831081"/>
            <a:ext cx="447418" cy="510924"/>
          </a:xfrm>
          <a:custGeom>
            <a:avLst/>
            <a:gdLst/>
            <a:ahLst/>
            <a:cxnLst/>
            <a:rect l="l" t="t" r="r" b="b"/>
            <a:pathLst>
              <a:path w="447418" h="510924">
                <a:moveTo>
                  <a:pt x="388325" y="0"/>
                </a:moveTo>
                <a:lnTo>
                  <a:pt x="0" y="449755"/>
                </a:lnTo>
                <a:lnTo>
                  <a:pt x="4220" y="510924"/>
                </a:lnTo>
                <a:lnTo>
                  <a:pt x="447418" y="97147"/>
                </a:lnTo>
                <a:lnTo>
                  <a:pt x="388325" y="0"/>
                </a:lnTo>
                <a:close/>
              </a:path>
            </a:pathLst>
          </a:custGeom>
          <a:solidFill>
            <a:srgbClr val="0A3760">
              <a:alpha val="100000"/>
            </a:srgbClr>
          </a:solidFill>
          <a:ln w="25400" cap="flat" cmpd="sng">
            <a:noFill/>
            <a:prstDash val="solid"/>
            <a:round/>
          </a:ln>
        </p:spPr>
        <p:txBody>
          <a:bodyPr vert="horz" wrap="square" lIns="91440" tIns="45720" rIns="91440" bIns="45720" rtlCol="0" anchor="ctr" anchorCtr="0"/>
          <a:lstStyle/>
          <a:p>
            <a:pPr algn="ctr">
              <a:defRPr/>
            </a:pPr>
            <a:endParaRPr/>
          </a:p>
        </p:txBody>
      </p:sp>
      <p:sp>
        <p:nvSpPr>
          <p:cNvPr id="32" name="Freeform 32"/>
          <p:cNvSpPr/>
          <p:nvPr/>
        </p:nvSpPr>
        <p:spPr>
          <a:xfrm>
            <a:off x="27305" y="180975"/>
            <a:ext cx="3730625" cy="642620"/>
          </a:xfrm>
          <a:custGeom>
            <a:avLst/>
            <a:gdLst/>
            <a:ahLst/>
            <a:cxnLst/>
            <a:rect l="l" t="t" r="r" b="b"/>
            <a:pathLst>
              <a:path w="3730625" h="642620">
                <a:moveTo>
                  <a:pt x="401749" y="0"/>
                </a:moveTo>
                <a:lnTo>
                  <a:pt x="401756" y="0"/>
                </a:lnTo>
                <a:lnTo>
                  <a:pt x="3311834" y="0"/>
                </a:lnTo>
                <a:lnTo>
                  <a:pt x="3311834" y="1374"/>
                </a:lnTo>
                <a:lnTo>
                  <a:pt x="3328876" y="0"/>
                </a:lnTo>
                <a:cubicBezTo>
                  <a:pt x="3550756" y="0"/>
                  <a:pt x="3730625" y="143855"/>
                  <a:pt x="3730625" y="321310"/>
                </a:cubicBezTo>
                <a:cubicBezTo>
                  <a:pt x="3730625" y="498765"/>
                  <a:pt x="3550756" y="642620"/>
                  <a:pt x="3328876" y="642620"/>
                </a:cubicBezTo>
                <a:lnTo>
                  <a:pt x="3311834" y="641246"/>
                </a:lnTo>
                <a:lnTo>
                  <a:pt x="3311834" y="642620"/>
                </a:lnTo>
                <a:lnTo>
                  <a:pt x="401749" y="642620"/>
                </a:lnTo>
                <a:cubicBezTo>
                  <a:pt x="179869" y="642620"/>
                  <a:pt x="0" y="498765"/>
                  <a:pt x="0" y="321310"/>
                </a:cubicBezTo>
                <a:cubicBezTo>
                  <a:pt x="0" y="143855"/>
                  <a:pt x="179869" y="0"/>
                  <a:pt x="401749"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3" name="Picture 33"/>
          <p:cNvPicPr>
            <a:picLocks noChangeAspect="1"/>
          </p:cNvPicPr>
          <p:nvPr/>
        </p:nvPicPr>
        <p:blipFill>
          <a:blip r:embed="rId9"/>
          <a:srcRect/>
          <a:stretch>
            <a:fillRect/>
          </a:stretch>
        </p:blipFill>
        <p:spPr>
          <a:xfrm>
            <a:off x="189865" y="179705"/>
            <a:ext cx="699135" cy="617855"/>
          </a:xfrm>
          <a:prstGeom prst="rect">
            <a:avLst/>
          </a:prstGeom>
          <a:noFill/>
          <a:ln w="25400" cap="flat" cmpd="sng">
            <a:noFill/>
            <a:prstDash val="solid"/>
            <a:round/>
          </a:ln>
        </p:spPr>
      </p:pic>
      <p:sp>
        <p:nvSpPr>
          <p:cNvPr id="34" name="AutoShape 34"/>
          <p:cNvSpPr/>
          <p:nvPr/>
        </p:nvSpPr>
        <p:spPr>
          <a:xfrm>
            <a:off x="889001" y="265430"/>
            <a:ext cx="224028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l" defTabSz="914400">
              <a:lnSpc>
                <a:spcPct val="100000"/>
              </a:lnSpc>
              <a:defRPr/>
            </a:pPr>
            <a:r>
              <a:rPr lang="en-US" sz="2400" b="1"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4.</a:t>
            </a:r>
            <a:r>
              <a:rPr lang="en-US" sz="2400" b="1" i="0" u="none" strike="noStrike" dirty="0">
                <a:solidFill>
                  <a:srgbClr val="FFFFFF"/>
                </a:solidFill>
                <a:latin typeface="微软雅黑" panose="020B0503020204020204" pitchFamily="34" charset="-122"/>
                <a:ea typeface="微软雅黑" panose="020B0503020204020204" pitchFamily="34" charset="-122"/>
                <a:cs typeface="字魂105号-简雅黑"/>
                <a:sym typeface="字魂105号-简雅黑"/>
              </a:rPr>
              <a:t> </a:t>
            </a:r>
            <a:r>
              <a:rPr lang="en-US" sz="2400" b="1" i="0" u="none" strike="noStrike" dirty="0" err="1">
                <a:solidFill>
                  <a:srgbClr val="FFFFFF"/>
                </a:solidFill>
                <a:latin typeface="微软雅黑" panose="020B0503020204020204" pitchFamily="34" charset="-122"/>
                <a:ea typeface="微软雅黑" panose="020B0503020204020204" pitchFamily="34" charset="-122"/>
                <a:cs typeface="字魂105号-简雅黑"/>
                <a:sym typeface="字魂105号-简雅黑"/>
              </a:rPr>
              <a:t>研究创新点</a:t>
            </a:r>
            <a:endParaRPr lang="en-US" sz="1100" dirty="0">
              <a:latin typeface="微软雅黑" panose="020B0503020204020204" pitchFamily="34" charset="-122"/>
              <a:ea typeface="微软雅黑" panose="020B0503020204020204" pitchFamily="34" charset="-122"/>
            </a:endParaRPr>
          </a:p>
        </p:txBody>
      </p:sp>
      <p:sp>
        <p:nvSpPr>
          <p:cNvPr id="39" name="テキスト ボックス 38">
            <a:extLst>
              <a:ext uri="{FF2B5EF4-FFF2-40B4-BE49-F238E27FC236}">
                <a16:creationId xmlns:a16="http://schemas.microsoft.com/office/drawing/2014/main" id="{4275B96D-DAC6-4E79-A24F-E23B692EE35F}"/>
              </a:ext>
            </a:extLst>
          </p:cNvPr>
          <p:cNvSpPr txBox="1"/>
          <p:nvPr/>
        </p:nvSpPr>
        <p:spPr>
          <a:xfrm>
            <a:off x="5103598" y="1787309"/>
            <a:ext cx="6366328" cy="954107"/>
          </a:xfrm>
          <a:prstGeom prst="rect">
            <a:avLst/>
          </a:prstGeom>
          <a:noFill/>
        </p:spPr>
        <p:txBody>
          <a:bodyPr wrap="square" rtlCol="0">
            <a:spAutoFit/>
          </a:bodyPr>
          <a:lstStyle/>
          <a:p>
            <a:r>
              <a:rPr kumimoji="1" lang="zh-CN" altLang="en-US" dirty="0">
                <a:latin typeface="Microsoft YaHei" panose="020B0503020204020204" pitchFamily="34" charset="-122"/>
                <a:ea typeface="Microsoft YaHei" panose="020B0503020204020204" pitchFamily="34" charset="-122"/>
              </a:rPr>
              <a:t>独立核算各方案的人工工时与 </a:t>
            </a:r>
            <a:r>
              <a:rPr kumimoji="1" lang="en-US" altLang="zh-CN" dirty="0">
                <a:latin typeface="Microsoft YaHei" panose="020B0503020204020204" pitchFamily="34" charset="-122"/>
                <a:ea typeface="Microsoft YaHei" panose="020B0503020204020204" pitchFamily="34" charset="-122"/>
              </a:rPr>
              <a:t>GPU </a:t>
            </a:r>
            <a:r>
              <a:rPr kumimoji="1" lang="zh-CN" altLang="en-US" dirty="0">
                <a:latin typeface="Microsoft YaHei" panose="020B0503020204020204" pitchFamily="34" charset="-122"/>
                <a:ea typeface="Microsoft YaHei" panose="020B0503020204020204" pitchFamily="34" charset="-122"/>
              </a:rPr>
              <a:t>机时，在 </a:t>
            </a:r>
            <a:r>
              <a:rPr kumimoji="1" lang="en-US" altLang="zh-CN" dirty="0">
                <a:latin typeface="Microsoft YaHei" panose="020B0503020204020204" pitchFamily="34" charset="-122"/>
                <a:ea typeface="Microsoft YaHei" panose="020B0503020204020204" pitchFamily="34" charset="-122"/>
              </a:rPr>
              <a:t>1k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10k</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100k </a:t>
            </a:r>
            <a:r>
              <a:rPr kumimoji="1" lang="zh-CN" altLang="en-US" dirty="0">
                <a:latin typeface="Microsoft YaHei" panose="020B0503020204020204" pitchFamily="34" charset="-122"/>
                <a:ea typeface="Microsoft YaHei" panose="020B0503020204020204" pitchFamily="34" charset="-122"/>
              </a:rPr>
              <a:t>规模下量化对比成本与交付周期的演变规律；综合下游检测效用与质量资源约束，引入 </a:t>
            </a:r>
            <a:r>
              <a:rPr kumimoji="1" lang="en-US" altLang="zh-CN" dirty="0">
                <a:latin typeface="Microsoft YaHei" panose="020B0503020204020204" pitchFamily="34" charset="-122"/>
                <a:ea typeface="Microsoft YaHei" panose="020B0503020204020204" pitchFamily="34" charset="-122"/>
              </a:rPr>
              <a:t>Pareto </a:t>
            </a:r>
            <a:r>
              <a:rPr kumimoji="1" lang="zh-CN" altLang="en-US" dirty="0">
                <a:latin typeface="Microsoft YaHei" panose="020B0503020204020204" pitchFamily="34" charset="-122"/>
                <a:ea typeface="Microsoft YaHei" panose="020B0503020204020204" pitchFamily="34" charset="-122"/>
              </a:rPr>
              <a:t>非支配比较给出跨尺度场景的流程选型矩阵。与只做技术指标对比不同</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明确什么规模、什么约束下选人工 </a:t>
            </a:r>
            <a:r>
              <a:rPr kumimoji="1" lang="en-US" altLang="zh-CN" dirty="0">
                <a:latin typeface="Microsoft YaHei" panose="020B0503020204020204" pitchFamily="34" charset="-122"/>
                <a:ea typeface="Microsoft YaHei" panose="020B0503020204020204" pitchFamily="34" charset="-122"/>
              </a:rPr>
              <a:t>/ V1 / </a:t>
            </a:r>
            <a:r>
              <a:rPr kumimoji="1" lang="zh-CN" altLang="en-US" dirty="0">
                <a:latin typeface="Microsoft YaHei" panose="020B0503020204020204" pitchFamily="34" charset="-122"/>
                <a:ea typeface="Microsoft YaHei" panose="020B0503020204020204" pitchFamily="34" charset="-122"/>
              </a:rPr>
              <a:t>级联。</a:t>
            </a:r>
            <a:endParaRPr kumimoji="1" lang="ja-JP" altLang="en-US" dirty="0">
              <a:latin typeface="Microsoft YaHei" panose="020B0503020204020204" pitchFamily="34" charset="-122"/>
              <a:ea typeface="Microsoft YaHei"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80"/>
            <a:ext cx="6223159" cy="627304"/>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5985510"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弱监督异构大模型级联伪标签生成管线</a:t>
            </a:r>
          </a:p>
          <a:p>
            <a:pPr marL="0" indent="0" algn="just" defTabSz="914400">
              <a:lnSpc>
                <a:spcPct val="100000"/>
              </a:lnSpc>
              <a:defRPr/>
            </a:pPr>
            <a:endParaRPr lang="en-US" sz="1100" dirty="0"/>
          </a:p>
          <a:p>
            <a:pPr marL="0" indent="0" algn="just" defTabSz="914400">
              <a:lnSpc>
                <a:spcPct val="100000"/>
              </a:lnSpc>
            </a:pPr>
            <a:r>
              <a:rPr lang="en-US" sz="1100" b="0" i="0" u="none" strike="noStrike" dirty="0">
                <a:solidFill>
                  <a:srgbClr val="000000"/>
                </a:solidFill>
                <a:latin typeface="等线"/>
                <a:ea typeface="等线"/>
                <a:cs typeface="等线"/>
                <a:sym typeface="等线"/>
              </a:rPr>
              <a:t> </a:t>
            </a:r>
          </a:p>
        </p:txBody>
      </p:sp>
      <p:sp>
        <p:nvSpPr>
          <p:cNvPr id="5" name="AutoShape 5"/>
          <p:cNvSpPr/>
          <p:nvPr/>
        </p:nvSpPr>
        <p:spPr>
          <a:xfrm>
            <a:off x="635000" y="3048000"/>
            <a:ext cx="2032000" cy="1016000"/>
          </a:xfrm>
          <a:prstGeom prst="roundRect">
            <a:avLst>
              <a:gd name="adj" fmla="val 2500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600" b="1" i="0" u="none" strike="noStrike">
                <a:solidFill>
                  <a:srgbClr val="0A3760"/>
                </a:solidFill>
                <a:latin typeface="微软雅黑"/>
                <a:ea typeface="微软雅黑"/>
                <a:cs typeface="微软雅黑"/>
                <a:sym typeface="微软雅黑"/>
              </a:rPr>
              <a:t>输入火烟图像</a:t>
            </a:r>
            <a:endParaRPr lang="en-US" sz="1100"/>
          </a:p>
        </p:txBody>
      </p:sp>
      <p:cxnSp>
        <p:nvCxnSpPr>
          <p:cNvPr id="6" name="Connector 6"/>
          <p:cNvCxnSpPr/>
          <p:nvPr/>
        </p:nvCxnSpPr>
        <p:spPr>
          <a:xfrm rot="-85923">
            <a:off x="27305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7" name="AutoShape 7"/>
          <p:cNvSpPr/>
          <p:nvPr/>
        </p:nvSpPr>
        <p:spPr>
          <a:xfrm>
            <a:off x="3302000" y="3048000"/>
            <a:ext cx="2349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FFFFFF"/>
                </a:solidFill>
                <a:latin typeface="微软雅黑"/>
                <a:ea typeface="微软雅黑"/>
                <a:cs typeface="微软雅黑"/>
                <a:sym typeface="微软雅黑"/>
              </a:rPr>
              <a:t>Grounding DINO</a:t>
            </a:r>
            <a:endParaRPr lang="en-US" sz="1100" dirty="0"/>
          </a:p>
          <a:p>
            <a:pPr marL="0" indent="0" algn="ctr" defTabSz="914400">
              <a:lnSpc>
                <a:spcPct val="108333"/>
              </a:lnSpc>
            </a:pPr>
            <a:r>
              <a:rPr lang="en-US" sz="1300" b="0" i="0" u="none" strike="noStrike" dirty="0" err="1">
                <a:solidFill>
                  <a:srgbClr val="FFFFFF"/>
                </a:solidFill>
                <a:latin typeface="微软雅黑"/>
                <a:ea typeface="微软雅黑"/>
                <a:cs typeface="微软雅黑"/>
                <a:sym typeface="微软雅黑"/>
              </a:rPr>
              <a:t>批量生成</a:t>
            </a:r>
            <a:r>
              <a:rPr lang="en-US" sz="1300" b="0" i="0" u="none" strike="noStrike" dirty="0">
                <a:solidFill>
                  <a:srgbClr val="FFFFFF"/>
                </a:solidFill>
                <a:latin typeface="微软雅黑"/>
                <a:ea typeface="微软雅黑"/>
                <a:cs typeface="微软雅黑"/>
                <a:sym typeface="微软雅黑"/>
              </a:rPr>
              <a:t> V1 </a:t>
            </a:r>
            <a:r>
              <a:rPr lang="en-US" sz="1300" b="0" i="0" u="none" strike="noStrike" dirty="0" err="1">
                <a:solidFill>
                  <a:srgbClr val="FFFFFF"/>
                </a:solidFill>
                <a:latin typeface="微软雅黑"/>
                <a:ea typeface="微软雅黑"/>
                <a:cs typeface="微软雅黑"/>
                <a:sym typeface="微软雅黑"/>
              </a:rPr>
              <a:t>伪标签</a:t>
            </a:r>
            <a:endParaRPr lang="en-US" sz="1300" b="0" i="0" u="none" strike="noStrike" dirty="0">
              <a:solidFill>
                <a:srgbClr val="FFFFFF"/>
              </a:solidFill>
              <a:latin typeface="微软雅黑"/>
              <a:ea typeface="微软雅黑"/>
              <a:cs typeface="微软雅黑"/>
              <a:sym typeface="微软雅黑"/>
            </a:endParaRPr>
          </a:p>
        </p:txBody>
      </p:sp>
      <p:cxnSp>
        <p:nvCxnSpPr>
          <p:cNvPr id="8" name="Connector 8"/>
          <p:cNvCxnSpPr/>
          <p:nvPr/>
        </p:nvCxnSpPr>
        <p:spPr>
          <a:xfrm rot="-85923">
            <a:off x="5715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9" name="AutoShape 9"/>
          <p:cNvSpPr/>
          <p:nvPr/>
        </p:nvSpPr>
        <p:spPr>
          <a:xfrm>
            <a:off x="6286500" y="2984500"/>
            <a:ext cx="2667000" cy="1143000"/>
          </a:xfrm>
          <a:prstGeom prst="roundRect">
            <a:avLst>
              <a:gd name="adj" fmla="val 22220"/>
            </a:avLst>
          </a:prstGeom>
          <a:solidFill>
            <a:srgbClr val="FFFFFF">
              <a:alpha val="100000"/>
            </a:srgbClr>
          </a:solidFill>
          <a:ln w="254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ctr" defTabSz="914400">
              <a:lnSpc>
                <a:spcPct val="108333"/>
              </a:lnSpc>
              <a:defRPr/>
            </a:pPr>
            <a:r>
              <a:rPr lang="en-US" sz="1500" b="1" i="0" u="none" strike="noStrike" dirty="0">
                <a:solidFill>
                  <a:srgbClr val="0A3760"/>
                </a:solidFill>
                <a:latin typeface="微软雅黑"/>
                <a:ea typeface="微软雅黑"/>
                <a:cs typeface="微软雅黑"/>
                <a:sym typeface="微软雅黑"/>
              </a:rPr>
              <a:t>SAM3 </a:t>
            </a:r>
            <a:r>
              <a:rPr lang="en-US" sz="1500" b="1" i="0" u="none" strike="noStrike" dirty="0" err="1">
                <a:solidFill>
                  <a:srgbClr val="0A3760"/>
                </a:solidFill>
                <a:latin typeface="微软雅黑"/>
                <a:ea typeface="微软雅黑"/>
                <a:cs typeface="微软雅黑"/>
                <a:sym typeface="微软雅黑"/>
              </a:rPr>
              <a:t>后置处理</a:t>
            </a:r>
            <a:endParaRPr lang="en-US" sz="1100" dirty="0"/>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Verifier </a:t>
            </a:r>
            <a:r>
              <a:rPr lang="en-US" sz="1200" b="0" i="0" u="none" strike="noStrike" dirty="0" err="1">
                <a:solidFill>
                  <a:srgbClr val="000000"/>
                </a:solidFill>
                <a:latin typeface="微软雅黑"/>
                <a:ea typeface="微软雅黑"/>
                <a:cs typeface="微软雅黑"/>
                <a:sym typeface="微软雅黑"/>
              </a:rPr>
              <a:t>审核</a:t>
            </a:r>
            <a:r>
              <a:rPr lang="en-US" sz="1200" b="0" i="0" u="none" strike="noStrike" dirty="0">
                <a:solidFill>
                  <a:srgbClr val="000000"/>
                </a:solidFill>
                <a:latin typeface="微软雅黑"/>
                <a:ea typeface="微软雅黑"/>
                <a:cs typeface="微软雅黑"/>
                <a:sym typeface="微软雅黑"/>
              </a:rPr>
              <a:t> / Append </a:t>
            </a:r>
            <a:r>
              <a:rPr lang="en-US" sz="1200" b="0" i="0" u="none" strike="noStrike" dirty="0" err="1">
                <a:solidFill>
                  <a:srgbClr val="000000"/>
                </a:solidFill>
                <a:latin typeface="微软雅黑"/>
                <a:ea typeface="微软雅黑"/>
                <a:cs typeface="微软雅黑"/>
                <a:sym typeface="微软雅黑"/>
              </a:rPr>
              <a:t>补漏</a:t>
            </a:r>
            <a:endParaRPr lang="en-US" sz="1200" b="0" i="0" u="none" strike="noStrike" dirty="0">
              <a:solidFill>
                <a:srgbClr val="000000"/>
              </a:solidFill>
              <a:latin typeface="微软雅黑"/>
              <a:ea typeface="微软雅黑"/>
              <a:cs typeface="微软雅黑"/>
              <a:sym typeface="微软雅黑"/>
            </a:endParaRPr>
          </a:p>
          <a:p>
            <a:pPr marL="0" indent="0" algn="ctr" defTabSz="914400">
              <a:lnSpc>
                <a:spcPct val="108333"/>
              </a:lnSpc>
            </a:pPr>
            <a:r>
              <a:rPr lang="en-US" sz="1200" b="0" i="0" u="none" strike="noStrike" dirty="0">
                <a:solidFill>
                  <a:srgbClr val="000000"/>
                </a:solidFill>
                <a:latin typeface="微软雅黑"/>
                <a:ea typeface="微软雅黑"/>
                <a:cs typeface="微软雅黑"/>
                <a:sym typeface="微软雅黑"/>
              </a:rPr>
              <a:t>Refiner </a:t>
            </a:r>
            <a:r>
              <a:rPr lang="en-US" sz="1200" b="0" i="0" u="none" strike="noStrike" dirty="0" err="1">
                <a:solidFill>
                  <a:srgbClr val="000000"/>
                </a:solidFill>
                <a:latin typeface="微软雅黑"/>
                <a:ea typeface="微软雅黑"/>
                <a:cs typeface="微软雅黑"/>
                <a:sym typeface="微软雅黑"/>
              </a:rPr>
              <a:t>调框（权限</a:t>
            </a:r>
            <a:r>
              <a:rPr lang="zh-CN" altLang="en-US" sz="1200" b="0" i="0" u="none" strike="noStrike" dirty="0">
                <a:solidFill>
                  <a:srgbClr val="000000"/>
                </a:solidFill>
                <a:latin typeface="微软雅黑"/>
                <a:ea typeface="微软雅黑"/>
                <a:cs typeface="微软雅黑"/>
                <a:sym typeface="微软雅黑"/>
              </a:rPr>
              <a:t>隔离</a:t>
            </a:r>
            <a:r>
              <a:rPr lang="en-US" sz="1200" b="0" i="0" u="none" strike="noStrike" dirty="0">
                <a:solidFill>
                  <a:srgbClr val="000000"/>
                </a:solidFill>
                <a:latin typeface="微软雅黑"/>
                <a:ea typeface="微软雅黑"/>
                <a:cs typeface="微软雅黑"/>
                <a:sym typeface="微软雅黑"/>
              </a:rPr>
              <a:t>）</a:t>
            </a:r>
          </a:p>
        </p:txBody>
      </p:sp>
      <p:cxnSp>
        <p:nvCxnSpPr>
          <p:cNvPr id="10" name="Connector 10"/>
          <p:cNvCxnSpPr/>
          <p:nvPr/>
        </p:nvCxnSpPr>
        <p:spPr>
          <a:xfrm rot="-85923">
            <a:off x="9017079" y="3549650"/>
            <a:ext cx="508000" cy="12700"/>
          </a:xfrm>
          <a:prstGeom prst="line">
            <a:avLst/>
          </a:prstGeom>
          <a:solidFill>
            <a:srgbClr val="DEE0E3">
              <a:alpha val="100000"/>
            </a:srgbClr>
          </a:solidFill>
          <a:ln w="25400" cap="rnd" cmpd="sng">
            <a:solidFill>
              <a:srgbClr val="0A3760">
                <a:alpha val="100000"/>
              </a:srgbClr>
            </a:solidFill>
            <a:prstDash val="solid"/>
            <a:round/>
            <a:headEnd type="none" w="lg" len="lg"/>
            <a:tailEnd type="none" w="med" len="med"/>
          </a:ln>
        </p:spPr>
      </p:cxnSp>
      <p:sp>
        <p:nvSpPr>
          <p:cNvPr id="11" name="AutoShape 11"/>
          <p:cNvSpPr/>
          <p:nvPr/>
        </p:nvSpPr>
        <p:spPr>
          <a:xfrm>
            <a:off x="9588500" y="3048000"/>
            <a:ext cx="2095500" cy="1016000"/>
          </a:xfrm>
          <a:prstGeom prst="roundRect">
            <a:avLst>
              <a:gd name="adj" fmla="val 25000"/>
            </a:avLst>
          </a:prstGeom>
          <a:solidFill>
            <a:srgbClr val="0A3760">
              <a:alpha val="100000"/>
            </a:srgbClr>
          </a:solid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500" b="1" i="0" u="none" strike="noStrike">
                <a:solidFill>
                  <a:srgbClr val="FFFFFF"/>
                </a:solidFill>
                <a:latin typeface="微软雅黑"/>
                <a:ea typeface="微软雅黑"/>
                <a:cs typeface="微软雅黑"/>
                <a:sym typeface="微软雅黑"/>
              </a:rPr>
              <a:t>YOLO 训练验证</a:t>
            </a:r>
            <a:endParaRPr lang="en-US" sz="1100"/>
          </a:p>
          <a:p>
            <a:pPr marL="0" indent="0" algn="ctr" defTabSz="914400">
              <a:lnSpc>
                <a:spcPct val="108333"/>
              </a:lnSpc>
            </a:pPr>
            <a:r>
              <a:rPr lang="en-US" sz="1200" b="0" i="0" u="none" strike="noStrike">
                <a:solidFill>
                  <a:srgbClr val="FFFFFF"/>
                </a:solidFill>
                <a:latin typeface="微软雅黑"/>
                <a:ea typeface="微软雅黑"/>
                <a:cs typeface="微软雅黑"/>
                <a:sym typeface="微软雅黑"/>
              </a:rPr>
              <a:t>下游效用裁判</a:t>
            </a:r>
          </a:p>
        </p:txBody>
      </p:sp>
      <p:sp>
        <p:nvSpPr>
          <p:cNvPr id="12" name="AutoShape 12"/>
          <p:cNvSpPr/>
          <p:nvPr/>
        </p:nvSpPr>
        <p:spPr>
          <a:xfrm>
            <a:off x="781050" y="5463616"/>
            <a:ext cx="10414000" cy="635000"/>
          </a:xfrm>
          <a:prstGeom prst="roundRect">
            <a:avLst>
              <a:gd name="adj" fmla="val 0"/>
            </a:avLst>
          </a:prstGeom>
          <a:noFill/>
          <a:ln w="12700" cap="flat" cmpd="sng">
            <a:noFill/>
            <a:prstDash val="solid"/>
            <a:round/>
          </a:ln>
        </p:spPr>
        <p:txBody>
          <a:bodyPr vert="horz" wrap="square" lIns="91440" tIns="45720" rIns="91440" bIns="45720" rtlCol="0" anchor="ctr">
            <a:noAutofit/>
          </a:bodyPr>
          <a:lstStyle/>
          <a:p>
            <a:pPr marL="0" indent="0" algn="ctr" defTabSz="914400">
              <a:lnSpc>
                <a:spcPct val="108333"/>
              </a:lnSpc>
              <a:defRPr/>
            </a:pPr>
            <a:r>
              <a:rPr lang="en-US" sz="1400" b="0" i="0" u="none" strike="noStrike" dirty="0" err="1">
                <a:solidFill>
                  <a:srgbClr val="000000"/>
                </a:solidFill>
                <a:latin typeface="微软雅黑"/>
                <a:ea typeface="微软雅黑"/>
                <a:cs typeface="微软雅黑"/>
                <a:sym typeface="微软雅黑"/>
              </a:rPr>
              <a:t>权限隔离：后置节点不默认覆盖</a:t>
            </a:r>
            <a:r>
              <a:rPr lang="en-US" sz="1400" b="0" i="0" u="none" strike="noStrike" dirty="0">
                <a:solidFill>
                  <a:srgbClr val="000000"/>
                </a:solidFill>
                <a:latin typeface="微软雅黑"/>
                <a:ea typeface="微软雅黑"/>
                <a:cs typeface="微软雅黑"/>
                <a:sym typeface="微软雅黑"/>
              </a:rPr>
              <a:t> V1；Stage-Gate 按 Go / Hold / Stop </a:t>
            </a:r>
            <a:r>
              <a:rPr lang="en-US" sz="1400" b="0" i="0" u="none" strike="noStrike" dirty="0" err="1">
                <a:solidFill>
                  <a:srgbClr val="000000"/>
                </a:solidFill>
                <a:latin typeface="微软雅黑"/>
                <a:ea typeface="微软雅黑"/>
                <a:cs typeface="微软雅黑"/>
                <a:sym typeface="微软雅黑"/>
              </a:rPr>
              <a:t>决定各分支去留</a:t>
            </a:r>
            <a:r>
              <a:rPr lang="en-US" sz="1400" b="0" i="0" u="none" strike="noStrike" dirty="0">
                <a:solidFill>
                  <a:srgbClr val="000000"/>
                </a:solidFill>
                <a:latin typeface="微软雅黑"/>
                <a:ea typeface="微软雅黑"/>
                <a:cs typeface="微软雅黑"/>
                <a:sym typeface="微软雅黑"/>
              </a:rPr>
              <a:t>。</a:t>
            </a:r>
            <a:endParaRPr lang="en-US" sz="1100" dirty="0"/>
          </a:p>
        </p:txBody>
      </p:sp>
      <p:sp>
        <p:nvSpPr>
          <p:cNvPr id="13" name="AutoShape 7">
            <a:extLst>
              <a:ext uri="{FF2B5EF4-FFF2-40B4-BE49-F238E27FC236}">
                <a16:creationId xmlns:a16="http://schemas.microsoft.com/office/drawing/2014/main" id="{34C1F2EC-1C48-465C-AF79-C20568439708}"/>
              </a:ext>
            </a:extLst>
          </p:cNvPr>
          <p:cNvSpPr/>
          <p:nvPr/>
        </p:nvSpPr>
        <p:spPr>
          <a:xfrm>
            <a:off x="3365499"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低预算语义提示基准确立算法</a:t>
            </a:r>
            <a:endParaRPr lang="en-US" sz="1050" b="0" i="0" u="none" strike="noStrike" dirty="0">
              <a:solidFill>
                <a:srgbClr val="0A3760"/>
              </a:solidFill>
              <a:latin typeface="微软雅黑"/>
              <a:ea typeface="微软雅黑"/>
              <a:cs typeface="微软雅黑"/>
              <a:sym typeface="微软雅黑"/>
            </a:endParaRPr>
          </a:p>
        </p:txBody>
      </p:sp>
      <p:cxnSp>
        <p:nvCxnSpPr>
          <p:cNvPr id="15" name="コネクタ: 曲線 14">
            <a:extLst>
              <a:ext uri="{FF2B5EF4-FFF2-40B4-BE49-F238E27FC236}">
                <a16:creationId xmlns:a16="http://schemas.microsoft.com/office/drawing/2014/main" id="{EC1261BB-81E6-467A-B381-BF57ECB1DCDA}"/>
              </a:ext>
            </a:extLst>
          </p:cNvPr>
          <p:cNvCxnSpPr>
            <a:stCxn id="13" idx="2"/>
            <a:endCxn id="7" idx="0"/>
          </p:cNvCxnSpPr>
          <p:nvPr/>
        </p:nvCxnSpPr>
        <p:spPr>
          <a:xfrm rot="16200000" flipH="1">
            <a:off x="3969497" y="2540746"/>
            <a:ext cx="645459" cy="369047"/>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16" name="AutoShape 7">
            <a:extLst>
              <a:ext uri="{FF2B5EF4-FFF2-40B4-BE49-F238E27FC236}">
                <a16:creationId xmlns:a16="http://schemas.microsoft.com/office/drawing/2014/main" id="{050AE8C8-779D-4649-8EE8-288E189B3D8F}"/>
              </a:ext>
            </a:extLst>
          </p:cNvPr>
          <p:cNvSpPr/>
          <p:nvPr/>
        </p:nvSpPr>
        <p:spPr>
          <a:xfrm>
            <a:off x="9588500" y="171039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边界风格敏感性审计与冲突仲裁算法</a:t>
            </a:r>
            <a:endParaRPr lang="en-US" sz="1050" b="0" i="0" u="none" strike="noStrike" dirty="0">
              <a:solidFill>
                <a:srgbClr val="0A3760"/>
              </a:solidFill>
              <a:latin typeface="微软雅黑"/>
              <a:ea typeface="微软雅黑"/>
              <a:cs typeface="微软雅黑"/>
              <a:sym typeface="微软雅黑"/>
            </a:endParaRPr>
          </a:p>
        </p:txBody>
      </p:sp>
      <p:cxnSp>
        <p:nvCxnSpPr>
          <p:cNvPr id="17" name="コネクタ: 曲線 16">
            <a:extLst>
              <a:ext uri="{FF2B5EF4-FFF2-40B4-BE49-F238E27FC236}">
                <a16:creationId xmlns:a16="http://schemas.microsoft.com/office/drawing/2014/main" id="{BA448727-E1DF-4045-9629-A7CE2A5D71F0}"/>
              </a:ext>
            </a:extLst>
          </p:cNvPr>
          <p:cNvCxnSpPr>
            <a:cxnSpLocks/>
            <a:stCxn id="21" idx="0"/>
            <a:endCxn id="9" idx="2"/>
          </p:cNvCxnSpPr>
          <p:nvPr/>
        </p:nvCxnSpPr>
        <p:spPr>
          <a:xfrm rot="16200000" flipV="1">
            <a:off x="7505513" y="4241988"/>
            <a:ext cx="321985" cy="93010"/>
          </a:xfrm>
          <a:prstGeom prst="curvedConnector3">
            <a:avLst>
              <a:gd name="adj1" fmla="val 50000"/>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
        <p:nvSpPr>
          <p:cNvPr id="21" name="AutoShape 7">
            <a:extLst>
              <a:ext uri="{FF2B5EF4-FFF2-40B4-BE49-F238E27FC236}">
                <a16:creationId xmlns:a16="http://schemas.microsoft.com/office/drawing/2014/main" id="{E68834AE-94D8-4A45-A1F4-058224F11B72}"/>
              </a:ext>
            </a:extLst>
          </p:cNvPr>
          <p:cNvSpPr/>
          <p:nvPr/>
        </p:nvSpPr>
        <p:spPr>
          <a:xfrm>
            <a:off x="6970806" y="4449485"/>
            <a:ext cx="1484407" cy="692146"/>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sz="1100" b="1" dirty="0">
                <a:solidFill>
                  <a:srgbClr val="0A3760"/>
                </a:solidFill>
                <a:latin typeface="微软雅黑"/>
                <a:ea typeface="微软雅黑"/>
                <a:cs typeface="微软雅黑"/>
                <a:sym typeface="微软雅黑"/>
              </a:rPr>
              <a:t> 针对火的</a:t>
            </a:r>
            <a:r>
              <a:rPr lang="en-US" altLang="zh-CN" sz="1100" b="1" dirty="0" err="1">
                <a:solidFill>
                  <a:srgbClr val="0A3760"/>
                </a:solidFill>
                <a:latin typeface="微软雅黑"/>
                <a:ea typeface="微软雅黑"/>
                <a:cs typeface="微软雅黑"/>
                <a:sym typeface="微软雅黑"/>
              </a:rPr>
              <a:t>IoF</a:t>
            </a:r>
            <a:r>
              <a:rPr lang="en-US" altLang="zh-CN" sz="1100" b="1" dirty="0">
                <a:solidFill>
                  <a:srgbClr val="0A3760"/>
                </a:solidFill>
                <a:latin typeface="微软雅黑"/>
                <a:ea typeface="微软雅黑"/>
                <a:cs typeface="微软雅黑"/>
                <a:sym typeface="微软雅黑"/>
              </a:rPr>
              <a:t> </a:t>
            </a:r>
            <a:r>
              <a:rPr lang="zh-CN" altLang="en-US" sz="1100" b="1" dirty="0">
                <a:solidFill>
                  <a:srgbClr val="0A3760"/>
                </a:solidFill>
                <a:latin typeface="微软雅黑"/>
                <a:ea typeface="微软雅黑"/>
                <a:cs typeface="微软雅黑"/>
                <a:sym typeface="微软雅黑"/>
              </a:rPr>
              <a:t>包含率过滤与保守验证策略算法</a:t>
            </a:r>
            <a:endParaRPr lang="en-US" sz="1050" b="0" i="0" u="none" strike="noStrike" dirty="0">
              <a:solidFill>
                <a:srgbClr val="0A3760"/>
              </a:solidFill>
              <a:latin typeface="微软雅黑"/>
              <a:ea typeface="微软雅黑"/>
              <a:cs typeface="微软雅黑"/>
              <a:sym typeface="微软雅黑"/>
            </a:endParaRPr>
          </a:p>
        </p:txBody>
      </p:sp>
      <p:cxnSp>
        <p:nvCxnSpPr>
          <p:cNvPr id="22" name="コネクタ: 曲線 21">
            <a:extLst>
              <a:ext uri="{FF2B5EF4-FFF2-40B4-BE49-F238E27FC236}">
                <a16:creationId xmlns:a16="http://schemas.microsoft.com/office/drawing/2014/main" id="{980A9EBC-C9BF-435A-9451-9B3D454D955F}"/>
              </a:ext>
            </a:extLst>
          </p:cNvPr>
          <p:cNvCxnSpPr>
            <a:cxnSpLocks/>
            <a:stCxn id="16" idx="2"/>
            <a:endCxn id="11" idx="0"/>
          </p:cNvCxnSpPr>
          <p:nvPr/>
        </p:nvCxnSpPr>
        <p:spPr>
          <a:xfrm rot="16200000" flipH="1">
            <a:off x="10160748" y="2572497"/>
            <a:ext cx="645459" cy="305546"/>
          </a:xfrm>
          <a:prstGeom prst="curvedConnector3">
            <a:avLst/>
          </a:prstGeom>
          <a:ln>
            <a:solidFill>
              <a:srgbClr val="0A376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23C0E232-3C3F-4BAF-9BCC-ECC0BB94B263}"/>
              </a:ext>
            </a:extLst>
          </p:cNvPr>
          <p:cNvSpPr/>
          <p:nvPr/>
        </p:nvSpPr>
        <p:spPr>
          <a:xfrm>
            <a:off x="6446518" y="862965"/>
            <a:ext cx="4373884" cy="5918835"/>
          </a:xfrm>
          <a:prstGeom prst="roundRect">
            <a:avLst/>
          </a:prstGeom>
          <a:solidFill>
            <a:srgbClr val="D6DCE5">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Freeform 2"/>
          <p:cNvSpPr/>
          <p:nvPr/>
        </p:nvSpPr>
        <p:spPr>
          <a:xfrm>
            <a:off x="0" y="132080"/>
            <a:ext cx="4805680" cy="600000"/>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4" name="AutoShape 4"/>
          <p:cNvSpPr/>
          <p:nvPr/>
        </p:nvSpPr>
        <p:spPr>
          <a:xfrm>
            <a:off x="781050" y="245745"/>
            <a:ext cx="3858895" cy="82994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pic>
        <p:nvPicPr>
          <p:cNvPr id="17" name="図 16">
            <a:extLst>
              <a:ext uri="{FF2B5EF4-FFF2-40B4-BE49-F238E27FC236}">
                <a16:creationId xmlns:a16="http://schemas.microsoft.com/office/drawing/2014/main" id="{541E2B9A-D3DC-4260-A9BB-CB902E667FDB}"/>
              </a:ext>
            </a:extLst>
          </p:cNvPr>
          <p:cNvPicPr>
            <a:picLocks noChangeAspect="1"/>
          </p:cNvPicPr>
          <p:nvPr/>
        </p:nvPicPr>
        <p:blipFill>
          <a:blip r:embed="rId4"/>
          <a:stretch>
            <a:fillRect/>
          </a:stretch>
        </p:blipFill>
        <p:spPr>
          <a:xfrm>
            <a:off x="640228" y="1206575"/>
            <a:ext cx="5485354" cy="5651425"/>
          </a:xfrm>
          <a:prstGeom prst="rect">
            <a:avLst/>
          </a:prstGeom>
        </p:spPr>
      </p:pic>
      <p:sp>
        <p:nvSpPr>
          <p:cNvPr id="18" name="AutoShape 7">
            <a:extLst>
              <a:ext uri="{FF2B5EF4-FFF2-40B4-BE49-F238E27FC236}">
                <a16:creationId xmlns:a16="http://schemas.microsoft.com/office/drawing/2014/main" id="{6BC5392E-3024-4832-A7B2-ED140CD68A7E}"/>
              </a:ext>
            </a:extLst>
          </p:cNvPr>
          <p:cNvSpPr/>
          <p:nvPr/>
        </p:nvSpPr>
        <p:spPr>
          <a:xfrm>
            <a:off x="640228" y="86296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低预算语义提示基准确立算法</a:t>
            </a:r>
            <a:endParaRPr lang="en-US" b="0" i="0" u="none" strike="noStrike" dirty="0">
              <a:solidFill>
                <a:srgbClr val="0A3760"/>
              </a:solidFill>
              <a:latin typeface="微软雅黑"/>
              <a:ea typeface="微软雅黑"/>
              <a:cs typeface="微软雅黑"/>
              <a:sym typeface="微软雅黑"/>
            </a:endParaRPr>
          </a:p>
        </p:txBody>
      </p:sp>
      <p:sp>
        <p:nvSpPr>
          <p:cNvPr id="5" name="テキスト ボックス 4">
            <a:extLst>
              <a:ext uri="{FF2B5EF4-FFF2-40B4-BE49-F238E27FC236}">
                <a16:creationId xmlns:a16="http://schemas.microsoft.com/office/drawing/2014/main" id="{AC16E56C-8D49-4DF7-B725-90C8FDB9CF1E}"/>
              </a:ext>
            </a:extLst>
          </p:cNvPr>
          <p:cNvSpPr txBox="1"/>
          <p:nvPr/>
        </p:nvSpPr>
        <p:spPr>
          <a:xfrm>
            <a:off x="6446518" y="990943"/>
            <a:ext cx="2478405" cy="993477"/>
          </a:xfrm>
          <a:prstGeom prst="rect">
            <a:avLst/>
          </a:prstGeom>
          <a:noFill/>
        </p:spPr>
        <p:txBody>
          <a:bodyPr wrap="square" rtlCol="0">
            <a:spAutoFit/>
          </a:bodyPr>
          <a:lstStyle/>
          <a:p>
            <a:endParaRPr kumimoji="1" lang="zh-CN" altLang="en-US" sz="1100" dirty="0">
              <a:latin typeface="Microsoft YaHei" panose="020B0503020204020204" pitchFamily="34" charset="-122"/>
              <a:ea typeface="Microsoft YaHei" panose="020B0503020204020204" pitchFamily="34" charset="-122"/>
            </a:endParaRPr>
          </a:p>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参数空间初始化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构建包含语义多样化描述的候选集 </a:t>
            </a:r>
            <a:r>
              <a:rPr kumimoji="1" lang="en-US" altLang="zh-CN" sz="1100" dirty="0">
                <a:solidFill>
                  <a:srgbClr val="0A3760"/>
                </a:solidFill>
                <a:latin typeface="Microsoft YaHei" panose="020B0503020204020204" pitchFamily="34" charset="-122"/>
                <a:ea typeface="Microsoft YaHei" panose="020B0503020204020204" pitchFamily="34" charset="-122"/>
              </a:rPr>
              <a:t>P </a:t>
            </a:r>
            <a:r>
              <a:rPr kumimoji="1" lang="zh-CN" altLang="en-US" sz="1100" dirty="0">
                <a:solidFill>
                  <a:srgbClr val="0A3760"/>
                </a:solidFill>
                <a:latin typeface="Microsoft YaHei" panose="020B0503020204020204" pitchFamily="34" charset="-122"/>
                <a:ea typeface="Microsoft YaHei" panose="020B0503020204020204" pitchFamily="34" charset="-122"/>
              </a:rPr>
              <a:t>与连续阈值空间 </a:t>
            </a:r>
            <a:r>
              <a:rPr kumimoji="1" lang="en-US" altLang="zh-CN" sz="1100" dirty="0">
                <a:solidFill>
                  <a:srgbClr val="0A3760"/>
                </a:solidFill>
                <a:latin typeface="Microsoft YaHei" panose="020B0503020204020204" pitchFamily="34" charset="-122"/>
                <a:ea typeface="Microsoft YaHei" panose="020B0503020204020204" pitchFamily="34" charset="-122"/>
              </a:rPr>
              <a:t>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p:txBody>
      </p:sp>
      <p:sp>
        <p:nvSpPr>
          <p:cNvPr id="10" name="テキスト ボックス 9">
            <a:extLst>
              <a:ext uri="{FF2B5EF4-FFF2-40B4-BE49-F238E27FC236}">
                <a16:creationId xmlns:a16="http://schemas.microsoft.com/office/drawing/2014/main" id="{26BFA1CE-72C0-4990-9907-6E3A7D90ADAA}"/>
              </a:ext>
            </a:extLst>
          </p:cNvPr>
          <p:cNvSpPr txBox="1"/>
          <p:nvPr/>
        </p:nvSpPr>
        <p:spPr>
          <a:xfrm>
            <a:off x="6446518" y="2520196"/>
            <a:ext cx="4497706" cy="1332031"/>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多维度统计评估 </a:t>
            </a:r>
            <a:r>
              <a:rPr kumimoji="1" lang="zh-CN" altLang="en-US" sz="1100" dirty="0">
                <a:solidFill>
                  <a:srgbClr val="0A3760"/>
                </a:solidFill>
                <a:latin typeface="Microsoft YaHei" panose="020B0503020204020204" pitchFamily="34" charset="-122"/>
                <a:ea typeface="Microsoft YaHei" panose="020B0503020204020204" pitchFamily="34" charset="-122"/>
              </a:rPr>
              <a:t> </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为了全面量化检测性能，构建了一个包含检测精度（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）、定位质量（</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zh-CN" altLang="en-US" sz="1100" dirty="0">
                <a:solidFill>
                  <a:srgbClr val="0A3760"/>
                </a:solidFill>
                <a:latin typeface="Microsoft YaHei" panose="020B0503020204020204" pitchFamily="34" charset="-122"/>
                <a:ea typeface="Microsoft YaHei" panose="020B0503020204020204" pitchFamily="34" charset="-122"/>
              </a:rPr>
              <a:t>）与检测均衡性（</a:t>
            </a:r>
            <a:r>
              <a:rPr kumimoji="1" lang="en-US" altLang="zh-CN" sz="1100" dirty="0">
                <a:solidFill>
                  <a:srgbClr val="0A3760"/>
                </a:solidFill>
                <a:latin typeface="Microsoft YaHei" panose="020B0503020204020204" pitchFamily="34" charset="-122"/>
                <a:ea typeface="Microsoft YaHei" panose="020B0503020204020204" pitchFamily="34" charset="-122"/>
              </a:rPr>
              <a:t>F1-score</a:t>
            </a:r>
            <a:r>
              <a:rPr kumimoji="1" lang="zh-CN" altLang="en-US" sz="1100" dirty="0">
                <a:solidFill>
                  <a:srgbClr val="0A3760"/>
                </a:solidFill>
                <a:latin typeface="Microsoft YaHei" panose="020B0503020204020204" pitchFamily="34" charset="-122"/>
                <a:ea typeface="Microsoft YaHei" panose="020B0503020204020204" pitchFamily="34" charset="-122"/>
              </a:rPr>
              <a:t>）的多维度指标空间。此外，为了量化评估的不确定性，利用 </a:t>
            </a:r>
            <a:r>
              <a:rPr kumimoji="1" lang="en-US" altLang="zh-CN" sz="1100" dirty="0">
                <a:solidFill>
                  <a:srgbClr val="0A3760"/>
                </a:solidFill>
                <a:latin typeface="Microsoft YaHei" panose="020B0503020204020204" pitchFamily="34" charset="-122"/>
                <a:ea typeface="Microsoft YaHei" panose="020B0503020204020204" pitchFamily="34" charset="-122"/>
              </a:rPr>
              <a:t>Bootstrap </a:t>
            </a:r>
            <a:r>
              <a:rPr kumimoji="1" lang="zh-CN" altLang="en-US" sz="1100" dirty="0">
                <a:solidFill>
                  <a:srgbClr val="0A3760"/>
                </a:solidFill>
                <a:latin typeface="Microsoft YaHei" panose="020B0503020204020204" pitchFamily="34" charset="-122"/>
                <a:ea typeface="Microsoft YaHei" panose="020B0503020204020204" pitchFamily="34" charset="-122"/>
              </a:rPr>
              <a:t>重采样法 对指标分布进行建模，从而获得具有置信度保证的性能度量。</a:t>
            </a:r>
          </a:p>
        </p:txBody>
      </p:sp>
      <p:sp>
        <p:nvSpPr>
          <p:cNvPr id="11" name="テキスト ボックス 10">
            <a:extLst>
              <a:ext uri="{FF2B5EF4-FFF2-40B4-BE49-F238E27FC236}">
                <a16:creationId xmlns:a16="http://schemas.microsoft.com/office/drawing/2014/main" id="{EBCBAEB0-F147-437E-AFF2-9C7E6F6EA32E}"/>
              </a:ext>
            </a:extLst>
          </p:cNvPr>
          <p:cNvSpPr txBox="1"/>
          <p:nvPr/>
        </p:nvSpPr>
        <p:spPr>
          <a:xfrm>
            <a:off x="6446520" y="4251230"/>
            <a:ext cx="4431030" cy="1585947"/>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层级化决策机制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针对检测任务中“检测召回”与“定位精度”的权衡问题，我们设计了一种级联优先级策略。决策逻辑优先优化全局检测精度（</a:t>
            </a:r>
            <a:r>
              <a:rPr kumimoji="1" lang="en-US" altLang="zh-CN" sz="1100" dirty="0" err="1">
                <a:solidFill>
                  <a:srgbClr val="0A3760"/>
                </a:solidFill>
                <a:latin typeface="Microsoft YaHei" panose="020B0503020204020204" pitchFamily="34" charset="-122"/>
                <a:ea typeface="Microsoft YaHei" panose="020B0503020204020204" pitchFamily="34" charset="-122"/>
              </a:rPr>
              <a:t>mAP</a:t>
            </a:r>
            <a:r>
              <a:rPr kumimoji="1" lang="zh-CN" altLang="en-US" sz="1100" dirty="0">
                <a:solidFill>
                  <a:srgbClr val="0A3760"/>
                </a:solidFill>
                <a:latin typeface="Microsoft YaHei" panose="020B0503020204020204" pitchFamily="34" charset="-122"/>
                <a:ea typeface="Microsoft YaHei" panose="020B0503020204020204" pitchFamily="34" charset="-122"/>
              </a:rPr>
              <a:t>），并在同等精度水平下，通过 </a:t>
            </a:r>
            <a:r>
              <a:rPr kumimoji="1" lang="en-US" altLang="zh-CN" sz="1100" dirty="0">
                <a:solidFill>
                  <a:srgbClr val="0A3760"/>
                </a:solidFill>
                <a:latin typeface="Microsoft YaHei" panose="020B0503020204020204" pitchFamily="34" charset="-122"/>
                <a:ea typeface="Microsoft YaHei" panose="020B0503020204020204" pitchFamily="34" charset="-122"/>
              </a:rPr>
              <a:t>AP75</a:t>
            </a:r>
            <a:r>
              <a:rPr kumimoji="1" lang="zh-CN" altLang="en-US" sz="1100" dirty="0">
                <a:solidFill>
                  <a:srgbClr val="0A3760"/>
                </a:solidFill>
                <a:latin typeface="Microsoft YaHei" panose="020B0503020204020204" pitchFamily="34" charset="-122"/>
                <a:ea typeface="Microsoft YaHei" panose="020B0503020204020204" pitchFamily="34" charset="-122"/>
              </a:rPr>
              <a:t>约束定位质量，最终通过 </a:t>
            </a:r>
            <a:r>
              <a:rPr kumimoji="1" lang="en-US" altLang="zh-CN" sz="1100" dirty="0">
                <a:solidFill>
                  <a:srgbClr val="0A3760"/>
                </a:solidFill>
                <a:latin typeface="Microsoft YaHei" panose="020B0503020204020204" pitchFamily="34" charset="-122"/>
                <a:ea typeface="Microsoft YaHei" panose="020B0503020204020204" pitchFamily="34" charset="-122"/>
              </a:rPr>
              <a:t>F1</a:t>
            </a:r>
            <a:r>
              <a:rPr kumimoji="1" lang="zh-CN" altLang="en-US" sz="1100" dirty="0">
                <a:solidFill>
                  <a:srgbClr val="0A3760"/>
                </a:solidFill>
                <a:latin typeface="Microsoft YaHei" panose="020B0503020204020204" pitchFamily="34" charset="-122"/>
                <a:ea typeface="Microsoft YaHei" panose="020B0503020204020204" pitchFamily="34" charset="-122"/>
              </a:rPr>
              <a:t>分数进行精细化调优。该策略确保了选出的提示词在复杂环境下具备高度的鲁棒性。</a:t>
            </a:r>
          </a:p>
        </p:txBody>
      </p:sp>
      <p:sp>
        <p:nvSpPr>
          <p:cNvPr id="12" name="テキスト ボックス 11">
            <a:extLst>
              <a:ext uri="{FF2B5EF4-FFF2-40B4-BE49-F238E27FC236}">
                <a16:creationId xmlns:a16="http://schemas.microsoft.com/office/drawing/2014/main" id="{B118AE3D-5424-46D2-8FC7-701DEC59D94C}"/>
              </a:ext>
            </a:extLst>
          </p:cNvPr>
          <p:cNvSpPr txBox="1"/>
          <p:nvPr/>
        </p:nvSpPr>
        <p:spPr>
          <a:xfrm>
            <a:off x="6503666" y="5837177"/>
            <a:ext cx="4373884" cy="824200"/>
          </a:xfrm>
          <a:prstGeom prst="rect">
            <a:avLst/>
          </a:prstGeom>
          <a:noFill/>
        </p:spPr>
        <p:txBody>
          <a:bodyPr wrap="square" rtlCol="0">
            <a:spAutoFit/>
          </a:bodyPr>
          <a:lstStyle/>
          <a:p>
            <a:pPr>
              <a:lnSpc>
                <a:spcPct val="150000"/>
              </a:lnSpc>
            </a:pPr>
            <a:r>
              <a:rPr kumimoji="1" lang="zh-CN" altLang="en-US" sz="1100" b="1" dirty="0">
                <a:solidFill>
                  <a:srgbClr val="0A3760"/>
                </a:solidFill>
                <a:latin typeface="Microsoft YaHei" panose="020B0503020204020204" pitchFamily="34" charset="-122"/>
                <a:ea typeface="Microsoft YaHei" panose="020B0503020204020204" pitchFamily="34" charset="-122"/>
              </a:rPr>
              <a:t>■ 配置持久化</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pPr>
              <a:lnSpc>
                <a:spcPct val="150000"/>
              </a:lnSpc>
            </a:pPr>
            <a:r>
              <a:rPr kumimoji="1" lang="zh-CN" altLang="en-US" sz="1100" dirty="0">
                <a:solidFill>
                  <a:srgbClr val="0A3760"/>
                </a:solidFill>
                <a:latin typeface="Microsoft YaHei" panose="020B0503020204020204" pitchFamily="34" charset="-122"/>
                <a:ea typeface="Microsoft YaHei" panose="020B0503020204020204" pitchFamily="34" charset="-122"/>
              </a:rPr>
              <a:t>最终通过自动化映射，将最优参数空间 </a:t>
            </a:r>
            <a:r>
              <a:rPr kumimoji="1" lang="en-US" altLang="zh-CN" sz="1100" dirty="0">
                <a:solidFill>
                  <a:srgbClr val="0A3760"/>
                </a:solidFill>
                <a:latin typeface="Microsoft YaHei" panose="020B0503020204020204" pitchFamily="34" charset="-122"/>
                <a:ea typeface="Microsoft YaHei" panose="020B0503020204020204" pitchFamily="34" charset="-122"/>
              </a:rPr>
              <a:t>argmax(J) </a:t>
            </a:r>
            <a:r>
              <a:rPr kumimoji="1" lang="zh-CN" altLang="en-US" sz="1100" dirty="0">
                <a:solidFill>
                  <a:srgbClr val="0A3760"/>
                </a:solidFill>
                <a:latin typeface="Microsoft YaHei" panose="020B0503020204020204" pitchFamily="34" charset="-122"/>
                <a:ea typeface="Microsoft YaHei" panose="020B0503020204020204" pitchFamily="34" charset="-122"/>
              </a:rPr>
              <a:t>转化为可直接用于推理的结构化配置</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29721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2079"/>
            <a:ext cx="4548504" cy="518161"/>
          </a:xfrm>
          <a:custGeom>
            <a:avLst/>
            <a:gdLst/>
            <a:ahLst/>
            <a:cxnLst/>
            <a:rect l="l" t="t" r="r" b="b"/>
            <a:pathLst>
              <a:path w="4054475" h="617220">
                <a:moveTo>
                  <a:pt x="436625" y="0"/>
                </a:moveTo>
                <a:lnTo>
                  <a:pt x="436631" y="0"/>
                </a:lnTo>
                <a:lnTo>
                  <a:pt x="3599329" y="0"/>
                </a:lnTo>
                <a:lnTo>
                  <a:pt x="3599329" y="1321"/>
                </a:lnTo>
                <a:lnTo>
                  <a:pt x="3617850" y="0"/>
                </a:lnTo>
                <a:cubicBezTo>
                  <a:pt x="3858992" y="0"/>
                  <a:pt x="4054475" y="138170"/>
                  <a:pt x="4054475" y="308610"/>
                </a:cubicBezTo>
                <a:cubicBezTo>
                  <a:pt x="4054475" y="479050"/>
                  <a:pt x="3858992" y="617220"/>
                  <a:pt x="3617850" y="617220"/>
                </a:cubicBezTo>
                <a:lnTo>
                  <a:pt x="3599329" y="615900"/>
                </a:lnTo>
                <a:lnTo>
                  <a:pt x="3599329" y="617220"/>
                </a:lnTo>
                <a:lnTo>
                  <a:pt x="436625" y="617220"/>
                </a:lnTo>
                <a:cubicBezTo>
                  <a:pt x="195483" y="617220"/>
                  <a:pt x="0" y="479050"/>
                  <a:pt x="0" y="308610"/>
                </a:cubicBezTo>
                <a:cubicBezTo>
                  <a:pt x="0" y="138170"/>
                  <a:pt x="195483" y="0"/>
                  <a:pt x="43662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oAutofit/>
          </a:bodyPr>
          <a:lstStyle/>
          <a:p>
            <a:pPr marL="0" indent="0" algn="just" defTabSz="914400">
              <a:lnSpc>
                <a:spcPct val="100000"/>
              </a:lnSpc>
              <a:defRPr/>
            </a:pPr>
            <a:r>
              <a:rPr lang="en-US" sz="1800" b="0" i="0" u="none" strike="noStrike">
                <a:solidFill>
                  <a:srgbClr val="000000"/>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163195" y="132080"/>
            <a:ext cx="617855" cy="617855"/>
          </a:xfrm>
          <a:prstGeom prst="rect">
            <a:avLst/>
          </a:prstGeom>
          <a:ln w="12700" cap="flat" cmpd="sng">
            <a:noFill/>
            <a:prstDash val="solid"/>
            <a:round/>
          </a:ln>
        </p:spPr>
      </p:pic>
      <p:sp>
        <p:nvSpPr>
          <p:cNvPr id="97" name="AutoShape 7">
            <a:extLst>
              <a:ext uri="{FF2B5EF4-FFF2-40B4-BE49-F238E27FC236}">
                <a16:creationId xmlns:a16="http://schemas.microsoft.com/office/drawing/2014/main" id="{D49CBA3F-1F40-40E6-A6DA-FBC5D13B22ED}"/>
              </a:ext>
            </a:extLst>
          </p:cNvPr>
          <p:cNvSpPr/>
          <p:nvPr/>
        </p:nvSpPr>
        <p:spPr>
          <a:xfrm>
            <a:off x="248398" y="845745"/>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针对火的</a:t>
            </a:r>
            <a:r>
              <a:rPr lang="en-US" altLang="zh-CN" b="1" dirty="0" err="1">
                <a:solidFill>
                  <a:srgbClr val="0A3760"/>
                </a:solidFill>
                <a:latin typeface="微软雅黑"/>
                <a:ea typeface="微软雅黑"/>
                <a:cs typeface="微软雅黑"/>
                <a:sym typeface="微软雅黑"/>
              </a:rPr>
              <a:t>IoF</a:t>
            </a:r>
            <a:r>
              <a:rPr lang="en-US" altLang="zh-CN" b="1" dirty="0">
                <a:solidFill>
                  <a:srgbClr val="0A3760"/>
                </a:solidFill>
                <a:latin typeface="微软雅黑"/>
                <a:ea typeface="微软雅黑"/>
                <a:cs typeface="微软雅黑"/>
                <a:sym typeface="微软雅黑"/>
              </a:rPr>
              <a:t> </a:t>
            </a:r>
            <a:r>
              <a:rPr lang="zh-CN" altLang="en-US" b="1" dirty="0">
                <a:solidFill>
                  <a:srgbClr val="0A3760"/>
                </a:solidFill>
                <a:latin typeface="微软雅黑"/>
                <a:ea typeface="微软雅黑"/>
                <a:cs typeface="微软雅黑"/>
                <a:sym typeface="微软雅黑"/>
              </a:rPr>
              <a:t>包含率过滤与保守验证策略算法</a:t>
            </a:r>
            <a:endParaRPr lang="en-US" b="0" i="0" u="none" strike="noStrike" dirty="0">
              <a:solidFill>
                <a:srgbClr val="0A3760"/>
              </a:solidFill>
              <a:latin typeface="微软雅黑"/>
              <a:ea typeface="微软雅黑"/>
              <a:cs typeface="微软雅黑"/>
              <a:sym typeface="微软雅黑"/>
            </a:endParaRPr>
          </a:p>
        </p:txBody>
      </p:sp>
      <p:pic>
        <p:nvPicPr>
          <p:cNvPr id="99" name="図 98">
            <a:extLst>
              <a:ext uri="{FF2B5EF4-FFF2-40B4-BE49-F238E27FC236}">
                <a16:creationId xmlns:a16="http://schemas.microsoft.com/office/drawing/2014/main" id="{B9A66D0E-F0F3-493C-8619-3C84FD182A85}"/>
              </a:ext>
            </a:extLst>
          </p:cNvPr>
          <p:cNvPicPr>
            <a:picLocks noChangeAspect="1"/>
          </p:cNvPicPr>
          <p:nvPr/>
        </p:nvPicPr>
        <p:blipFill>
          <a:blip r:embed="rId4"/>
          <a:stretch>
            <a:fillRect/>
          </a:stretch>
        </p:blipFill>
        <p:spPr>
          <a:xfrm>
            <a:off x="248398" y="1283820"/>
            <a:ext cx="11449050" cy="1832564"/>
          </a:xfrm>
          <a:prstGeom prst="rect">
            <a:avLst/>
          </a:prstGeom>
        </p:spPr>
      </p:pic>
      <p:sp>
        <p:nvSpPr>
          <p:cNvPr id="100" name="テキスト ボックス 99">
            <a:extLst>
              <a:ext uri="{FF2B5EF4-FFF2-40B4-BE49-F238E27FC236}">
                <a16:creationId xmlns:a16="http://schemas.microsoft.com/office/drawing/2014/main" id="{8EB95454-F168-479D-B51C-EA6AE40F99FD}"/>
              </a:ext>
            </a:extLst>
          </p:cNvPr>
          <p:cNvSpPr txBox="1"/>
          <p:nvPr/>
        </p:nvSpPr>
        <p:spPr>
          <a:xfrm>
            <a:off x="248398" y="3429000"/>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：基于语义驱动的误检抑制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通过“验证门槛</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将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定位的框与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语义 </a:t>
            </a:r>
            <a:r>
              <a:rPr kumimoji="1" lang="en-US" altLang="zh-CN" sz="1100" dirty="0">
                <a:solidFill>
                  <a:srgbClr val="0A3760"/>
                </a:solidFill>
                <a:latin typeface="Microsoft YaHei" panose="020B0503020204020204" pitchFamily="34" charset="-122"/>
                <a:ea typeface="Microsoft YaHei" panose="020B0503020204020204" pitchFamily="34" charset="-122"/>
              </a:rPr>
              <a:t>Mask </a:t>
            </a:r>
            <a:r>
              <a:rPr kumimoji="1" lang="zh-CN" altLang="en-US" sz="1100" dirty="0">
                <a:solidFill>
                  <a:srgbClr val="0A3760"/>
                </a:solidFill>
                <a:latin typeface="Microsoft YaHei" panose="020B0503020204020204" pitchFamily="34" charset="-122"/>
                <a:ea typeface="Microsoft YaHei" panose="020B0503020204020204" pitchFamily="34" charset="-122"/>
              </a:rPr>
              <a:t>进行匹配审核。</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多维评估指标 ：</a:t>
            </a:r>
          </a:p>
          <a:p>
            <a:r>
              <a:rPr kumimoji="1" lang="zh-CN" altLang="en-US" sz="1100" dirty="0">
                <a:solidFill>
                  <a:srgbClr val="0A3760"/>
                </a:solidFill>
                <a:latin typeface="Microsoft YaHei" panose="020B0503020204020204" pitchFamily="34" charset="-122"/>
                <a:ea typeface="Microsoft YaHei" panose="020B0503020204020204" pitchFamily="34" charset="-122"/>
              </a:rPr>
              <a:t>语义覆盖度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确保检测框内的像素语义密度满足阈值要求。</a:t>
            </a:r>
          </a:p>
          <a:p>
            <a:r>
              <a:rPr kumimoji="1" lang="zh-CN" altLang="en-US" sz="1100" dirty="0">
                <a:solidFill>
                  <a:srgbClr val="0A3760"/>
                </a:solidFill>
                <a:latin typeface="Microsoft YaHei" panose="020B0503020204020204" pitchFamily="34" charset="-122"/>
                <a:ea typeface="Microsoft YaHei" panose="020B0503020204020204" pitchFamily="34" charset="-122"/>
              </a:rPr>
              <a:t>置信度对齐 ：实现检测置信度与语义分割概率的同步校验。</a:t>
            </a:r>
          </a:p>
          <a:p>
            <a:r>
              <a:rPr kumimoji="1" lang="zh-CN" altLang="en-US" sz="1100" dirty="0">
                <a:solidFill>
                  <a:srgbClr val="0A3760"/>
                </a:solidFill>
                <a:latin typeface="Microsoft YaHei" panose="020B0503020204020204" pitchFamily="34" charset="-122"/>
                <a:ea typeface="Microsoft YaHei" panose="020B0503020204020204" pitchFamily="34" charset="-122"/>
              </a:rPr>
              <a:t>空间一致性：验证检测框边界与分割边界的几何重合度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预期目标 ：有效剔除定位在非语义区域的误报目标 。</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1" name="テキスト ボックス 100">
            <a:extLst>
              <a:ext uri="{FF2B5EF4-FFF2-40B4-BE49-F238E27FC236}">
                <a16:creationId xmlns:a16="http://schemas.microsoft.com/office/drawing/2014/main" id="{3A1656A6-07B7-4B6D-ABCD-5A62B9BF13CC}"/>
              </a:ext>
            </a:extLst>
          </p:cNvPr>
          <p:cNvSpPr txBox="1"/>
          <p:nvPr/>
        </p:nvSpPr>
        <p:spPr>
          <a:xfrm>
            <a:off x="248398" y="4706273"/>
            <a:ext cx="5180852" cy="1277273"/>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阶段 </a:t>
            </a:r>
            <a:r>
              <a:rPr kumimoji="1" lang="en-US" altLang="zh-CN" sz="1100" b="1" dirty="0">
                <a:solidFill>
                  <a:srgbClr val="0A3760"/>
                </a:solidFill>
                <a:latin typeface="Microsoft YaHei" panose="020B0503020204020204" pitchFamily="34" charset="-122"/>
                <a:ea typeface="Microsoft YaHei" panose="020B0503020204020204" pitchFamily="34" charset="-122"/>
              </a:rPr>
              <a:t>II</a:t>
            </a:r>
            <a:r>
              <a:rPr kumimoji="1" lang="zh-CN" altLang="en-US" sz="1100" b="1" dirty="0">
                <a:solidFill>
                  <a:srgbClr val="0A3760"/>
                </a:solidFill>
                <a:latin typeface="Microsoft YaHei" panose="020B0503020204020204" pitchFamily="34" charset="-122"/>
                <a:ea typeface="Microsoft YaHei" panose="020B0503020204020204" pitchFamily="34" charset="-122"/>
              </a:rPr>
              <a:t>：基于多级过滤的保守目标追加</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通过 </a:t>
            </a:r>
            <a:r>
              <a:rPr kumimoji="1" lang="en-US" altLang="zh-CN" sz="1100" dirty="0">
                <a:solidFill>
                  <a:srgbClr val="0A3760"/>
                </a:solidFill>
                <a:latin typeface="Microsoft YaHei" panose="020B0503020204020204" pitchFamily="34" charset="-122"/>
                <a:ea typeface="Microsoft YaHei" panose="020B0503020204020204" pitchFamily="34" charset="-122"/>
              </a:rPr>
              <a:t>SAM3 </a:t>
            </a:r>
            <a:r>
              <a:rPr kumimoji="1" lang="zh-CN" altLang="en-US" sz="1100" dirty="0">
                <a:solidFill>
                  <a:srgbClr val="0A3760"/>
                </a:solidFill>
                <a:latin typeface="Microsoft YaHei" panose="020B0503020204020204" pitchFamily="34" charset="-122"/>
                <a:ea typeface="Microsoft YaHei" panose="020B0503020204020204" pitchFamily="34" charset="-122"/>
              </a:rPr>
              <a:t>的概念检索能力，找回被 </a:t>
            </a:r>
            <a:r>
              <a:rPr kumimoji="1" lang="en-US" altLang="zh-CN" sz="1100" dirty="0">
                <a:solidFill>
                  <a:srgbClr val="0A3760"/>
                </a:solidFill>
                <a:latin typeface="Microsoft YaHei" panose="020B0503020204020204" pitchFamily="34" charset="-122"/>
                <a:ea typeface="Microsoft YaHei" panose="020B0503020204020204" pitchFamily="34" charset="-122"/>
              </a:rPr>
              <a:t>DINO </a:t>
            </a:r>
            <a:r>
              <a:rPr kumimoji="1" lang="zh-CN" altLang="en-US" sz="1100" dirty="0">
                <a:solidFill>
                  <a:srgbClr val="0A3760"/>
                </a:solidFill>
                <a:latin typeface="Microsoft YaHei" panose="020B0503020204020204" pitchFamily="34" charset="-122"/>
                <a:ea typeface="Microsoft YaHei" panose="020B0503020204020204" pitchFamily="34" charset="-122"/>
              </a:rPr>
              <a:t>漏检的火点目标</a:t>
            </a:r>
          </a:p>
          <a:p>
            <a:r>
              <a:rPr kumimoji="1" lang="zh-CN" altLang="en-US" sz="1100" dirty="0">
                <a:solidFill>
                  <a:srgbClr val="0A3760"/>
                </a:solidFill>
                <a:latin typeface="Microsoft YaHei" panose="020B0503020204020204" pitchFamily="34" charset="-122"/>
                <a:ea typeface="Microsoft YaHei" panose="020B0503020204020204" pitchFamily="34" charset="-122"/>
              </a:rPr>
              <a:t>多级准入门槛 ：</a:t>
            </a:r>
          </a:p>
          <a:p>
            <a:r>
              <a:rPr kumimoji="1" lang="zh-CN" altLang="en-US" sz="1100" dirty="0">
                <a:solidFill>
                  <a:srgbClr val="0A3760"/>
                </a:solidFill>
                <a:latin typeface="Microsoft YaHei" panose="020B0503020204020204" pitchFamily="34" charset="-122"/>
                <a:ea typeface="Microsoft YaHei" panose="020B0503020204020204" pitchFamily="34" charset="-122"/>
              </a:rPr>
              <a:t>几何约束 ：基于置信度、绝对像素面积及长宽比的初步筛选。</a:t>
            </a:r>
          </a:p>
          <a:p>
            <a:r>
              <a:rPr kumimoji="1" lang="zh-CN" altLang="en-US" sz="1100" dirty="0">
                <a:solidFill>
                  <a:srgbClr val="0A3760"/>
                </a:solidFill>
                <a:latin typeface="Microsoft YaHei" panose="020B0503020204020204" pitchFamily="34" charset="-122"/>
                <a:ea typeface="Microsoft YaHei" panose="020B0503020204020204" pitchFamily="34" charset="-122"/>
              </a:rPr>
              <a:t>冗余抑制 ：依次应用传统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去重与追加内部 </a:t>
            </a:r>
            <a:r>
              <a:rPr kumimoji="1" lang="en-US" altLang="zh-CN" sz="1100" dirty="0">
                <a:solidFill>
                  <a:srgbClr val="0A3760"/>
                </a:solidFill>
                <a:latin typeface="Microsoft YaHei" panose="020B0503020204020204" pitchFamily="34" charset="-122"/>
                <a:ea typeface="Microsoft YaHei" panose="020B0503020204020204" pitchFamily="34" charset="-122"/>
              </a:rPr>
              <a:t>NMS</a:t>
            </a:r>
            <a:r>
              <a:rPr kumimoji="1" lang="zh-CN" altLang="en-US" sz="1100" dirty="0">
                <a:solidFill>
                  <a:srgbClr val="0A3760"/>
                </a:solidFill>
                <a:latin typeface="Microsoft YaHei" panose="020B0503020204020204" pitchFamily="34" charset="-122"/>
                <a:ea typeface="Microsoft YaHei" panose="020B0503020204020204" pitchFamily="34" charset="-122"/>
              </a:rPr>
              <a:t>。</a:t>
            </a:r>
          </a:p>
          <a:p>
            <a:r>
              <a:rPr kumimoji="1" lang="zh-CN" altLang="en-US" sz="1100" dirty="0">
                <a:solidFill>
                  <a:srgbClr val="0A3760"/>
                </a:solidFill>
                <a:latin typeface="Microsoft YaHei" panose="020B0503020204020204" pitchFamily="34" charset="-122"/>
                <a:ea typeface="Microsoft YaHei" panose="020B0503020204020204" pitchFamily="34" charset="-122"/>
              </a:rPr>
              <a:t>设计策略 ：采用“保守优先</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原则，在提升召回率的同时，严格保障下游训练标签的纯净度。</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102" name="テキスト ボックス 101">
            <a:extLst>
              <a:ext uri="{FF2B5EF4-FFF2-40B4-BE49-F238E27FC236}">
                <a16:creationId xmlns:a16="http://schemas.microsoft.com/office/drawing/2014/main" id="{4BB479F2-E863-4A7F-A9E5-F739764C7D48}"/>
              </a:ext>
            </a:extLst>
          </p:cNvPr>
          <p:cNvSpPr txBox="1"/>
          <p:nvPr/>
        </p:nvSpPr>
        <p:spPr>
          <a:xfrm>
            <a:off x="5534025" y="4706273"/>
            <a:ext cx="4733926" cy="938719"/>
          </a:xfrm>
          <a:prstGeom prst="rect">
            <a:avLst/>
          </a:prstGeom>
          <a:noFill/>
        </p:spPr>
        <p:txBody>
          <a:bodyPr wrap="square" rtlCol="0">
            <a:spAutoFit/>
          </a:bodyPr>
          <a:lstStyle/>
          <a:p>
            <a:r>
              <a:rPr kumimoji="1" lang="zh-CN" altLang="en-US" sz="1100" b="1" dirty="0">
                <a:solidFill>
                  <a:srgbClr val="0A3760"/>
                </a:solidFill>
                <a:latin typeface="Microsoft YaHei" panose="020B0503020204020204" pitchFamily="34" charset="-122"/>
                <a:ea typeface="Microsoft YaHei" panose="020B0503020204020204" pitchFamily="34" charset="-122"/>
              </a:rPr>
              <a:t>核心：基于 </a:t>
            </a:r>
            <a:r>
              <a:rPr kumimoji="1" lang="en-US" altLang="zh-CN" sz="1100" b="1" dirty="0" err="1">
                <a:solidFill>
                  <a:srgbClr val="0A3760"/>
                </a:solidFill>
                <a:latin typeface="Microsoft YaHei" panose="020B0503020204020204" pitchFamily="34" charset="-122"/>
                <a:ea typeface="Microsoft YaHei" panose="020B0503020204020204" pitchFamily="34" charset="-122"/>
              </a:rPr>
              <a:t>IoF</a:t>
            </a:r>
            <a:r>
              <a:rPr kumimoji="1" lang="en-US" altLang="zh-CN" sz="1100" b="1" dirty="0">
                <a:solidFill>
                  <a:srgbClr val="0A3760"/>
                </a:solidFill>
                <a:latin typeface="Microsoft YaHei" panose="020B0503020204020204" pitchFamily="34" charset="-122"/>
                <a:ea typeface="Microsoft YaHei" panose="020B0503020204020204" pitchFamily="34" charset="-122"/>
              </a:rPr>
              <a:t> </a:t>
            </a:r>
            <a:r>
              <a:rPr kumimoji="1" lang="zh-CN" altLang="en-US" sz="1100" b="1" dirty="0">
                <a:solidFill>
                  <a:srgbClr val="0A3760"/>
                </a:solidFill>
                <a:latin typeface="Microsoft YaHei" panose="020B0503020204020204" pitchFamily="34" charset="-122"/>
                <a:ea typeface="Microsoft YaHei" panose="020B0503020204020204" pitchFamily="34" charset="-122"/>
              </a:rPr>
              <a:t>包含率的冗余抑制</a:t>
            </a:r>
            <a:endParaRPr kumimoji="1" lang="en-US" altLang="zh-CN" sz="1100" b="1"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传统 </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机制对“嵌套目标 </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不敏感</a:t>
            </a:r>
            <a:r>
              <a:rPr kumimoji="1" lang="en-US" altLang="zh-CN" sz="1100" dirty="0">
                <a:solidFill>
                  <a:srgbClr val="0A3760"/>
                </a:solidFill>
                <a:latin typeface="Microsoft YaHei" panose="020B0503020204020204" pitchFamily="34" charset="-122"/>
                <a:ea typeface="Microsoft YaHei" panose="020B0503020204020204" pitchFamily="34" charset="-122"/>
              </a:rPr>
              <a:t>——</a:t>
            </a:r>
            <a:r>
              <a:rPr kumimoji="1" lang="zh-CN" altLang="en-US" sz="1100" dirty="0">
                <a:solidFill>
                  <a:srgbClr val="0A3760"/>
                </a:solidFill>
                <a:latin typeface="Microsoft YaHei" panose="020B0503020204020204" pitchFamily="34" charset="-122"/>
                <a:ea typeface="Microsoft YaHei" panose="020B0503020204020204" pitchFamily="34" charset="-122"/>
              </a:rPr>
              <a:t>当小目标完全被大目标包含时，</a:t>
            </a:r>
            <a:r>
              <a:rPr kumimoji="1" lang="en-US" altLang="zh-CN" sz="1100" dirty="0" err="1">
                <a:solidFill>
                  <a:srgbClr val="0A3760"/>
                </a:solidFill>
                <a:latin typeface="Microsoft YaHei" panose="020B0503020204020204" pitchFamily="34" charset="-122"/>
                <a:ea typeface="Microsoft YaHei" panose="020B0503020204020204" pitchFamily="34" charset="-122"/>
              </a:rPr>
              <a:t>IoU</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极低，导致重复标注。</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zh-CN" altLang="en-US" sz="1100" dirty="0">
                <a:solidFill>
                  <a:srgbClr val="0A3760"/>
                </a:solidFill>
                <a:latin typeface="Microsoft YaHei" panose="020B0503020204020204" pitchFamily="34" charset="-122"/>
                <a:ea typeface="Microsoft YaHei" panose="020B0503020204020204" pitchFamily="34" charset="-122"/>
              </a:rPr>
              <a:t>引入双向包含率 </a:t>
            </a:r>
            <a:r>
              <a:rPr kumimoji="1" lang="en-US" altLang="zh-CN" sz="1100" dirty="0">
                <a:solidFill>
                  <a:srgbClr val="0A3760"/>
                </a:solidFill>
                <a:latin typeface="Microsoft YaHei" panose="020B0503020204020204" pitchFamily="34" charset="-122"/>
                <a:ea typeface="Microsoft YaHei" panose="020B0503020204020204" pitchFamily="34" charset="-122"/>
              </a:rPr>
              <a:t>(Bidirectional </a:t>
            </a:r>
            <a:r>
              <a:rPr kumimoji="1" lang="en-US" altLang="zh-CN" sz="1100" dirty="0" err="1">
                <a:solidFill>
                  <a:srgbClr val="0A3760"/>
                </a:solidFill>
                <a:latin typeface="Microsoft YaHei" panose="020B0503020204020204" pitchFamily="34" charset="-122"/>
                <a:ea typeface="Microsoft YaHei" panose="020B0503020204020204" pitchFamily="34" charset="-122"/>
              </a:rPr>
              <a:t>IoF</a:t>
            </a:r>
            <a:r>
              <a:rPr kumimoji="1" lang="en-US" altLang="zh-CN" sz="1100" dirty="0">
                <a:solidFill>
                  <a:srgbClr val="0A3760"/>
                </a:solidFill>
                <a:latin typeface="Microsoft YaHei" panose="020B0503020204020204" pitchFamily="34" charset="-122"/>
                <a:ea typeface="Microsoft YaHei" panose="020B0503020204020204" pitchFamily="34" charset="-122"/>
              </a:rPr>
              <a:t>) </a:t>
            </a:r>
            <a:r>
              <a:rPr kumimoji="1" lang="zh-CN" altLang="en-US" sz="1100" dirty="0">
                <a:solidFill>
                  <a:srgbClr val="0A3760"/>
                </a:solidFill>
                <a:latin typeface="Microsoft YaHei" panose="020B0503020204020204" pitchFamily="34" charset="-122"/>
                <a:ea typeface="Microsoft YaHei" panose="020B0503020204020204" pitchFamily="34" charset="-122"/>
              </a:rPr>
              <a:t>机制</a:t>
            </a:r>
            <a:endParaRPr kumimoji="1" lang="en-US" altLang="zh-CN" sz="1100" dirty="0">
              <a:solidFill>
                <a:srgbClr val="0A3760"/>
              </a:solidFill>
              <a:latin typeface="Microsoft YaHei" panose="020B0503020204020204" pitchFamily="34" charset="-122"/>
              <a:ea typeface="Microsoft YaHei" panose="020B0503020204020204" pitchFamily="34" charset="-122"/>
            </a:endParaRPr>
          </a:p>
          <a:p>
            <a:r>
              <a:rPr kumimoji="1" lang="en-US" altLang="ja-JP" sz="1100" dirty="0" err="1">
                <a:solidFill>
                  <a:srgbClr val="0A3760"/>
                </a:solidFill>
                <a:latin typeface="Microsoft YaHei" panose="020B0503020204020204" pitchFamily="34" charset="-122"/>
                <a:ea typeface="Microsoft YaHei" panose="020B0503020204020204" pitchFamily="34" charset="-122"/>
              </a:rPr>
              <a:t>IoFmax</a:t>
            </a:r>
            <a:r>
              <a:rPr kumimoji="1" lang="en-US" altLang="ja-JP" sz="1100" dirty="0">
                <a:solidFill>
                  <a:srgbClr val="0A3760"/>
                </a:solidFill>
                <a:latin typeface="Microsoft YaHei" panose="020B0503020204020204" pitchFamily="34" charset="-122"/>
                <a:ea typeface="Microsoft YaHei" panose="020B0503020204020204" pitchFamily="34" charset="-122"/>
              </a:rPr>
              <a:t>​=max(Area(A∩B)/ Area(A) ​, Area(A∩B)​/ Area(B))</a:t>
            </a:r>
            <a:endParaRPr kumimoji="1" lang="ja-JP" altLang="en-US" sz="1100" dirty="0">
              <a:solidFill>
                <a:srgbClr val="0A3760"/>
              </a:solidFill>
              <a:latin typeface="Microsoft YaHei" panose="020B0503020204020204" pitchFamily="34" charset="-122"/>
              <a:ea typeface="Microsoft YaHei" panose="020B0503020204020204" pitchFamily="34" charset="-122"/>
            </a:endParaRPr>
          </a:p>
        </p:txBody>
      </p:sp>
      <p:sp>
        <p:nvSpPr>
          <p:cNvPr id="6" name="AutoShape 4">
            <a:extLst>
              <a:ext uri="{FF2B5EF4-FFF2-40B4-BE49-F238E27FC236}">
                <a16:creationId xmlns:a16="http://schemas.microsoft.com/office/drawing/2014/main" id="{4CF01AB5-A006-38B9-4FFE-72E54D407B3B}"/>
              </a:ext>
            </a:extLst>
          </p:cNvPr>
          <p:cNvSpPr/>
          <p:nvPr/>
        </p:nvSpPr>
        <p:spPr>
          <a:xfrm>
            <a:off x="689609" y="187605"/>
            <a:ext cx="3858895" cy="46263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dirty="0">
                <a:solidFill>
                  <a:srgbClr val="FFFFFF"/>
                </a:solidFill>
                <a:latin typeface="微软雅黑"/>
                <a:ea typeface="微软雅黑"/>
                <a:cs typeface="微软雅黑"/>
                <a:sym typeface="微软雅黑"/>
              </a:rPr>
              <a:t>低预算提示冻结与噪声审计</a:t>
            </a:r>
          </a:p>
          <a:p>
            <a:pPr marL="0" indent="0" algn="just" defTabSz="914400">
              <a:lnSpc>
                <a:spcPct val="100000"/>
              </a:lnSpc>
            </a:pPr>
            <a:endParaRPr lang="en-US" sz="1100" b="0" i="0" u="none" strike="noStrike" dirty="0">
              <a:solidFill>
                <a:srgbClr val="000000"/>
              </a:solidFill>
              <a:latin typeface="等线"/>
              <a:ea typeface="等线"/>
              <a:cs typeface="等线"/>
              <a:sym typeface="等线"/>
            </a:endParaRPr>
          </a:p>
        </p:txBody>
      </p:sp>
    </p:spTree>
    <p:extLst>
      <p:ext uri="{BB962C8B-B14F-4D97-AF65-F5344CB8AC3E}">
        <p14:creationId xmlns:p14="http://schemas.microsoft.com/office/powerpoint/2010/main" val="3106120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12" name="组合 11">
            <a:extLst>
              <a:ext uri="{FF2B5EF4-FFF2-40B4-BE49-F238E27FC236}">
                <a16:creationId xmlns:a16="http://schemas.microsoft.com/office/drawing/2014/main" id="{DF9236BD-9DE3-1E11-6945-B3A610F4A6C1}"/>
              </a:ext>
            </a:extLst>
          </p:cNvPr>
          <p:cNvGrpSpPr/>
          <p:nvPr/>
        </p:nvGrpSpPr>
        <p:grpSpPr>
          <a:xfrm>
            <a:off x="0" y="132079"/>
            <a:ext cx="8239760" cy="661035"/>
            <a:chOff x="0" y="132079"/>
            <a:chExt cx="8239760" cy="661035"/>
          </a:xfrm>
        </p:grpSpPr>
        <p:sp>
          <p:nvSpPr>
            <p:cNvPr id="2" name="Freeform 2"/>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
        <p:nvSpPr>
          <p:cNvPr id="5" name="AutoShape 5"/>
          <p:cNvSpPr/>
          <p:nvPr/>
        </p:nvSpPr>
        <p:spPr>
          <a:xfrm>
            <a:off x="889000" y="1435100"/>
            <a:ext cx="10414000" cy="8890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2000" b="1" i="0" u="none" strike="noStrike" dirty="0" err="1">
                <a:solidFill>
                  <a:srgbClr val="FFFFFF"/>
                </a:solidFill>
                <a:latin typeface="Times New Roman"/>
                <a:ea typeface="Times New Roman"/>
                <a:cs typeface="Times New Roman"/>
                <a:sym typeface="Times New Roman"/>
              </a:rPr>
              <a:t>C_total</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p_GPU</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t_infer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p_labor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t_labor</a:t>
            </a:r>
            <a:r>
              <a:rPr lang="en-US" sz="2000" b="1" i="0" u="none" strike="noStrike" dirty="0">
                <a:solidFill>
                  <a:srgbClr val="FFFFFF"/>
                </a:solidFill>
                <a:latin typeface="Times New Roman"/>
                <a:ea typeface="Times New Roman"/>
                <a:cs typeface="Times New Roman"/>
                <a:sym typeface="Times New Roman"/>
              </a:rPr>
              <a:t> + </a:t>
            </a:r>
            <a:r>
              <a:rPr lang="en-US" sz="2000" b="1" i="0" u="none" strike="noStrike" dirty="0" err="1">
                <a:solidFill>
                  <a:srgbClr val="FFFFFF"/>
                </a:solidFill>
                <a:latin typeface="Times New Roman"/>
                <a:ea typeface="Times New Roman"/>
                <a:cs typeface="Times New Roman"/>
                <a:sym typeface="Times New Roman"/>
              </a:rPr>
              <a:t>C_mgmt</a:t>
            </a:r>
            <a:endParaRPr lang="en-US" sz="1100" dirty="0"/>
          </a:p>
        </p:txBody>
      </p:sp>
      <p:sp>
        <p:nvSpPr>
          <p:cNvPr id="6" name="AutoShape 6"/>
          <p:cNvSpPr/>
          <p:nvPr/>
        </p:nvSpPr>
        <p:spPr>
          <a:xfrm>
            <a:off x="889000" y="24765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纯人工基准：</a:t>
            </a:r>
            <a:r>
              <a:rPr lang="en-US" sz="1300" b="0" i="0" u="none" strike="noStrike">
                <a:solidFill>
                  <a:srgbClr val="141E28"/>
                </a:solidFill>
                <a:latin typeface="微软雅黑"/>
                <a:ea typeface="微软雅黑"/>
                <a:cs typeface="微软雅黑"/>
                <a:sym typeface="微软雅黑"/>
              </a:rPr>
              <a:t>单框综合成本（含标注与质检返工）0.5 元/框；火/烟约 3 目标/张 → 单张全量人工约 1.5 元。</a:t>
            </a:r>
            <a:endParaRPr lang="en-US" sz="1100"/>
          </a:p>
        </p:txBody>
      </p:sp>
      <p:sp>
        <p:nvSpPr>
          <p:cNvPr id="7" name="AutoShape 7"/>
          <p:cNvSpPr/>
          <p:nvPr/>
        </p:nvSpPr>
        <p:spPr>
          <a:xfrm>
            <a:off x="889000" y="34671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a:solidFill>
                  <a:srgbClr val="0A3760"/>
                </a:solidFill>
                <a:latin typeface="微软雅黑"/>
                <a:ea typeface="微软雅黑"/>
                <a:cs typeface="微软雅黑"/>
                <a:sym typeface="微软雅黑"/>
              </a:rPr>
              <a:t>● 自动化算力：</a:t>
            </a:r>
            <a:r>
              <a:rPr lang="en-US" sz="1300" b="0" i="0" u="none" strike="noStrike">
                <a:solidFill>
                  <a:srgbClr val="141E28"/>
                </a:solidFill>
                <a:latin typeface="微软雅黑"/>
                <a:ea typeface="微软雅黑"/>
                <a:cs typeface="微软雅黑"/>
                <a:sym typeface="微软雅黑"/>
              </a:rPr>
              <a:t>AutoDL RTX 4090(24G) 按需约 2.0 元/小时；实测吞吐约 9000 张/小时。</a:t>
            </a:r>
            <a:endParaRPr lang="en-US" sz="1100"/>
          </a:p>
        </p:txBody>
      </p:sp>
      <p:sp>
        <p:nvSpPr>
          <p:cNvPr id="8" name="AutoShape 8"/>
          <p:cNvSpPr/>
          <p:nvPr/>
        </p:nvSpPr>
        <p:spPr>
          <a:xfrm>
            <a:off x="889000" y="44577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chorCtr="0"/>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人工抽检：</a:t>
            </a:r>
            <a:r>
              <a:rPr lang="en-US" sz="1300" b="0" i="0" u="none" strike="noStrike" dirty="0" err="1">
                <a:solidFill>
                  <a:srgbClr val="141E28"/>
                </a:solidFill>
                <a:latin typeface="微软雅黑"/>
                <a:ea typeface="微软雅黑"/>
                <a:cs typeface="微软雅黑"/>
                <a:sym typeface="微软雅黑"/>
              </a:rPr>
              <a:t>熟练标注</a:t>
            </a:r>
            <a:r>
              <a:rPr lang="en-US" sz="1300" b="0" i="0" u="none" strike="noStrike" dirty="0">
                <a:solidFill>
                  <a:srgbClr val="141E28"/>
                </a:solidFill>
                <a:latin typeface="微软雅黑"/>
                <a:ea typeface="微软雅黑"/>
                <a:cs typeface="微软雅黑"/>
                <a:sym typeface="微软雅黑"/>
              </a:rPr>
              <a:t> 40 元/</a:t>
            </a:r>
            <a:r>
              <a:rPr lang="en-US" sz="1300" b="0" i="0" u="none" strike="noStrike" dirty="0" err="1">
                <a:solidFill>
                  <a:srgbClr val="141E28"/>
                </a:solidFill>
                <a:latin typeface="微软雅黑"/>
                <a:ea typeface="微软雅黑"/>
                <a:cs typeface="微软雅黑"/>
                <a:sym typeface="微软雅黑"/>
              </a:rPr>
              <a:t>小时，审核约</a:t>
            </a:r>
            <a:r>
              <a:rPr lang="en-US" sz="1300" b="0" i="0" u="none" strike="noStrike" dirty="0">
                <a:solidFill>
                  <a:srgbClr val="141E28"/>
                </a:solidFill>
                <a:latin typeface="微软雅黑"/>
                <a:ea typeface="微软雅黑"/>
                <a:cs typeface="微软雅黑"/>
                <a:sym typeface="微软雅黑"/>
              </a:rPr>
              <a:t> 200 张/</a:t>
            </a:r>
            <a:r>
              <a:rPr lang="en-US" sz="1300" b="0" i="0" u="none" strike="noStrike" dirty="0" err="1">
                <a:solidFill>
                  <a:srgbClr val="141E28"/>
                </a:solidFill>
                <a:latin typeface="微软雅黑"/>
                <a:ea typeface="微软雅黑"/>
                <a:cs typeface="微软雅黑"/>
                <a:sym typeface="微软雅黑"/>
              </a:rPr>
              <a:t>小时</a:t>
            </a:r>
            <a:r>
              <a:rPr lang="en-US" sz="1300" b="0" i="0" u="none" strike="noStrike" dirty="0">
                <a:solidFill>
                  <a:srgbClr val="141E28"/>
                </a:solidFill>
                <a:latin typeface="微软雅黑"/>
                <a:ea typeface="微软雅黑"/>
                <a:cs typeface="微软雅黑"/>
                <a:sym typeface="微软雅黑"/>
              </a:rPr>
              <a:t> → </a:t>
            </a:r>
            <a:r>
              <a:rPr lang="en-US" sz="1300" b="0" i="0" u="none" strike="noStrike" dirty="0" err="1">
                <a:solidFill>
                  <a:srgbClr val="141E28"/>
                </a:solidFill>
                <a:latin typeface="微软雅黑"/>
                <a:ea typeface="微软雅黑"/>
                <a:cs typeface="微软雅黑"/>
                <a:sym typeface="微软雅黑"/>
              </a:rPr>
              <a:t>单图审核人工约</a:t>
            </a:r>
            <a:r>
              <a:rPr lang="en-US" sz="1300" b="0" i="0" u="none" strike="noStrike" dirty="0">
                <a:solidFill>
                  <a:srgbClr val="141E28"/>
                </a:solidFill>
                <a:latin typeface="微软雅黑"/>
                <a:ea typeface="微软雅黑"/>
                <a:cs typeface="微软雅黑"/>
                <a:sym typeface="微软雅黑"/>
              </a:rPr>
              <a:t> 0.2 </a:t>
            </a:r>
            <a:r>
              <a:rPr lang="en-US" sz="1300" b="0" i="0" u="none" strike="noStrike" dirty="0" err="1">
                <a:solidFill>
                  <a:srgbClr val="141E28"/>
                </a:solidFill>
                <a:latin typeface="微软雅黑"/>
                <a:ea typeface="微软雅黑"/>
                <a:cs typeface="微软雅黑"/>
                <a:sym typeface="微软雅黑"/>
              </a:rPr>
              <a:t>元（按被审核图像口径，不等于计入启动、推理与返工后的自动化总成本</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9" name="AutoShape 9"/>
          <p:cNvSpPr/>
          <p:nvPr/>
        </p:nvSpPr>
        <p:spPr>
          <a:xfrm>
            <a:off x="889000" y="5448300"/>
            <a:ext cx="10414000" cy="838200"/>
          </a:xfrm>
          <a:prstGeom prst="roundRect">
            <a:avLst>
              <a:gd name="adj" fmla="val 0"/>
            </a:avLst>
          </a:prstGeom>
          <a:solidFill>
            <a:srgbClr val="F5F8FB">
              <a:alpha val="100000"/>
            </a:srgbClr>
          </a:solidFill>
          <a:ln w="12700" cap="flat" cmpd="sng">
            <a:solidFill>
              <a:srgbClr val="0A3760">
                <a:alpha val="100000"/>
              </a:srgbClr>
            </a:solidFill>
            <a:prstDash val="solid"/>
            <a:miter lim="1000000"/>
          </a:ln>
        </p:spPr>
        <p:txBody>
          <a:bodyPr vert="horz" wrap="square" lIns="177800" tIns="0" rIns="177800" bIns="0" rtlCol="0" anchor="ctr">
            <a:noAutofit/>
          </a:bodyPr>
          <a:lstStyle/>
          <a:p>
            <a:pPr marL="0" indent="0" algn="l" defTabSz="914400">
              <a:lnSpc>
                <a:spcPct val="116666"/>
              </a:lnSpc>
              <a:defRPr/>
            </a:pPr>
            <a:r>
              <a:rPr lang="en-US" sz="1400" b="1" i="0" u="none" strike="noStrike" dirty="0">
                <a:solidFill>
                  <a:srgbClr val="0A3760"/>
                </a:solidFill>
                <a:latin typeface="微软雅黑"/>
                <a:ea typeface="微软雅黑"/>
                <a:cs typeface="微软雅黑"/>
                <a:sym typeface="微软雅黑"/>
              </a:rPr>
              <a:t>● </a:t>
            </a:r>
            <a:r>
              <a:rPr lang="en-US" sz="1400" b="1" i="0" u="none" strike="noStrike" dirty="0" err="1">
                <a:solidFill>
                  <a:srgbClr val="0A3760"/>
                </a:solidFill>
                <a:latin typeface="微软雅黑"/>
                <a:ea typeface="微软雅黑"/>
                <a:cs typeface="微软雅黑"/>
                <a:sym typeface="微软雅黑"/>
              </a:rPr>
              <a:t>规模与敏感性：</a:t>
            </a:r>
            <a:r>
              <a:rPr lang="en-US" sz="1300" b="0" i="0" u="none" strike="noStrike" dirty="0" err="1">
                <a:solidFill>
                  <a:srgbClr val="141E28"/>
                </a:solidFill>
                <a:latin typeface="微软雅黑"/>
                <a:ea typeface="微软雅黑"/>
                <a:cs typeface="微软雅黑"/>
                <a:sym typeface="微软雅黑"/>
              </a:rPr>
              <a:t>按</a:t>
            </a:r>
            <a:r>
              <a:rPr lang="en-US" sz="1300" b="0" i="0" u="none" strike="noStrike" dirty="0">
                <a:solidFill>
                  <a:srgbClr val="141E28"/>
                </a:solidFill>
                <a:latin typeface="微软雅黑"/>
                <a:ea typeface="微软雅黑"/>
                <a:cs typeface="微软雅黑"/>
                <a:sym typeface="微软雅黑"/>
              </a:rPr>
              <a:t> 1k / 10k / 100k </a:t>
            </a:r>
            <a:r>
              <a:rPr lang="en-US" sz="1300" b="0" i="0" u="none" strike="noStrike" dirty="0" err="1">
                <a:solidFill>
                  <a:srgbClr val="141E28"/>
                </a:solidFill>
                <a:latin typeface="微软雅黑"/>
                <a:ea typeface="微软雅黑"/>
                <a:cs typeface="微软雅黑"/>
                <a:sym typeface="微软雅黑"/>
              </a:rPr>
              <a:t>测算</a:t>
            </a:r>
            <a:r>
              <a:rPr lang="en-US" sz="1300" b="0" i="0" u="none" strike="noStrike" dirty="0">
                <a:solidFill>
                  <a:srgbClr val="141E28"/>
                </a:solidFill>
                <a:latin typeface="微软雅黑"/>
                <a:ea typeface="微软雅黑"/>
                <a:cs typeface="微软雅黑"/>
                <a:sym typeface="微软雅黑"/>
              </a:rPr>
              <a:t> GPU </a:t>
            </a:r>
            <a:r>
              <a:rPr lang="en-US" sz="1300" b="0" i="0" u="none" strike="noStrike" dirty="0" err="1">
                <a:solidFill>
                  <a:srgbClr val="141E28"/>
                </a:solidFill>
                <a:latin typeface="微软雅黑"/>
                <a:ea typeface="微软雅黑"/>
                <a:cs typeface="微软雅黑"/>
                <a:sym typeface="微软雅黑"/>
              </a:rPr>
              <a:t>机时、人工工时与交付周期；变动算力单价（闲时折扣）与人工成本，检验</a:t>
            </a:r>
            <a:r>
              <a:rPr lang="en-US" sz="1300" b="0" i="0" u="none" strike="noStrike" dirty="0">
                <a:solidFill>
                  <a:srgbClr val="141E28"/>
                </a:solidFill>
                <a:latin typeface="微软雅黑"/>
                <a:ea typeface="微软雅黑"/>
                <a:cs typeface="微软雅黑"/>
                <a:sym typeface="微软雅黑"/>
              </a:rPr>
              <a:t> Pareto </a:t>
            </a:r>
            <a:r>
              <a:rPr lang="en-US" sz="1300" b="0" i="0" u="none" strike="noStrike" dirty="0" err="1">
                <a:solidFill>
                  <a:srgbClr val="141E28"/>
                </a:solidFill>
                <a:latin typeface="微软雅黑"/>
                <a:ea typeface="微软雅黑"/>
                <a:cs typeface="微软雅黑"/>
                <a:sym typeface="微软雅黑"/>
              </a:rPr>
              <a:t>选型是否稳定</a:t>
            </a:r>
            <a:r>
              <a:rPr lang="en-US" sz="1300" b="0" i="0" u="none" strike="noStrike" dirty="0">
                <a:solidFill>
                  <a:srgbClr val="141E28"/>
                </a:solidFill>
                <a:latin typeface="微软雅黑"/>
                <a:ea typeface="微软雅黑"/>
                <a:cs typeface="微软雅黑"/>
                <a:sym typeface="微软雅黑"/>
              </a:rPr>
              <a:t>。</a:t>
            </a:r>
            <a:endParaRPr lang="en-US" sz="1100" dirty="0"/>
          </a:p>
        </p:txBody>
      </p:sp>
      <p:sp>
        <p:nvSpPr>
          <p:cNvPr id="11" name="AutoShape 7">
            <a:extLst>
              <a:ext uri="{FF2B5EF4-FFF2-40B4-BE49-F238E27FC236}">
                <a16:creationId xmlns:a16="http://schemas.microsoft.com/office/drawing/2014/main" id="{736F809A-4FED-CEFF-734E-2C311EAB3A03}"/>
              </a:ext>
            </a:extLst>
          </p:cNvPr>
          <p:cNvSpPr/>
          <p:nvPr/>
        </p:nvSpPr>
        <p:spPr>
          <a:xfrm>
            <a:off x="889000" y="985799"/>
            <a:ext cx="5455772" cy="343610"/>
          </a:xfrm>
          <a:prstGeom prst="roundRect">
            <a:avLst>
              <a:gd name="adj" fmla="val 25000"/>
            </a:avLst>
          </a:prstGeom>
          <a:ln>
            <a:solidFill>
              <a:srgbClr val="0A3760"/>
            </a:solidFill>
          </a:ln>
        </p:spPr>
        <p:style>
          <a:lnRef idx="1">
            <a:schemeClr val="accent3"/>
          </a:lnRef>
          <a:fillRef idx="2">
            <a:schemeClr val="accent3"/>
          </a:fillRef>
          <a:effectRef idx="1">
            <a:schemeClr val="accent3"/>
          </a:effectRef>
          <a:fontRef idx="minor">
            <a:schemeClr val="dk1"/>
          </a:fontRef>
        </p:style>
        <p:txBody>
          <a:bodyPr vert="horz" wrap="square" lIns="91440" tIns="45720" rIns="91440" bIns="45720" rtlCol="0" anchor="ctr">
            <a:noAutofit/>
          </a:bodyPr>
          <a:lstStyle/>
          <a:p>
            <a:pPr algn="ctr">
              <a:lnSpc>
                <a:spcPct val="108333"/>
              </a:lnSpc>
              <a:defRPr/>
            </a:pPr>
            <a:r>
              <a:rPr lang="zh-CN" altLang="en-US" b="1" dirty="0">
                <a:solidFill>
                  <a:srgbClr val="0A3760"/>
                </a:solidFill>
                <a:latin typeface="微软雅黑"/>
                <a:ea typeface="微软雅黑"/>
                <a:cs typeface="微软雅黑"/>
                <a:sym typeface="微软雅黑"/>
              </a:rPr>
              <a:t>标签制备成本核算</a:t>
            </a:r>
            <a:endParaRPr lang="en-US" b="0" i="0" u="none" strike="noStrike" dirty="0">
              <a:solidFill>
                <a:srgbClr val="0A3760"/>
              </a:solidFill>
              <a:latin typeface="微软雅黑"/>
              <a:ea typeface="微软雅黑"/>
              <a:cs typeface="微软雅黑"/>
              <a:sym typeface="微软雅黑"/>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graphicFrame>
        <p:nvGraphicFramePr>
          <p:cNvPr id="5" name="Table 5"/>
          <p:cNvGraphicFramePr>
            <a:graphicFrameLocks noGrp="1"/>
          </p:cNvGraphicFramePr>
          <p:nvPr>
            <p:extLst>
              <p:ext uri="{D42A27DB-BD31-4B8C-83A1-F6EECF244321}">
                <p14:modId xmlns:p14="http://schemas.microsoft.com/office/powerpoint/2010/main" val="2997697588"/>
              </p:ext>
            </p:extLst>
          </p:nvPr>
        </p:nvGraphicFramePr>
        <p:xfrm>
          <a:off x="1362635" y="1602335"/>
          <a:ext cx="9233647" cy="5079918"/>
        </p:xfrm>
        <a:graphic>
          <a:graphicData uri="http://schemas.openxmlformats.org/drawingml/2006/table">
            <a:tbl>
              <a:tblPr>
                <a:effectLst/>
              </a:tblPr>
              <a:tblGrid>
                <a:gridCol w="1127852">
                  <a:extLst>
                    <a:ext uri="{9D8B030D-6E8A-4147-A177-3AD203B41FA5}">
                      <a16:colId xmlns:a16="http://schemas.microsoft.com/office/drawing/2014/main" val="20000"/>
                    </a:ext>
                  </a:extLst>
                </a:gridCol>
                <a:gridCol w="1127852">
                  <a:extLst>
                    <a:ext uri="{9D8B030D-6E8A-4147-A177-3AD203B41FA5}">
                      <a16:colId xmlns:a16="http://schemas.microsoft.com/office/drawing/2014/main" val="2855965455"/>
                    </a:ext>
                  </a:extLst>
                </a:gridCol>
                <a:gridCol w="1165844">
                  <a:extLst>
                    <a:ext uri="{9D8B030D-6E8A-4147-A177-3AD203B41FA5}">
                      <a16:colId xmlns:a16="http://schemas.microsoft.com/office/drawing/2014/main" val="20001"/>
                    </a:ext>
                  </a:extLst>
                </a:gridCol>
                <a:gridCol w="1166404">
                  <a:extLst>
                    <a:ext uri="{9D8B030D-6E8A-4147-A177-3AD203B41FA5}">
                      <a16:colId xmlns:a16="http://schemas.microsoft.com/office/drawing/2014/main" val="20002"/>
                    </a:ext>
                  </a:extLst>
                </a:gridCol>
                <a:gridCol w="1176479">
                  <a:extLst>
                    <a:ext uri="{9D8B030D-6E8A-4147-A177-3AD203B41FA5}">
                      <a16:colId xmlns:a16="http://schemas.microsoft.com/office/drawing/2014/main" val="20003"/>
                    </a:ext>
                  </a:extLst>
                </a:gridCol>
                <a:gridCol w="1156330">
                  <a:extLst>
                    <a:ext uri="{9D8B030D-6E8A-4147-A177-3AD203B41FA5}">
                      <a16:colId xmlns:a16="http://schemas.microsoft.com/office/drawing/2014/main" val="20004"/>
                    </a:ext>
                  </a:extLst>
                </a:gridCol>
                <a:gridCol w="1488133">
                  <a:extLst>
                    <a:ext uri="{9D8B030D-6E8A-4147-A177-3AD203B41FA5}">
                      <a16:colId xmlns:a16="http://schemas.microsoft.com/office/drawing/2014/main" val="20005"/>
                    </a:ext>
                  </a:extLst>
                </a:gridCol>
                <a:gridCol w="824753">
                  <a:extLst>
                    <a:ext uri="{9D8B030D-6E8A-4147-A177-3AD203B41FA5}">
                      <a16:colId xmlns:a16="http://schemas.microsoft.com/office/drawing/2014/main" val="20006"/>
                    </a:ext>
                  </a:extLst>
                </a:gridCol>
              </a:tblGrid>
              <a:tr h="813435">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数据规模</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流程方案</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GPU</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推理机时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小时</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算力成本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p>
                    <a:p>
                      <a:pPr algn="ctr">
                        <a:lnSpc>
                          <a:spcPct val="115000"/>
                        </a:lnSpc>
                        <a:spcAft>
                          <a:spcPts val="1000"/>
                        </a:spcAft>
                      </a:pP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人工审核</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标注成本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纯标注环节总成本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单图边际成本</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 (</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元</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张</a:t>
                      </a:r>
                      <a:r>
                        <a:rPr lang="en-US"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algn="ctr">
                        <a:lnSpc>
                          <a:spcPct val="115000"/>
                        </a:lnSpc>
                        <a:spcAft>
                          <a:spcPts val="1000"/>
                        </a:spcAft>
                      </a:pPr>
                      <a:r>
                        <a:rPr lang="zh-CN" sz="1400" dirty="0">
                          <a:solidFill>
                            <a:schemeClr val="bg1"/>
                          </a:solidFill>
                          <a:effectLst/>
                          <a:latin typeface="Microsoft YaHei" panose="020B0503020204020204" pitchFamily="34" charset="-122"/>
                          <a:ea typeface="Microsoft YaHei" panose="020B0503020204020204" pitchFamily="34" charset="-122"/>
                          <a:cs typeface="Segoe UI" panose="020B0502040204020203" pitchFamily="34" charset="0"/>
                        </a:rPr>
                        <a:t>交付周期预估</a:t>
                      </a:r>
                      <a:endParaRPr lang="ja-JP" sz="1800" dirty="0">
                        <a:solidFill>
                          <a:schemeClr val="bg1"/>
                        </a:solidFill>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69004">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轻量迭代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 </a:t>
                      </a:r>
                      <a:r>
                        <a:rPr lang="zh-CN" sz="1400" b="1"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367552">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抽检修正</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502039444"/>
                  </a:ext>
                </a:extLst>
              </a:tr>
              <a:tr h="224118">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审核补漏</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0.5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745701679"/>
                  </a:ext>
                </a:extLst>
              </a:tr>
              <a:tr h="430306">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10k</a:t>
                      </a:r>
                      <a:b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常规生产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15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611163008"/>
                  </a:ext>
                </a:extLst>
              </a:tr>
              <a:tr h="251012">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3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4198220878"/>
                  </a:ext>
                </a:extLst>
              </a:tr>
              <a:tr h="32272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922984461"/>
                  </a:ext>
                </a:extLst>
              </a:tr>
              <a:tr h="421341">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N = 100k</a:t>
                      </a:r>
                      <a:b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b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海量生产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纯人工标注</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150,000</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1.50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4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个月</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2673213249"/>
                  </a:ext>
                </a:extLst>
              </a:tr>
              <a:tr h="304800">
                <a:tc>
                  <a:txBody>
                    <a:bodyPr/>
                    <a:lstStyle/>
                    <a:p>
                      <a:endParaRPr lang="ja-JP" sz="1200" dirty="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V1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单级</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(GD)</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11.11</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20,022</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0.20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20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solidFill>
                  </a:tcPr>
                </a:tc>
                <a:extLst>
                  <a:ext uri="{0D108BD9-81ED-4DB2-BD59-A6C34878D82A}">
                    <a16:rowId xmlns:a16="http://schemas.microsoft.com/office/drawing/2014/main" val="10002"/>
                  </a:ext>
                </a:extLst>
              </a:tr>
              <a:tr h="493059">
                <a:tc>
                  <a:txBody>
                    <a:bodyPr/>
                    <a:lstStyle/>
                    <a:p>
                      <a:endParaRPr lang="ja-JP" sz="1200">
                        <a:effectLst/>
                        <a:latin typeface="Microsoft YaHei" panose="020B0503020204020204" pitchFamily="34" charset="-122"/>
                        <a:ea typeface="Microsoft YaHei" panose="020B0503020204020204" pitchFamily="34" charset="-122"/>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GD+SAM3 </a:t>
                      </a:r>
                      <a:r>
                        <a:rPr lang="zh-CN"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级联</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22.22</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44.44</a:t>
                      </a:r>
                      <a:endParaRPr lang="ja-JP" sz="180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30,000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30,044</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0.30</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algn="ctr">
                        <a:lnSpc>
                          <a:spcPct val="115000"/>
                        </a:lnSpc>
                        <a:spcAft>
                          <a:spcPts val="1000"/>
                        </a:spcAft>
                      </a:pP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约</a:t>
                      </a:r>
                      <a:r>
                        <a:rPr lang="en-US"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 25 </a:t>
                      </a:r>
                      <a:r>
                        <a:rPr lang="zh-CN" sz="1400" dirty="0">
                          <a:solidFill>
                            <a:srgbClr val="3C3C58"/>
                          </a:solidFill>
                          <a:effectLst/>
                          <a:latin typeface="Microsoft YaHei" panose="020B0503020204020204" pitchFamily="34" charset="-122"/>
                          <a:ea typeface="Microsoft YaHei" panose="020B0503020204020204" pitchFamily="34" charset="-122"/>
                          <a:cs typeface="Segoe UI" panose="020B0502040204020203" pitchFamily="34" charset="0"/>
                        </a:rPr>
                        <a:t>天</a:t>
                      </a:r>
                      <a:endParaRPr lang="ja-JP" sz="1800" dirty="0">
                        <a:effectLst/>
                        <a:latin typeface="Microsoft YaHei" panose="020B0503020204020204" pitchFamily="34" charset="-122"/>
                        <a:ea typeface="Microsoft YaHei" panose="020B0503020204020204" pitchFamily="34" charset="-122"/>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3"/>
                  </a:ext>
                </a:extLst>
              </a:tr>
            </a:tbl>
          </a:graphicData>
        </a:graphic>
      </p:graphicFrame>
      <p:sp>
        <p:nvSpPr>
          <p:cNvPr id="8" name="AutoShape 38">
            <a:extLst>
              <a:ext uri="{FF2B5EF4-FFF2-40B4-BE49-F238E27FC236}">
                <a16:creationId xmlns:a16="http://schemas.microsoft.com/office/drawing/2014/main" id="{9AF4BA2F-D139-4475-A227-99B0AD034687}"/>
              </a:ext>
            </a:extLst>
          </p:cNvPr>
          <p:cNvSpPr/>
          <p:nvPr/>
        </p:nvSpPr>
        <p:spPr>
          <a:xfrm>
            <a:off x="1362635" y="1040035"/>
            <a:ext cx="9233647" cy="449263"/>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algn="ctr">
              <a:defRPr/>
            </a:pPr>
            <a:r>
              <a:rPr lang="zh-CN" altLang="en-US" sz="1300" b="1" dirty="0">
                <a:solidFill>
                  <a:srgbClr val="0A3760"/>
                </a:solidFill>
                <a:latin typeface="微软雅黑"/>
                <a:ea typeface="微软雅黑"/>
                <a:cs typeface="微软雅黑"/>
                <a:sym typeface="微软雅黑"/>
              </a:rPr>
              <a:t>不同数据规模下标签生产流程成本与周期推演表（基于实测吞吐率与行业基准）</a:t>
            </a:r>
          </a:p>
        </p:txBody>
      </p:sp>
      <p:grpSp>
        <p:nvGrpSpPr>
          <p:cNvPr id="6" name="组合 5">
            <a:extLst>
              <a:ext uri="{FF2B5EF4-FFF2-40B4-BE49-F238E27FC236}">
                <a16:creationId xmlns:a16="http://schemas.microsoft.com/office/drawing/2014/main" id="{981BF6A4-42B1-1F36-DF72-BFE7B3EC2F62}"/>
              </a:ext>
            </a:extLst>
          </p:cNvPr>
          <p:cNvGrpSpPr/>
          <p:nvPr/>
        </p:nvGrpSpPr>
        <p:grpSpPr>
          <a:xfrm>
            <a:off x="0" y="132079"/>
            <a:ext cx="8239760" cy="661035"/>
            <a:chOff x="0" y="132079"/>
            <a:chExt cx="8239760" cy="661035"/>
          </a:xfrm>
        </p:grpSpPr>
        <p:sp>
          <p:nvSpPr>
            <p:cNvPr id="7" name="Freeform 2">
              <a:extLst>
                <a:ext uri="{FF2B5EF4-FFF2-40B4-BE49-F238E27FC236}">
                  <a16:creationId xmlns:a16="http://schemas.microsoft.com/office/drawing/2014/main" id="{67E289C7-986B-71FA-4541-489715C3D69C}"/>
                </a:ext>
              </a:extLst>
            </p:cNvPr>
            <p:cNvSpPr/>
            <p:nvPr/>
          </p:nvSpPr>
          <p:spPr>
            <a:xfrm>
              <a:off x="0" y="132079"/>
              <a:ext cx="7985760" cy="661035"/>
            </a:xfrm>
            <a:custGeom>
              <a:avLst/>
              <a:gdLst/>
              <a:ahLst/>
              <a:cxnLst/>
              <a:rect l="l" t="t" r="r" b="b"/>
              <a:pathLst>
                <a:path w="4435475" h="617220">
                  <a:moveTo>
                    <a:pt x="477655" y="0"/>
                  </a:moveTo>
                  <a:lnTo>
                    <a:pt x="477661" y="0"/>
                  </a:lnTo>
                  <a:lnTo>
                    <a:pt x="3937559" y="0"/>
                  </a:lnTo>
                  <a:lnTo>
                    <a:pt x="3937559" y="1321"/>
                  </a:lnTo>
                  <a:lnTo>
                    <a:pt x="3957820" y="0"/>
                  </a:lnTo>
                  <a:cubicBezTo>
                    <a:pt x="4221622" y="0"/>
                    <a:pt x="4435475" y="138170"/>
                    <a:pt x="4435475" y="308610"/>
                  </a:cubicBezTo>
                  <a:cubicBezTo>
                    <a:pt x="4435475" y="479050"/>
                    <a:pt x="4221622" y="617220"/>
                    <a:pt x="3957820" y="617220"/>
                  </a:cubicBezTo>
                  <a:lnTo>
                    <a:pt x="3937559" y="615900"/>
                  </a:lnTo>
                  <a:lnTo>
                    <a:pt x="3937559" y="617220"/>
                  </a:lnTo>
                  <a:lnTo>
                    <a:pt x="477655" y="617220"/>
                  </a:lnTo>
                  <a:cubicBezTo>
                    <a:pt x="213853" y="617220"/>
                    <a:pt x="0" y="479050"/>
                    <a:pt x="0" y="308610"/>
                  </a:cubicBezTo>
                  <a:cubicBezTo>
                    <a:pt x="0" y="138170"/>
                    <a:pt x="213853" y="0"/>
                    <a:pt x="477655"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9" name="Picture 3">
              <a:extLst>
                <a:ext uri="{FF2B5EF4-FFF2-40B4-BE49-F238E27FC236}">
                  <a16:creationId xmlns:a16="http://schemas.microsoft.com/office/drawing/2014/main" id="{A95832EA-2463-063F-81B7-F4589815FB7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10" name="AutoShape 4">
              <a:extLst>
                <a:ext uri="{FF2B5EF4-FFF2-40B4-BE49-F238E27FC236}">
                  <a16:creationId xmlns:a16="http://schemas.microsoft.com/office/drawing/2014/main" id="{BF6DD098-5928-2A68-0102-09969FE6E11A}"/>
                </a:ext>
              </a:extLst>
            </p:cNvPr>
            <p:cNvSpPr/>
            <p:nvPr/>
          </p:nvSpPr>
          <p:spPr>
            <a:xfrm>
              <a:off x="781050" y="245745"/>
              <a:ext cx="7458710"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zh-CN" altLang="en-US" sz="2400" b="1" i="0" u="none" strike="noStrike" dirty="0">
                  <a:solidFill>
                    <a:srgbClr val="FFFFFF"/>
                  </a:solidFill>
                  <a:latin typeface="微软雅黑"/>
                  <a:ea typeface="微软雅黑"/>
                  <a:cs typeface="微软雅黑"/>
                  <a:sym typeface="微软雅黑"/>
                </a:rPr>
                <a:t>标注成本独立核算与跨尺度情景 </a:t>
              </a:r>
              <a:r>
                <a:rPr lang="en-US" altLang="zh-CN" sz="2400" b="1" i="0" u="none" strike="noStrike" dirty="0">
                  <a:solidFill>
                    <a:srgbClr val="FFFFFF"/>
                  </a:solidFill>
                  <a:latin typeface="微软雅黑"/>
                  <a:ea typeface="微软雅黑"/>
                  <a:cs typeface="微软雅黑"/>
                  <a:sym typeface="微软雅黑"/>
                </a:rPr>
                <a:t>Pareto </a:t>
              </a:r>
              <a:r>
                <a:rPr lang="zh-CN" altLang="en-US" sz="2400" b="1" i="0" u="none" strike="noStrike" dirty="0">
                  <a:solidFill>
                    <a:srgbClr val="FFFFFF"/>
                  </a:solidFill>
                  <a:latin typeface="微软雅黑"/>
                  <a:ea typeface="微软雅黑"/>
                  <a:cs typeface="微软雅黑"/>
                  <a:sym typeface="微软雅黑"/>
                </a:rPr>
                <a:t>选型矩阵</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2" name="Freeform 2"/>
          <p:cNvSpPr/>
          <p:nvPr/>
        </p:nvSpPr>
        <p:spPr>
          <a:xfrm>
            <a:off x="268605" y="120650"/>
            <a:ext cx="3484245" cy="617855"/>
          </a:xfrm>
          <a:custGeom>
            <a:avLst/>
            <a:gdLst/>
            <a:ahLst/>
            <a:cxnLst/>
            <a:rect l="l" t="t" r="r" b="b"/>
            <a:pathLst>
              <a:path w="3484245" h="617855">
                <a:moveTo>
                  <a:pt x="375216" y="0"/>
                </a:moveTo>
                <a:lnTo>
                  <a:pt x="375223" y="0"/>
                </a:lnTo>
                <a:lnTo>
                  <a:pt x="3093112" y="0"/>
                </a:lnTo>
                <a:lnTo>
                  <a:pt x="3093112" y="1322"/>
                </a:lnTo>
                <a:lnTo>
                  <a:pt x="3109029" y="0"/>
                </a:lnTo>
                <a:cubicBezTo>
                  <a:pt x="3316254" y="0"/>
                  <a:pt x="3484245" y="138312"/>
                  <a:pt x="3484245" y="308928"/>
                </a:cubicBezTo>
                <a:cubicBezTo>
                  <a:pt x="3484245" y="479543"/>
                  <a:pt x="3316254" y="617855"/>
                  <a:pt x="3109029" y="617855"/>
                </a:cubicBezTo>
                <a:lnTo>
                  <a:pt x="3093112" y="616534"/>
                </a:lnTo>
                <a:lnTo>
                  <a:pt x="3093112" y="617855"/>
                </a:lnTo>
                <a:lnTo>
                  <a:pt x="375216" y="617855"/>
                </a:lnTo>
                <a:cubicBezTo>
                  <a:pt x="167991" y="617855"/>
                  <a:pt x="0" y="479543"/>
                  <a:pt x="0" y="308928"/>
                </a:cubicBezTo>
                <a:cubicBezTo>
                  <a:pt x="0" y="138312"/>
                  <a:pt x="167991" y="0"/>
                  <a:pt x="375216"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l">
              <a:defRPr/>
            </a:pPr>
            <a:endParaRPr/>
          </a:p>
        </p:txBody>
      </p:sp>
      <p:pic>
        <p:nvPicPr>
          <p:cNvPr id="3" name="Picture 3"/>
          <p:cNvPicPr>
            <a:picLocks noChangeAspect="1"/>
          </p:cNvPicPr>
          <p:nvPr/>
        </p:nvPicPr>
        <p:blipFill>
          <a:blip r:embed="rId4"/>
          <a:srcRect/>
          <a:stretch>
            <a:fillRect/>
          </a:stretch>
        </p:blipFill>
        <p:spPr>
          <a:xfrm>
            <a:off x="577941" y="120536"/>
            <a:ext cx="618131" cy="618131"/>
          </a:xfrm>
          <a:prstGeom prst="rect">
            <a:avLst/>
          </a:prstGeom>
          <a:noFill/>
          <a:ln w="25400" cap="flat" cmpd="sng">
            <a:noFill/>
            <a:prstDash val="solid"/>
            <a:round/>
          </a:ln>
        </p:spPr>
      </p:pic>
      <p:sp>
        <p:nvSpPr>
          <p:cNvPr id="4" name="AutoShape 4"/>
          <p:cNvSpPr/>
          <p:nvPr/>
        </p:nvSpPr>
        <p:spPr>
          <a:xfrm>
            <a:off x="1049755" y="199403"/>
            <a:ext cx="2386965" cy="460375"/>
          </a:xfrm>
          <a:prstGeom prst="roundRect">
            <a:avLst>
              <a:gd name="adj" fmla="val 0"/>
            </a:avLst>
          </a:prstGeom>
          <a:noFill/>
          <a:ln w="12700" cap="flat" cmpd="sng">
            <a:noFill/>
            <a:prstDash val="solid"/>
            <a:round/>
          </a:ln>
        </p:spPr>
        <p:txBody>
          <a:bodyPr vert="horz" wrap="none" lIns="91440" tIns="45720" rIns="91440" bIns="45720" rtlCol="0" anchor="t">
            <a:noAutofit/>
          </a:bodyPr>
          <a:lstStyle/>
          <a:p>
            <a:pPr marL="0" indent="0" algn="l" defTabSz="914400">
              <a:lnSpc>
                <a:spcPct val="100000"/>
              </a:lnSpc>
              <a:defRPr/>
            </a:pPr>
            <a:r>
              <a:rPr lang="en-US" sz="2400" b="1" i="0" u="none" strike="noStrike" dirty="0">
                <a:solidFill>
                  <a:srgbClr val="FFFFFF"/>
                </a:solidFill>
                <a:latin typeface="微软雅黑"/>
                <a:ea typeface="微软雅黑"/>
                <a:cs typeface="微软雅黑"/>
                <a:sym typeface="微软雅黑"/>
              </a:rPr>
              <a:t> </a:t>
            </a:r>
            <a:r>
              <a:rPr lang="en-US" sz="2400" b="1" i="0" u="none" strike="noStrike" dirty="0" err="1">
                <a:solidFill>
                  <a:srgbClr val="FFFFFF"/>
                </a:solidFill>
                <a:latin typeface="微软雅黑"/>
                <a:ea typeface="微软雅黑"/>
                <a:cs typeface="微软雅黑"/>
                <a:sym typeface="微软雅黑"/>
              </a:rPr>
              <a:t>核心概念与边界</a:t>
            </a:r>
            <a:endParaRPr lang="en-US" sz="1100" dirty="0"/>
          </a:p>
        </p:txBody>
      </p:sp>
      <p:sp>
        <p:nvSpPr>
          <p:cNvPr id="5" name="AutoShape 5"/>
          <p:cNvSpPr/>
          <p:nvPr/>
        </p:nvSpPr>
        <p:spPr>
          <a:xfrm>
            <a:off x="415408" y="1652303"/>
            <a:ext cx="2962390" cy="368300"/>
          </a:xfrm>
          <a:prstGeom prst="roundRect">
            <a:avLst>
              <a:gd name="adj" fmla="val 0"/>
            </a:avLst>
          </a:prstGeom>
          <a:noFill/>
          <a:ln w="25400" cap="flat" cmpd="sng">
            <a:noFill/>
            <a:prstDash val="solid"/>
            <a:round/>
          </a:ln>
        </p:spPr>
        <p:txBody>
          <a:bodyPr vert="horz" wrap="square" lIns="91440" tIns="45720" rIns="91440" bIns="45720" rtlCol="0" anchor="t" anchorCtr="0"/>
          <a:lstStyle/>
          <a:p>
            <a:pPr algn="l">
              <a:defRPr/>
            </a:pPr>
            <a:endParaRPr/>
          </a:p>
        </p:txBody>
      </p:sp>
      <p:sp>
        <p:nvSpPr>
          <p:cNvPr id="6" name="AutoShape 6"/>
          <p:cNvSpPr/>
          <p:nvPr/>
        </p:nvSpPr>
        <p:spPr>
          <a:xfrm>
            <a:off x="1019810" y="2117090"/>
            <a:ext cx="10913110" cy="4220845"/>
          </a:xfrm>
          <a:prstGeom prst="roundRect">
            <a:avLst>
              <a:gd name="adj" fmla="val 0"/>
            </a:avLst>
          </a:prstGeom>
          <a:noFill/>
          <a:ln w="25400" cap="flat" cmpd="sng">
            <a:noFill/>
            <a:prstDash val="solid"/>
            <a:round/>
          </a:ln>
        </p:spPr>
        <p:txBody>
          <a:bodyPr vert="horz" wrap="square" lIns="91440" tIns="45720" rIns="91440" bIns="45720" rtlCol="0" anchor="t" anchorCtr="0"/>
          <a:lstStyle/>
          <a:p>
            <a:pPr marL="0" indent="0" algn="l" defTabSz="914400">
              <a:lnSpc>
                <a:spcPct val="100000"/>
              </a:lnSpc>
              <a:defRPr/>
            </a:pPr>
            <a:endParaRPr lang="en-US" sz="1100"/>
          </a:p>
          <a:p>
            <a:pPr marL="0" indent="0" algn="l" defTabSz="914400">
              <a:lnSpc>
                <a:spcPct val="100000"/>
              </a:lnSpc>
            </a:pPr>
            <a:endParaRPr lang="en-US" sz="1100"/>
          </a:p>
          <a:p>
            <a:pPr marL="0" indent="0" algn="l" defTabSz="914400">
              <a:lnSpc>
                <a:spcPct val="100000"/>
              </a:lnSpc>
            </a:pPr>
            <a:endParaRPr lang="en-US" sz="1100"/>
          </a:p>
          <a:p>
            <a:pPr marL="0" indent="0" algn="l" defTabSz="914400">
              <a:lnSpc>
                <a:spcPct val="100000"/>
              </a:lnSpc>
            </a:pPr>
            <a:endParaRPr lang="en-US" sz="1100"/>
          </a:p>
          <a:p>
            <a:pPr algn="l" defTabSz="914400">
              <a:lnSpc>
                <a:spcPct val="100000"/>
              </a:lnSpc>
            </a:pPr>
            <a:endParaRPr lang="en-US" sz="1100"/>
          </a:p>
        </p:txBody>
      </p:sp>
      <p:graphicFrame>
        <p:nvGraphicFramePr>
          <p:cNvPr id="7" name="Table 7"/>
          <p:cNvGraphicFramePr>
            <a:graphicFrameLocks noGrp="1"/>
          </p:cNvGraphicFramePr>
          <p:nvPr>
            <p:extLst>
              <p:ext uri="{D42A27DB-BD31-4B8C-83A1-F6EECF244321}">
                <p14:modId xmlns:p14="http://schemas.microsoft.com/office/powerpoint/2010/main" val="2617695072"/>
              </p:ext>
            </p:extLst>
          </p:nvPr>
        </p:nvGraphicFramePr>
        <p:xfrm>
          <a:off x="1019810" y="873760"/>
          <a:ext cx="10988675" cy="5000217"/>
        </p:xfrm>
        <a:graphic>
          <a:graphicData uri="http://schemas.openxmlformats.org/drawingml/2006/table">
            <a:tbl>
              <a:tblPr>
                <a:effectLst/>
              </a:tblPr>
              <a:tblGrid>
                <a:gridCol w="1630045">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6615430">
                  <a:extLst>
                    <a:ext uri="{9D8B030D-6E8A-4147-A177-3AD203B41FA5}">
                      <a16:colId xmlns:a16="http://schemas.microsoft.com/office/drawing/2014/main" val="20002"/>
                    </a:ext>
                  </a:extLst>
                </a:gridCol>
              </a:tblGrid>
              <a:tr h="379095">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概念</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本文定义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tc>
                  <a:txBody>
                    <a:bodyPr/>
                    <a:lstStyle/>
                    <a:p>
                      <a:pPr marL="0" indent="0" algn="ctr" defTabSz="914400">
                        <a:lnSpc>
                          <a:spcPct val="100000"/>
                        </a:lnSpc>
                        <a:defRPr/>
                      </a:pPr>
                      <a:r>
                        <a:rPr lang="en-US" sz="1400" b="1" i="0" u="none" strike="noStrike">
                          <a:solidFill>
                            <a:srgbClr val="FFFFFF"/>
                          </a:solidFill>
                          <a:latin typeface="微软雅黑"/>
                          <a:ea typeface="微软雅黑"/>
                          <a:cs typeface="微软雅黑"/>
                          <a:sym typeface="微软雅黑"/>
                        </a:rPr>
                        <a:t>边界</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0A3760">
                        <a:alpha val="100000"/>
                      </a:srgbClr>
                    </a:solidFill>
                  </a:tcPr>
                </a:tc>
                <a:extLst>
                  <a:ext uri="{0D108BD9-81ED-4DB2-BD59-A6C34878D82A}">
                    <a16:rowId xmlns:a16="http://schemas.microsoft.com/office/drawing/2014/main" val="10000"/>
                  </a:ext>
                </a:extLst>
              </a:tr>
              <a:tr h="437551">
                <a:tc rowSpan="2">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主生成模型</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Grounding </a:t>
                      </a:r>
                      <a:r>
                        <a:rPr lang="en-US" sz="1400" b="0" i="0" u="none" strike="noStrike" dirty="0" err="1">
                          <a:solidFill>
                            <a:srgbClr val="000000"/>
                          </a:solidFill>
                          <a:latin typeface="微软雅黑"/>
                          <a:ea typeface="微软雅黑"/>
                          <a:cs typeface="微软雅黑"/>
                          <a:sym typeface="微软雅黑"/>
                        </a:rPr>
                        <a:t>DINO：语义匹配与初始框生成</a:t>
                      </a:r>
                      <a:endParaRPr lang="en-US" sz="1100" dirty="0"/>
                    </a:p>
                  </a:txBody>
                  <a:tcPr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只使用现有能力生成伪标签，不改进网络结构。</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1"/>
                  </a:ext>
                </a:extLst>
              </a:tr>
              <a:tr h="435186">
                <a:tc vMerge="1">
                  <a:txBody>
                    <a:bodyPr/>
                    <a:lstStyle/>
                    <a:p>
                      <a:pPr algn="ctr">
                        <a:defRPr/>
                      </a:pPr>
                      <a:endParaRPr/>
                    </a:p>
                  </a:txBody>
                  <a:tcPr marL="101600" marR="1016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V1 </a:t>
                      </a:r>
                      <a:r>
                        <a:rPr lang="en-US" sz="1400" b="0" i="0" u="none" strike="noStrike" dirty="0" err="1">
                          <a:solidFill>
                            <a:srgbClr val="000000"/>
                          </a:solidFill>
                          <a:latin typeface="微软雅黑"/>
                          <a:ea typeface="微软雅黑"/>
                          <a:cs typeface="微软雅黑"/>
                          <a:sym typeface="微软雅黑"/>
                        </a:rPr>
                        <a:t>之后提供审核</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补漏</a:t>
                      </a:r>
                      <a:r>
                        <a:rPr lang="en-US" sz="1400" b="0" i="0" u="none" strike="noStrike" dirty="0">
                          <a:solidFill>
                            <a:srgbClr val="000000"/>
                          </a:solidFill>
                          <a:latin typeface="微软雅黑"/>
                          <a:ea typeface="微软雅黑"/>
                          <a:cs typeface="微软雅黑"/>
                          <a:sym typeface="微软雅黑"/>
                        </a:rPr>
                        <a:t>/</a:t>
                      </a:r>
                      <a:r>
                        <a:rPr lang="en-US" sz="1400" b="0" i="0" u="none" strike="noStrike" dirty="0" err="1">
                          <a:solidFill>
                            <a:srgbClr val="000000"/>
                          </a:solidFill>
                          <a:latin typeface="微软雅黑"/>
                          <a:ea typeface="微软雅黑"/>
                          <a:cs typeface="微软雅黑"/>
                          <a:sym typeface="微软雅黑"/>
                        </a:rPr>
                        <a:t>调框证据的</a:t>
                      </a:r>
                      <a:r>
                        <a:rPr lang="en-US" sz="1400" b="0" i="0" u="none" strike="noStrike" dirty="0">
                          <a:solidFill>
                            <a:srgbClr val="000000"/>
                          </a:solidFill>
                          <a:latin typeface="微软雅黑"/>
                          <a:ea typeface="微软雅黑"/>
                          <a:cs typeface="微软雅黑"/>
                          <a:sym typeface="微软雅黑"/>
                        </a:rPr>
                        <a:t> SAM3</a:t>
                      </a:r>
                      <a:endParaRPr lang="en-US" sz="1100" dirty="0"/>
                    </a:p>
                  </a:txBody>
                  <a:tcPr marT="4233" marB="42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不预设其必然有效，验证后才进入正式流程。</a:t>
                      </a:r>
                      <a:endParaRPr lang="en-US" sz="110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2"/>
                  </a:ext>
                </a:extLst>
              </a:tr>
              <a:tr h="44829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V1 伪标签</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提示词与阈值联合优化后批量产出的基准伪标签版本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marT="10785" marB="10785"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构成后续所有级联与对比实验的后置策略比较的统一基线</a:t>
                      </a:r>
                      <a:r>
                        <a:rPr lang="en-US" sz="1400" b="0" i="0" u="none" strike="noStrike" dirty="0">
                          <a:solidFill>
                            <a:srgbClr val="000000"/>
                          </a:solidFill>
                          <a:latin typeface="微软雅黑"/>
                          <a:ea typeface="微软雅黑"/>
                          <a:cs typeface="微软雅黑"/>
                          <a:sym typeface="微软雅黑"/>
                        </a:rPr>
                        <a:t>。</a:t>
                      </a: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5"/>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V2 候选</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通过开发集门槛的</a:t>
                      </a:r>
                      <a:r>
                        <a:rPr lang="en-US" sz="1400" b="0" i="0" u="none" strike="noStrike" dirty="0">
                          <a:solidFill>
                            <a:srgbClr val="000000"/>
                          </a:solidFill>
                          <a:latin typeface="微软雅黑"/>
                          <a:ea typeface="微软雅黑"/>
                          <a:cs typeface="微软雅黑"/>
                          <a:sym typeface="微软雅黑"/>
                        </a:rPr>
                        <a:t> V1 </a:t>
                      </a:r>
                      <a:r>
                        <a:rPr lang="en-US" sz="1400" b="0" i="0" u="none" strike="noStrike" dirty="0" err="1">
                          <a:solidFill>
                            <a:srgbClr val="000000"/>
                          </a:solidFill>
                          <a:latin typeface="微软雅黑"/>
                          <a:ea typeface="微软雅黑"/>
                          <a:cs typeface="微软雅黑"/>
                          <a:sym typeface="微软雅黑"/>
                        </a:rPr>
                        <a:t>后置处理版本</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只有通过门槛的方案才进入正式验证</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7"/>
                  </a:ext>
                </a:extLst>
              </a:tr>
              <a:tr h="57658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数据质量指标</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P / R / </a:t>
                      </a:r>
                      <a:r>
                        <a:rPr lang="en-US" sz="1400" b="0" i="0" u="none" strike="noStrike" dirty="0" err="1">
                          <a:solidFill>
                            <a:srgbClr val="000000"/>
                          </a:solidFill>
                          <a:latin typeface="微软雅黑"/>
                          <a:ea typeface="微软雅黑"/>
                          <a:cs typeface="微软雅黑"/>
                          <a:sym typeface="微软雅黑"/>
                        </a:rPr>
                        <a:t>IoU</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漏检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误检</a:t>
                      </a:r>
                      <a:r>
                        <a:rPr lang="en-US" sz="1400" b="0" i="0" u="none" strike="noStrike" dirty="0">
                          <a:solidFill>
                            <a:srgbClr val="000000"/>
                          </a:solidFill>
                          <a:latin typeface="微软雅黑"/>
                          <a:ea typeface="微软雅黑"/>
                          <a:cs typeface="微软雅黑"/>
                          <a:sym typeface="微软雅黑"/>
                        </a:rPr>
                        <a:t> / </a:t>
                      </a:r>
                      <a:r>
                        <a:rPr lang="en-US" sz="1400" b="0" i="0" u="none" strike="noStrike" dirty="0" err="1">
                          <a:solidFill>
                            <a:srgbClr val="000000"/>
                          </a:solidFill>
                          <a:latin typeface="微软雅黑"/>
                          <a:ea typeface="微软雅黑"/>
                          <a:cs typeface="微软雅黑"/>
                          <a:sym typeface="微软雅黑"/>
                        </a:rPr>
                        <a:t>框偏差</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用于诊断标签问题，不直接替代下游效用</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08"/>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下游效用</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统一</a:t>
                      </a:r>
                      <a:r>
                        <a:rPr lang="en-US" sz="1400" b="0" i="0" u="none" strike="noStrike" dirty="0">
                          <a:solidFill>
                            <a:srgbClr val="000000"/>
                          </a:solidFill>
                          <a:latin typeface="微软雅黑"/>
                          <a:ea typeface="微软雅黑"/>
                          <a:cs typeface="微软雅黑"/>
                          <a:sym typeface="微软雅黑"/>
                        </a:rPr>
                        <a:t> YOLO </a:t>
                      </a:r>
                      <a:r>
                        <a:rPr lang="en-US" sz="1400" b="0" i="0" u="none" strike="noStrike" dirty="0" err="1">
                          <a:solidFill>
                            <a:srgbClr val="000000"/>
                          </a:solidFill>
                          <a:latin typeface="微软雅黑"/>
                          <a:ea typeface="微软雅黑"/>
                          <a:cs typeface="微软雅黑"/>
                          <a:sym typeface="微软雅黑"/>
                        </a:rPr>
                        <a:t>训练协议下的检测性能</a:t>
                      </a:r>
                      <a:r>
                        <a:rPr lang="en-US" sz="1400" b="0" i="0" u="none" strike="noStrike" dirty="0">
                          <a:solidFill>
                            <a:srgbClr val="000000"/>
                          </a:solidFill>
                          <a:latin typeface="微软雅黑"/>
                          <a:ea typeface="微软雅黑"/>
                          <a:cs typeface="微软雅黑"/>
                          <a:sym typeface="微软雅黑"/>
                        </a:rPr>
                        <a:t>。</a:t>
                      </a:r>
                      <a:endParaRPr lang="en-US" sz="1100" dirty="0"/>
                    </a:p>
                  </a:txBody>
                  <a:tcPr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en-US" sz="1400" b="0" i="0" u="none" strike="noStrike" dirty="0">
                          <a:solidFill>
                            <a:srgbClr val="000000"/>
                          </a:solidFill>
                          <a:latin typeface="微软雅黑"/>
                          <a:ea typeface="微软雅黑"/>
                          <a:cs typeface="微软雅黑"/>
                          <a:sym typeface="微软雅黑"/>
                        </a:rPr>
                        <a:t>YOLO </a:t>
                      </a:r>
                      <a:r>
                        <a:rPr lang="en-US" sz="1400" b="0" i="0" u="none" strike="noStrike" dirty="0" err="1">
                          <a:solidFill>
                            <a:srgbClr val="000000"/>
                          </a:solidFill>
                          <a:latin typeface="微软雅黑"/>
                          <a:ea typeface="微软雅黑"/>
                          <a:cs typeface="微软雅黑"/>
                          <a:sym typeface="微软雅黑"/>
                        </a:rPr>
                        <a:t>仅作效用验证器，不改其结构</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09"/>
                  </a:ext>
                </a:extLst>
              </a:tr>
              <a:tr h="379095">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Stage-Gate</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a:solidFill>
                            <a:srgbClr val="000000"/>
                          </a:solidFill>
                          <a:latin typeface="微软雅黑"/>
                          <a:ea typeface="微软雅黑"/>
                          <a:cs typeface="微软雅黑"/>
                          <a:sym typeface="微软雅黑"/>
                        </a:rPr>
                        <a:t>Go / Hold / Stop </a:t>
                      </a:r>
                      <a:r>
                        <a:rPr lang="en-US" sz="1400" b="0" i="0" u="none" strike="noStrike" dirty="0" err="1">
                          <a:solidFill>
                            <a:srgbClr val="000000"/>
                          </a:solidFill>
                          <a:latin typeface="微软雅黑"/>
                          <a:ea typeface="微软雅黑"/>
                          <a:cs typeface="微软雅黑"/>
                          <a:sym typeface="微软雅黑"/>
                        </a:rPr>
                        <a:t>阶段决策</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只用于分支收敛，不扩展为自动进化机制。</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0"/>
                  </a:ext>
                </a:extLst>
              </a:tr>
              <a:tr h="42672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Pareto 比较</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在有限候选流程之间进行非支配比较</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tc>
                  <a:txBody>
                    <a:bodyPr/>
                    <a:lstStyle/>
                    <a:p>
                      <a:pPr marL="0" indent="0" algn="ctr" defTabSz="914400">
                        <a:lnSpc>
                          <a:spcPct val="100000"/>
                        </a:lnSpc>
                        <a:defRPr/>
                      </a:pPr>
                      <a:r>
                        <a:rPr lang="zh-CN" alt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目前</a:t>
                      </a:r>
                      <a:r>
                        <a:rPr lang="en-US" sz="1400" b="0" i="0" u="none" strike="noStrike" dirty="0" err="1">
                          <a:solidFill>
                            <a:srgbClr val="000000"/>
                          </a:solidFill>
                          <a:latin typeface="Microsoft YaHei" panose="020B0503020204020204" pitchFamily="34" charset="-122"/>
                          <a:ea typeface="Microsoft YaHei" panose="020B0503020204020204" pitchFamily="34" charset="-122"/>
                          <a:cs typeface="等线"/>
                          <a:sym typeface="等线"/>
                        </a:rPr>
                        <a:t>只用于方案筛选，不构造进化优化算法</a:t>
                      </a:r>
                      <a:r>
                        <a:rPr lang="en-US" sz="1400" b="0" i="0" u="none" strike="noStrike" dirty="0">
                          <a:solidFill>
                            <a:srgbClr val="000000"/>
                          </a:solidFill>
                          <a:latin typeface="Microsoft YaHei" panose="020B0503020204020204" pitchFamily="34" charset="-122"/>
                          <a:ea typeface="Microsoft YaHei" panose="020B0503020204020204" pitchFamily="34" charset="-122"/>
                          <a:cs typeface="等线"/>
                          <a:sym typeface="等线"/>
                        </a:rPr>
                        <a:t>。</a:t>
                      </a:r>
                      <a:endParaRPr lang="en-US" sz="1400" dirty="0">
                        <a:latin typeface="Microsoft YaHei" panose="020B0503020204020204" pitchFamily="34" charset="-122"/>
                        <a:ea typeface="Microsoft YaHei" panose="020B0503020204020204" pitchFamily="34" charset="-122"/>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CCED2">
                        <a:alpha val="100000"/>
                      </a:srgbClr>
                    </a:solidFill>
                  </a:tcPr>
                </a:tc>
                <a:extLst>
                  <a:ext uri="{0D108BD9-81ED-4DB2-BD59-A6C34878D82A}">
                    <a16:rowId xmlns:a16="http://schemas.microsoft.com/office/drawing/2014/main" val="10011"/>
                  </a:ext>
                </a:extLst>
              </a:tr>
              <a:tr h="822960">
                <a:tc>
                  <a:txBody>
                    <a:bodyPr/>
                    <a:lstStyle/>
                    <a:p>
                      <a:pPr marL="0" indent="0" algn="ctr" defTabSz="914400">
                        <a:lnSpc>
                          <a:spcPct val="100000"/>
                        </a:lnSpc>
                        <a:defRPr/>
                      </a:pPr>
                      <a:r>
                        <a:rPr lang="en-US" sz="1400" b="0" i="0" u="none" strike="noStrike">
                          <a:solidFill>
                            <a:srgbClr val="000000"/>
                          </a:solidFill>
                          <a:latin typeface="微软雅黑"/>
                          <a:ea typeface="微软雅黑"/>
                          <a:cs typeface="微软雅黑"/>
                          <a:sym typeface="微软雅黑"/>
                        </a:rPr>
                        <a:t>研究对象</a:t>
                      </a:r>
                      <a:endParaRPr lang="en-US" sz="110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l" defTabSz="914400">
                        <a:lnSpc>
                          <a:spcPct val="100000"/>
                        </a:lnSpc>
                        <a:defRPr/>
                      </a:pPr>
                      <a:r>
                        <a:rPr lang="en-US" sz="1400" b="0" i="0" u="none" strike="noStrike" dirty="0" err="1">
                          <a:solidFill>
                            <a:srgbClr val="000000"/>
                          </a:solidFill>
                          <a:latin typeface="微软雅黑"/>
                          <a:ea typeface="微软雅黑"/>
                          <a:cs typeface="微软雅黑"/>
                          <a:sym typeface="微软雅黑"/>
                        </a:rPr>
                        <a:t>火焰与烟雾（非刚性目标</a:t>
                      </a:r>
                      <a:r>
                        <a:rPr lang="en-US" sz="1400" b="0" i="0" u="none" strike="noStrike" dirty="0">
                          <a:solidFill>
                            <a:srgbClr val="000000"/>
                          </a:solidFill>
                          <a:latin typeface="微软雅黑"/>
                          <a:ea typeface="微软雅黑"/>
                          <a:cs typeface="微软雅黑"/>
                          <a:sym typeface="微软雅黑"/>
                        </a:rPr>
                        <a:t>）。</a:t>
                      </a:r>
                      <a:endParaRPr lang="en-US" sz="1100" dirty="0"/>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tc>
                  <a:txBody>
                    <a:bodyPr/>
                    <a:lstStyle/>
                    <a:p>
                      <a:pPr marL="0" indent="0" algn="ctr" defTabSz="914400">
                        <a:lnSpc>
                          <a:spcPct val="100000"/>
                        </a:lnSpc>
                        <a:defRPr/>
                      </a:pPr>
                      <a:r>
                        <a:rPr lang="en-US" sz="1400" b="0" i="0" u="none" strike="noStrike" dirty="0" err="1">
                          <a:solidFill>
                            <a:srgbClr val="000000"/>
                          </a:solidFill>
                          <a:latin typeface="微软雅黑"/>
                          <a:ea typeface="微软雅黑"/>
                          <a:cs typeface="微软雅黑"/>
                          <a:sym typeface="微软雅黑"/>
                        </a:rPr>
                        <a:t>边界弥散、形态多变，人工标注主观偏差大</a:t>
                      </a:r>
                      <a:r>
                        <a:rPr lang="en-US" sz="1400" b="0" i="0" u="none" strike="noStrike" dirty="0">
                          <a:solidFill>
                            <a:srgbClr val="000000"/>
                          </a:solidFill>
                          <a:latin typeface="微软雅黑"/>
                          <a:ea typeface="微软雅黑"/>
                          <a:cs typeface="微软雅黑"/>
                          <a:sym typeface="微软雅黑"/>
                        </a:rPr>
                        <a:t>。</a:t>
                      </a:r>
                      <a:endParaRPr lang="en-US" sz="1100" dirty="0"/>
                    </a:p>
                    <a:p>
                      <a:pPr algn="ctr" defTabSz="914400">
                        <a:lnSpc>
                          <a:spcPct val="100000"/>
                        </a:lnSpc>
                      </a:pPr>
                      <a:endParaRPr lang="en-US" sz="1100" dirty="0"/>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7E8EA">
                        <a:alpha val="10000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934" y="0"/>
            <a:ext cx="12214934" cy="3616960"/>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3"/>
          <a:srcRect/>
          <a:stretch>
            <a:fillRect/>
          </a:stretch>
        </p:blipFill>
        <p:spPr>
          <a:xfrm>
            <a:off x="4179656" y="602203"/>
            <a:ext cx="3832687" cy="1112297"/>
          </a:xfrm>
          <a:prstGeom prst="rect">
            <a:avLst/>
          </a:prstGeom>
          <a:ln w="12700">
            <a:noFill/>
            <a:prstDash val="solid"/>
          </a:ln>
        </p:spPr>
      </p:pic>
      <p:sp>
        <p:nvSpPr>
          <p:cNvPr id="4" name="Freeform 4"/>
          <p:cNvSpPr/>
          <p:nvPr/>
        </p:nvSpPr>
        <p:spPr>
          <a:xfrm>
            <a:off x="2965450" y="2922270"/>
            <a:ext cx="5532755" cy="1111885"/>
          </a:xfrm>
          <a:custGeom>
            <a:avLst/>
            <a:gdLst/>
            <a:ahLst/>
            <a:cxnLst/>
            <a:rect l="l" t="t" r="r" b="b"/>
            <a:pathLst>
              <a:path w="5532755" h="1111885">
                <a:moveTo>
                  <a:pt x="595821" y="0"/>
                </a:moveTo>
                <a:lnTo>
                  <a:pt x="595829" y="1"/>
                </a:lnTo>
                <a:lnTo>
                  <a:pt x="4911660" y="1"/>
                </a:lnTo>
                <a:lnTo>
                  <a:pt x="4911660" y="2379"/>
                </a:lnTo>
                <a:lnTo>
                  <a:pt x="4936934" y="1"/>
                </a:lnTo>
                <a:cubicBezTo>
                  <a:pt x="5265998" y="1"/>
                  <a:pt x="5532755" y="248905"/>
                  <a:pt x="5532755" y="555942"/>
                </a:cubicBezTo>
                <a:cubicBezTo>
                  <a:pt x="5532755" y="862982"/>
                  <a:pt x="5265998" y="1111885"/>
                  <a:pt x="4936934" y="1111885"/>
                </a:cubicBezTo>
                <a:lnTo>
                  <a:pt x="4911660" y="1109508"/>
                </a:lnTo>
                <a:lnTo>
                  <a:pt x="4911660" y="1111884"/>
                </a:lnTo>
                <a:lnTo>
                  <a:pt x="595821" y="1111884"/>
                </a:lnTo>
                <a:cubicBezTo>
                  <a:pt x="266757" y="1111884"/>
                  <a:pt x="0" y="862980"/>
                  <a:pt x="0" y="555942"/>
                </a:cubicBezTo>
                <a:cubicBezTo>
                  <a:pt x="0" y="248903"/>
                  <a:pt x="266757" y="0"/>
                  <a:pt x="595821" y="0"/>
                </a:cubicBezTo>
                <a:close/>
              </a:path>
            </a:pathLst>
          </a:custGeom>
          <a:solidFill>
            <a:srgbClr val="FFFFFF">
              <a:alpha val="100000"/>
            </a:srgbClr>
          </a:solidFill>
          <a:ln w="38100" cap="flat">
            <a:solidFill>
              <a:srgbClr val="0A3760">
                <a:alpha val="100000"/>
              </a:srgbClr>
            </a:solidFill>
            <a:prstDash val="solid"/>
          </a:ln>
          <a:effectLst>
            <a:outerShdw blurRad="63500" sx="102000" sy="102000" algn="ctr" rotWithShape="0">
              <a:srgbClr val="000000">
                <a:alpha val="40000"/>
              </a:srgbClr>
            </a:outerShdw>
          </a:effectLst>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4343400" y="3155950"/>
            <a:ext cx="5065395" cy="645160"/>
          </a:xfrm>
          <a:prstGeom prst="rect">
            <a:avLst/>
          </a:prstGeom>
          <a:noFill/>
          <a:ln w="12700">
            <a:noFill/>
            <a:prstDash val="solid"/>
          </a:ln>
        </p:spPr>
        <p:txBody>
          <a:bodyPr wrap="square" lIns="91440" tIns="45720" rIns="91440" bIns="45720" rtlCol="0" anchor="t">
            <a:spAutoFit/>
          </a:bodyPr>
          <a:lstStyle/>
          <a:p>
            <a:pPr marL="0" indent="0" algn="l" defTabSz="914400">
              <a:lnSpc>
                <a:spcPct val="100000"/>
              </a:lnSpc>
              <a:defRPr/>
            </a:pPr>
            <a:r>
              <a:rPr lang="en-US" sz="3600" b="1" i="0" u="none" strike="noStrike">
                <a:solidFill>
                  <a:srgbClr val="000000"/>
                </a:solidFill>
                <a:latin typeface="微软雅黑"/>
                <a:ea typeface="微软雅黑"/>
                <a:cs typeface="微软雅黑"/>
                <a:sym typeface="微软雅黑"/>
              </a:rPr>
              <a:t>5. 工作计划</a:t>
            </a:r>
            <a:endParaRPr lang="en-US" sz="11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grpSp>
        <p:nvGrpSpPr>
          <p:cNvPr id="36" name="组合 35">
            <a:extLst>
              <a:ext uri="{FF2B5EF4-FFF2-40B4-BE49-F238E27FC236}">
                <a16:creationId xmlns:a16="http://schemas.microsoft.com/office/drawing/2014/main" id="{C6BDE94F-CB8E-616B-A82A-B6547B305578}"/>
              </a:ext>
            </a:extLst>
          </p:cNvPr>
          <p:cNvGrpSpPr/>
          <p:nvPr/>
        </p:nvGrpSpPr>
        <p:grpSpPr>
          <a:xfrm>
            <a:off x="0" y="132080"/>
            <a:ext cx="4760595" cy="617855"/>
            <a:chOff x="0" y="132080"/>
            <a:chExt cx="4760595" cy="617855"/>
          </a:xfrm>
        </p:grpSpPr>
        <p:sp>
          <p:nvSpPr>
            <p:cNvPr id="2" name="Freeform 2"/>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p:cNvSpPr/>
          <p:nvPr/>
        </p:nvSpPr>
        <p:spPr>
          <a:xfrm>
            <a:off x="382643" y="858237"/>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i="0" u="none" strike="noStrike" dirty="0">
                <a:solidFill>
                  <a:srgbClr val="FFFFFF"/>
                </a:solidFill>
                <a:latin typeface="微软雅黑"/>
                <a:ea typeface="微软雅黑"/>
                <a:cs typeface="微软雅黑"/>
                <a:sym typeface="微软雅黑"/>
              </a:rPr>
              <a:t>数据准备</a:t>
            </a:r>
            <a:endParaRPr lang="en-US" sz="1100" dirty="0"/>
          </a:p>
        </p:txBody>
      </p:sp>
      <p:pic>
        <p:nvPicPr>
          <p:cNvPr id="57" name="图片 56">
            <a:extLst>
              <a:ext uri="{FF2B5EF4-FFF2-40B4-BE49-F238E27FC236}">
                <a16:creationId xmlns:a16="http://schemas.microsoft.com/office/drawing/2014/main" id="{43C75263-FA4E-4489-D5E5-4298BA5A3552}"/>
              </a:ext>
            </a:extLst>
          </p:cNvPr>
          <p:cNvPicPr>
            <a:picLocks noChangeAspect="1"/>
          </p:cNvPicPr>
          <p:nvPr/>
        </p:nvPicPr>
        <p:blipFill>
          <a:blip r:embed="rId5"/>
          <a:stretch>
            <a:fillRect/>
          </a:stretch>
        </p:blipFill>
        <p:spPr>
          <a:xfrm>
            <a:off x="286235" y="1239237"/>
            <a:ext cx="5789930" cy="3035935"/>
          </a:xfrm>
          <a:prstGeom prst="rect">
            <a:avLst/>
          </a:prstGeom>
          <a:noFill/>
          <a:ln>
            <a:noFill/>
          </a:ln>
        </p:spPr>
      </p:pic>
      <p:pic>
        <p:nvPicPr>
          <p:cNvPr id="58" name="图片 57">
            <a:extLst>
              <a:ext uri="{FF2B5EF4-FFF2-40B4-BE49-F238E27FC236}">
                <a16:creationId xmlns:a16="http://schemas.microsoft.com/office/drawing/2014/main" id="{D82DC00B-1E84-0415-BB40-A62C00AA509B}"/>
              </a:ext>
            </a:extLst>
          </p:cNvPr>
          <p:cNvPicPr>
            <a:picLocks noChangeAspect="1"/>
          </p:cNvPicPr>
          <p:nvPr/>
        </p:nvPicPr>
        <p:blipFill>
          <a:blip r:embed="rId6"/>
          <a:stretch>
            <a:fillRect/>
          </a:stretch>
        </p:blipFill>
        <p:spPr>
          <a:xfrm>
            <a:off x="472122" y="4525362"/>
            <a:ext cx="5786120" cy="2108835"/>
          </a:xfrm>
          <a:prstGeom prst="rect">
            <a:avLst/>
          </a:prstGeom>
          <a:noFill/>
          <a:ln>
            <a:noFill/>
          </a:ln>
        </p:spPr>
      </p:pic>
      <p:pic>
        <p:nvPicPr>
          <p:cNvPr id="59" name="图片 58">
            <a:extLst>
              <a:ext uri="{FF2B5EF4-FFF2-40B4-BE49-F238E27FC236}">
                <a16:creationId xmlns:a16="http://schemas.microsoft.com/office/drawing/2014/main" id="{0479B4DA-F502-736B-AE1D-5983164AF8E5}"/>
              </a:ext>
            </a:extLst>
          </p:cNvPr>
          <p:cNvPicPr>
            <a:picLocks noChangeAspect="1"/>
          </p:cNvPicPr>
          <p:nvPr/>
        </p:nvPicPr>
        <p:blipFill>
          <a:blip r:embed="rId7"/>
          <a:stretch>
            <a:fillRect/>
          </a:stretch>
        </p:blipFill>
        <p:spPr>
          <a:xfrm>
            <a:off x="6076165" y="1421482"/>
            <a:ext cx="5790565" cy="2853690"/>
          </a:xfrm>
          <a:prstGeom prst="rect">
            <a:avLst/>
          </a:prstGeom>
          <a:noFill/>
          <a:ln>
            <a:noFill/>
          </a:ln>
        </p:spPr>
      </p:pic>
      <p:pic>
        <p:nvPicPr>
          <p:cNvPr id="60" name="图片 59">
            <a:extLst>
              <a:ext uri="{FF2B5EF4-FFF2-40B4-BE49-F238E27FC236}">
                <a16:creationId xmlns:a16="http://schemas.microsoft.com/office/drawing/2014/main" id="{CC8F7DD7-284E-D8B4-58E7-7CE90E43D3FB}"/>
              </a:ext>
            </a:extLst>
          </p:cNvPr>
          <p:cNvPicPr>
            <a:picLocks noChangeAspect="1"/>
          </p:cNvPicPr>
          <p:nvPr/>
        </p:nvPicPr>
        <p:blipFill>
          <a:blip r:embed="rId8"/>
          <a:stretch>
            <a:fillRect/>
          </a:stretch>
        </p:blipFill>
        <p:spPr>
          <a:xfrm>
            <a:off x="6115836" y="3643982"/>
            <a:ext cx="5787390" cy="2990215"/>
          </a:xfrm>
          <a:prstGeom prst="rect">
            <a:avLst/>
          </a:prstGeom>
          <a:noFill/>
          <a:ln>
            <a:noFill/>
          </a:ln>
        </p:spPr>
      </p:pic>
    </p:spTree>
    <p:extLst>
      <p:ext uri="{BB962C8B-B14F-4D97-AF65-F5344CB8AC3E}">
        <p14:creationId xmlns:p14="http://schemas.microsoft.com/office/powerpoint/2010/main" val="2361692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98E14DAF-CFD7-2F93-A524-421937458264}"/>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78539-BA2F-17DF-246B-30C208FCB582}"/>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10804420-A2DB-EF07-0679-120A629850B5}"/>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692C201-8AA5-F085-1E86-3F6A9D798D37}"/>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277C9D23-E46F-B68E-A126-3DC7EF02F375}"/>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03CCAFB1-8E51-E054-C980-79C2A88474A8}"/>
              </a:ext>
            </a:extLst>
          </p:cNvPr>
          <p:cNvSpPr/>
          <p:nvPr/>
        </p:nvSpPr>
        <p:spPr>
          <a:xfrm>
            <a:off x="382643" y="858237"/>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algn="ctr">
              <a:lnSpc>
                <a:spcPct val="125000"/>
              </a:lnSpc>
              <a:defRPr/>
            </a:pPr>
            <a:r>
              <a:rPr lang="en-US" altLang="zh-CN" sz="1600" b="1" dirty="0" err="1">
                <a:solidFill>
                  <a:srgbClr val="FFFFFF"/>
                </a:solidFill>
                <a:latin typeface="微软雅黑"/>
                <a:ea typeface="微软雅黑"/>
                <a:cs typeface="微软雅黑"/>
                <a:sym typeface="微软雅黑"/>
              </a:rPr>
              <a:t>提示词与阈值冻结</a:t>
            </a:r>
            <a:endParaRPr lang="en-US" sz="1100" dirty="0"/>
          </a:p>
        </p:txBody>
      </p:sp>
      <p:pic>
        <p:nvPicPr>
          <p:cNvPr id="7" name="图片 6">
            <a:extLst>
              <a:ext uri="{FF2B5EF4-FFF2-40B4-BE49-F238E27FC236}">
                <a16:creationId xmlns:a16="http://schemas.microsoft.com/office/drawing/2014/main" id="{93229BAD-A538-3375-BA6F-42403BBD1E0D}"/>
              </a:ext>
            </a:extLst>
          </p:cNvPr>
          <p:cNvPicPr>
            <a:picLocks noChangeAspect="1"/>
          </p:cNvPicPr>
          <p:nvPr/>
        </p:nvPicPr>
        <p:blipFill>
          <a:blip r:embed="rId5"/>
          <a:stretch>
            <a:fillRect/>
          </a:stretch>
        </p:blipFill>
        <p:spPr>
          <a:xfrm>
            <a:off x="781050" y="1347539"/>
            <a:ext cx="9686862" cy="4808509"/>
          </a:xfrm>
          <a:prstGeom prst="rect">
            <a:avLst/>
          </a:prstGeom>
        </p:spPr>
      </p:pic>
    </p:spTree>
    <p:extLst>
      <p:ext uri="{BB962C8B-B14F-4D97-AF65-F5344CB8AC3E}">
        <p14:creationId xmlns:p14="http://schemas.microsoft.com/office/powerpoint/2010/main" val="21936041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4562E0E-174D-AF6E-E8AD-B50A1DEEC4E6}"/>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6A6498DA-763B-66C2-1AFE-CE17AF7AAE0C}"/>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9440A03D-EF5C-09D1-C096-BE78A1EB5E3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165985BB-2E7D-7617-B8A5-3458C8EB625A}"/>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BBE33100-4F83-2A9C-35BF-727784B48B6C}"/>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B28C378D-E528-B99E-CD44-5E435F0CF95A}"/>
              </a:ext>
            </a:extLst>
          </p:cNvPr>
          <p:cNvSpPr/>
          <p:nvPr/>
        </p:nvSpPr>
        <p:spPr>
          <a:xfrm>
            <a:off x="1079500" y="1397000"/>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en-US" sz="1500" b="1" i="0" u="none" strike="noStrike" dirty="0">
                <a:solidFill>
                  <a:srgbClr val="FFFFFF"/>
                </a:solidFill>
                <a:latin typeface="微软雅黑"/>
                <a:ea typeface="微软雅黑"/>
                <a:cs typeface="微软雅黑"/>
                <a:sym typeface="微软雅黑"/>
              </a:rPr>
              <a:t>前期实验结果与候选分支状态（V1 </a:t>
            </a:r>
            <a:r>
              <a:rPr lang="en-US" sz="1500" b="1" i="0" u="none" strike="noStrike" dirty="0" err="1">
                <a:solidFill>
                  <a:srgbClr val="FFFFFF"/>
                </a:solidFill>
                <a:latin typeface="微软雅黑"/>
                <a:ea typeface="微软雅黑"/>
                <a:cs typeface="微软雅黑"/>
                <a:sym typeface="微软雅黑"/>
              </a:rPr>
              <a:t>基线与</a:t>
            </a:r>
            <a:r>
              <a:rPr lang="en-US" sz="1500" b="1" i="0" u="none" strike="noStrike" dirty="0">
                <a:solidFill>
                  <a:srgbClr val="FFFFFF"/>
                </a:solidFill>
                <a:latin typeface="微软雅黑"/>
                <a:ea typeface="微软雅黑"/>
                <a:cs typeface="微软雅黑"/>
                <a:sym typeface="微软雅黑"/>
              </a:rPr>
              <a:t> SAM3 </a:t>
            </a:r>
            <a:r>
              <a:rPr lang="en-US" sz="1500" b="1" i="0" u="none" strike="noStrike" dirty="0" err="1">
                <a:solidFill>
                  <a:srgbClr val="FFFFFF"/>
                </a:solidFill>
                <a:latin typeface="微软雅黑"/>
                <a:ea typeface="微软雅黑"/>
                <a:cs typeface="微软雅黑"/>
                <a:sym typeface="微软雅黑"/>
              </a:rPr>
              <a:t>候选消融，数据来源：附录</a:t>
            </a:r>
            <a:r>
              <a:rPr lang="en-US" sz="1500" b="1" i="0" u="none" strike="noStrike" dirty="0">
                <a:solidFill>
                  <a:srgbClr val="FFFFFF"/>
                </a:solidFill>
                <a:latin typeface="微软雅黑"/>
                <a:ea typeface="微软雅黑"/>
                <a:cs typeface="微软雅黑"/>
                <a:sym typeface="微软雅黑"/>
              </a:rPr>
              <a:t> C）</a:t>
            </a:r>
            <a:endParaRPr lang="en-US" sz="1100" dirty="0"/>
          </a:p>
        </p:txBody>
      </p:sp>
      <p:sp>
        <p:nvSpPr>
          <p:cNvPr id="6" name="AutoShape 6">
            <a:extLst>
              <a:ext uri="{FF2B5EF4-FFF2-40B4-BE49-F238E27FC236}">
                <a16:creationId xmlns:a16="http://schemas.microsoft.com/office/drawing/2014/main" id="{31497BAE-FD83-9ADB-7A88-2F8576412339}"/>
              </a:ext>
            </a:extLst>
          </p:cNvPr>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7" name="AutoShape 7">
            <a:extLst>
              <a:ext uri="{FF2B5EF4-FFF2-40B4-BE49-F238E27FC236}">
                <a16:creationId xmlns:a16="http://schemas.microsoft.com/office/drawing/2014/main" id="{28C66A7B-A536-9432-118C-E562EBE7C6F1}"/>
              </a:ext>
            </a:extLst>
          </p:cNvPr>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8" name="AutoShape 8">
            <a:extLst>
              <a:ext uri="{FF2B5EF4-FFF2-40B4-BE49-F238E27FC236}">
                <a16:creationId xmlns:a16="http://schemas.microsoft.com/office/drawing/2014/main" id="{B288AEED-E5AB-A3CD-515A-A6E645391E10}"/>
              </a:ext>
            </a:extLst>
          </p:cNvPr>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9" name="AutoShape 9">
            <a:extLst>
              <a:ext uri="{FF2B5EF4-FFF2-40B4-BE49-F238E27FC236}">
                <a16:creationId xmlns:a16="http://schemas.microsoft.com/office/drawing/2014/main" id="{CDAA3DE0-22D5-D17A-31C4-FA8F8EF21FE9}"/>
              </a:ext>
            </a:extLst>
          </p:cNvPr>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10" name="AutoShape 10">
            <a:extLst>
              <a:ext uri="{FF2B5EF4-FFF2-40B4-BE49-F238E27FC236}">
                <a16:creationId xmlns:a16="http://schemas.microsoft.com/office/drawing/2014/main" id="{F4B7ED8A-20B5-E9BE-22AC-DF645CBD82EF}"/>
              </a:ext>
            </a:extLst>
          </p:cNvPr>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11" name="AutoShape 11">
            <a:extLst>
              <a:ext uri="{FF2B5EF4-FFF2-40B4-BE49-F238E27FC236}">
                <a16:creationId xmlns:a16="http://schemas.microsoft.com/office/drawing/2014/main" id="{BEEC4F17-4CAA-BF37-6BBC-CC5265CADB38}"/>
              </a:ext>
            </a:extLst>
          </p:cNvPr>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Exp0 (人工GT基线)</a:t>
            </a:r>
            <a:endParaRPr lang="en-US" sz="1100"/>
          </a:p>
        </p:txBody>
      </p:sp>
      <p:sp>
        <p:nvSpPr>
          <p:cNvPr id="12" name="AutoShape 12">
            <a:extLst>
              <a:ext uri="{FF2B5EF4-FFF2-40B4-BE49-F238E27FC236}">
                <a16:creationId xmlns:a16="http://schemas.microsoft.com/office/drawing/2014/main" id="{512AF263-F756-A5A4-ACAC-929603E43797}"/>
              </a:ext>
            </a:extLst>
          </p:cNvPr>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0.8205</a:t>
            </a:r>
            <a:endParaRPr lang="en-US" sz="1100"/>
          </a:p>
        </p:txBody>
      </p:sp>
      <p:sp>
        <p:nvSpPr>
          <p:cNvPr id="13" name="AutoShape 13">
            <a:extLst>
              <a:ext uri="{FF2B5EF4-FFF2-40B4-BE49-F238E27FC236}">
                <a16:creationId xmlns:a16="http://schemas.microsoft.com/office/drawing/2014/main" id="{FB01F9B2-F613-B511-05E5-F7D50E2C0930}"/>
              </a:ext>
            </a:extLst>
          </p:cNvPr>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0.6717</a:t>
            </a:r>
            <a:endParaRPr lang="en-US" sz="1100"/>
          </a:p>
        </p:txBody>
      </p:sp>
      <p:sp>
        <p:nvSpPr>
          <p:cNvPr id="14" name="AutoShape 14">
            <a:extLst>
              <a:ext uri="{FF2B5EF4-FFF2-40B4-BE49-F238E27FC236}">
                <a16:creationId xmlns:a16="http://schemas.microsoft.com/office/drawing/2014/main" id="{92EB7887-5250-2909-1BF6-16C96E73EDB8}"/>
              </a:ext>
            </a:extLst>
          </p:cNvPr>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0.7430</a:t>
            </a:r>
            <a:endParaRPr lang="en-US" sz="1100"/>
          </a:p>
        </p:txBody>
      </p:sp>
      <p:sp>
        <p:nvSpPr>
          <p:cNvPr id="15" name="AutoShape 15">
            <a:extLst>
              <a:ext uri="{FF2B5EF4-FFF2-40B4-BE49-F238E27FC236}">
                <a16:creationId xmlns:a16="http://schemas.microsoft.com/office/drawing/2014/main" id="{B54CE6F3-88D5-A029-7532-EE2E4B503C5F}"/>
              </a:ext>
            </a:extLst>
          </p:cNvPr>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0.5377</a:t>
            </a:r>
            <a:endParaRPr lang="en-US" sz="1100"/>
          </a:p>
        </p:txBody>
      </p:sp>
      <p:sp>
        <p:nvSpPr>
          <p:cNvPr id="16" name="AutoShape 16">
            <a:extLst>
              <a:ext uri="{FF2B5EF4-FFF2-40B4-BE49-F238E27FC236}">
                <a16:creationId xmlns:a16="http://schemas.microsoft.com/office/drawing/2014/main" id="{88987A4A-821E-9CB8-F763-EAAD158A58A8}"/>
              </a:ext>
            </a:extLst>
          </p:cNvPr>
          <p:cNvSpPr/>
          <p:nvPr/>
        </p:nvSpPr>
        <p:spPr>
          <a:xfrm>
            <a:off x="1397000" y="28321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Exp1 (V1 单级)</a:t>
            </a:r>
            <a:endParaRPr lang="en-US" sz="1100"/>
          </a:p>
        </p:txBody>
      </p:sp>
      <p:sp>
        <p:nvSpPr>
          <p:cNvPr id="17" name="AutoShape 17">
            <a:extLst>
              <a:ext uri="{FF2B5EF4-FFF2-40B4-BE49-F238E27FC236}">
                <a16:creationId xmlns:a16="http://schemas.microsoft.com/office/drawing/2014/main" id="{EBF5A8AA-9F4D-D27C-46FF-0F5FA71D890B}"/>
              </a:ext>
            </a:extLst>
          </p:cNvPr>
          <p:cNvSpPr/>
          <p:nvPr/>
        </p:nvSpPr>
        <p:spPr>
          <a:xfrm>
            <a:off x="3556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0.7635</a:t>
            </a:r>
            <a:endParaRPr lang="en-US" sz="1100" dirty="0"/>
          </a:p>
        </p:txBody>
      </p:sp>
      <p:sp>
        <p:nvSpPr>
          <p:cNvPr id="18" name="AutoShape 18">
            <a:extLst>
              <a:ext uri="{FF2B5EF4-FFF2-40B4-BE49-F238E27FC236}">
                <a16:creationId xmlns:a16="http://schemas.microsoft.com/office/drawing/2014/main" id="{391A086A-14EE-9017-0F30-8B26F3F749BE}"/>
              </a:ext>
            </a:extLst>
          </p:cNvPr>
          <p:cNvSpPr/>
          <p:nvPr/>
        </p:nvSpPr>
        <p:spPr>
          <a:xfrm>
            <a:off x="5334000" y="28321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0.6216</a:t>
            </a:r>
            <a:endParaRPr lang="en-US" sz="1100"/>
          </a:p>
        </p:txBody>
      </p:sp>
      <p:sp>
        <p:nvSpPr>
          <p:cNvPr id="19" name="AutoShape 19">
            <a:extLst>
              <a:ext uri="{FF2B5EF4-FFF2-40B4-BE49-F238E27FC236}">
                <a16:creationId xmlns:a16="http://schemas.microsoft.com/office/drawing/2014/main" id="{8796C968-D15C-EE61-6B5F-10C8125270DA}"/>
              </a:ext>
            </a:extLst>
          </p:cNvPr>
          <p:cNvSpPr/>
          <p:nvPr/>
        </p:nvSpPr>
        <p:spPr>
          <a:xfrm>
            <a:off x="7112000" y="28321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0.6647</a:t>
            </a:r>
            <a:endParaRPr lang="en-US" sz="1100"/>
          </a:p>
        </p:txBody>
      </p:sp>
      <p:sp>
        <p:nvSpPr>
          <p:cNvPr id="20" name="AutoShape 20">
            <a:extLst>
              <a:ext uri="{FF2B5EF4-FFF2-40B4-BE49-F238E27FC236}">
                <a16:creationId xmlns:a16="http://schemas.microsoft.com/office/drawing/2014/main" id="{4CA93935-8F2D-F1D1-909A-6ED2EF3B1803}"/>
              </a:ext>
            </a:extLst>
          </p:cNvPr>
          <p:cNvSpPr/>
          <p:nvPr/>
        </p:nvSpPr>
        <p:spPr>
          <a:xfrm>
            <a:off x="9271000" y="28321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0.4623</a:t>
            </a:r>
            <a:endParaRPr lang="en-US" sz="1100" b="1" dirty="0">
              <a:solidFill>
                <a:srgbClr val="FF0000"/>
              </a:solidFill>
            </a:endParaRPr>
          </a:p>
        </p:txBody>
      </p:sp>
      <p:sp>
        <p:nvSpPr>
          <p:cNvPr id="21" name="AutoShape 21">
            <a:extLst>
              <a:ext uri="{FF2B5EF4-FFF2-40B4-BE49-F238E27FC236}">
                <a16:creationId xmlns:a16="http://schemas.microsoft.com/office/drawing/2014/main" id="{34970E04-74AC-7330-08E4-75C65D282846}"/>
              </a:ext>
            </a:extLst>
          </p:cNvPr>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E2A (Verifier)</a:t>
            </a:r>
            <a:endParaRPr lang="en-US" sz="1100" dirty="0"/>
          </a:p>
        </p:txBody>
      </p:sp>
      <p:sp>
        <p:nvSpPr>
          <p:cNvPr id="22" name="AutoShape 22">
            <a:extLst>
              <a:ext uri="{FF2B5EF4-FFF2-40B4-BE49-F238E27FC236}">
                <a16:creationId xmlns:a16="http://schemas.microsoft.com/office/drawing/2014/main" id="{17C18FD5-AE36-DEDB-012C-713AAF8C5B27}"/>
              </a:ext>
            </a:extLst>
          </p:cNvPr>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0.7410</a:t>
            </a:r>
            <a:endParaRPr lang="en-US" sz="1100"/>
          </a:p>
        </p:txBody>
      </p:sp>
      <p:sp>
        <p:nvSpPr>
          <p:cNvPr id="23" name="AutoShape 23">
            <a:extLst>
              <a:ext uri="{FF2B5EF4-FFF2-40B4-BE49-F238E27FC236}">
                <a16:creationId xmlns:a16="http://schemas.microsoft.com/office/drawing/2014/main" id="{9CC28F64-E904-4555-4EAA-D3344290F9E7}"/>
              </a:ext>
            </a:extLst>
          </p:cNvPr>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0.6609</a:t>
            </a:r>
            <a:endParaRPr lang="en-US" sz="1100"/>
          </a:p>
        </p:txBody>
      </p:sp>
      <p:sp>
        <p:nvSpPr>
          <p:cNvPr id="24" name="AutoShape 24">
            <a:extLst>
              <a:ext uri="{FF2B5EF4-FFF2-40B4-BE49-F238E27FC236}">
                <a16:creationId xmlns:a16="http://schemas.microsoft.com/office/drawing/2014/main" id="{0262A9BA-0547-2769-973F-926B64FDB021}"/>
              </a:ext>
            </a:extLst>
          </p:cNvPr>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0.6689</a:t>
            </a:r>
            <a:endParaRPr lang="en-US" sz="1100" b="1" dirty="0">
              <a:solidFill>
                <a:srgbClr val="FF0000"/>
              </a:solidFill>
            </a:endParaRPr>
          </a:p>
        </p:txBody>
      </p:sp>
      <p:sp>
        <p:nvSpPr>
          <p:cNvPr id="25" name="AutoShape 25">
            <a:extLst>
              <a:ext uri="{FF2B5EF4-FFF2-40B4-BE49-F238E27FC236}">
                <a16:creationId xmlns:a16="http://schemas.microsoft.com/office/drawing/2014/main" id="{DECE208B-3A0A-4B82-A388-15D7EEB21824}"/>
              </a:ext>
            </a:extLst>
          </p:cNvPr>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0.4577</a:t>
            </a:r>
            <a:endParaRPr lang="en-US" sz="1100"/>
          </a:p>
        </p:txBody>
      </p:sp>
      <p:sp>
        <p:nvSpPr>
          <p:cNvPr id="26" name="AutoShape 26">
            <a:extLst>
              <a:ext uri="{FF2B5EF4-FFF2-40B4-BE49-F238E27FC236}">
                <a16:creationId xmlns:a16="http://schemas.microsoft.com/office/drawing/2014/main" id="{8416DD37-3EEC-B91D-4516-F3653F9B4826}"/>
              </a:ext>
            </a:extLst>
          </p:cNvPr>
          <p:cNvSpPr/>
          <p:nvPr/>
        </p:nvSpPr>
        <p:spPr>
          <a:xfrm>
            <a:off x="1397000" y="3695700"/>
            <a:ext cx="1651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algn="ctr">
              <a:lnSpc>
                <a:spcPct val="125000"/>
              </a:lnSpc>
              <a:defRPr/>
            </a:pPr>
            <a:r>
              <a:rPr lang="en-US" sz="1250" b="0" i="0" u="none" strike="noStrike" dirty="0">
                <a:solidFill>
                  <a:srgbClr val="141E28"/>
                </a:solidFill>
                <a:latin typeface="微软雅黑"/>
                <a:ea typeface="微软雅黑"/>
                <a:cs typeface="微软雅黑"/>
                <a:sym typeface="微软雅黑"/>
              </a:rPr>
              <a:t>E2B</a:t>
            </a:r>
            <a:r>
              <a:rPr lang="en-US" altLang="ja-JP" sz="1100" dirty="0">
                <a:solidFill>
                  <a:srgbClr val="141E28"/>
                </a:solidFill>
                <a:latin typeface="微软雅黑"/>
                <a:ea typeface="微软雅黑"/>
                <a:cs typeface="微软雅黑"/>
                <a:sym typeface="微软雅黑"/>
              </a:rPr>
              <a:t> (A</a:t>
            </a:r>
            <a:r>
              <a:rPr lang="en-US" altLang="zh-CN" sz="1100" dirty="0">
                <a:solidFill>
                  <a:srgbClr val="141E28"/>
                </a:solidFill>
                <a:latin typeface="微软雅黑"/>
                <a:ea typeface="微软雅黑"/>
                <a:cs typeface="微软雅黑"/>
                <a:sym typeface="微软雅黑"/>
              </a:rPr>
              <a:t>ppend</a:t>
            </a:r>
            <a:r>
              <a:rPr lang="en-US" altLang="ja-JP" sz="1100" dirty="0">
                <a:solidFill>
                  <a:srgbClr val="141E28"/>
                </a:solidFill>
                <a:latin typeface="微软雅黑"/>
                <a:ea typeface="微软雅黑"/>
                <a:cs typeface="微软雅黑"/>
                <a:sym typeface="微软雅黑"/>
              </a:rPr>
              <a:t>)</a:t>
            </a:r>
            <a:endParaRPr lang="en-US" sz="1100" dirty="0"/>
          </a:p>
        </p:txBody>
      </p:sp>
      <p:sp>
        <p:nvSpPr>
          <p:cNvPr id="27" name="AutoShape 27">
            <a:extLst>
              <a:ext uri="{FF2B5EF4-FFF2-40B4-BE49-F238E27FC236}">
                <a16:creationId xmlns:a16="http://schemas.microsoft.com/office/drawing/2014/main" id="{EF905050-59C3-013C-DE12-7196B1748B9B}"/>
              </a:ext>
            </a:extLst>
          </p:cNvPr>
          <p:cNvSpPr/>
          <p:nvPr/>
        </p:nvSpPr>
        <p:spPr>
          <a:xfrm>
            <a:off x="3556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0.7531</a:t>
            </a:r>
            <a:endParaRPr lang="en-US" sz="1100"/>
          </a:p>
        </p:txBody>
      </p:sp>
      <p:sp>
        <p:nvSpPr>
          <p:cNvPr id="28" name="AutoShape 28">
            <a:extLst>
              <a:ext uri="{FF2B5EF4-FFF2-40B4-BE49-F238E27FC236}">
                <a16:creationId xmlns:a16="http://schemas.microsoft.com/office/drawing/2014/main" id="{D1B94C95-F7F6-C9C4-A121-541F24A32622}"/>
              </a:ext>
            </a:extLst>
          </p:cNvPr>
          <p:cNvSpPr/>
          <p:nvPr/>
        </p:nvSpPr>
        <p:spPr>
          <a:xfrm>
            <a:off x="5334000" y="3695700"/>
            <a:ext cx="1524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0.6169</a:t>
            </a:r>
            <a:endParaRPr lang="en-US" sz="1100"/>
          </a:p>
        </p:txBody>
      </p:sp>
      <p:sp>
        <p:nvSpPr>
          <p:cNvPr id="29" name="AutoShape 29">
            <a:extLst>
              <a:ext uri="{FF2B5EF4-FFF2-40B4-BE49-F238E27FC236}">
                <a16:creationId xmlns:a16="http://schemas.microsoft.com/office/drawing/2014/main" id="{033B0443-B7FA-86FC-BDAB-6F3B875BE1A9}"/>
              </a:ext>
            </a:extLst>
          </p:cNvPr>
          <p:cNvSpPr/>
          <p:nvPr/>
        </p:nvSpPr>
        <p:spPr>
          <a:xfrm>
            <a:off x="7112000" y="3695700"/>
            <a:ext cx="1778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0.6641</a:t>
            </a:r>
            <a:endParaRPr lang="en-US" sz="1100" dirty="0"/>
          </a:p>
        </p:txBody>
      </p:sp>
      <p:sp>
        <p:nvSpPr>
          <p:cNvPr id="30" name="AutoShape 30">
            <a:extLst>
              <a:ext uri="{FF2B5EF4-FFF2-40B4-BE49-F238E27FC236}">
                <a16:creationId xmlns:a16="http://schemas.microsoft.com/office/drawing/2014/main" id="{8E95CBDC-8B06-CB6F-6EDC-3743EFC21C4D}"/>
              </a:ext>
            </a:extLst>
          </p:cNvPr>
          <p:cNvSpPr/>
          <p:nvPr/>
        </p:nvSpPr>
        <p:spPr>
          <a:xfrm>
            <a:off x="9271000" y="3695700"/>
            <a:ext cx="1905000" cy="431800"/>
          </a:xfrm>
          <a:prstGeom prst="roundRect">
            <a:avLst>
              <a:gd name="adj" fmla="val 0"/>
            </a:avLst>
          </a:prstGeom>
          <a:solidFill>
            <a:srgbClr val="FFFFFF">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0.4529</a:t>
            </a:r>
            <a:endParaRPr lang="en-US" sz="1100"/>
          </a:p>
        </p:txBody>
      </p:sp>
      <p:sp>
        <p:nvSpPr>
          <p:cNvPr id="31" name="AutoShape 31">
            <a:extLst>
              <a:ext uri="{FF2B5EF4-FFF2-40B4-BE49-F238E27FC236}">
                <a16:creationId xmlns:a16="http://schemas.microsoft.com/office/drawing/2014/main" id="{98B6C07C-BD02-DF05-05CF-6F793C315BC2}"/>
              </a:ext>
            </a:extLst>
          </p:cNvPr>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a:t>
            </a:r>
            <a:endParaRPr lang="en-US" sz="1100" dirty="0"/>
          </a:p>
        </p:txBody>
      </p:sp>
      <p:sp>
        <p:nvSpPr>
          <p:cNvPr id="32" name="AutoShape 32">
            <a:extLst>
              <a:ext uri="{FF2B5EF4-FFF2-40B4-BE49-F238E27FC236}">
                <a16:creationId xmlns:a16="http://schemas.microsoft.com/office/drawing/2014/main" id="{35DBFA88-5122-EC9D-AFE1-724951D0F6B1}"/>
              </a:ext>
            </a:extLst>
          </p:cNvPr>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0.7462</a:t>
            </a:r>
            <a:endParaRPr lang="en-US" sz="1100" dirty="0"/>
          </a:p>
        </p:txBody>
      </p:sp>
      <p:sp>
        <p:nvSpPr>
          <p:cNvPr id="33" name="AutoShape 33">
            <a:extLst>
              <a:ext uri="{FF2B5EF4-FFF2-40B4-BE49-F238E27FC236}">
                <a16:creationId xmlns:a16="http://schemas.microsoft.com/office/drawing/2014/main" id="{B279BE37-EB7B-3F81-5597-2CDC8F527828}"/>
              </a:ext>
            </a:extLst>
          </p:cNvPr>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0.6178</a:t>
            </a:r>
            <a:endParaRPr lang="en-US" sz="1100" dirty="0"/>
          </a:p>
        </p:txBody>
      </p:sp>
      <p:sp>
        <p:nvSpPr>
          <p:cNvPr id="34" name="AutoShape 34">
            <a:extLst>
              <a:ext uri="{FF2B5EF4-FFF2-40B4-BE49-F238E27FC236}">
                <a16:creationId xmlns:a16="http://schemas.microsoft.com/office/drawing/2014/main" id="{861F8750-FA83-8FE9-8302-1BC93A9F44C0}"/>
              </a:ext>
            </a:extLst>
          </p:cNvPr>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0.6724</a:t>
            </a:r>
            <a:endParaRPr lang="en-US" sz="1100" b="1" dirty="0">
              <a:solidFill>
                <a:srgbClr val="FF0000"/>
              </a:solidFill>
            </a:endParaRPr>
          </a:p>
        </p:txBody>
      </p:sp>
      <p:sp>
        <p:nvSpPr>
          <p:cNvPr id="35" name="AutoShape 35">
            <a:extLst>
              <a:ext uri="{FF2B5EF4-FFF2-40B4-BE49-F238E27FC236}">
                <a16:creationId xmlns:a16="http://schemas.microsoft.com/office/drawing/2014/main" id="{422979DD-A5E2-12B5-2935-3D1664DBC48C}"/>
              </a:ext>
            </a:extLst>
          </p:cNvPr>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0.4530</a:t>
            </a:r>
          </a:p>
        </p:txBody>
      </p:sp>
      <p:sp>
        <p:nvSpPr>
          <p:cNvPr id="37" name="AutoShape 31">
            <a:extLst>
              <a:ext uri="{FF2B5EF4-FFF2-40B4-BE49-F238E27FC236}">
                <a16:creationId xmlns:a16="http://schemas.microsoft.com/office/drawing/2014/main" id="{649D6D62-E57E-AD9B-63FE-84D163247687}"/>
              </a:ext>
            </a:extLst>
          </p:cNvPr>
          <p:cNvSpPr/>
          <p:nvPr/>
        </p:nvSpPr>
        <p:spPr>
          <a:xfrm>
            <a:off x="1397000" y="4545853"/>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E2B-400+IoF0.7</a:t>
            </a:r>
            <a:endParaRPr lang="en-US" sz="1100" dirty="0"/>
          </a:p>
        </p:txBody>
      </p:sp>
      <p:sp>
        <p:nvSpPr>
          <p:cNvPr id="38" name="AutoShape 31">
            <a:extLst>
              <a:ext uri="{FF2B5EF4-FFF2-40B4-BE49-F238E27FC236}">
                <a16:creationId xmlns:a16="http://schemas.microsoft.com/office/drawing/2014/main" id="{4DE63F5C-077F-9BB6-466E-815BB6CC78C6}"/>
              </a:ext>
            </a:extLst>
          </p:cNvPr>
          <p:cNvSpPr/>
          <p:nvPr/>
        </p:nvSpPr>
        <p:spPr>
          <a:xfrm>
            <a:off x="1397000" y="4955988"/>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E2B-400+IoF0.3</a:t>
            </a:r>
            <a:endParaRPr lang="en-US" sz="1100" dirty="0"/>
          </a:p>
        </p:txBody>
      </p:sp>
      <p:sp>
        <p:nvSpPr>
          <p:cNvPr id="39" name="AutoShape 32">
            <a:extLst>
              <a:ext uri="{FF2B5EF4-FFF2-40B4-BE49-F238E27FC236}">
                <a16:creationId xmlns:a16="http://schemas.microsoft.com/office/drawing/2014/main" id="{C279B237-4EB7-373F-8651-E44FE1FD6D68}"/>
              </a:ext>
            </a:extLst>
          </p:cNvPr>
          <p:cNvSpPr/>
          <p:nvPr/>
        </p:nvSpPr>
        <p:spPr>
          <a:xfrm>
            <a:off x="3556000" y="453987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0.7729</a:t>
            </a:r>
            <a:endParaRPr lang="en-US" sz="1100" dirty="0"/>
          </a:p>
        </p:txBody>
      </p:sp>
      <p:sp>
        <p:nvSpPr>
          <p:cNvPr id="40" name="AutoShape 32">
            <a:extLst>
              <a:ext uri="{FF2B5EF4-FFF2-40B4-BE49-F238E27FC236}">
                <a16:creationId xmlns:a16="http://schemas.microsoft.com/office/drawing/2014/main" id="{22288CAE-032F-E108-68CC-0C315F850A5B}"/>
              </a:ext>
            </a:extLst>
          </p:cNvPr>
          <p:cNvSpPr/>
          <p:nvPr/>
        </p:nvSpPr>
        <p:spPr>
          <a:xfrm>
            <a:off x="3556000" y="4952252"/>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0.7148</a:t>
            </a:r>
            <a:endParaRPr lang="en-US" sz="1100" dirty="0"/>
          </a:p>
        </p:txBody>
      </p:sp>
      <p:sp>
        <p:nvSpPr>
          <p:cNvPr id="41" name="AutoShape 33">
            <a:extLst>
              <a:ext uri="{FF2B5EF4-FFF2-40B4-BE49-F238E27FC236}">
                <a16:creationId xmlns:a16="http://schemas.microsoft.com/office/drawing/2014/main" id="{9AB0F8AB-99EB-82BC-F23B-2CCAD06AD7B6}"/>
              </a:ext>
            </a:extLst>
          </p:cNvPr>
          <p:cNvSpPr/>
          <p:nvPr/>
        </p:nvSpPr>
        <p:spPr>
          <a:xfrm>
            <a:off x="5334000" y="4563035"/>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0.5878</a:t>
            </a:r>
            <a:endParaRPr lang="en-US" sz="1100" dirty="0"/>
          </a:p>
        </p:txBody>
      </p:sp>
      <p:sp>
        <p:nvSpPr>
          <p:cNvPr id="42" name="AutoShape 33">
            <a:extLst>
              <a:ext uri="{FF2B5EF4-FFF2-40B4-BE49-F238E27FC236}">
                <a16:creationId xmlns:a16="http://schemas.microsoft.com/office/drawing/2014/main" id="{DDE98FB9-14C4-FE65-7483-021D068A36D9}"/>
              </a:ext>
            </a:extLst>
          </p:cNvPr>
          <p:cNvSpPr/>
          <p:nvPr/>
        </p:nvSpPr>
        <p:spPr>
          <a:xfrm>
            <a:off x="5328023" y="4943286"/>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0.6432</a:t>
            </a:r>
            <a:endParaRPr lang="en-US" sz="1100" dirty="0"/>
          </a:p>
        </p:txBody>
      </p:sp>
      <p:sp>
        <p:nvSpPr>
          <p:cNvPr id="43" name="AutoShape 34">
            <a:extLst>
              <a:ext uri="{FF2B5EF4-FFF2-40B4-BE49-F238E27FC236}">
                <a16:creationId xmlns:a16="http://schemas.microsoft.com/office/drawing/2014/main" id="{63D2E6EC-94E0-A8A0-C956-DBAC59BD7800}"/>
              </a:ext>
            </a:extLst>
          </p:cNvPr>
          <p:cNvSpPr/>
          <p:nvPr/>
        </p:nvSpPr>
        <p:spPr>
          <a:xfrm>
            <a:off x="7112000" y="456677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0.6638</a:t>
            </a:r>
            <a:endParaRPr lang="en-US" sz="1100" dirty="0"/>
          </a:p>
        </p:txBody>
      </p:sp>
      <p:sp>
        <p:nvSpPr>
          <p:cNvPr id="44" name="AutoShape 34">
            <a:extLst>
              <a:ext uri="{FF2B5EF4-FFF2-40B4-BE49-F238E27FC236}">
                <a16:creationId xmlns:a16="http://schemas.microsoft.com/office/drawing/2014/main" id="{3F39A130-DE02-EBB8-052E-97EFD43C926C}"/>
              </a:ext>
            </a:extLst>
          </p:cNvPr>
          <p:cNvSpPr/>
          <p:nvPr/>
        </p:nvSpPr>
        <p:spPr>
          <a:xfrm>
            <a:off x="7112000" y="500604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0.6722</a:t>
            </a:r>
            <a:endParaRPr lang="en-US" sz="1100" b="1" dirty="0">
              <a:solidFill>
                <a:srgbClr val="FF0000"/>
              </a:solidFill>
            </a:endParaRPr>
          </a:p>
        </p:txBody>
      </p:sp>
      <p:sp>
        <p:nvSpPr>
          <p:cNvPr id="45" name="AutoShape 35">
            <a:extLst>
              <a:ext uri="{FF2B5EF4-FFF2-40B4-BE49-F238E27FC236}">
                <a16:creationId xmlns:a16="http://schemas.microsoft.com/office/drawing/2014/main" id="{38B39BFF-3C0A-4483-A7F3-7FF53280BB57}"/>
              </a:ext>
            </a:extLst>
          </p:cNvPr>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0.4525</a:t>
            </a:r>
          </a:p>
        </p:txBody>
      </p:sp>
      <p:sp>
        <p:nvSpPr>
          <p:cNvPr id="46" name="AutoShape 35">
            <a:extLst>
              <a:ext uri="{FF2B5EF4-FFF2-40B4-BE49-F238E27FC236}">
                <a16:creationId xmlns:a16="http://schemas.microsoft.com/office/drawing/2014/main" id="{B8EC24C6-3C5D-82B8-BB75-213B5B8A05CF}"/>
              </a:ext>
            </a:extLst>
          </p:cNvPr>
          <p:cNvSpPr/>
          <p:nvPr/>
        </p:nvSpPr>
        <p:spPr>
          <a:xfrm>
            <a:off x="9271000" y="496794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1" i="0" u="none" strike="noStrike" dirty="0">
                <a:solidFill>
                  <a:srgbClr val="FF0000"/>
                </a:solidFill>
                <a:latin typeface="微软雅黑"/>
                <a:ea typeface="微软雅黑"/>
                <a:cs typeface="微软雅黑"/>
                <a:sym typeface="微软雅黑"/>
              </a:rPr>
              <a:t>0.4606</a:t>
            </a:r>
          </a:p>
        </p:txBody>
      </p:sp>
      <p:sp>
        <p:nvSpPr>
          <p:cNvPr id="47" name="AutoShape 31">
            <a:extLst>
              <a:ext uri="{FF2B5EF4-FFF2-40B4-BE49-F238E27FC236}">
                <a16:creationId xmlns:a16="http://schemas.microsoft.com/office/drawing/2014/main" id="{35C0774A-1BF2-0225-E4BC-8BDA559A4A4B}"/>
              </a:ext>
            </a:extLst>
          </p:cNvPr>
          <p:cNvSpPr/>
          <p:nvPr/>
        </p:nvSpPr>
        <p:spPr>
          <a:xfrm>
            <a:off x="1397000" y="5357905"/>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algn="ctr">
              <a:lnSpc>
                <a:spcPct val="125000"/>
              </a:lnSpc>
              <a:defRPr/>
            </a:pPr>
            <a:r>
              <a:rPr lang="en-US" sz="1250" dirty="0">
                <a:solidFill>
                  <a:srgbClr val="141E28"/>
                </a:solidFill>
                <a:latin typeface="微软雅黑"/>
                <a:ea typeface="微软雅黑"/>
                <a:cs typeface="微软雅黑"/>
                <a:sym typeface="微软雅黑"/>
              </a:rPr>
              <a:t>E2C(Refiner) </a:t>
            </a:r>
            <a:endParaRPr lang="en-US" sz="1100" dirty="0"/>
          </a:p>
        </p:txBody>
      </p:sp>
      <p:sp>
        <p:nvSpPr>
          <p:cNvPr id="48" name="AutoShape 32">
            <a:extLst>
              <a:ext uri="{FF2B5EF4-FFF2-40B4-BE49-F238E27FC236}">
                <a16:creationId xmlns:a16="http://schemas.microsoft.com/office/drawing/2014/main" id="{666B9750-C79E-86D2-C82D-E6DDF2816DD2}"/>
              </a:ext>
            </a:extLst>
          </p:cNvPr>
          <p:cNvSpPr/>
          <p:nvPr/>
        </p:nvSpPr>
        <p:spPr>
          <a:xfrm>
            <a:off x="3544047" y="5369111"/>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0.6124</a:t>
            </a:r>
            <a:endParaRPr lang="en-US" sz="1100" dirty="0"/>
          </a:p>
        </p:txBody>
      </p:sp>
      <p:sp>
        <p:nvSpPr>
          <p:cNvPr id="49" name="AutoShape 33">
            <a:extLst>
              <a:ext uri="{FF2B5EF4-FFF2-40B4-BE49-F238E27FC236}">
                <a16:creationId xmlns:a16="http://schemas.microsoft.com/office/drawing/2014/main" id="{B22689B4-3C9B-AC80-DBFA-E9A15D11BE53}"/>
              </a:ext>
            </a:extLst>
          </p:cNvPr>
          <p:cNvSpPr/>
          <p:nvPr/>
        </p:nvSpPr>
        <p:spPr>
          <a:xfrm>
            <a:off x="5334000" y="5379569"/>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0.6128</a:t>
            </a:r>
            <a:endParaRPr lang="en-US" sz="1100" dirty="0"/>
          </a:p>
        </p:txBody>
      </p:sp>
      <p:sp>
        <p:nvSpPr>
          <p:cNvPr id="50" name="AutoShape 34">
            <a:extLst>
              <a:ext uri="{FF2B5EF4-FFF2-40B4-BE49-F238E27FC236}">
                <a16:creationId xmlns:a16="http://schemas.microsoft.com/office/drawing/2014/main" id="{B6A4C310-F614-21FF-1716-4BB6DA733C4A}"/>
              </a:ext>
            </a:extLst>
          </p:cNvPr>
          <p:cNvSpPr/>
          <p:nvPr/>
        </p:nvSpPr>
        <p:spPr>
          <a:xfrm>
            <a:off x="7112000" y="5407955"/>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0.5769</a:t>
            </a:r>
            <a:endParaRPr lang="en-US" sz="1100" dirty="0">
              <a:solidFill>
                <a:schemeClr val="tx1"/>
              </a:solidFill>
            </a:endParaRPr>
          </a:p>
        </p:txBody>
      </p:sp>
      <p:sp>
        <p:nvSpPr>
          <p:cNvPr id="51" name="AutoShape 35">
            <a:extLst>
              <a:ext uri="{FF2B5EF4-FFF2-40B4-BE49-F238E27FC236}">
                <a16:creationId xmlns:a16="http://schemas.microsoft.com/office/drawing/2014/main" id="{6DC82861-D651-261A-4F32-F5C673F4EEA2}"/>
              </a:ext>
            </a:extLst>
          </p:cNvPr>
          <p:cNvSpPr/>
          <p:nvPr/>
        </p:nvSpPr>
        <p:spPr>
          <a:xfrm>
            <a:off x="9261288" y="5379569"/>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chorCtr="0"/>
          <a:lstStyle/>
          <a:p>
            <a:pPr marL="0" indent="0" algn="ctr" defTabSz="914400">
              <a:lnSpc>
                <a:spcPct val="125000"/>
              </a:lnSpc>
              <a:defRPr/>
            </a:pPr>
            <a:r>
              <a:rPr lang="en-US" sz="1250" i="0" u="none" strike="noStrike" dirty="0">
                <a:solidFill>
                  <a:schemeClr val="tx1"/>
                </a:solidFill>
                <a:latin typeface="微软雅黑"/>
                <a:ea typeface="微软雅黑"/>
                <a:cs typeface="微软雅黑"/>
                <a:sym typeface="微软雅黑"/>
              </a:rPr>
              <a:t>0.3701</a:t>
            </a:r>
          </a:p>
        </p:txBody>
      </p:sp>
      <p:sp>
        <p:nvSpPr>
          <p:cNvPr id="52" name="AutoShape 39">
            <a:extLst>
              <a:ext uri="{FF2B5EF4-FFF2-40B4-BE49-F238E27FC236}">
                <a16:creationId xmlns:a16="http://schemas.microsoft.com/office/drawing/2014/main" id="{D7265401-ADFE-F4B6-4812-CC6E6EC0F0CF}"/>
              </a:ext>
            </a:extLst>
          </p:cNvPr>
          <p:cNvSpPr/>
          <p:nvPr/>
        </p:nvSpPr>
        <p:spPr>
          <a:xfrm>
            <a:off x="1025712" y="5963920"/>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a:t>
            </a:r>
            <a:r>
              <a:rPr lang="en-US" altLang="zh-CN" sz="1250" dirty="0">
                <a:solidFill>
                  <a:srgbClr val="783214"/>
                </a:solidFill>
                <a:latin typeface="微软雅黑"/>
                <a:ea typeface="微软雅黑"/>
                <a:cs typeface="微软雅黑"/>
                <a:sym typeface="微软雅黑"/>
              </a:rPr>
              <a:t>Verifier </a:t>
            </a:r>
            <a:r>
              <a:rPr lang="zh-CN" altLang="en-US" sz="1250" dirty="0">
                <a:solidFill>
                  <a:srgbClr val="783214"/>
                </a:solidFill>
                <a:latin typeface="微软雅黑"/>
                <a:ea typeface="微软雅黑"/>
                <a:cs typeface="微软雅黑"/>
                <a:sym typeface="微软雅黑"/>
              </a:rPr>
              <a:t>有继续稳定性复验的候选价值（关注误删与 </a:t>
            </a:r>
            <a:r>
              <a:rPr lang="en-US" altLang="zh-CN" sz="1250" dirty="0">
                <a:solidFill>
                  <a:srgbClr val="783214"/>
                </a:solidFill>
                <a:latin typeface="微软雅黑"/>
                <a:ea typeface="微软雅黑"/>
                <a:cs typeface="微软雅黑"/>
                <a:sym typeface="微软雅黑"/>
              </a:rPr>
              <a:t>Recall</a:t>
            </a:r>
            <a:r>
              <a:rPr lang="zh-CN" altLang="en-US" sz="1250" dirty="0">
                <a:solidFill>
                  <a:srgbClr val="783214"/>
                </a:solidFill>
                <a:latin typeface="微软雅黑"/>
                <a:ea typeface="微软雅黑"/>
                <a:cs typeface="微软雅黑"/>
                <a:sym typeface="微软雅黑"/>
              </a:rPr>
              <a:t>）；</a:t>
            </a:r>
            <a:r>
              <a:rPr lang="en-US" altLang="zh-CN" sz="1250" dirty="0">
                <a:solidFill>
                  <a:srgbClr val="783214"/>
                </a:solidFill>
                <a:latin typeface="微软雅黑"/>
                <a:ea typeface="微软雅黑"/>
                <a:cs typeface="微软雅黑"/>
                <a:sym typeface="微软雅黑"/>
              </a:rPr>
              <a:t>Append </a:t>
            </a:r>
            <a:r>
              <a:rPr lang="zh-CN" altLang="en-US" sz="1250" dirty="0">
                <a:solidFill>
                  <a:srgbClr val="783214"/>
                </a:solidFill>
                <a:latin typeface="微软雅黑"/>
                <a:ea typeface="微软雅黑"/>
                <a:cs typeface="微软雅黑"/>
                <a:sym typeface="微软雅黑"/>
              </a:rPr>
              <a:t>具备补漏可能；</a:t>
            </a:r>
            <a:r>
              <a:rPr lang="en-US" altLang="zh-CN" sz="1250" dirty="0">
                <a:solidFill>
                  <a:srgbClr val="783214"/>
                </a:solidFill>
                <a:latin typeface="微软雅黑"/>
                <a:ea typeface="微软雅黑"/>
                <a:cs typeface="微软雅黑"/>
                <a:sym typeface="微软雅黑"/>
              </a:rPr>
              <a:t>Refiner </a:t>
            </a:r>
            <a:r>
              <a:rPr lang="zh-CN" altLang="en-US" sz="1250" dirty="0">
                <a:solidFill>
                  <a:srgbClr val="783214"/>
                </a:solidFill>
                <a:latin typeface="微软雅黑"/>
                <a:ea typeface="微软雅黑"/>
                <a:cs typeface="微软雅黑"/>
                <a:sym typeface="微软雅黑"/>
              </a:rPr>
              <a:t>直接重定位出现明显下游退化，当前保持 </a:t>
            </a:r>
            <a:r>
              <a:rPr lang="en-US" altLang="zh-CN" sz="1250" dirty="0">
                <a:solidFill>
                  <a:srgbClr val="783214"/>
                </a:solidFill>
                <a:latin typeface="微软雅黑"/>
                <a:ea typeface="微软雅黑"/>
                <a:cs typeface="微软雅黑"/>
                <a:sym typeface="微软雅黑"/>
              </a:rPr>
              <a:t>Stop</a:t>
            </a:r>
            <a:r>
              <a:rPr lang="zh-CN" altLang="en-US" sz="1250" dirty="0">
                <a:solidFill>
                  <a:srgbClr val="783214"/>
                </a:solidFill>
                <a:latin typeface="微软雅黑"/>
                <a:ea typeface="微软雅黑"/>
                <a:cs typeface="微软雅黑"/>
                <a:sym typeface="微软雅黑"/>
              </a:rPr>
              <a:t>。正文结论区分“已证实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待验证 </a:t>
            </a:r>
            <a:r>
              <a:rPr lang="en-US" altLang="zh-CN" sz="1250" dirty="0">
                <a:solidFill>
                  <a:srgbClr val="783214"/>
                </a:solidFill>
                <a:latin typeface="微软雅黑"/>
                <a:ea typeface="微软雅黑"/>
                <a:cs typeface="微软雅黑"/>
                <a:sym typeface="微软雅黑"/>
              </a:rPr>
              <a:t>/ </a:t>
            </a:r>
            <a:r>
              <a:rPr lang="zh-CN" altLang="en-US" sz="1250" dirty="0">
                <a:solidFill>
                  <a:srgbClr val="783214"/>
                </a:solidFill>
                <a:latin typeface="微软雅黑"/>
                <a:ea typeface="微软雅黑"/>
                <a:cs typeface="微软雅黑"/>
                <a:sym typeface="微软雅黑"/>
              </a:rPr>
              <a:t>已停止”，不以单次最优替代稳定性证据。</a:t>
            </a:r>
          </a:p>
          <a:p>
            <a:pPr>
              <a:lnSpc>
                <a:spcPct val="108333"/>
              </a:lnSpc>
              <a:defRPr/>
            </a:pPr>
            <a:endParaRPr lang="en-US" sz="1250" dirty="0">
              <a:solidFill>
                <a:srgbClr val="783214"/>
              </a:solidFill>
              <a:latin typeface="微软雅黑"/>
              <a:ea typeface="微软雅黑"/>
            </a:endParaRPr>
          </a:p>
        </p:txBody>
      </p:sp>
    </p:spTree>
    <p:extLst>
      <p:ext uri="{BB962C8B-B14F-4D97-AF65-F5344CB8AC3E}">
        <p14:creationId xmlns:p14="http://schemas.microsoft.com/office/powerpoint/2010/main" val="33209850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p:cNvGrpSpPr/>
        <p:nvPr/>
      </p:nvGrpSpPr>
      <p:grpSpPr>
        <a:xfrm>
          <a:off x="0" y="0"/>
          <a:ext cx="0" cy="0"/>
          <a:chOff x="0" y="0"/>
          <a:chExt cx="0" cy="0"/>
        </a:xfrm>
      </p:grpSpPr>
      <p:sp>
        <p:nvSpPr>
          <p:cNvPr id="3" name="AutoShape 3"/>
          <p:cNvSpPr/>
          <p:nvPr/>
        </p:nvSpPr>
        <p:spPr>
          <a:xfrm>
            <a:off x="1397000" y="1968500"/>
            <a:ext cx="1651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记录</a:t>
            </a:r>
            <a:endParaRPr lang="en-US" sz="1100"/>
          </a:p>
        </p:txBody>
      </p:sp>
      <p:sp>
        <p:nvSpPr>
          <p:cNvPr id="4" name="AutoShape 4"/>
          <p:cNvSpPr/>
          <p:nvPr/>
        </p:nvSpPr>
        <p:spPr>
          <a:xfrm>
            <a:off x="3556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P</a:t>
            </a:r>
            <a:endParaRPr lang="en-US" sz="1100"/>
          </a:p>
        </p:txBody>
      </p:sp>
      <p:sp>
        <p:nvSpPr>
          <p:cNvPr id="5" name="AutoShape 5"/>
          <p:cNvSpPr/>
          <p:nvPr/>
        </p:nvSpPr>
        <p:spPr>
          <a:xfrm>
            <a:off x="5334000" y="1968500"/>
            <a:ext cx="1524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R</a:t>
            </a:r>
            <a:endParaRPr lang="en-US" sz="1100"/>
          </a:p>
        </p:txBody>
      </p:sp>
      <p:sp>
        <p:nvSpPr>
          <p:cNvPr id="6" name="AutoShape 6"/>
          <p:cNvSpPr/>
          <p:nvPr/>
        </p:nvSpPr>
        <p:spPr>
          <a:xfrm>
            <a:off x="7112000" y="1968500"/>
            <a:ext cx="1778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a:t>
            </a:r>
            <a:endParaRPr lang="en-US" sz="1100"/>
          </a:p>
        </p:txBody>
      </p:sp>
      <p:sp>
        <p:nvSpPr>
          <p:cNvPr id="7" name="AutoShape 7"/>
          <p:cNvSpPr/>
          <p:nvPr/>
        </p:nvSpPr>
        <p:spPr>
          <a:xfrm>
            <a:off x="9271000" y="1968500"/>
            <a:ext cx="1905000" cy="431800"/>
          </a:xfrm>
          <a:prstGeom prst="roundRect">
            <a:avLst>
              <a:gd name="adj" fmla="val 0"/>
            </a:avLst>
          </a:prstGeom>
          <a:solidFill>
            <a:srgbClr val="0A3760">
              <a:alpha val="100000"/>
            </a:srgbClr>
          </a:solidFill>
          <a:ln w="12700" cap="flat" cmpd="sng">
            <a:noFill/>
            <a:prstDash val="solid"/>
            <a:round/>
          </a:ln>
        </p:spPr>
        <p:txBody>
          <a:bodyPr vert="horz" wrap="square" lIns="0" tIns="0" rIns="0" bIns="0" rtlCol="0" anchor="ctr">
            <a:noAutofit/>
          </a:bodyPr>
          <a:lstStyle/>
          <a:p>
            <a:pPr marL="0" indent="0" algn="ctr" defTabSz="914400">
              <a:lnSpc>
                <a:spcPct val="125000"/>
              </a:lnSpc>
              <a:defRPr/>
            </a:pPr>
            <a:r>
              <a:rPr lang="en-US" sz="1300" b="1" i="0" u="none" strike="noStrike">
                <a:solidFill>
                  <a:srgbClr val="FFFFFF"/>
                </a:solidFill>
                <a:latin typeface="微软雅黑"/>
                <a:ea typeface="微软雅黑"/>
                <a:cs typeface="微软雅黑"/>
                <a:sym typeface="微软雅黑"/>
              </a:rPr>
              <a:t>mAP50:95</a:t>
            </a:r>
            <a:endParaRPr lang="en-US" sz="1100"/>
          </a:p>
        </p:txBody>
      </p:sp>
      <p:sp>
        <p:nvSpPr>
          <p:cNvPr id="8" name="AutoShape 8"/>
          <p:cNvSpPr/>
          <p:nvPr/>
        </p:nvSpPr>
        <p:spPr>
          <a:xfrm>
            <a:off x="1397000" y="2400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seed0 (V1)</a:t>
            </a:r>
            <a:endParaRPr lang="en-US" sz="1100"/>
          </a:p>
        </p:txBody>
      </p:sp>
      <p:sp>
        <p:nvSpPr>
          <p:cNvPr id="9" name="AutoShape 9"/>
          <p:cNvSpPr/>
          <p:nvPr/>
        </p:nvSpPr>
        <p:spPr>
          <a:xfrm>
            <a:off x="3556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0.694</a:t>
            </a:r>
            <a:endParaRPr lang="en-US" sz="1100"/>
          </a:p>
        </p:txBody>
      </p:sp>
      <p:sp>
        <p:nvSpPr>
          <p:cNvPr id="10" name="AutoShape 10"/>
          <p:cNvSpPr/>
          <p:nvPr/>
        </p:nvSpPr>
        <p:spPr>
          <a:xfrm>
            <a:off x="5334000" y="2400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0.611</a:t>
            </a:r>
            <a:endParaRPr lang="en-US" sz="1100"/>
          </a:p>
        </p:txBody>
      </p:sp>
      <p:sp>
        <p:nvSpPr>
          <p:cNvPr id="11" name="AutoShape 11"/>
          <p:cNvSpPr/>
          <p:nvPr/>
        </p:nvSpPr>
        <p:spPr>
          <a:xfrm>
            <a:off x="7112000" y="2400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0.630</a:t>
            </a:r>
            <a:endParaRPr lang="en-US" sz="1100"/>
          </a:p>
        </p:txBody>
      </p:sp>
      <p:sp>
        <p:nvSpPr>
          <p:cNvPr id="12" name="AutoShape 12"/>
          <p:cNvSpPr/>
          <p:nvPr/>
        </p:nvSpPr>
        <p:spPr>
          <a:xfrm>
            <a:off x="9271000" y="2400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0.426</a:t>
            </a:r>
            <a:endParaRPr lang="en-US" sz="1100"/>
          </a:p>
        </p:txBody>
      </p:sp>
      <p:sp>
        <p:nvSpPr>
          <p:cNvPr id="13" name="AutoShape 13"/>
          <p:cNvSpPr/>
          <p:nvPr/>
        </p:nvSpPr>
        <p:spPr>
          <a:xfrm>
            <a:off x="1397000" y="28321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seed0 (Verifier)</a:t>
            </a:r>
            <a:endParaRPr lang="en-US" sz="1100"/>
          </a:p>
        </p:txBody>
      </p:sp>
      <p:sp>
        <p:nvSpPr>
          <p:cNvPr id="14" name="AutoShape 14"/>
          <p:cNvSpPr/>
          <p:nvPr/>
        </p:nvSpPr>
        <p:spPr>
          <a:xfrm>
            <a:off x="3556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0.729</a:t>
            </a:r>
            <a:endParaRPr lang="en-US" sz="1100" dirty="0"/>
          </a:p>
        </p:txBody>
      </p:sp>
      <p:sp>
        <p:nvSpPr>
          <p:cNvPr id="15" name="AutoShape 15"/>
          <p:cNvSpPr/>
          <p:nvPr/>
        </p:nvSpPr>
        <p:spPr>
          <a:xfrm>
            <a:off x="5334000" y="28321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0.609</a:t>
            </a:r>
            <a:endParaRPr lang="en-US" sz="1100"/>
          </a:p>
        </p:txBody>
      </p:sp>
      <p:sp>
        <p:nvSpPr>
          <p:cNvPr id="16" name="AutoShape 16"/>
          <p:cNvSpPr/>
          <p:nvPr/>
        </p:nvSpPr>
        <p:spPr>
          <a:xfrm>
            <a:off x="7112000" y="28321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0.656</a:t>
            </a:r>
            <a:endParaRPr lang="en-US" sz="1100" dirty="0"/>
          </a:p>
        </p:txBody>
      </p:sp>
      <p:sp>
        <p:nvSpPr>
          <p:cNvPr id="17" name="AutoShape 17"/>
          <p:cNvSpPr/>
          <p:nvPr/>
        </p:nvSpPr>
        <p:spPr>
          <a:xfrm>
            <a:off x="9271000" y="28321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0.456</a:t>
            </a:r>
            <a:endParaRPr lang="en-US" sz="1100"/>
          </a:p>
        </p:txBody>
      </p:sp>
      <p:sp>
        <p:nvSpPr>
          <p:cNvPr id="18" name="AutoShape 18"/>
          <p:cNvSpPr/>
          <p:nvPr/>
        </p:nvSpPr>
        <p:spPr>
          <a:xfrm>
            <a:off x="1397000" y="32639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seed1 (V1)</a:t>
            </a:r>
            <a:endParaRPr lang="en-US" sz="1100"/>
          </a:p>
        </p:txBody>
      </p:sp>
      <p:sp>
        <p:nvSpPr>
          <p:cNvPr id="19" name="AutoShape 19"/>
          <p:cNvSpPr/>
          <p:nvPr/>
        </p:nvSpPr>
        <p:spPr>
          <a:xfrm>
            <a:off x="3556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0.748</a:t>
            </a:r>
            <a:endParaRPr lang="en-US" sz="1100"/>
          </a:p>
        </p:txBody>
      </p:sp>
      <p:sp>
        <p:nvSpPr>
          <p:cNvPr id="20" name="AutoShape 20"/>
          <p:cNvSpPr/>
          <p:nvPr/>
        </p:nvSpPr>
        <p:spPr>
          <a:xfrm>
            <a:off x="5334000" y="32639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0.586</a:t>
            </a:r>
            <a:endParaRPr lang="en-US" sz="1100"/>
          </a:p>
        </p:txBody>
      </p:sp>
      <p:sp>
        <p:nvSpPr>
          <p:cNvPr id="21" name="AutoShape 21"/>
          <p:cNvSpPr/>
          <p:nvPr/>
        </p:nvSpPr>
        <p:spPr>
          <a:xfrm>
            <a:off x="7112000" y="32639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0.649</a:t>
            </a:r>
            <a:endParaRPr lang="en-US" sz="1100"/>
          </a:p>
        </p:txBody>
      </p:sp>
      <p:sp>
        <p:nvSpPr>
          <p:cNvPr id="22" name="AutoShape 22"/>
          <p:cNvSpPr/>
          <p:nvPr/>
        </p:nvSpPr>
        <p:spPr>
          <a:xfrm>
            <a:off x="9271000" y="32639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0.442</a:t>
            </a:r>
            <a:endParaRPr lang="en-US" sz="1100"/>
          </a:p>
        </p:txBody>
      </p:sp>
      <p:sp>
        <p:nvSpPr>
          <p:cNvPr id="23" name="AutoShape 23"/>
          <p:cNvSpPr/>
          <p:nvPr/>
        </p:nvSpPr>
        <p:spPr>
          <a:xfrm>
            <a:off x="1397000" y="36957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seed1 (Verifier)</a:t>
            </a:r>
            <a:endParaRPr lang="en-US" sz="1100"/>
          </a:p>
        </p:txBody>
      </p:sp>
      <p:sp>
        <p:nvSpPr>
          <p:cNvPr id="24" name="AutoShape 24"/>
          <p:cNvSpPr/>
          <p:nvPr/>
        </p:nvSpPr>
        <p:spPr>
          <a:xfrm>
            <a:off x="3556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0.692</a:t>
            </a:r>
            <a:endParaRPr lang="en-US" sz="1100"/>
          </a:p>
        </p:txBody>
      </p:sp>
      <p:sp>
        <p:nvSpPr>
          <p:cNvPr id="25" name="AutoShape 25"/>
          <p:cNvSpPr/>
          <p:nvPr/>
        </p:nvSpPr>
        <p:spPr>
          <a:xfrm>
            <a:off x="5334000" y="36957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0.654</a:t>
            </a:r>
            <a:endParaRPr lang="en-US" sz="1100"/>
          </a:p>
        </p:txBody>
      </p:sp>
      <p:sp>
        <p:nvSpPr>
          <p:cNvPr id="26" name="AutoShape 26"/>
          <p:cNvSpPr/>
          <p:nvPr/>
        </p:nvSpPr>
        <p:spPr>
          <a:xfrm>
            <a:off x="7112000" y="36957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0.660</a:t>
            </a:r>
            <a:endParaRPr lang="en-US" sz="1100" dirty="0"/>
          </a:p>
        </p:txBody>
      </p:sp>
      <p:sp>
        <p:nvSpPr>
          <p:cNvPr id="27" name="AutoShape 27"/>
          <p:cNvSpPr/>
          <p:nvPr/>
        </p:nvSpPr>
        <p:spPr>
          <a:xfrm>
            <a:off x="9271000" y="36957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0.451</a:t>
            </a:r>
            <a:endParaRPr lang="en-US" sz="1100"/>
          </a:p>
        </p:txBody>
      </p:sp>
      <p:sp>
        <p:nvSpPr>
          <p:cNvPr id="28" name="AutoShape 28"/>
          <p:cNvSpPr/>
          <p:nvPr/>
        </p:nvSpPr>
        <p:spPr>
          <a:xfrm>
            <a:off x="1397000" y="41275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E1 seed2 (V1)</a:t>
            </a:r>
            <a:endParaRPr lang="en-US" sz="1100"/>
          </a:p>
        </p:txBody>
      </p:sp>
      <p:sp>
        <p:nvSpPr>
          <p:cNvPr id="29" name="AutoShape 29"/>
          <p:cNvSpPr/>
          <p:nvPr/>
        </p:nvSpPr>
        <p:spPr>
          <a:xfrm>
            <a:off x="3556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0.680</a:t>
            </a:r>
            <a:endParaRPr lang="en-US" sz="1100"/>
          </a:p>
        </p:txBody>
      </p:sp>
      <p:sp>
        <p:nvSpPr>
          <p:cNvPr id="30" name="AutoShape 30"/>
          <p:cNvSpPr/>
          <p:nvPr/>
        </p:nvSpPr>
        <p:spPr>
          <a:xfrm>
            <a:off x="5334000" y="41275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0.612</a:t>
            </a:r>
            <a:endParaRPr lang="en-US" sz="1100"/>
          </a:p>
        </p:txBody>
      </p:sp>
      <p:sp>
        <p:nvSpPr>
          <p:cNvPr id="31" name="AutoShape 31"/>
          <p:cNvSpPr/>
          <p:nvPr/>
        </p:nvSpPr>
        <p:spPr>
          <a:xfrm>
            <a:off x="7112000" y="41275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0.643</a:t>
            </a:r>
            <a:endParaRPr lang="en-US" sz="1100"/>
          </a:p>
        </p:txBody>
      </p:sp>
      <p:sp>
        <p:nvSpPr>
          <p:cNvPr id="32" name="AutoShape 32"/>
          <p:cNvSpPr/>
          <p:nvPr/>
        </p:nvSpPr>
        <p:spPr>
          <a:xfrm>
            <a:off x="9271000" y="41275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0.443</a:t>
            </a:r>
            <a:endParaRPr lang="en-US" sz="1100"/>
          </a:p>
        </p:txBody>
      </p:sp>
      <p:sp>
        <p:nvSpPr>
          <p:cNvPr id="33" name="AutoShape 33"/>
          <p:cNvSpPr/>
          <p:nvPr/>
        </p:nvSpPr>
        <p:spPr>
          <a:xfrm>
            <a:off x="1397000" y="4559300"/>
            <a:ext cx="1651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E2A seed2 (Verifier)</a:t>
            </a:r>
            <a:endParaRPr lang="en-US" sz="1100"/>
          </a:p>
        </p:txBody>
      </p:sp>
      <p:sp>
        <p:nvSpPr>
          <p:cNvPr id="34" name="AutoShape 34"/>
          <p:cNvSpPr/>
          <p:nvPr/>
        </p:nvSpPr>
        <p:spPr>
          <a:xfrm>
            <a:off x="3556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0.718</a:t>
            </a:r>
            <a:endParaRPr lang="en-US" sz="1100"/>
          </a:p>
        </p:txBody>
      </p:sp>
      <p:sp>
        <p:nvSpPr>
          <p:cNvPr id="35" name="AutoShape 35"/>
          <p:cNvSpPr/>
          <p:nvPr/>
        </p:nvSpPr>
        <p:spPr>
          <a:xfrm>
            <a:off x="5334000" y="4559300"/>
            <a:ext cx="1524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0.635</a:t>
            </a:r>
            <a:endParaRPr lang="en-US" sz="1100"/>
          </a:p>
        </p:txBody>
      </p:sp>
      <p:sp>
        <p:nvSpPr>
          <p:cNvPr id="36" name="AutoShape 36"/>
          <p:cNvSpPr/>
          <p:nvPr/>
        </p:nvSpPr>
        <p:spPr>
          <a:xfrm>
            <a:off x="7112000" y="4559300"/>
            <a:ext cx="1778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dirty="0">
                <a:solidFill>
                  <a:srgbClr val="141E28"/>
                </a:solidFill>
                <a:latin typeface="微软雅黑"/>
                <a:ea typeface="微软雅黑"/>
                <a:cs typeface="微软雅黑"/>
                <a:sym typeface="微软雅黑"/>
              </a:rPr>
              <a:t>0.675</a:t>
            </a:r>
            <a:endParaRPr lang="en-US" sz="1100" dirty="0"/>
          </a:p>
        </p:txBody>
      </p:sp>
      <p:sp>
        <p:nvSpPr>
          <p:cNvPr id="37" name="AutoShape 37"/>
          <p:cNvSpPr/>
          <p:nvPr/>
        </p:nvSpPr>
        <p:spPr>
          <a:xfrm>
            <a:off x="9271000" y="4559300"/>
            <a:ext cx="1905000" cy="431800"/>
          </a:xfrm>
          <a:prstGeom prst="roundRect">
            <a:avLst>
              <a:gd name="adj" fmla="val 0"/>
            </a:avLst>
          </a:prstGeom>
          <a:solidFill>
            <a:srgbClr val="F0F5FA">
              <a:alpha val="100000"/>
            </a:srgbClr>
          </a:solidFill>
          <a:ln w="12700" cap="flat" cmpd="sng">
            <a:solidFill>
              <a:srgbClr val="D2DCE6">
                <a:alpha val="100000"/>
              </a:srgbClr>
            </a:solidFill>
            <a:prstDash val="solid"/>
            <a:miter lim="1000000"/>
          </a:ln>
        </p:spPr>
        <p:txBody>
          <a:bodyPr vert="horz" wrap="square" lIns="0" tIns="0" rIns="0" bIns="0" rtlCol="0" anchor="ctr">
            <a:noAutofit/>
          </a:bodyPr>
          <a:lstStyle/>
          <a:p>
            <a:pPr marL="0" indent="0" algn="ctr" defTabSz="914400">
              <a:lnSpc>
                <a:spcPct val="125000"/>
              </a:lnSpc>
              <a:defRPr/>
            </a:pPr>
            <a:r>
              <a:rPr lang="en-US" sz="1250" b="0" i="0" u="none" strike="noStrike">
                <a:solidFill>
                  <a:srgbClr val="141E28"/>
                </a:solidFill>
                <a:latin typeface="微软雅黑"/>
                <a:ea typeface="微软雅黑"/>
                <a:cs typeface="微软雅黑"/>
                <a:sym typeface="微软雅黑"/>
              </a:rPr>
              <a:t>0.464</a:t>
            </a:r>
            <a:endParaRPr lang="en-US" sz="1100"/>
          </a:p>
        </p:txBody>
      </p:sp>
      <p:sp>
        <p:nvSpPr>
          <p:cNvPr id="38" name="AutoShape 38"/>
          <p:cNvSpPr/>
          <p:nvPr/>
        </p:nvSpPr>
        <p:spPr>
          <a:xfrm>
            <a:off x="1397000" y="1397000"/>
            <a:ext cx="9715500" cy="368300"/>
          </a:xfrm>
          <a:prstGeom prst="roundRect">
            <a:avLst>
              <a:gd name="adj" fmla="val 0"/>
            </a:avLst>
          </a:prstGeom>
          <a:solidFill>
            <a:srgbClr val="F0F5FA">
              <a:alpha val="100000"/>
            </a:srgbClr>
          </a:solidFill>
          <a:ln w="12700" cap="flat" cmpd="sng">
            <a:solidFill>
              <a:srgbClr val="0A3760">
                <a:alpha val="100000"/>
              </a:srgbClr>
            </a:solidFill>
            <a:prstDash val="solid"/>
            <a:miter lim="1000000"/>
          </a:ln>
        </p:spPr>
        <p:txBody>
          <a:bodyPr vert="horz" wrap="square" lIns="152400" tIns="0" rIns="152400" bIns="0" rtlCol="0" anchor="ctr">
            <a:noAutofit/>
          </a:bodyPr>
          <a:lstStyle/>
          <a:p>
            <a:pPr marL="0" indent="0" algn="ctr" defTabSz="914400">
              <a:lnSpc>
                <a:spcPct val="100000"/>
              </a:lnSpc>
              <a:defRPr/>
            </a:pPr>
            <a:r>
              <a:rPr lang="en-US" sz="1300" b="1" i="0" u="none" strike="noStrike" dirty="0">
                <a:solidFill>
                  <a:srgbClr val="0A3760"/>
                </a:solidFill>
                <a:latin typeface="微软雅黑"/>
                <a:ea typeface="微软雅黑"/>
                <a:cs typeface="微软雅黑"/>
                <a:sym typeface="微软雅黑"/>
              </a:rPr>
              <a:t>E1（V1）与 E2A（Verifier）各 3 </a:t>
            </a:r>
            <a:r>
              <a:rPr lang="en-US" sz="1300" b="1" i="0" u="none" strike="noStrike" dirty="0" err="1">
                <a:solidFill>
                  <a:srgbClr val="0A3760"/>
                </a:solidFill>
                <a:latin typeface="微软雅黑"/>
                <a:ea typeface="微软雅黑"/>
                <a:cs typeface="微软雅黑"/>
                <a:sym typeface="微软雅黑"/>
              </a:rPr>
              <a:t>个随机种子训练，验证结论稳定性（附录</a:t>
            </a:r>
            <a:r>
              <a:rPr lang="en-US" sz="1300" b="1" i="0" u="none" strike="noStrike" dirty="0">
                <a:solidFill>
                  <a:srgbClr val="0A3760"/>
                </a:solidFill>
                <a:latin typeface="微软雅黑"/>
                <a:ea typeface="微软雅黑"/>
                <a:cs typeface="微软雅黑"/>
                <a:sym typeface="微软雅黑"/>
              </a:rPr>
              <a:t> C）</a:t>
            </a:r>
            <a:endParaRPr lang="en-US" sz="1100" dirty="0"/>
          </a:p>
        </p:txBody>
      </p:sp>
      <p:sp>
        <p:nvSpPr>
          <p:cNvPr id="39" name="AutoShape 39"/>
          <p:cNvSpPr/>
          <p:nvPr/>
        </p:nvSpPr>
        <p:spPr>
          <a:xfrm>
            <a:off x="1143000" y="5092701"/>
            <a:ext cx="10033000" cy="762000"/>
          </a:xfrm>
          <a:prstGeom prst="roundRect">
            <a:avLst>
              <a:gd name="adj" fmla="val 0"/>
            </a:avLst>
          </a:prstGeom>
          <a:solidFill>
            <a:srgbClr val="FAF5EB">
              <a:alpha val="100000"/>
            </a:srgbClr>
          </a:solidFill>
          <a:ln w="12700" cap="flat" cmpd="sng">
            <a:solidFill>
              <a:srgbClr val="C8783C">
                <a:alpha val="100000"/>
              </a:srgbClr>
            </a:solidFill>
            <a:prstDash val="solid"/>
            <a:miter lim="1000000"/>
          </a:ln>
        </p:spPr>
        <p:txBody>
          <a:bodyPr vert="horz" wrap="square" lIns="203200" tIns="101600" rIns="203200" bIns="101600" rtlCol="0" anchor="ctr">
            <a:noAutofit/>
          </a:bodyPr>
          <a:lstStyle/>
          <a:p>
            <a:pPr>
              <a:lnSpc>
                <a:spcPct val="108333"/>
              </a:lnSpc>
              <a:defRPr/>
            </a:pPr>
            <a:r>
              <a:rPr lang="en-US" sz="1250" b="1" i="0" u="none" strike="noStrike" dirty="0" err="1">
                <a:solidFill>
                  <a:srgbClr val="B4321E"/>
                </a:solidFill>
                <a:latin typeface="微软雅黑"/>
                <a:ea typeface="微软雅黑"/>
                <a:cs typeface="微软雅黑"/>
                <a:sym typeface="微软雅黑"/>
              </a:rPr>
              <a:t>结论</a:t>
            </a:r>
            <a:r>
              <a:rPr lang="en-US" sz="1250" b="1" i="0" u="none" strike="noStrike" dirty="0">
                <a:solidFill>
                  <a:srgbClr val="B4321E"/>
                </a:solidFill>
                <a:latin typeface="微软雅黑"/>
                <a:ea typeface="微软雅黑"/>
                <a:cs typeface="微软雅黑"/>
                <a:sym typeface="微软雅黑"/>
              </a:rPr>
              <a:t>：</a:t>
            </a:r>
            <a:r>
              <a:rPr lang="en-US" altLang="ja-JP" sz="1250" dirty="0">
                <a:solidFill>
                  <a:srgbClr val="783214"/>
                </a:solidFill>
                <a:latin typeface="微软雅黑"/>
                <a:ea typeface="微软雅黑"/>
                <a:cs typeface="微软雅黑"/>
                <a:sym typeface="微软雅黑"/>
              </a:rPr>
              <a:t> 在 3 </a:t>
            </a:r>
            <a:r>
              <a:rPr lang="en-US" altLang="ja-JP" sz="1250" dirty="0" err="1">
                <a:solidFill>
                  <a:srgbClr val="783214"/>
                </a:solidFill>
                <a:latin typeface="微软雅黑"/>
                <a:ea typeface="微软雅黑"/>
                <a:cs typeface="微软雅黑"/>
                <a:sym typeface="微软雅黑"/>
              </a:rPr>
              <a:t>个随机种子下</a:t>
            </a:r>
            <a:r>
              <a:rPr lang="en-US" altLang="ja-JP" sz="1250" dirty="0">
                <a:solidFill>
                  <a:srgbClr val="783214"/>
                </a:solidFill>
                <a:latin typeface="微软雅黑"/>
                <a:ea typeface="微软雅黑"/>
                <a:cs typeface="微软雅黑"/>
                <a:sym typeface="微软雅黑"/>
              </a:rPr>
              <a:t>  </a:t>
            </a:r>
            <a:r>
              <a:rPr lang="en-US" sz="1250" b="0" i="0" u="none" strike="noStrike" dirty="0">
                <a:solidFill>
                  <a:srgbClr val="783214"/>
                </a:solidFill>
                <a:latin typeface="微软雅黑"/>
                <a:ea typeface="微软雅黑"/>
                <a:cs typeface="微软雅黑"/>
                <a:sym typeface="微软雅黑"/>
              </a:rPr>
              <a:t>E2A（Verifier）</a:t>
            </a:r>
            <a:r>
              <a:rPr lang="zh-CN" altLang="en-US" sz="1250" b="0" i="0" u="none" strike="noStrike" dirty="0">
                <a:solidFill>
                  <a:srgbClr val="783214"/>
                </a:solidFill>
                <a:latin typeface="微软雅黑"/>
                <a:ea typeface="微软雅黑"/>
                <a:cs typeface="微软雅黑"/>
                <a:sym typeface="微软雅黑"/>
              </a:rPr>
              <a:t>相较于</a:t>
            </a:r>
            <a:r>
              <a:rPr lang="en-US" altLang="zh-CN" sz="1250" b="0" i="0" u="none" strike="noStrike" dirty="0">
                <a:solidFill>
                  <a:srgbClr val="783214"/>
                </a:solidFill>
                <a:latin typeface="微软雅黑"/>
                <a:ea typeface="微软雅黑"/>
                <a:cs typeface="微软雅黑"/>
                <a:sym typeface="微软雅黑"/>
              </a:rPr>
              <a:t>V1</a:t>
            </a:r>
            <a:r>
              <a:rPr lang="zh-CN" altLang="en-US" sz="1250" b="0" i="0" u="none" strike="noStrike" dirty="0">
                <a:solidFill>
                  <a:srgbClr val="783214"/>
                </a:solidFill>
                <a:latin typeface="微软雅黑"/>
                <a:ea typeface="微软雅黑"/>
                <a:cs typeface="微软雅黑"/>
                <a:sym typeface="微软雅黑"/>
              </a:rPr>
              <a:t>是稳定有增益的</a:t>
            </a:r>
            <a:r>
              <a:rPr lang="en-US" altLang="zh-CN" sz="1250" b="0" i="0" u="none" strike="noStrike" dirty="0">
                <a:solidFill>
                  <a:srgbClr val="783214"/>
                </a:solidFill>
                <a:latin typeface="微软雅黑"/>
                <a:ea typeface="微软雅黑"/>
                <a:cs typeface="微软雅黑"/>
                <a:sym typeface="微软雅黑"/>
              </a:rPr>
              <a:t>,</a:t>
            </a:r>
            <a:r>
              <a:rPr lang="zh-CN" altLang="en-US" sz="1250" b="0" i="0" u="none" strike="noStrike" dirty="0">
                <a:solidFill>
                  <a:srgbClr val="783214"/>
                </a:solidFill>
                <a:latin typeface="微软雅黑"/>
                <a:ea typeface="微软雅黑"/>
                <a:cs typeface="微软雅黑"/>
                <a:sym typeface="微软雅黑"/>
              </a:rPr>
              <a:t>后续会补充</a:t>
            </a:r>
            <a:r>
              <a:rPr lang="en-US" altLang="zh-CN" sz="1250" b="0" i="0" u="none" strike="noStrike" dirty="0">
                <a:solidFill>
                  <a:srgbClr val="783214"/>
                </a:solidFill>
                <a:latin typeface="微软雅黑"/>
                <a:ea typeface="微软雅黑"/>
                <a:cs typeface="微软雅黑"/>
                <a:sym typeface="微软雅黑"/>
              </a:rPr>
              <a:t>append</a:t>
            </a:r>
            <a:r>
              <a:rPr lang="zh-CN" altLang="en-US" sz="1250" dirty="0">
                <a:solidFill>
                  <a:srgbClr val="783214"/>
                </a:solidFill>
                <a:latin typeface="微软雅黑"/>
                <a:ea typeface="微软雅黑"/>
                <a:sym typeface="微软雅黑"/>
              </a:rPr>
              <a:t>部分（</a:t>
            </a:r>
            <a:r>
              <a:rPr lang="en-US" altLang="ja-JP" sz="1250" dirty="0">
                <a:solidFill>
                  <a:srgbClr val="783214"/>
                </a:solidFill>
                <a:latin typeface="微软雅黑"/>
                <a:ea typeface="微软雅黑"/>
                <a:sym typeface="微软雅黑"/>
              </a:rPr>
              <a:t>E2B-400+IoF0.3</a:t>
            </a:r>
            <a:r>
              <a:rPr lang="zh-CN" altLang="en-US" sz="1250" dirty="0">
                <a:solidFill>
                  <a:srgbClr val="783214"/>
                </a:solidFill>
                <a:latin typeface="微软雅黑"/>
                <a:ea typeface="微软雅黑"/>
                <a:sym typeface="微软雅黑"/>
              </a:rPr>
              <a:t>）多随机种子稳定性复验</a:t>
            </a:r>
            <a:endParaRPr lang="en-US" sz="1250" dirty="0">
              <a:solidFill>
                <a:srgbClr val="783214"/>
              </a:solidFill>
              <a:latin typeface="微软雅黑"/>
              <a:ea typeface="微软雅黑"/>
            </a:endParaRPr>
          </a:p>
        </p:txBody>
      </p:sp>
      <p:grpSp>
        <p:nvGrpSpPr>
          <p:cNvPr id="44" name="组合 43">
            <a:extLst>
              <a:ext uri="{FF2B5EF4-FFF2-40B4-BE49-F238E27FC236}">
                <a16:creationId xmlns:a16="http://schemas.microsoft.com/office/drawing/2014/main" id="{6E69483C-0655-21DD-69EE-F0E2F633BD39}"/>
              </a:ext>
            </a:extLst>
          </p:cNvPr>
          <p:cNvGrpSpPr/>
          <p:nvPr/>
        </p:nvGrpSpPr>
        <p:grpSpPr>
          <a:xfrm>
            <a:off x="0" y="132080"/>
            <a:ext cx="4760595" cy="617855"/>
            <a:chOff x="0" y="132080"/>
            <a:chExt cx="4760595" cy="617855"/>
          </a:xfrm>
        </p:grpSpPr>
        <p:sp>
          <p:nvSpPr>
            <p:cNvPr id="45" name="Freeform 2">
              <a:extLst>
                <a:ext uri="{FF2B5EF4-FFF2-40B4-BE49-F238E27FC236}">
                  <a16:creationId xmlns:a16="http://schemas.microsoft.com/office/drawing/2014/main" id="{B0BAE5FC-15A9-8246-3636-B90C15F29BE2}"/>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46" name="Picture 3">
              <a:extLst>
                <a:ext uri="{FF2B5EF4-FFF2-40B4-BE49-F238E27FC236}">
                  <a16:creationId xmlns:a16="http://schemas.microsoft.com/office/drawing/2014/main" id="{C2BEE75C-41DB-332F-4520-38C143585E4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7" name="AutoShape 4">
              <a:extLst>
                <a:ext uri="{FF2B5EF4-FFF2-40B4-BE49-F238E27FC236}">
                  <a16:creationId xmlns:a16="http://schemas.microsoft.com/office/drawing/2014/main" id="{886F04E9-9F61-42BA-480B-F1430F911AAD}"/>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7C415A5B-6C59-EBF6-077D-26615D058AD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03DC42E8-3065-B52A-C327-A73A82FA5CB4}"/>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7FD754D9-E66B-7D1E-A36F-CC6DE7C30AEC}"/>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0C60C90E-CAB4-726C-C418-8139C12612A3}"/>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1913DFF7-91CB-AEF2-26F1-9F617A60C0EA}"/>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E1F6BC55-198C-75C7-95E8-D124AD4DF62E}"/>
              </a:ext>
            </a:extLst>
          </p:cNvPr>
          <p:cNvSpPr/>
          <p:nvPr/>
        </p:nvSpPr>
        <p:spPr>
          <a:xfrm>
            <a:off x="382643" y="858237"/>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7" name="图片 6">
            <a:extLst>
              <a:ext uri="{FF2B5EF4-FFF2-40B4-BE49-F238E27FC236}">
                <a16:creationId xmlns:a16="http://schemas.microsoft.com/office/drawing/2014/main" id="{1C5BE485-595C-2CC6-326C-22E4FEC024EF}"/>
              </a:ext>
            </a:extLst>
          </p:cNvPr>
          <p:cNvPicPr>
            <a:picLocks noChangeAspect="1"/>
          </p:cNvPicPr>
          <p:nvPr/>
        </p:nvPicPr>
        <p:blipFill>
          <a:blip r:embed="rId5"/>
          <a:stretch>
            <a:fillRect/>
          </a:stretch>
        </p:blipFill>
        <p:spPr>
          <a:xfrm>
            <a:off x="461962" y="1341308"/>
            <a:ext cx="9200198" cy="5270947"/>
          </a:xfrm>
          <a:prstGeom prst="rect">
            <a:avLst/>
          </a:prstGeom>
        </p:spPr>
      </p:pic>
    </p:spTree>
    <p:extLst>
      <p:ext uri="{BB962C8B-B14F-4D97-AF65-F5344CB8AC3E}">
        <p14:creationId xmlns:p14="http://schemas.microsoft.com/office/powerpoint/2010/main" val="332383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03435853-871C-8FAA-7A6B-F4E6E912D5BD}"/>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8999B1BF-4648-2926-FAC9-5B2C6DFCC9C3}"/>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3CDB8356-4108-C45D-5B35-A6FE902B5C69}"/>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5E7F7200-0031-043B-AAE9-49DE775C31B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998A354F-D9D8-6C66-C298-6987FEDE2E02}"/>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F3B0E5CF-A6CB-8026-E0FB-C360A611D89E}"/>
              </a:ext>
            </a:extLst>
          </p:cNvPr>
          <p:cNvSpPr/>
          <p:nvPr/>
        </p:nvSpPr>
        <p:spPr>
          <a:xfrm>
            <a:off x="382643" y="858237"/>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rgbClr val="FFFFFF"/>
                </a:solidFill>
                <a:latin typeface="微软雅黑"/>
                <a:ea typeface="微软雅黑"/>
                <a:sym typeface="微软雅黑"/>
              </a:rPr>
              <a:t>效果</a:t>
            </a:r>
            <a:endParaRPr lang="en-US" sz="1100" dirty="0"/>
          </a:p>
        </p:txBody>
      </p:sp>
      <p:pic>
        <p:nvPicPr>
          <p:cNvPr id="16" name="图片 15">
            <a:extLst>
              <a:ext uri="{FF2B5EF4-FFF2-40B4-BE49-F238E27FC236}">
                <a16:creationId xmlns:a16="http://schemas.microsoft.com/office/drawing/2014/main" id="{2DEC63BD-378C-D216-ADF8-77FA19BE565C}"/>
              </a:ext>
            </a:extLst>
          </p:cNvPr>
          <p:cNvPicPr>
            <a:picLocks noChangeAspect="1"/>
          </p:cNvPicPr>
          <p:nvPr/>
        </p:nvPicPr>
        <p:blipFill>
          <a:blip r:embed="rId5"/>
          <a:stretch>
            <a:fillRect/>
          </a:stretch>
        </p:blipFill>
        <p:spPr>
          <a:xfrm>
            <a:off x="382643" y="1263298"/>
            <a:ext cx="9765297" cy="5594702"/>
          </a:xfrm>
          <a:prstGeom prst="rect">
            <a:avLst/>
          </a:prstGeom>
        </p:spPr>
      </p:pic>
    </p:spTree>
    <p:extLst>
      <p:ext uri="{BB962C8B-B14F-4D97-AF65-F5344CB8AC3E}">
        <p14:creationId xmlns:p14="http://schemas.microsoft.com/office/powerpoint/2010/main" val="1721866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10000"/>
          </a:blip>
          <a:srcRect/>
          <a:stretch>
            <a:fillRect t="-9000" b="-9000"/>
          </a:stretch>
        </a:blipFill>
        <a:effectLst/>
      </p:bgPr>
    </p:bg>
    <p:spTree>
      <p:nvGrpSpPr>
        <p:cNvPr id="1" name="">
          <a:extLst>
            <a:ext uri="{FF2B5EF4-FFF2-40B4-BE49-F238E27FC236}">
              <a16:creationId xmlns:a16="http://schemas.microsoft.com/office/drawing/2014/main" id="{4558F970-06B3-E071-C272-5C791481FFEA}"/>
            </a:ext>
          </a:extLst>
        </p:cNvPr>
        <p:cNvGrpSpPr/>
        <p:nvPr/>
      </p:nvGrpSpPr>
      <p:grpSpPr>
        <a:xfrm>
          <a:off x="0" y="0"/>
          <a:ext cx="0" cy="0"/>
          <a:chOff x="0" y="0"/>
          <a:chExt cx="0" cy="0"/>
        </a:xfrm>
      </p:grpSpPr>
      <p:grpSp>
        <p:nvGrpSpPr>
          <p:cNvPr id="36" name="组合 35">
            <a:extLst>
              <a:ext uri="{FF2B5EF4-FFF2-40B4-BE49-F238E27FC236}">
                <a16:creationId xmlns:a16="http://schemas.microsoft.com/office/drawing/2014/main" id="{73CA70DC-90B0-9736-36B9-501BD08E06FE}"/>
              </a:ext>
            </a:extLst>
          </p:cNvPr>
          <p:cNvGrpSpPr/>
          <p:nvPr/>
        </p:nvGrpSpPr>
        <p:grpSpPr>
          <a:xfrm>
            <a:off x="0" y="132080"/>
            <a:ext cx="4760595" cy="617855"/>
            <a:chOff x="0" y="132080"/>
            <a:chExt cx="4760595" cy="617855"/>
          </a:xfrm>
        </p:grpSpPr>
        <p:sp>
          <p:nvSpPr>
            <p:cNvPr id="2" name="Freeform 2">
              <a:extLst>
                <a:ext uri="{FF2B5EF4-FFF2-40B4-BE49-F238E27FC236}">
                  <a16:creationId xmlns:a16="http://schemas.microsoft.com/office/drawing/2014/main" id="{292D84DE-66D2-DDC6-1655-19408DB4D5DE}"/>
                </a:ext>
              </a:extLst>
            </p:cNvPr>
            <p:cNvSpPr/>
            <p:nvPr/>
          </p:nvSpPr>
          <p:spPr>
            <a:xfrm>
              <a:off x="0" y="132080"/>
              <a:ext cx="4009390" cy="574040"/>
            </a:xfrm>
            <a:custGeom>
              <a:avLst/>
              <a:gdLst/>
              <a:ahLst/>
              <a:cxnLst/>
              <a:rect l="l" t="t" r="r" b="b"/>
              <a:pathLst>
                <a:path w="4009390" h="574040">
                  <a:moveTo>
                    <a:pt x="431770" y="0"/>
                  </a:moveTo>
                  <a:lnTo>
                    <a:pt x="431776" y="0"/>
                  </a:lnTo>
                  <a:lnTo>
                    <a:pt x="3559305" y="0"/>
                  </a:lnTo>
                  <a:lnTo>
                    <a:pt x="3559305" y="1228"/>
                  </a:lnTo>
                  <a:lnTo>
                    <a:pt x="3577620" y="0"/>
                  </a:lnTo>
                  <a:cubicBezTo>
                    <a:pt x="3816081" y="0"/>
                    <a:pt x="4009390" y="128504"/>
                    <a:pt x="4009390" y="287020"/>
                  </a:cubicBezTo>
                  <a:cubicBezTo>
                    <a:pt x="4009390" y="445536"/>
                    <a:pt x="3816081" y="574040"/>
                    <a:pt x="3577620" y="574040"/>
                  </a:cubicBezTo>
                  <a:lnTo>
                    <a:pt x="3559305" y="572813"/>
                  </a:lnTo>
                  <a:lnTo>
                    <a:pt x="3559305" y="574040"/>
                  </a:lnTo>
                  <a:lnTo>
                    <a:pt x="431770" y="574040"/>
                  </a:lnTo>
                  <a:cubicBezTo>
                    <a:pt x="193309" y="574040"/>
                    <a:pt x="0" y="445536"/>
                    <a:pt x="0" y="287020"/>
                  </a:cubicBezTo>
                  <a:cubicBezTo>
                    <a:pt x="0" y="128504"/>
                    <a:pt x="193309" y="0"/>
                    <a:pt x="431770" y="0"/>
                  </a:cubicBezTo>
                  <a:close/>
                </a:path>
              </a:pathLst>
            </a:custGeom>
            <a:solidFill>
              <a:srgbClr val="0A3760">
                <a:alpha val="100000"/>
              </a:srgbClr>
            </a:solidFill>
            <a:ln w="38100" cap="flat" cmpd="sng">
              <a:solidFill>
                <a:srgbClr val="0A3760">
                  <a:alpha val="100000"/>
                </a:srgbClr>
              </a:solidFill>
              <a:prstDash val="solid"/>
              <a:miter lim="1000000"/>
            </a:ln>
          </p:spPr>
          <p:txBody>
            <a:bodyPr vert="horz" wrap="square" lIns="91440" tIns="45720" rIns="91440" bIns="45720" rtlCol="0" anchor="ctr" anchorCtr="0"/>
            <a:lstStyle/>
            <a:p>
              <a:pPr algn="just">
                <a:defRPr/>
              </a:pPr>
              <a:endParaRPr/>
            </a:p>
          </p:txBody>
        </p:sp>
        <p:pic>
          <p:nvPicPr>
            <p:cNvPr id="3" name="Picture 3">
              <a:extLst>
                <a:ext uri="{FF2B5EF4-FFF2-40B4-BE49-F238E27FC236}">
                  <a16:creationId xmlns:a16="http://schemas.microsoft.com/office/drawing/2014/main" id="{7532D70A-3C21-BE80-1630-BD8195504F02}"/>
                </a:ext>
              </a:extLst>
            </p:cNvPr>
            <p:cNvPicPr>
              <a:picLocks noChangeAspect="1"/>
            </p:cNvPicPr>
            <p:nvPr/>
          </p:nvPicPr>
          <p:blipFill>
            <a:blip r:embed="rId4"/>
            <a:srcRect/>
            <a:stretch>
              <a:fillRect/>
            </a:stretch>
          </p:blipFill>
          <p:spPr>
            <a:xfrm>
              <a:off x="163195" y="132080"/>
              <a:ext cx="617855" cy="617855"/>
            </a:xfrm>
            <a:prstGeom prst="rect">
              <a:avLst/>
            </a:prstGeom>
            <a:noFill/>
            <a:ln w="25400" cap="flat" cmpd="sng">
              <a:noFill/>
              <a:prstDash val="solid"/>
              <a:round/>
            </a:ln>
          </p:spPr>
        </p:pic>
        <p:sp>
          <p:nvSpPr>
            <p:cNvPr id="4" name="AutoShape 4">
              <a:extLst>
                <a:ext uri="{FF2B5EF4-FFF2-40B4-BE49-F238E27FC236}">
                  <a16:creationId xmlns:a16="http://schemas.microsoft.com/office/drawing/2014/main" id="{FD5C5017-D603-2899-0939-C5B7A6CC2080}"/>
                </a:ext>
              </a:extLst>
            </p:cNvPr>
            <p:cNvSpPr/>
            <p:nvPr/>
          </p:nvSpPr>
          <p:spPr>
            <a:xfrm>
              <a:off x="901700" y="245745"/>
              <a:ext cx="3858895" cy="460375"/>
            </a:xfrm>
            <a:prstGeom prst="roundRect">
              <a:avLst>
                <a:gd name="adj" fmla="val 0"/>
              </a:avLst>
            </a:prstGeom>
            <a:noFill/>
            <a:ln w="12700" cap="flat" cmpd="sng">
              <a:noFill/>
              <a:prstDash val="solid"/>
              <a:round/>
            </a:ln>
          </p:spPr>
          <p:txBody>
            <a:bodyPr vert="horz" wrap="square" lIns="91440" tIns="45720" rIns="91440" bIns="45720" rtlCol="0" anchor="t">
              <a:noAutofit/>
            </a:bodyPr>
            <a:lstStyle/>
            <a:p>
              <a:pPr marL="0" indent="0" algn="just" defTabSz="914400">
                <a:lnSpc>
                  <a:spcPct val="100000"/>
                </a:lnSpc>
                <a:defRPr/>
              </a:pPr>
              <a:r>
                <a:rPr lang="en-US" sz="2400" b="1" i="0" u="none" strike="noStrike" dirty="0" err="1">
                  <a:solidFill>
                    <a:srgbClr val="FFFFFF"/>
                  </a:solidFill>
                  <a:latin typeface="微软雅黑"/>
                  <a:ea typeface="微软雅黑"/>
                  <a:cs typeface="微软雅黑"/>
                  <a:sym typeface="微软雅黑"/>
                </a:rPr>
                <a:t>阶段性实验结果</a:t>
              </a:r>
              <a:endParaRPr lang="en-US" sz="1100" dirty="0"/>
            </a:p>
          </p:txBody>
        </p:sp>
      </p:grpSp>
      <p:sp>
        <p:nvSpPr>
          <p:cNvPr id="5" name="AutoShape 5">
            <a:extLst>
              <a:ext uri="{FF2B5EF4-FFF2-40B4-BE49-F238E27FC236}">
                <a16:creationId xmlns:a16="http://schemas.microsoft.com/office/drawing/2014/main" id="{305299B0-AA45-6A44-3DB5-8F3EADCB69DA}"/>
              </a:ext>
            </a:extLst>
          </p:cNvPr>
          <p:cNvSpPr/>
          <p:nvPr/>
        </p:nvSpPr>
        <p:spPr>
          <a:xfrm>
            <a:off x="382643" y="858237"/>
            <a:ext cx="10033000" cy="381000"/>
          </a:xfrm>
          <a:prstGeom prst="roundRect">
            <a:avLst>
              <a:gd name="adj" fmla="val 0"/>
            </a:avLst>
          </a:prstGeom>
          <a:solidFill>
            <a:srgbClr val="0A3760">
              <a:alpha val="100000"/>
            </a:srgbClr>
          </a:solidFill>
          <a:ln w="25400" cap="flat" cmpd="sng">
            <a:noFill/>
            <a:prstDash val="solid"/>
            <a:round/>
          </a:ln>
        </p:spPr>
        <p:txBody>
          <a:bodyPr vert="horz" wrap="square" lIns="0" tIns="25400" rIns="0" bIns="25400" rtlCol="0" anchor="ctr" anchorCtr="0"/>
          <a:lstStyle/>
          <a:p>
            <a:pPr marL="0" indent="0" algn="ctr" defTabSz="914400">
              <a:lnSpc>
                <a:spcPct val="125000"/>
              </a:lnSpc>
              <a:defRPr/>
            </a:pPr>
            <a:r>
              <a:rPr lang="zh-CN" altLang="en-US" sz="1500" b="1" dirty="0">
                <a:solidFill>
                  <a:schemeClr val="bg1"/>
                </a:solidFill>
                <a:latin typeface="微软雅黑" panose="020B0503020204020204" pitchFamily="34" charset="-122"/>
                <a:ea typeface="微软雅黑" panose="020B0503020204020204" pitchFamily="34" charset="-122"/>
              </a:rPr>
              <a:t>效果</a:t>
            </a:r>
            <a:endParaRPr lang="en-US" sz="1500" b="1" dirty="0">
              <a:solidFill>
                <a:schemeClr val="bg1"/>
              </a:solidFill>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0662E80B-62D9-A24B-63EF-55C96B5387F2}"/>
              </a:ext>
            </a:extLst>
          </p:cNvPr>
          <p:cNvPicPr>
            <a:picLocks noChangeAspect="1"/>
          </p:cNvPicPr>
          <p:nvPr/>
        </p:nvPicPr>
        <p:blipFill>
          <a:blip r:embed="rId5"/>
          <a:stretch>
            <a:fillRect/>
          </a:stretch>
        </p:blipFill>
        <p:spPr>
          <a:xfrm>
            <a:off x="382643" y="1239237"/>
            <a:ext cx="9807295" cy="5618763"/>
          </a:xfrm>
          <a:prstGeom prst="rect">
            <a:avLst/>
          </a:prstGeom>
        </p:spPr>
      </p:pic>
    </p:spTree>
    <p:extLst>
      <p:ext uri="{BB962C8B-B14F-4D97-AF65-F5344CB8AC3E}">
        <p14:creationId xmlns:p14="http://schemas.microsoft.com/office/powerpoint/2010/main" val="644005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46362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3" name="AutoShape 3"/>
          <p:cNvSpPr/>
          <p:nvPr/>
        </p:nvSpPr>
        <p:spPr>
          <a:xfrm>
            <a:off x="609600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4" name="AutoShape 4"/>
          <p:cNvSpPr/>
          <p:nvPr/>
        </p:nvSpPr>
        <p:spPr>
          <a:xfrm>
            <a:off x="764540" y="4950460"/>
            <a:ext cx="2181860" cy="461665"/>
          </a:xfrm>
          <a:prstGeom prst="rect">
            <a:avLst/>
          </a:prstGeom>
          <a:noFill/>
          <a:ln w="12700">
            <a:noFill/>
            <a:prstDash val="solid"/>
          </a:ln>
        </p:spPr>
        <p:txBody>
          <a:bodyPr wrap="square" lIns="91440" tIns="45720" rIns="91440" bIns="45720" rtlCol="0" anchor="t">
            <a:spAutoFit/>
          </a:bodyPr>
          <a:lstStyle/>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文献综述与</a:t>
            </a:r>
            <a:r>
              <a:rPr lang="zh-CN" altLang="en-US" sz="1200" b="0" i="0" u="none" strike="noStrike" dirty="0">
                <a:solidFill>
                  <a:srgbClr val="0A3760"/>
                </a:solidFill>
                <a:latin typeface="微软雅黑"/>
                <a:ea typeface="微软雅黑"/>
                <a:cs typeface="微软雅黑"/>
                <a:sym typeface="微软雅黑"/>
              </a:rPr>
              <a:t>预实验</a:t>
            </a:r>
            <a:endParaRPr lang="en-US" altLang="zh-CN" sz="1200" b="0" i="0" u="none" strike="noStrike" dirty="0">
              <a:solidFill>
                <a:srgbClr val="0A3760"/>
              </a:solidFill>
              <a:latin typeface="微软雅黑"/>
              <a:ea typeface="微软雅黑"/>
              <a:cs typeface="微软雅黑"/>
              <a:sym typeface="微软雅黑"/>
            </a:endParaRPr>
          </a:p>
          <a:p>
            <a:pPr marL="0" indent="0" algn="ctr" defTabSz="608965">
              <a:lnSpc>
                <a:spcPct val="100000"/>
              </a:lnSpc>
              <a:defRPr/>
            </a:pPr>
            <a:r>
              <a:rPr lang="en-US" sz="1200" b="0" i="0" u="none" strike="noStrike" dirty="0" err="1">
                <a:solidFill>
                  <a:srgbClr val="0A3760"/>
                </a:solidFill>
                <a:latin typeface="微软雅黑"/>
                <a:ea typeface="微软雅黑"/>
                <a:cs typeface="微软雅黑"/>
                <a:sym typeface="微软雅黑"/>
              </a:rPr>
              <a:t>开题报告撰写</a:t>
            </a:r>
            <a:endParaRPr lang="en-US" sz="1100" dirty="0"/>
          </a:p>
        </p:txBody>
      </p:sp>
      <p:sp>
        <p:nvSpPr>
          <p:cNvPr id="5" name="AutoShape 5"/>
          <p:cNvSpPr/>
          <p:nvPr/>
        </p:nvSpPr>
        <p:spPr>
          <a:xfrm>
            <a:off x="2635749" y="1904580"/>
            <a:ext cx="1632373" cy="92202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实践中发现问题</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endParaRPr lang="en-US" sz="1100" dirty="0">
              <a:latin typeface="微软雅黑" panose="020B0503020204020204" pitchFamily="34" charset="-122"/>
              <a:ea typeface="微软雅黑" panose="020B0503020204020204" pitchFamily="34" charset="-122"/>
            </a:endParaRP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相关资料的学习</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a:p>
            <a:pPr marL="0" indent="0" algn="l" defTabSz="608965">
              <a:lnSpc>
                <a:spcPct val="150000"/>
              </a:lnSpc>
            </a:pPr>
            <a:r>
              <a:rPr lang="en-US" sz="1200" b="0" i="0" u="none" strike="noStrike" dirty="0" err="1">
                <a:solidFill>
                  <a:srgbClr val="0A3760"/>
                </a:solidFill>
                <a:latin typeface="微软雅黑" panose="020B0503020204020204" pitchFamily="34" charset="-122"/>
                <a:ea typeface="微软雅黑" panose="020B0503020204020204" pitchFamily="34" charset="-122"/>
                <a:cs typeface="微软雅黑"/>
                <a:sym typeface="微软雅黑"/>
              </a:rPr>
              <a:t>数据的收集</a:t>
            </a:r>
            <a:r>
              <a:rPr lang="en-US" sz="1200" b="0" i="0" u="none" strike="noStrike" dirty="0">
                <a:solidFill>
                  <a:srgbClr val="0A3760"/>
                </a:solidFill>
                <a:latin typeface="微软雅黑" panose="020B0503020204020204" pitchFamily="34" charset="-122"/>
                <a:ea typeface="微软雅黑" panose="020B0503020204020204" pitchFamily="34" charset="-122"/>
                <a:cs typeface="微软雅黑"/>
                <a:sym typeface="微软雅黑"/>
              </a:rPr>
              <a:t>；</a:t>
            </a:r>
          </a:p>
        </p:txBody>
      </p:sp>
      <p:sp>
        <p:nvSpPr>
          <p:cNvPr id="7" name="AutoShape 7"/>
          <p:cNvSpPr/>
          <p:nvPr/>
        </p:nvSpPr>
        <p:spPr>
          <a:xfrm>
            <a:off x="5873115" y="2095500"/>
            <a:ext cx="1878965" cy="1145891"/>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en-US" altLang="zh-CN" sz="1200" dirty="0">
                <a:solidFill>
                  <a:srgbClr val="0A3760"/>
                </a:solidFill>
                <a:latin typeface="微软雅黑"/>
                <a:ea typeface="微软雅黑"/>
                <a:cs typeface="微软雅黑"/>
                <a:sym typeface="微软雅黑"/>
              </a:rPr>
              <a:t>SAM3</a:t>
            </a:r>
            <a:r>
              <a:rPr lang="zh-CN" altLang="en-US" sz="1200" dirty="0">
                <a:solidFill>
                  <a:srgbClr val="0A3760"/>
                </a:solidFill>
                <a:latin typeface="微软雅黑"/>
                <a:ea typeface="微软雅黑"/>
                <a:cs typeface="微软雅黑"/>
                <a:sym typeface="微软雅黑"/>
              </a:rPr>
              <a:t>角色选定与稳定性实验；伪标签验证体系搭建与验证</a:t>
            </a:r>
          </a:p>
          <a:p>
            <a:pPr defTabSz="608965">
              <a:lnSpc>
                <a:spcPct val="150000"/>
              </a:lnSpc>
              <a:defRPr/>
            </a:pPr>
            <a:endParaRPr lang="en-US" sz="1100" dirty="0"/>
          </a:p>
        </p:txBody>
      </p:sp>
      <p:sp>
        <p:nvSpPr>
          <p:cNvPr id="8" name="AutoShape 8"/>
          <p:cNvSpPr/>
          <p:nvPr/>
        </p:nvSpPr>
        <p:spPr>
          <a:xfrm>
            <a:off x="1472782" y="184013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3-6月</a:t>
            </a:r>
            <a:endParaRPr lang="en-US" sz="1100"/>
          </a:p>
        </p:txBody>
      </p:sp>
      <p:sp>
        <p:nvSpPr>
          <p:cNvPr id="9" name="AutoShape 9"/>
          <p:cNvSpPr/>
          <p:nvPr/>
        </p:nvSpPr>
        <p:spPr>
          <a:xfrm>
            <a:off x="4614545" y="1784985"/>
            <a:ext cx="1117600" cy="1088390"/>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dirty="0">
                <a:solidFill>
                  <a:srgbClr val="234983"/>
                </a:solidFill>
                <a:latin typeface="微软雅黑"/>
                <a:ea typeface="微软雅黑"/>
                <a:cs typeface="微软雅黑"/>
                <a:sym typeface="微软雅黑"/>
              </a:rPr>
              <a:t>9-12月</a:t>
            </a:r>
            <a:endParaRPr lang="en-US" sz="1100" dirty="0"/>
          </a:p>
        </p:txBody>
      </p:sp>
      <p:sp>
        <p:nvSpPr>
          <p:cNvPr id="10" name="AutoShape 10"/>
          <p:cNvSpPr/>
          <p:nvPr/>
        </p:nvSpPr>
        <p:spPr>
          <a:xfrm>
            <a:off x="7941527" y="178108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3月</a:t>
            </a:r>
            <a:endParaRPr lang="en-US" sz="1100"/>
          </a:p>
        </p:txBody>
      </p:sp>
      <p:sp>
        <p:nvSpPr>
          <p:cNvPr id="11" name="AutoShape 11"/>
          <p:cNvSpPr/>
          <p:nvPr/>
        </p:nvSpPr>
        <p:spPr>
          <a:xfrm>
            <a:off x="3104097"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7-8月</a:t>
            </a:r>
            <a:endParaRPr lang="en-US" sz="1100"/>
          </a:p>
        </p:txBody>
      </p:sp>
      <p:sp>
        <p:nvSpPr>
          <p:cNvPr id="12" name="AutoShape 12"/>
          <p:cNvSpPr/>
          <p:nvPr/>
        </p:nvSpPr>
        <p:spPr>
          <a:xfrm>
            <a:off x="6321642" y="4543966"/>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1-2月</a:t>
            </a:r>
            <a:endParaRPr lang="en-US" sz="1100"/>
          </a:p>
        </p:txBody>
      </p:sp>
      <p:sp>
        <p:nvSpPr>
          <p:cNvPr id="13" name="AutoShape 13"/>
          <p:cNvSpPr/>
          <p:nvPr/>
        </p:nvSpPr>
        <p:spPr>
          <a:xfrm>
            <a:off x="9632532" y="4558571"/>
            <a:ext cx="1088571" cy="1088571"/>
          </a:xfrm>
          <a:prstGeom prst="ellipse">
            <a:avLst/>
          </a:prstGeom>
          <a:gradFill rotWithShape="1">
            <a:gsLst>
              <a:gs pos="0">
                <a:srgbClr val="FFFFFF">
                  <a:alpha val="100000"/>
                </a:srgbClr>
              </a:gs>
              <a:gs pos="100000">
                <a:srgbClr val="C8C8C8">
                  <a:alpha val="100000"/>
                </a:srgbClr>
              </a:gs>
            </a:gsLst>
            <a:lin ang="19800000"/>
          </a:gradFill>
          <a:ln w="25400" cap="flat">
            <a:gradFill rotWithShape="1">
              <a:gsLst>
                <a:gs pos="52999">
                  <a:srgbClr val="FFFFFF">
                    <a:alpha val="90000"/>
                  </a:srgbClr>
                </a:gs>
                <a:gs pos="100000">
                  <a:srgbClr val="808080">
                    <a:alpha val="100000"/>
                  </a:srgbClr>
                </a:gs>
              </a:gsLst>
              <a:lin ang="7200000"/>
            </a:gradFill>
            <a:prstDash val="solid"/>
          </a:ln>
          <a:effectLst>
            <a:outerShdw blurRad="482600" dist="279400" dir="8100000" algn="tr" rotWithShape="0">
              <a:srgbClr val="000000">
                <a:alpha val="40000"/>
              </a:srgbClr>
            </a:outerShdw>
          </a:effectLst>
        </p:spPr>
        <p:txBody>
          <a:bodyPr vert="horz" wrap="square" lIns="91440" tIns="45720" rIns="91440" bIns="45720" rtlCol="0" anchor="ctr">
            <a:noAutofit/>
          </a:bodyPr>
          <a:lstStyle/>
          <a:p>
            <a:pPr marL="0" indent="0" algn="ctr" defTabSz="914400">
              <a:lnSpc>
                <a:spcPct val="100000"/>
              </a:lnSpc>
              <a:defRPr/>
            </a:pPr>
            <a:r>
              <a:rPr lang="en-US" sz="1400" b="1" i="0" u="none" strike="noStrike">
                <a:solidFill>
                  <a:srgbClr val="234983"/>
                </a:solidFill>
                <a:latin typeface="微软雅黑"/>
                <a:ea typeface="微软雅黑"/>
                <a:cs typeface="微软雅黑"/>
                <a:sym typeface="微软雅黑"/>
              </a:rPr>
              <a:t>4月</a:t>
            </a:r>
            <a:endParaRPr lang="en-US" sz="1100"/>
          </a:p>
        </p:txBody>
      </p:sp>
      <p:sp>
        <p:nvSpPr>
          <p:cNvPr id="14" name="AutoShape 14"/>
          <p:cNvSpPr/>
          <p:nvPr/>
        </p:nvSpPr>
        <p:spPr>
          <a:xfrm>
            <a:off x="2871047"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5" name="AutoShape 15"/>
          <p:cNvSpPr/>
          <p:nvPr/>
        </p:nvSpPr>
        <p:spPr>
          <a:xfrm>
            <a:off x="1238462" y="3572453"/>
            <a:ext cx="1632373" cy="330315"/>
          </a:xfrm>
          <a:prstGeom prst="chevron">
            <a:avLst>
              <a:gd name="adj" fmla="val 50000"/>
            </a:avLst>
          </a:prstGeom>
          <a:solidFill>
            <a:srgbClr val="A5A5A5">
              <a:alpha val="100000"/>
            </a:srgbClr>
          </a:solidFill>
          <a:ln w="12700" cap="flat">
            <a:no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2026</a:t>
            </a:r>
            <a:endParaRPr lang="en-US" sz="1100"/>
          </a:p>
        </p:txBody>
      </p:sp>
      <p:sp>
        <p:nvSpPr>
          <p:cNvPr id="16" name="AutoShape 16"/>
          <p:cNvSpPr/>
          <p:nvPr/>
        </p:nvSpPr>
        <p:spPr>
          <a:xfrm>
            <a:off x="7727950"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7" name="AutoShape 17"/>
          <p:cNvSpPr/>
          <p:nvPr/>
        </p:nvSpPr>
        <p:spPr>
          <a:xfrm>
            <a:off x="9360535" y="3572453"/>
            <a:ext cx="1632373" cy="330315"/>
          </a:xfrm>
          <a:prstGeom prst="chevron">
            <a:avLst>
              <a:gd name="adj" fmla="val 50000"/>
            </a:avLst>
          </a:prstGeom>
          <a:solidFill>
            <a:srgbClr val="44546A">
              <a:alpha val="100000"/>
            </a:srgbClr>
          </a:solidFill>
          <a:ln w="12700" cap="flat">
            <a:solidFill>
              <a:srgbClr val="44546A">
                <a:alpha val="100000"/>
              </a:srgbClr>
            </a:solidFill>
            <a:prstDash val="solid"/>
          </a:ln>
        </p:spPr>
        <p:txBody>
          <a:bodyPr wrap="square" lIns="91440" tIns="45720" rIns="91440" bIns="45720" rtlCol="0" anchor="ctr">
            <a:noAutofit/>
          </a:bodyPr>
          <a:lstStyle/>
          <a:p>
            <a:pPr marL="0" indent="0" algn="ctr" defTabSz="608965">
              <a:lnSpc>
                <a:spcPct val="100000"/>
              </a:lnSpc>
              <a:defRPr/>
            </a:pPr>
            <a:r>
              <a:rPr lang="en-US" sz="1464" b="1" i="0" u="none" strike="noStrike">
                <a:solidFill>
                  <a:srgbClr val="FFFFFF"/>
                </a:solidFill>
                <a:latin typeface="微软雅黑"/>
                <a:ea typeface="微软雅黑"/>
                <a:cs typeface="微软雅黑"/>
                <a:sym typeface="微软雅黑"/>
              </a:rPr>
              <a:t>2027</a:t>
            </a:r>
            <a:endParaRPr lang="en-US" sz="1100"/>
          </a:p>
        </p:txBody>
      </p:sp>
      <p:sp>
        <p:nvSpPr>
          <p:cNvPr id="18" name="AutoShape 18"/>
          <p:cNvSpPr/>
          <p:nvPr/>
        </p:nvSpPr>
        <p:spPr>
          <a:xfrm>
            <a:off x="9359900" y="2145030"/>
            <a:ext cx="2182495" cy="336695"/>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a:solidFill>
                  <a:srgbClr val="0A3760"/>
                </a:solidFill>
                <a:latin typeface="微软雅黑"/>
                <a:ea typeface="微软雅黑"/>
                <a:cs typeface="微软雅黑"/>
                <a:sym typeface="微软雅黑"/>
              </a:rPr>
              <a:t>论文初稿撰写</a:t>
            </a:r>
            <a:endParaRPr lang="en-US" sz="1100"/>
          </a:p>
        </p:txBody>
      </p:sp>
      <p:sp>
        <p:nvSpPr>
          <p:cNvPr id="19" name="AutoShape 19"/>
          <p:cNvSpPr/>
          <p:nvPr/>
        </p:nvSpPr>
        <p:spPr>
          <a:xfrm>
            <a:off x="8321040" y="4858385"/>
            <a:ext cx="1393825" cy="645160"/>
          </a:xfrm>
          <a:prstGeom prst="rect">
            <a:avLst/>
          </a:prstGeom>
          <a:noFill/>
          <a:ln w="12700">
            <a:noFill/>
            <a:prstDash val="solid"/>
          </a:ln>
        </p:spPr>
        <p:txBody>
          <a:bodyPr wrap="square" lIns="91440" tIns="45720" rIns="91440" bIns="45720" rtlCol="0" anchor="t">
            <a:spAutoFit/>
          </a:bodyPr>
          <a:lstStyle/>
          <a:p>
            <a:pPr marL="0" indent="0" algn="l" defTabSz="608965">
              <a:lnSpc>
                <a:spcPct val="150000"/>
              </a:lnSpc>
              <a:defRPr/>
            </a:pPr>
            <a:r>
              <a:rPr lang="en-US" sz="1200" b="0" i="0" u="none" strike="noStrike" dirty="0" err="1">
                <a:solidFill>
                  <a:srgbClr val="0A3760"/>
                </a:solidFill>
                <a:latin typeface="微软雅黑"/>
                <a:ea typeface="微软雅黑"/>
                <a:cs typeface="微软雅黑"/>
                <a:sym typeface="微软雅黑"/>
              </a:rPr>
              <a:t>完善论文</a:t>
            </a:r>
            <a:r>
              <a:rPr lang="en-US" sz="1200" b="0" i="0" u="none" strike="noStrike" dirty="0">
                <a:solidFill>
                  <a:srgbClr val="0A3760"/>
                </a:solidFill>
                <a:latin typeface="微软雅黑"/>
                <a:ea typeface="微软雅黑"/>
                <a:cs typeface="微软雅黑"/>
                <a:sym typeface="微软雅黑"/>
              </a:rPr>
              <a:t>；</a:t>
            </a:r>
            <a:endParaRPr lang="en-US" sz="1100" dirty="0"/>
          </a:p>
          <a:p>
            <a:pPr marL="0" indent="0" algn="l" defTabSz="608965">
              <a:lnSpc>
                <a:spcPct val="150000"/>
              </a:lnSpc>
            </a:pPr>
            <a:r>
              <a:rPr lang="en-US" sz="1200" b="0" i="0" u="none" strike="noStrike" dirty="0" err="1">
                <a:solidFill>
                  <a:srgbClr val="0A3760"/>
                </a:solidFill>
                <a:latin typeface="微软雅黑"/>
                <a:ea typeface="微软雅黑"/>
                <a:cs typeface="微软雅黑"/>
                <a:sym typeface="微软雅黑"/>
              </a:rPr>
              <a:t>准备论文预答辩</a:t>
            </a:r>
            <a:endParaRPr lang="en-US" sz="1200" b="0" i="0" u="none" strike="noStrike" dirty="0">
              <a:solidFill>
                <a:srgbClr val="0A3760"/>
              </a:solidFill>
              <a:latin typeface="微软雅黑"/>
              <a:ea typeface="微软雅黑"/>
              <a:cs typeface="微软雅黑"/>
              <a:sym typeface="微软雅黑"/>
            </a:endParaRPr>
          </a:p>
        </p:txBody>
      </p:sp>
      <p:cxnSp>
        <p:nvCxnSpPr>
          <p:cNvPr id="20" name="Connector 20"/>
          <p:cNvCxnSpPr/>
          <p:nvPr/>
        </p:nvCxnSpPr>
        <p:spPr>
          <a:xfrm>
            <a:off x="201358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1" name="Connector 21"/>
          <p:cNvCxnSpPr/>
          <p:nvPr/>
        </p:nvCxnSpPr>
        <p:spPr>
          <a:xfrm>
            <a:off x="364553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2" name="Connector 22"/>
          <p:cNvCxnSpPr/>
          <p:nvPr/>
        </p:nvCxnSpPr>
        <p:spPr>
          <a:xfrm>
            <a:off x="5156200"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3" name="Connector 23"/>
          <p:cNvCxnSpPr/>
          <p:nvPr/>
        </p:nvCxnSpPr>
        <p:spPr>
          <a:xfrm>
            <a:off x="6862445" y="395224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4" name="Connector 24"/>
          <p:cNvCxnSpPr/>
          <p:nvPr/>
        </p:nvCxnSpPr>
        <p:spPr>
          <a:xfrm>
            <a:off x="8482965" y="2979420"/>
            <a:ext cx="5715" cy="542290"/>
          </a:xfrm>
          <a:prstGeom prst="line">
            <a:avLst/>
          </a:prstGeom>
          <a:noFill/>
          <a:ln w="12700" cap="flat">
            <a:solidFill>
              <a:srgbClr val="0A3760">
                <a:alpha val="100000"/>
              </a:srgbClr>
            </a:solidFill>
            <a:prstDash val="solid"/>
            <a:headEnd type="none" w="med" len="med"/>
            <a:tailEnd type="none" w="med" len="med"/>
          </a:ln>
        </p:spPr>
      </p:cxnSp>
      <p:cxnSp>
        <p:nvCxnSpPr>
          <p:cNvPr id="25" name="Connector 25"/>
          <p:cNvCxnSpPr/>
          <p:nvPr/>
        </p:nvCxnSpPr>
        <p:spPr>
          <a:xfrm>
            <a:off x="10173335" y="4001770"/>
            <a:ext cx="5715" cy="542290"/>
          </a:xfrm>
          <a:prstGeom prst="line">
            <a:avLst/>
          </a:prstGeom>
          <a:noFill/>
          <a:ln w="12700" cap="flat">
            <a:solidFill>
              <a:srgbClr val="0A3760">
                <a:alpha val="100000"/>
              </a:srgbClr>
            </a:solidFill>
            <a:prstDash val="solid"/>
            <a:headEnd type="none" w="med" len="med"/>
            <a:tailEnd type="none" w="med" len="med"/>
          </a:ln>
        </p:spPr>
      </p:cxnSp>
      <p:pic>
        <p:nvPicPr>
          <p:cNvPr id="26" name="Picture 26"/>
          <p:cNvPicPr>
            <a:picLocks noChangeAspect="1"/>
          </p:cNvPicPr>
          <p:nvPr/>
        </p:nvPicPr>
        <p:blipFill>
          <a:blip r:embed="rId3"/>
          <a:srcRect/>
          <a:stretch>
            <a:fillRect/>
          </a:stretch>
        </p:blipFill>
        <p:spPr>
          <a:xfrm>
            <a:off x="423001" y="325641"/>
            <a:ext cx="618131" cy="618131"/>
          </a:xfrm>
          <a:prstGeom prst="rect">
            <a:avLst/>
          </a:prstGeom>
          <a:ln w="12700">
            <a:noFill/>
            <a:prstDash val="solid"/>
          </a:ln>
        </p:spPr>
      </p:pic>
      <p:sp>
        <p:nvSpPr>
          <p:cNvPr id="27" name="AutoShape 27"/>
          <p:cNvSpPr/>
          <p:nvPr/>
        </p:nvSpPr>
        <p:spPr>
          <a:xfrm>
            <a:off x="1041500" y="414033"/>
            <a:ext cx="2329180" cy="460375"/>
          </a:xfrm>
          <a:prstGeom prst="rect">
            <a:avLst/>
          </a:prstGeom>
          <a:noFill/>
          <a:ln w="12700">
            <a:noFill/>
            <a:prstDash val="solid"/>
          </a:ln>
        </p:spPr>
        <p:txBody>
          <a:bodyPr wrap="none" lIns="91440" tIns="45720" rIns="91440" bIns="45720" rtlCol="0" anchor="t">
            <a:spAutoFit/>
          </a:bodyPr>
          <a:lstStyle/>
          <a:p>
            <a:pPr marL="0" indent="0" algn="l" defTabSz="914400">
              <a:lnSpc>
                <a:spcPct val="100000"/>
              </a:lnSpc>
              <a:defRPr/>
            </a:pPr>
            <a:r>
              <a:rPr lang="en-US" sz="2400" b="1" i="0" u="none" strike="noStrike">
                <a:solidFill>
                  <a:srgbClr val="FFFFFF"/>
                </a:solidFill>
                <a:latin typeface="字魂105号-简雅黑"/>
                <a:ea typeface="字魂105号-简雅黑"/>
                <a:cs typeface="字魂105号-简雅黑"/>
                <a:sym typeface="字魂105号-简雅黑"/>
              </a:rPr>
              <a:t> 5.2  写作计划</a:t>
            </a:r>
            <a:endParaRPr lang="en-US" sz="1100"/>
          </a:p>
        </p:txBody>
      </p:sp>
      <p:sp>
        <p:nvSpPr>
          <p:cNvPr id="28" name="AutoShape 28"/>
          <p:cNvSpPr/>
          <p:nvPr/>
        </p:nvSpPr>
        <p:spPr>
          <a:xfrm>
            <a:off x="0" y="0"/>
            <a:ext cx="12192000" cy="905256"/>
          </a:xfrm>
          <a:prstGeom prst="rect">
            <a:avLst/>
          </a:prstGeom>
          <a:solidFill>
            <a:srgbClr val="0A3760">
              <a:alpha val="100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29" name="AutoShape 29"/>
          <p:cNvSpPr/>
          <p:nvPr/>
        </p:nvSpPr>
        <p:spPr>
          <a:xfrm>
            <a:off x="457155" y="152400"/>
            <a:ext cx="11277689" cy="609600"/>
          </a:xfrm>
          <a:prstGeom prst="rect">
            <a:avLst/>
          </a:prstGeom>
          <a:noFill/>
          <a:ln w="12700">
            <a:noFill/>
            <a:prstDash val="solid"/>
          </a:ln>
        </p:spPr>
        <p:txBody>
          <a:bodyPr wrap="square" lIns="63500" tIns="25400" rIns="63500" bIns="25400" rtlCol="0" anchor="ctr">
            <a:normAutofit/>
          </a:bodyPr>
          <a:lstStyle/>
          <a:p>
            <a:pPr marL="0" indent="0" algn="l" defTabSz="914400">
              <a:lnSpc>
                <a:spcPct val="100000"/>
              </a:lnSpc>
              <a:defRPr/>
            </a:pPr>
            <a:r>
              <a:rPr lang="en-US" sz="3400" b="1" i="0" u="none" strike="noStrike" spc="180">
                <a:solidFill>
                  <a:srgbClr val="FFFFFF"/>
                </a:solidFill>
                <a:latin typeface="微软雅黑"/>
                <a:ea typeface="微软雅黑"/>
                <a:cs typeface="微软雅黑"/>
                <a:sym typeface="微软雅黑"/>
              </a:rPr>
              <a:t>5. 写作计划</a:t>
            </a:r>
            <a:endParaRPr lang="en-US" sz="1100"/>
          </a:p>
        </p:txBody>
      </p:sp>
      <p:sp>
        <p:nvSpPr>
          <p:cNvPr id="30" name="AutoShape 7">
            <a:extLst>
              <a:ext uri="{FF2B5EF4-FFF2-40B4-BE49-F238E27FC236}">
                <a16:creationId xmlns:a16="http://schemas.microsoft.com/office/drawing/2014/main" id="{CBA3D239-84DF-425F-05CB-90907841B45D}"/>
              </a:ext>
            </a:extLst>
          </p:cNvPr>
          <p:cNvSpPr/>
          <p:nvPr/>
        </p:nvSpPr>
        <p:spPr>
          <a:xfrm>
            <a:off x="4503420" y="4558571"/>
            <a:ext cx="1878965" cy="868892"/>
          </a:xfrm>
          <a:prstGeom prst="rect">
            <a:avLst/>
          </a:prstGeom>
          <a:noFill/>
          <a:ln w="12700">
            <a:noFill/>
            <a:prstDash val="solid"/>
          </a:ln>
        </p:spPr>
        <p:txBody>
          <a:bodyPr wrap="square" lIns="91440" tIns="45720" rIns="91440" bIns="45720" rtlCol="0" anchor="t">
            <a:spAutoFit/>
          </a:bodyPr>
          <a:lstStyle/>
          <a:p>
            <a:pPr defTabSz="608965">
              <a:lnSpc>
                <a:spcPct val="150000"/>
              </a:lnSpc>
              <a:defRPr/>
            </a:pPr>
            <a:r>
              <a:rPr lang="zh-CN" altLang="en-US" sz="1200" dirty="0">
                <a:solidFill>
                  <a:srgbClr val="0A3760"/>
                </a:solidFill>
                <a:latin typeface="微软雅黑"/>
                <a:ea typeface="微软雅黑"/>
                <a:cs typeface="微软雅黑"/>
                <a:sym typeface="微软雅黑"/>
              </a:rPr>
              <a:t>多目标优化算法探索落地</a:t>
            </a:r>
            <a:r>
              <a:rPr lang="en-US" altLang="zh-CN" sz="1200" dirty="0">
                <a:solidFill>
                  <a:srgbClr val="0A3760"/>
                </a:solidFill>
                <a:latin typeface="微软雅黑"/>
                <a:ea typeface="微软雅黑"/>
                <a:cs typeface="微软雅黑"/>
                <a:sym typeface="微软雅黑"/>
              </a:rPr>
              <a:t>;pareto</a:t>
            </a:r>
            <a:r>
              <a:rPr lang="zh-CN" altLang="en-US" sz="1200" dirty="0">
                <a:solidFill>
                  <a:srgbClr val="0A3760"/>
                </a:solidFill>
                <a:latin typeface="微软雅黑"/>
                <a:ea typeface="微软雅黑"/>
                <a:cs typeface="微软雅黑"/>
                <a:sym typeface="微软雅黑"/>
              </a:rPr>
              <a:t>方案落地</a:t>
            </a:r>
          </a:p>
          <a:p>
            <a:pPr defTabSz="608965">
              <a:lnSpc>
                <a:spcPct val="150000"/>
              </a:lnSpc>
              <a:defRPr/>
            </a:pP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5000"/>
          </a:blip>
          <a:srcRect/>
          <a:stretch>
            <a:fillRect l="-6000" r="-6000"/>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ect">
            <a:avLst/>
          </a:prstGeom>
          <a:solidFill>
            <a:srgbClr val="FFFFFF">
              <a:alpha val="24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pic>
        <p:nvPicPr>
          <p:cNvPr id="3" name="Picture 3"/>
          <p:cNvPicPr>
            <a:picLocks noChangeAspect="1"/>
          </p:cNvPicPr>
          <p:nvPr/>
        </p:nvPicPr>
        <p:blipFill>
          <a:blip r:embed="rId4"/>
          <a:srcRect/>
          <a:stretch>
            <a:fillRect/>
          </a:stretch>
        </p:blipFill>
        <p:spPr>
          <a:xfrm>
            <a:off x="4888230" y="362753"/>
            <a:ext cx="2552700" cy="2552700"/>
          </a:xfrm>
          <a:prstGeom prst="rect">
            <a:avLst/>
          </a:prstGeom>
          <a:ln w="12700">
            <a:noFill/>
            <a:prstDash val="solid"/>
          </a:ln>
        </p:spPr>
      </p:pic>
      <p:sp>
        <p:nvSpPr>
          <p:cNvPr id="4" name="AutoShape 4"/>
          <p:cNvSpPr/>
          <p:nvPr/>
        </p:nvSpPr>
        <p:spPr>
          <a:xfrm>
            <a:off x="0" y="3042650"/>
            <a:ext cx="12192000" cy="2857500"/>
          </a:xfrm>
          <a:prstGeom prst="rect">
            <a:avLst/>
          </a:prstGeom>
          <a:solidFill>
            <a:srgbClr val="0A3760">
              <a:alpha val="81000"/>
            </a:srgbClr>
          </a:solidFill>
          <a:ln w="12700" cap="flat">
            <a:noFill/>
            <a:prstDash val="solid"/>
          </a:ln>
        </p:spPr>
        <p:txBody>
          <a:bodyPr wrap="square" lIns="91440" tIns="45720" rIns="91440" bIns="45720" rtlCol="0" anchor="ctr">
            <a:noAutofit/>
          </a:bodyPr>
          <a:lstStyle/>
          <a:p>
            <a:pPr marL="0" indent="0" algn="ctr" defTabSz="914400">
              <a:lnSpc>
                <a:spcPct val="100000"/>
              </a:lnSpc>
              <a:defRPr/>
            </a:pPr>
            <a:r>
              <a:rPr lang="en-US" sz="1800" b="0" i="0" u="none" strike="noStrike">
                <a:solidFill>
                  <a:srgbClr val="FFFFFF"/>
                </a:solidFill>
                <a:latin typeface="等线"/>
                <a:ea typeface="等线"/>
                <a:cs typeface="等线"/>
                <a:sym typeface="等线"/>
              </a:rPr>
              <a:t> </a:t>
            </a:r>
            <a:endParaRPr lang="en-US" sz="1100"/>
          </a:p>
        </p:txBody>
      </p:sp>
      <p:sp>
        <p:nvSpPr>
          <p:cNvPr id="5" name="AutoShape 5"/>
          <p:cNvSpPr/>
          <p:nvPr/>
        </p:nvSpPr>
        <p:spPr>
          <a:xfrm>
            <a:off x="2967583" y="3429000"/>
            <a:ext cx="6256834" cy="923330"/>
          </a:xfrm>
          <a:prstGeom prst="rect">
            <a:avLst/>
          </a:prstGeom>
          <a:noFill/>
          <a:ln w="12700">
            <a:noFill/>
            <a:prstDash val="solid"/>
          </a:ln>
        </p:spPr>
        <p:txBody>
          <a:bodyPr wrap="square" lIns="91440" tIns="45720" rIns="91440" bIns="45720" rtlCol="0" anchor="t">
            <a:spAutoFit/>
          </a:bodyPr>
          <a:lstStyle/>
          <a:p>
            <a:pPr marL="0" indent="0" algn="dist" defTabSz="914400">
              <a:lnSpc>
                <a:spcPct val="100000"/>
              </a:lnSpc>
              <a:defRPr/>
            </a:pPr>
            <a:r>
              <a:rPr lang="en-US" sz="5400" b="1" i="0" u="none" strike="noStrike" dirty="0" err="1">
                <a:solidFill>
                  <a:srgbClr val="FFFFFF"/>
                </a:solidFill>
                <a:latin typeface="字魂105号-简雅黑"/>
                <a:ea typeface="字魂105号-简雅黑"/>
                <a:cs typeface="字魂105号-简雅黑"/>
                <a:sym typeface="字魂105号-简雅黑"/>
              </a:rPr>
              <a:t>请老师批评指正</a:t>
            </a:r>
            <a:r>
              <a:rPr lang="en-US" sz="5400" b="1" i="0" u="none" strike="noStrike" dirty="0">
                <a:solidFill>
                  <a:srgbClr val="FFFFFF"/>
                </a:solidFill>
                <a:latin typeface="字魂105号-简雅黑"/>
                <a:ea typeface="字魂105号-简雅黑"/>
                <a:cs typeface="字魂105号-简雅黑"/>
                <a:sym typeface="字魂105号-简雅黑"/>
              </a:rPr>
              <a:t>！</a:t>
            </a:r>
            <a:endParaRPr lang="en-US" sz="105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7699</TotalTime>
  <Words>7208</Words>
  <Application>Microsoft Office PowerPoint</Application>
  <PresentationFormat>宽屏</PresentationFormat>
  <Paragraphs>766</Paragraphs>
  <Slides>34</Slides>
  <Notes>34</Notes>
  <HiddenSlides>0</HiddenSlides>
  <MMClips>0</MMClips>
  <ScaleCrop>false</ScaleCrop>
  <HeadingPairs>
    <vt:vector size="6" baseType="variant">
      <vt:variant>
        <vt:lpstr>已用的字体</vt:lpstr>
      </vt:variant>
      <vt:variant>
        <vt:i4>10</vt:i4>
      </vt:variant>
      <vt:variant>
        <vt:lpstr>主题</vt:lpstr>
      </vt:variant>
      <vt:variant>
        <vt:i4>5</vt:i4>
      </vt:variant>
      <vt:variant>
        <vt:lpstr>幻灯片标题</vt:lpstr>
      </vt:variant>
      <vt:variant>
        <vt:i4>34</vt:i4>
      </vt:variant>
    </vt:vector>
  </HeadingPairs>
  <TitlesOfParts>
    <vt:vector size="49" baseType="lpstr">
      <vt:lpstr>MiSans</vt:lpstr>
      <vt:lpstr>Noto Sans SC</vt:lpstr>
      <vt:lpstr>Songti SC</vt:lpstr>
      <vt:lpstr>等线</vt:lpstr>
      <vt:lpstr>等线 Light</vt:lpstr>
      <vt:lpstr>Microsoft YaHei</vt:lpstr>
      <vt:lpstr>Microsoft YaHei</vt:lpstr>
      <vt:lpstr>字魂105号-简雅黑</vt:lpstr>
      <vt:lpstr>Arial</vt:lpstr>
      <vt:lpstr>Times New Roman</vt:lpstr>
      <vt:lpstr>Office 主题​​</vt:lpstr>
      <vt:lpstr>自定义主题</vt:lpstr>
      <vt:lpstr>Office 主题​​</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Xiuli Dong</dc:creator>
  <cp:lastModifiedBy>秀丽 董</cp:lastModifiedBy>
  <cp:revision>211</cp:revision>
  <dcterms:modified xsi:type="dcterms:W3CDTF">2026-09-27T11:28:07Z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{"Label":"1","ContentProducer":"001191110102MACQD9K64010000","ProduceID":"7687259234391935974","ReservedCode1":"","ContentPropagator":"","PropagateID":"","ReservedCode2":""}</vt:lpwstr>
  </property>
</Properties>
</file>