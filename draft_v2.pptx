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</p:sldMasterIdLst>
  <p:notesMasterIdLst>
    <p:notesMasterId r:id="rId3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2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随着智能监控需求的增长，目标检测技术在火灾预警等领域的应用日益广泛。然而，这些技术高度依赖高质量的人工标注数据。火烟作为典型的非刚性目标，其标注过程不仅成本高昂、周期漫长，而且主观性强，严重制约了模型的开发效率。幸运的是，Grounding DINO和SAM等视觉大模型的出现，为我们自动化生成训练标签提供了新的技术机遇。因此，本研究的焦点不再是发明新的网络结构，而是如何建立一套稳定、可复现的伪标签生成与验证流程，并从工程角度明确不同环节的成本收益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具体来说，本研究面临三大挑战。第一，如何稳定地生成可用的伪标签？Grounding DINO的输出受多种因素影响，我们需要找到最优配置并验证其实际效果。第二，如何设计有效的SAM3后置处理策略？更精细的分割边界不一定对检测训练更有利，我们需要探索其在审核、补漏等方面的真实价值。第三，如何进行多规模流程选型？不同方案在成本、效率和质量上各有优劣，我们需要在不同数据规模下进行综合比较，为工程实践提供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挑战，本研究的总体目标是在减少对全量人工标注依赖的同时，确保标签的精度。为实现这一目标，我们将从方法、评价和工程三个层面展开工作。方法上，我们将构建并验证自动化的标签生成与优化流程。评价上，我们将建立一套结合标签层诊断和下游效用验证的双层评价体系。工程上，我们将引入阶段门控、Pareto分析等方法，确保研究成果的可落地性和综合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回顾国内外研究现状，我们发现几个明显的研究缺口。传统目标检测研究长期受困于数据标注瓶颈。虽然Grounding DINO等开放词汇检测模型和SAM系列分割模型为自动化标注带来了希望，但现有研究大多停留在验证模型本身能力的阶段，对于如何将其输出稳定、可靠地转化为下游检测器可用的训练标签，研究尚不充分。此外，在伪标签评价和不同数据规模下的流程选择方面，也缺乏系统性的探讨。这些缺口正是本研究旨在填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Past（历史数据）：同样是黑色曲线。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+ NN#2（两个神经网络）：这里用了两个网络：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NN#1 预测未来的平均走势。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NN#2 估计预测的不确定性（标准差）。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Forecast（预测）：蓝色曲线表示预测值。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Forecast Uncertainty (2σ)：淡蓝色阴影区域表示预测区间（±2个标准差，约 95% 置信区间）。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结果（Past+Forecast+Uncertainty）：结合历史、预测值以及不确定性带。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👉 特点：不仅给出预测值，还提供了 预测的不确定性范围，能更真实地反映模型对未来的信心程度。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1与E2A各跑3个随机种子。从原始结果看，E2A在3个seed下mAP50:95均略高于E1，方向稳定，说明Verifier带来的提升不是单次偶然。这一页用于证明结论的可复现性和稳健性，呼应论文中"以多种子均值判断、不以单次最优替代"的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自有点小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EC384CD-57EF-43FD-907F-029DF5E632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7C52C2F-0F0A-4498-8A70-B30F57DEB93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92B1D72-CE4E-4156-B42E-CB42F8310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CDE5C9-8DC4-4CE3-8FD2-C96064BCBF4A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809A646-E911-4D0D-ACEE-1BAE1526145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E2B24AD-3E94-4A39-985A-897339F5CDA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F8C43DB-9465-491F-A085-5696C2DBC62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40C1EA3-2CD2-4670-9ED1-F31CA8A7199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FBFE59F-575C-4ABB-87B8-5F4538859E0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BB03D7-7C23-4502-8454-1327DDE9FE3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EAEDB2-F17F-4003-933C-6749846023F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73F7704-67E6-463B-AA01-91680F0D660A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2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C3567A9-B702-4EEE-8421-77F68C0B04EC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ctr" defTabSz="914400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914400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A88DB3E2-B678-4B5E-B1F7-F478445931FE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715876E7-67F6-4709-B614-2B887129F4E5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0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1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2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4ED4803-3147-4436-A280-2F17AE386774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.jpeg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ACBEE5D-034C-4615-988D-E40B811DE78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blipFill dpi="0" rotWithShape="1">
          <a:blip r:embed="rId9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223E89D6-17A3-4E42-92DC-72F7BD07D676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1" r:id="rId1"/>
    <p:sldLayoutId id="2157483712" r:id="rId2"/>
    <p:sldLayoutId id="2157483713" r:id="rId3"/>
    <p:sldLayoutId id="2157483714" r:id="rId4"/>
    <p:sldLayoutId id="2157483715" r:id="rId5"/>
    <p:sldLayoutId id="2157483716" r:id="rId6"/>
    <p:sldLayoutId id="215748371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主题​​">
    <p:bg>
      <p:bgPr>
        <a:blipFill dpi="0" rotWithShape="1">
          <a:blip r:embed="rId5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8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8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2026/9/19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546DF46-9398-4D1E-A2D7-6ED481BE143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8" r:id="rId1"/>
    <p:sldLayoutId id="2157483719" r:id="rId2"/>
    <p:sldLayoutId id="215748372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7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8730"/>
            <a:ext cx="12192000" cy="28575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7560" y="3716020"/>
            <a:ext cx="10930255" cy="768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400" b="1" i="0" u="none" strike="noStrike" spc="-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基于多模型弱监督学习的低成本火烟检测研究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53280" y="5403576"/>
            <a:ext cx="30607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学生 ： 董秀丽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53280" y="4911574"/>
            <a:ext cx="30226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导师  ：高 明 教 授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54127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4680659" cy="685800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290327" y="720843"/>
            <a:ext cx="3062023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CONTENTS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6290327" y="1912895"/>
            <a:ext cx="2284189" cy="584775"/>
            <a:chOff x="6290327" y="1912895"/>
            <a:chExt cx="2284189" cy="584775"/>
          </a:xfrm>
        </p:grpSpPr>
        <p:grpSp>
          <p:nvGrpSpPr>
            <p:cNvPr id="5" name="Group 5"/>
            <p:cNvGrpSpPr/>
            <p:nvPr/>
          </p:nvGrpSpPr>
          <p:grpSpPr>
            <a:xfrm>
              <a:off x="6290327" y="1912895"/>
              <a:ext cx="2284189" cy="584775"/>
              <a:chOff x="6290327" y="1912895"/>
              <a:chExt cx="2284189" cy="58477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290327" y="1912895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7169896" y="1963818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研究背景</a:t>
                </a:r>
                <a:endParaRPr lang="en-US" sz="1100"/>
              </a:p>
            </p:txBody>
          </p:sp>
        </p:grpSp>
        <p:cxnSp>
          <p:nvCxnSpPr>
            <p:cNvPr id="8" name="Connector 8"/>
            <p:cNvCxnSpPr/>
            <p:nvPr/>
          </p:nvCxnSpPr>
          <p:spPr>
            <a:xfrm>
              <a:off x="7148631" y="1995717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9" name="Group 9"/>
          <p:cNvGrpSpPr/>
          <p:nvPr/>
        </p:nvGrpSpPr>
        <p:grpSpPr>
          <a:xfrm>
            <a:off x="6290327" y="2767134"/>
            <a:ext cx="3200494" cy="584775"/>
            <a:chOff x="6290327" y="2767134"/>
            <a:chExt cx="3200494" cy="584775"/>
          </a:xfrm>
        </p:grpSpPr>
        <p:grpSp>
          <p:nvGrpSpPr>
            <p:cNvPr id="10" name="Group 10"/>
            <p:cNvGrpSpPr/>
            <p:nvPr/>
          </p:nvGrpSpPr>
          <p:grpSpPr>
            <a:xfrm>
              <a:off x="6290327" y="2767134"/>
              <a:ext cx="3200494" cy="584775"/>
              <a:chOff x="6290327" y="2767134"/>
              <a:chExt cx="3200494" cy="58477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290327" y="276713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7169896" y="2818057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国内外研究现状</a:t>
                </a:r>
                <a:endParaRPr lang="en-US" sz="1100"/>
              </a:p>
            </p:txBody>
          </p:sp>
        </p:grpSp>
        <p:cxnSp>
          <p:nvCxnSpPr>
            <p:cNvPr id="13" name="Connector 13"/>
            <p:cNvCxnSpPr/>
            <p:nvPr/>
          </p:nvCxnSpPr>
          <p:spPr>
            <a:xfrm>
              <a:off x="7148631" y="284995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4" name="Group 14"/>
          <p:cNvGrpSpPr/>
          <p:nvPr/>
        </p:nvGrpSpPr>
        <p:grpSpPr>
          <a:xfrm>
            <a:off x="6290327" y="3600109"/>
            <a:ext cx="3200494" cy="584775"/>
            <a:chOff x="6290327" y="3600109"/>
            <a:chExt cx="3200494" cy="584775"/>
          </a:xfrm>
        </p:grpSpPr>
        <p:grpSp>
          <p:nvGrpSpPr>
            <p:cNvPr id="15" name="Group 15"/>
            <p:cNvGrpSpPr/>
            <p:nvPr/>
          </p:nvGrpSpPr>
          <p:grpSpPr>
            <a:xfrm>
              <a:off x="6290327" y="3600109"/>
              <a:ext cx="3200494" cy="584775"/>
              <a:chOff x="6290327" y="3600109"/>
              <a:chExt cx="3200494" cy="58477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290327" y="360010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7169896" y="3651032"/>
                <a:ext cx="2320925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研究内容与路线</a:t>
                </a:r>
                <a:endParaRPr lang="en-US" sz="1100"/>
              </a:p>
            </p:txBody>
          </p:sp>
        </p:grpSp>
        <p:cxnSp>
          <p:nvCxnSpPr>
            <p:cNvPr id="18" name="Connector 18"/>
            <p:cNvCxnSpPr/>
            <p:nvPr/>
          </p:nvCxnSpPr>
          <p:spPr>
            <a:xfrm>
              <a:off x="7148631" y="368293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19" name="Group 19"/>
          <p:cNvGrpSpPr/>
          <p:nvPr/>
        </p:nvGrpSpPr>
        <p:grpSpPr>
          <a:xfrm>
            <a:off x="6290327" y="4433084"/>
            <a:ext cx="4116799" cy="584775"/>
            <a:chOff x="6290327" y="4433084"/>
            <a:chExt cx="4116799" cy="584775"/>
          </a:xfrm>
        </p:grpSpPr>
        <p:grpSp>
          <p:nvGrpSpPr>
            <p:cNvPr id="20" name="Group 20"/>
            <p:cNvGrpSpPr/>
            <p:nvPr/>
          </p:nvGrpSpPr>
          <p:grpSpPr>
            <a:xfrm>
              <a:off x="6290327" y="4433084"/>
              <a:ext cx="4116799" cy="584775"/>
              <a:chOff x="6290327" y="4433084"/>
              <a:chExt cx="4116799" cy="584775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290327" y="4433084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7169896" y="4484007"/>
                <a:ext cx="323723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研究创新点与预期贡献</a:t>
                </a:r>
                <a:endParaRPr lang="en-US" sz="1100"/>
              </a:p>
            </p:txBody>
          </p:sp>
        </p:grpSp>
        <p:cxnSp>
          <p:nvCxnSpPr>
            <p:cNvPr id="23" name="Connector 23"/>
            <p:cNvCxnSpPr/>
            <p:nvPr/>
          </p:nvCxnSpPr>
          <p:spPr>
            <a:xfrm>
              <a:off x="7148631" y="4515906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9262" y="694952"/>
            <a:ext cx="2416036" cy="701166"/>
          </a:xfrm>
          <a:prstGeom prst="rect">
            <a:avLst/>
          </a:prstGeom>
          <a:ln w="12700">
            <a:noFill/>
            <a:prstDash val="solid"/>
          </a:ln>
        </p:spPr>
      </p:pic>
      <p:grpSp>
        <p:nvGrpSpPr>
          <p:cNvPr id="25" name="Group 25"/>
          <p:cNvGrpSpPr/>
          <p:nvPr/>
        </p:nvGrpSpPr>
        <p:grpSpPr>
          <a:xfrm>
            <a:off x="6308177" y="5266059"/>
            <a:ext cx="2284189" cy="584775"/>
            <a:chOff x="6308177" y="5266059"/>
            <a:chExt cx="2284189" cy="584775"/>
          </a:xfrm>
        </p:grpSpPr>
        <p:grpSp>
          <p:nvGrpSpPr>
            <p:cNvPr id="26" name="Group 26"/>
            <p:cNvGrpSpPr/>
            <p:nvPr/>
          </p:nvGrpSpPr>
          <p:grpSpPr>
            <a:xfrm>
              <a:off x="6308177" y="5266059"/>
              <a:ext cx="2284189" cy="584775"/>
              <a:chOff x="6308177" y="5266059"/>
              <a:chExt cx="2284189" cy="584775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6308177" y="5266059"/>
                <a:ext cx="1020724" cy="5847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3200" b="1" i="0" u="none" strike="noStrike">
                    <a:solidFill>
                      <a:srgbClr val="0A37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AutoShape 28"/>
              <p:cNvSpPr/>
              <p:nvPr/>
            </p:nvSpPr>
            <p:spPr>
              <a:xfrm>
                <a:off x="7187746" y="5316982"/>
                <a:ext cx="1404620" cy="46037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marL="0" indent="0" algn="l" defTabSz="914400">
                  <a:lnSpc>
                    <a:spcPct val="100000"/>
                  </a:lnSpc>
                  <a:defRPr/>
                </a:pPr>
                <a:r>
                  <a:rPr lang="en-US" sz="2400" b="1" i="0" u="none" strike="noStrike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写作计划</a:t>
                </a:r>
                <a:endParaRPr lang="en-US" sz="1100"/>
              </a:p>
            </p:txBody>
          </p:sp>
        </p:grpSp>
        <p:cxnSp>
          <p:nvCxnSpPr>
            <p:cNvPr id="29" name="Connector 29"/>
            <p:cNvCxnSpPr/>
            <p:nvPr/>
          </p:nvCxnSpPr>
          <p:spPr>
            <a:xfrm>
              <a:off x="7166481" y="5348881"/>
              <a:ext cx="0" cy="396000"/>
            </a:xfrm>
            <a:prstGeom prst="line">
              <a:avLst/>
            </a:prstGeom>
            <a:noFill/>
            <a:ln w="12700" cap="flat">
              <a:solidFill>
                <a:srgbClr val="80808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5490" y="2077686"/>
            <a:ext cx="1905000" cy="190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464810" cy="1324610"/>
          </a:xfrm>
          <a:custGeom>
            <a:avLst/>
            <a:gdLst/>
            <a:ahLst/>
            <a:cxnLst/>
            <a:rect l="l" t="t" r="r" b="b"/>
            <a:pathLst>
              <a:path w="5464810" h="1324610">
                <a:moveTo>
                  <a:pt x="588503" y="0"/>
                </a:moveTo>
                <a:lnTo>
                  <a:pt x="588512" y="1"/>
                </a:lnTo>
                <a:lnTo>
                  <a:pt x="4851343" y="1"/>
                </a:lnTo>
                <a:lnTo>
                  <a:pt x="4851343" y="2833"/>
                </a:lnTo>
                <a:lnTo>
                  <a:pt x="4876307" y="1"/>
                </a:lnTo>
                <a:cubicBezTo>
                  <a:pt x="5201328" y="1"/>
                  <a:pt x="5464810" y="296525"/>
                  <a:pt x="5464810" y="662305"/>
                </a:cubicBezTo>
                <a:cubicBezTo>
                  <a:pt x="5464810" y="1028087"/>
                  <a:pt x="5201328" y="1324610"/>
                  <a:pt x="4876307" y="1324610"/>
                </a:cubicBezTo>
                <a:lnTo>
                  <a:pt x="4851343" y="1321778"/>
                </a:lnTo>
                <a:lnTo>
                  <a:pt x="4851343" y="1324609"/>
                </a:lnTo>
                <a:lnTo>
                  <a:pt x="588503" y="1324609"/>
                </a:lnTo>
                <a:cubicBezTo>
                  <a:pt x="263482" y="1324609"/>
                  <a:pt x="0" y="1028085"/>
                  <a:pt x="0" y="662305"/>
                </a:cubicBezTo>
                <a:cubicBezTo>
                  <a:pt x="0" y="296523"/>
                  <a:pt x="263482" y="0"/>
                  <a:pt x="5885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61570" y="3271730"/>
            <a:ext cx="271907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1.  研究背景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研究背景与动机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968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智能监控迫切需求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在森林火灾、危化园区等高危场景中，智能监控是安防预警的核心。计算机视觉技术是实现目标精准识别与实时响应的关键支撑，对高效、准确的火情监测系统需求持续攀升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68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A3412"/>
                </a:solidFill>
                <a:latin typeface="微软雅黑"/>
                <a:ea typeface="微软雅黑"/>
                <a:cs typeface="微软雅黑"/>
                <a:sym typeface="微软雅黑"/>
              </a:rPr>
              <a:t>02 人工标注痛点凸显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953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主流检测算法依赖全监督学习，需海量高质量人工标注。火烟作为非刚性目标，形态弥散且边界模糊，导致标注成本高、周期长，且易因主观判断引入偏差，成为模型落地的瓶颈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937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254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微软雅黑"/>
                <a:ea typeface="微软雅黑"/>
                <a:cs typeface="微软雅黑"/>
                <a:sym typeface="微软雅黑"/>
              </a:rPr>
              <a:t>03 视觉大模型带来新契机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 与 SAM 等视觉大模型的问世，凭借强大的零样本定位与通用分割能力，为自动化生成高质量训练标签提供了技术可能，为自动化生成训练标签提供了新的技术路径。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254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25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04 研究核心聚焦与突破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953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研究不追求新网络架构创新，重点构建稳定、可复现的伪标签生成与验证规范体系，量化后处理环节增益与成本，为同类非刚性目标的数据制备提供可复现的流程参考。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43307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35687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研究面临的三大核心挑战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微软雅黑"/>
                <a:ea typeface="微软雅黑"/>
                <a:cs typeface="微软雅黑"/>
                <a:sym typeface="微软雅黑"/>
              </a:rPr>
              <a:t>01 稳定生成可用伪标签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2">
            <a:off x="76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受文本提示词、置信度阈值及数据分布影响，火烟的非刚性、边界模糊特性易导致漏检与误检。需在低预算候选空间内筛选并冻结提示词与阈值参数，批量生成高质量基准伪标签V1，并验证其对下游检测任务的实际效用，夯实数据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1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0EA5E9">
              <a:alpha val="6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C4A6E"/>
                </a:solidFill>
                <a:latin typeface="微软雅黑"/>
                <a:ea typeface="微软雅黑"/>
                <a:cs typeface="微软雅黑"/>
                <a:sym typeface="微软雅黑"/>
              </a:rPr>
              <a:t>02 后置处理策略设计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2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730500"/>
            <a:ext cx="3048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SAM3的细粒度分割边界未必直接适配检测训练需求。需针对火烟特性定制专属提示词与审核门槛，建立补漏规则与去重策略，严格限制重定位权限，重点验证其在标签审核、漏检补全及边界优化中的实际增量价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7C3AED">
              <a:alpha val="6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685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1D95"/>
                </a:solidFill>
                <a:latin typeface="微软雅黑"/>
                <a:ea typeface="微软雅黑"/>
                <a:cs typeface="微软雅黑"/>
                <a:sym typeface="微软雅黑"/>
              </a:rPr>
              <a:t>03 多规模流程选型与权衡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2">
            <a:off x="838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3AE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730500"/>
            <a:ext cx="3048000" cy="222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标注与自动化方案在质量、效率与成本间存在博弈。需在千级、万级及十万级三种数据规模下，对比单级自动化、级联后处理等方案的综合效益，分析标签制备时间与实际交付周期及人工复审成本，在质量、成本和周期约束下提供流程选择建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1E293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6134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核心目标：</a:t>
            </a:r>
            <a:r>
              <a:rPr lang="en-US" sz="1400" b="0" i="0" u="none" strike="noStrike">
                <a:solidFill>
                  <a:srgbClr val="475569"/>
                </a:solidFill>
                <a:latin typeface="微软雅黑"/>
                <a:ea typeface="微软雅黑"/>
                <a:cs typeface="微软雅黑"/>
                <a:sym typeface="微软雅黑"/>
              </a:rPr>
              <a:t>通过系统性的参数优化、策略定制与多维度评估，构建兼顾精度与效率的自动化标注体系，为大规模模型训练提供高质量、低成本的数据支撑。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24638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17018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致力于减少对全量人工逐框标注的依赖，打破“重数量轻质量”的传统困境，构建兼顾效率与精度的智能标注体系。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方法创新：可复现的伪标签生产与验证流程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构建基于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Grounding DINO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的伪标签自动生成流程，针对火焰与烟雾场景设计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SAM3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后置校验与候选治理策略。对比不同数据规模下的投入产出比，平衡自动化效率与标注精准度。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7ED">
              <a:alpha val="6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02 评价体系：双重验证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A58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标签层诊断 + 下游效用评估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”的双层体系。通过指标量化标签质量以定位问题，利用统一训练协议下的 YOLO 模型性能，客观判断标注流程的实际应用价值。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工程落地：全链路保障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32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29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 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Stage-Gate 阶段门控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与 Pareto 非支配分析，确保流程可控。建立全链路可复现机制，关注标注生产的稳定性、可扩展性及综合效益，实现技术向生产力的转化。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7415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核心愿景：以技术创新驱动标注流程升级，实现从“人工主导”向“智能驱动”的转变。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6012180" cy="1212215"/>
          </a:xfrm>
          <a:custGeom>
            <a:avLst/>
            <a:gdLst/>
            <a:ahLst/>
            <a:cxnLst/>
            <a:rect l="l" t="t" r="r" b="b"/>
            <a:pathLst>
              <a:path w="6012180" h="1212215">
                <a:moveTo>
                  <a:pt x="647450" y="0"/>
                </a:moveTo>
                <a:lnTo>
                  <a:pt x="647459" y="1"/>
                </a:lnTo>
                <a:lnTo>
                  <a:pt x="5337266" y="1"/>
                </a:lnTo>
                <a:lnTo>
                  <a:pt x="5337266" y="2593"/>
                </a:lnTo>
                <a:lnTo>
                  <a:pt x="5364730" y="1"/>
                </a:lnTo>
                <a:cubicBezTo>
                  <a:pt x="5722308" y="1"/>
                  <a:pt x="6012180" y="271365"/>
                  <a:pt x="6012180" y="606108"/>
                </a:cubicBezTo>
                <a:cubicBezTo>
                  <a:pt x="6012180" y="940852"/>
                  <a:pt x="5722308" y="1212215"/>
                  <a:pt x="5364730" y="1212215"/>
                </a:cubicBezTo>
                <a:lnTo>
                  <a:pt x="5337266" y="1209624"/>
                </a:lnTo>
                <a:lnTo>
                  <a:pt x="5337266" y="1212214"/>
                </a:lnTo>
                <a:lnTo>
                  <a:pt x="647450" y="1212214"/>
                </a:lnTo>
                <a:cubicBezTo>
                  <a:pt x="289872" y="1212214"/>
                  <a:pt x="0" y="940850"/>
                  <a:pt x="0" y="606108"/>
                </a:cubicBezTo>
                <a:cubicBezTo>
                  <a:pt x="0" y="271363"/>
                  <a:pt x="289872" y="0"/>
                  <a:pt x="6474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79570" y="3271520"/>
            <a:ext cx="626110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2. 国内外研究现状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4474451" cy="6858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74295"/>
            <a:ext cx="3261360" cy="1813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b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3600" b="1" i="0" u="none" strike="noStrike" spc="26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2.1 研究综述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3931" y="1142937"/>
            <a:ext cx="6498577" cy="53022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63500" tIns="25400" rIns="63500" bIns="25400" rtlCol="0" anchor="b">
            <a:normAutofit/>
          </a:bodyPr>
          <a:lstStyle/>
          <a:p>
            <a:pPr marL="0" indent="0" algn="ctr" defTabSz="913765">
              <a:lnSpc>
                <a:spcPct val="100000"/>
              </a:lnSpc>
              <a:defRPr/>
            </a:pPr>
            <a:r>
              <a:rPr lang="en-US" sz="2800" b="1" i="0" u="none" strike="noStrike" spc="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综述要点：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3460" y="1743710"/>
            <a:ext cx="7194550" cy="39712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t" anchorCtr="0"/>
          <a:lstStyle/>
          <a:p>
            <a:pPr marL="0" indent="0" algn="l" defTabSz="913765">
              <a:lnSpc>
                <a:spcPct val="83333"/>
              </a:lnSpc>
              <a:spcAft>
                <a:spcPts val="800"/>
              </a:spcAft>
              <a:defRPr/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1、转化不稳定：</a:t>
            </a:r>
            <a:endParaRPr lang="en-US" sz="1100"/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现有文献多关注零样本直接感知，较少研究其预测结果如何稳定转化为大规模闭集训练标签。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2、后置规则不明：</a:t>
            </a:r>
          </a:p>
          <a:p>
            <a:pPr marL="0" indent="45720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分割边界更细并不一定更适合检测训练，火和烟是否需要不同后置规则尚缺分别验证。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1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3、选型缺失：</a:t>
            </a:r>
          </a:p>
          <a:p>
            <a:pPr marL="0" indent="0" algn="l" defTabSz="913765">
              <a:lnSpc>
                <a:spcPct val="83333"/>
              </a:lnSpc>
              <a:spcAft>
                <a:spcPts val="800"/>
              </a:spcAft>
            </a:pPr>
            <a:r>
              <a:rPr lang="en-US" sz="1800" b="0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现有研究较少从系统工程角度，讨论不同数据规模下人工标注、单模型伪标签和级联流程的</a:t>
            </a:r>
            <a:r>
              <a:rPr lang="en-US" sz="1800" b="1" i="0" u="none" strike="noStrike" spc="12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动态选择</a:t>
            </a:r>
            <a:r>
              <a:rPr lang="en-US" sz="1800" b="0" i="0" u="none" strike="noStrike" spc="12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r>
              <a:rPr lang="en-US" sz="1800" b="0" i="0" u="none" strike="noStrike" spc="12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本文围绕这三个问题展开研究。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9405" y="1143000"/>
            <a:ext cx="530860" cy="530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035550" cy="749935"/>
          </a:xfrm>
          <a:custGeom>
            <a:avLst/>
            <a:gdLst/>
            <a:ahLst/>
            <a:cxnLst/>
            <a:rect l="l" t="t" r="r" b="b"/>
            <a:pathLst>
              <a:path w="5035550" h="749935">
                <a:moveTo>
                  <a:pt x="542276" y="0"/>
                </a:moveTo>
                <a:lnTo>
                  <a:pt x="542285" y="0"/>
                </a:lnTo>
                <a:lnTo>
                  <a:pt x="4470270" y="0"/>
                </a:lnTo>
                <a:lnTo>
                  <a:pt x="4470270" y="1604"/>
                </a:lnTo>
                <a:lnTo>
                  <a:pt x="4493274" y="0"/>
                </a:lnTo>
                <a:cubicBezTo>
                  <a:pt x="4792764" y="0"/>
                  <a:pt x="5035550" y="167879"/>
                  <a:pt x="5035550" y="374968"/>
                </a:cubicBezTo>
                <a:cubicBezTo>
                  <a:pt x="5035550" y="582056"/>
                  <a:pt x="4792764" y="749935"/>
                  <a:pt x="4493274" y="749935"/>
                </a:cubicBezTo>
                <a:lnTo>
                  <a:pt x="4470270" y="748332"/>
                </a:lnTo>
                <a:lnTo>
                  <a:pt x="4470270" y="749935"/>
                </a:lnTo>
                <a:lnTo>
                  <a:pt x="542276" y="749935"/>
                </a:lnTo>
                <a:cubicBezTo>
                  <a:pt x="242786" y="749935"/>
                  <a:pt x="0" y="582056"/>
                  <a:pt x="0" y="374968"/>
                </a:cubicBezTo>
                <a:cubicBezTo>
                  <a:pt x="0" y="167879"/>
                  <a:pt x="242786" y="0"/>
                  <a:pt x="54227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685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2.2 基础模型：开放词汇检测与提示分割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265" y="948055"/>
          <a:ext cx="11916840" cy="59099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1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1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3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770"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开放词汇与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分割基础模型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Liu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DINO：语言表征与检测架构结合，文本短语开放世界定位。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零样本定位，为低人工干预的数据初始化提供路径。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现有文献多关注零样本直接感知，较少研究其预测结果如何稳定转化为大规模闭集训练标签。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01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Kirillov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2023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SAM：通用提示驱动分割范式，支持对图像任意区域提示分割。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为精细边界提取和未知目标发现提供补充。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2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Ravi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SAM2 将分割范式扩展到时序视频。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支持视频时序分割与跟踪。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38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Carion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SAM3 进一步支持概念提示驱动的检测、分割和跟踪。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本文将其定义为 V1 之后的可选后置校验模块。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65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Fu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PET-DINO：统一视觉线索增强 Grounding DINO。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文本—视觉提示对齐仍是开放集检测的重要问题。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2.3 标签噪声与伪标签评价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0" y="895350"/>
          <a:ext cx="12192000" cy="653470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2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3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834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8182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标签噪声与数据质量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Frénay 等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2014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标签噪声分类综述：类别错误、漏标和定位噪声会干扰深度模型特征学习与泛化。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只靠标准 IoU 很难区分松紧风格与真实定位偏差，需结合边界敏感性与下游训练结果判断伪标签是否真正可用。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504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Northcutt 等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测试集标签错误普遍存在：现有数据集多存在漏标、标签混淆和包围框尺度不一致。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sz="16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5352" marB="453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216">
                <a:tc rowSpan="3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边界质量与下游效用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Cheng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2021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Boundary IoU：改进以对象为中心的图像分割评价。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41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Dinh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多尺度 tiling 伪标签用于密集场景目标检测。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T="42545" marB="425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3411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Xin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DART：端到端自动检测标注与模型训练管线。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8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8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6604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14478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2.4 半监督与主动学习辅助标注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35" y="1380490"/>
          <a:ext cx="12191365" cy="5279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38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半监督/主动学习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Burges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主动学习结合基础模型，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面向遥感目标检测的快速数据标注。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基础模型辅助标注可减少人工标注量，</a:t>
                      </a:r>
                      <a:r>
                        <a:rPr lang="en-US" sz="1600" b="1" i="0" u="none" strike="noStrike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但较少从系统工程角度讨论不同数据规模下标注范式的动态选择。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35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Zhang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高效半监督目标检测（Detection Transformer）。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5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Shehzadi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STEP-DETR：教师模型与伪标签引导文本查询。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903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Amershi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2019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机器学习系统软件工程案例：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强调数据过程管理与可复现规范。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4780"/>
            <a:ext cx="4942840" cy="749935"/>
          </a:xfrm>
          <a:custGeom>
            <a:avLst/>
            <a:gdLst/>
            <a:ahLst/>
            <a:cxnLst/>
            <a:rect l="l" t="t" r="r" b="b"/>
            <a:pathLst>
              <a:path w="4942840" h="749935">
                <a:moveTo>
                  <a:pt x="532293" y="0"/>
                </a:moveTo>
                <a:lnTo>
                  <a:pt x="532300" y="0"/>
                </a:lnTo>
                <a:lnTo>
                  <a:pt x="4387968" y="0"/>
                </a:lnTo>
                <a:lnTo>
                  <a:pt x="4387968" y="1604"/>
                </a:lnTo>
                <a:lnTo>
                  <a:pt x="4410547" y="0"/>
                </a:lnTo>
                <a:cubicBezTo>
                  <a:pt x="4704524" y="0"/>
                  <a:pt x="4942840" y="167879"/>
                  <a:pt x="4942840" y="374967"/>
                </a:cubicBezTo>
                <a:cubicBezTo>
                  <a:pt x="4942840" y="582056"/>
                  <a:pt x="4704524" y="749935"/>
                  <a:pt x="4410547" y="749935"/>
                </a:cubicBezTo>
                <a:lnTo>
                  <a:pt x="4387968" y="748332"/>
                </a:lnTo>
                <a:lnTo>
                  <a:pt x="4387968" y="749935"/>
                </a:lnTo>
                <a:lnTo>
                  <a:pt x="532293" y="749935"/>
                </a:lnTo>
                <a:cubicBezTo>
                  <a:pt x="238316" y="749935"/>
                  <a:pt x="0" y="582056"/>
                  <a:pt x="0" y="374967"/>
                </a:cubicBezTo>
                <a:cubicBezTo>
                  <a:pt x="0" y="167879"/>
                  <a:pt x="238316" y="0"/>
                  <a:pt x="532293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21082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79780" y="289560"/>
            <a:ext cx="40493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2.5 火烟场景应用研究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7805" y="1330960"/>
          <a:ext cx="11756390" cy="502983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92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2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作者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方法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特点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995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火烟检测与分割应用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Joshi 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基础模型结合边界框的高效火焰检测。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本文落点不同：</a:t>
                      </a:r>
                      <a:endParaRPr lang="en-US" sz="1100"/>
                    </a:p>
                    <a:p>
                      <a:pPr marL="0" indent="0" algn="ctr" defTabSz="914400">
                        <a:lnSpc>
                          <a:spcPct val="100000"/>
                        </a:lnSpc>
                      </a:pPr>
                      <a:r>
                        <a:rPr lang="en-US" sz="1600" b="1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已有工作多把分割质量本身当目标，分割更细不代表转换出的检测框更适合训练。</a:t>
                      </a:r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3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2026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 驱动的密度感知渐进式烟雾分割框架。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215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Allabadi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2025</a:t>
                      </a:r>
                      <a:endParaRPr lang="en-US" sz="1100"/>
                    </a:p>
                  </a:txBody>
                  <a:tcPr marL="13017" marR="13017" marT="130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在野外环境用 SAM 检测新目标物种。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4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Cao 等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2024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D0D0D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面向遥感森林火烟检测的多面合成数据集。</a:t>
                      </a:r>
                      <a:endParaRPr lang="en-US" sz="1100"/>
                    </a:p>
                  </a:txBody>
                  <a:tcPr marL="13017" marR="13017" marT="13017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>
                        <a:alpha val="10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"/>
            <a:ext cx="3263900" cy="609600"/>
          </a:xfrm>
          <a:prstGeom prst="roundRect">
            <a:avLst>
              <a:gd name="adj" fmla="val 41665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7800" y="152400"/>
            <a:ext cx="558800" cy="5588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12800" y="190500"/>
            <a:ext cx="25019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研究现状与缺口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7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01 传统目标检测：标注瓶颈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长期依赖全监督学习，算法效果高度依赖高质量人工标注。数据的“质”与“量”难以协同供给，成为模型规模化训练的核心制约因素。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8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02 开放词汇检测：转化断层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Grounding DINO等模型实现了开放世界定位，但缺乏将预测结果稳定转化为闭集训练标签的研究，对下游检测器的泛化效能评估不足。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556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1841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03 SAM系列：应用场景受限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3495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虽提供细粒度空间信息，但鲜少验证其在审核、补漏及边界调整中的作用，且精细分割未必适配检测框的训练需求，存在转化鸿沟。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064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79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04 自动标签评价：指标体系单一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仅依靠标准IoU指标难以有效区分标注风格差异与真实定位偏差，无法准确判断伪标签是否真正适用于下游训练，需建立结合实际训练效果的综合评价体系。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064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254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945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数据制备：范式动态适配缺失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7625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现有研究虽证明基础模型可减轻标注负担，但缺乏从系统工程视角，针对不同数据规模探讨标注范式的动态选择与效率优化，难以适配多样化的训练场景需求。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93100" y="1143496"/>
            <a:ext cx="3696948" cy="5714503"/>
          </a:xfrm>
          <a:custGeom>
            <a:avLst/>
            <a:gdLst/>
            <a:ahLst/>
            <a:cxnLst/>
            <a:rect l="l" t="t" r="r" b="b"/>
            <a:pathLst>
              <a:path w="3696948" h="5714503">
                <a:moveTo>
                  <a:pt x="535568" y="5082275"/>
                </a:moveTo>
                <a:cubicBezTo>
                  <a:pt x="547809" y="5094491"/>
                  <a:pt x="553931" y="5125033"/>
                  <a:pt x="547809" y="5155576"/>
                </a:cubicBezTo>
                <a:cubicBezTo>
                  <a:pt x="541689" y="5180010"/>
                  <a:pt x="541689" y="5204443"/>
                  <a:pt x="535568" y="5241096"/>
                </a:cubicBezTo>
                <a:cubicBezTo>
                  <a:pt x="553931" y="5241096"/>
                  <a:pt x="581473" y="5253312"/>
                  <a:pt x="618198" y="5259421"/>
                </a:cubicBezTo>
                <a:cubicBezTo>
                  <a:pt x="648802" y="5268584"/>
                  <a:pt x="673285" y="5274692"/>
                  <a:pt x="691648" y="5274692"/>
                </a:cubicBezTo>
                <a:cubicBezTo>
                  <a:pt x="685527" y="5369373"/>
                  <a:pt x="673285" y="5515978"/>
                  <a:pt x="651863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55260" y="5714503"/>
                  <a:pt x="3155260" y="5714503"/>
                  <a:pt x="3155260" y="5714503"/>
                </a:cubicBezTo>
                <a:cubicBezTo>
                  <a:pt x="3167502" y="5668691"/>
                  <a:pt x="3179743" y="5638147"/>
                  <a:pt x="3185864" y="5625931"/>
                </a:cubicBezTo>
                <a:cubicBezTo>
                  <a:pt x="3198105" y="5552629"/>
                  <a:pt x="3216468" y="5439621"/>
                  <a:pt x="3228710" y="5280800"/>
                </a:cubicBezTo>
                <a:cubicBezTo>
                  <a:pt x="3240951" y="5118926"/>
                  <a:pt x="3259314" y="5005917"/>
                  <a:pt x="3277676" y="4932615"/>
                </a:cubicBezTo>
                <a:cubicBezTo>
                  <a:pt x="3292978" y="4865422"/>
                  <a:pt x="3323581" y="4776848"/>
                  <a:pt x="3366427" y="4673004"/>
                </a:cubicBezTo>
                <a:cubicBezTo>
                  <a:pt x="3436816" y="4492804"/>
                  <a:pt x="3473540" y="4398122"/>
                  <a:pt x="3473540" y="4398122"/>
                </a:cubicBezTo>
                <a:cubicBezTo>
                  <a:pt x="3534748" y="4220975"/>
                  <a:pt x="3565352" y="4126294"/>
                  <a:pt x="3571474" y="4126294"/>
                </a:cubicBezTo>
                <a:cubicBezTo>
                  <a:pt x="3611258" y="4028557"/>
                  <a:pt x="3654104" y="3952201"/>
                  <a:pt x="3696948" y="3903334"/>
                </a:cubicBezTo>
                <a:cubicBezTo>
                  <a:pt x="3690828" y="3555148"/>
                  <a:pt x="3678587" y="3307754"/>
                  <a:pt x="3660224" y="3167258"/>
                </a:cubicBezTo>
                <a:cubicBezTo>
                  <a:pt x="3635741" y="2922919"/>
                  <a:pt x="3571474" y="2745772"/>
                  <a:pt x="3473540" y="2614439"/>
                </a:cubicBezTo>
                <a:cubicBezTo>
                  <a:pt x="3455179" y="2590005"/>
                  <a:pt x="3415393" y="2553354"/>
                  <a:pt x="3366427" y="2513649"/>
                </a:cubicBezTo>
                <a:cubicBezTo>
                  <a:pt x="3305219" y="2458672"/>
                  <a:pt x="3265434" y="2422021"/>
                  <a:pt x="3247072" y="2403696"/>
                </a:cubicBezTo>
                <a:cubicBezTo>
                  <a:pt x="3103234" y="2260145"/>
                  <a:pt x="2986938" y="2162410"/>
                  <a:pt x="2892067" y="2107433"/>
                </a:cubicBezTo>
                <a:cubicBezTo>
                  <a:pt x="2892067" y="2079945"/>
                  <a:pt x="2873704" y="2031077"/>
                  <a:pt x="2836979" y="1969992"/>
                </a:cubicBezTo>
                <a:cubicBezTo>
                  <a:pt x="2836979" y="1963884"/>
                  <a:pt x="2830859" y="1957775"/>
                  <a:pt x="2830859" y="1951666"/>
                </a:cubicBezTo>
                <a:cubicBezTo>
                  <a:pt x="2791074" y="1875310"/>
                  <a:pt x="2766591" y="1814225"/>
                  <a:pt x="2766591" y="1771466"/>
                </a:cubicBezTo>
                <a:cubicBezTo>
                  <a:pt x="2754349" y="1759248"/>
                  <a:pt x="2742108" y="1759248"/>
                  <a:pt x="2723746" y="1759248"/>
                </a:cubicBezTo>
                <a:cubicBezTo>
                  <a:pt x="2711505" y="1759248"/>
                  <a:pt x="2693142" y="1753140"/>
                  <a:pt x="2665598" y="1753140"/>
                </a:cubicBezTo>
                <a:cubicBezTo>
                  <a:pt x="2772712" y="1676784"/>
                  <a:pt x="2849221" y="1554613"/>
                  <a:pt x="2904308" y="1380522"/>
                </a:cubicBezTo>
                <a:cubicBezTo>
                  <a:pt x="2953275" y="1212538"/>
                  <a:pt x="2971637" y="1038446"/>
                  <a:pt x="2959396" y="855190"/>
                </a:cubicBezTo>
                <a:cubicBezTo>
                  <a:pt x="2947154" y="662772"/>
                  <a:pt x="2904308" y="494788"/>
                  <a:pt x="2830859" y="369565"/>
                </a:cubicBezTo>
                <a:cubicBezTo>
                  <a:pt x="2742108" y="222960"/>
                  <a:pt x="2628873" y="134388"/>
                  <a:pt x="2485036" y="109953"/>
                </a:cubicBezTo>
                <a:cubicBezTo>
                  <a:pt x="2466673" y="109953"/>
                  <a:pt x="2466673" y="97737"/>
                  <a:pt x="2478914" y="85519"/>
                </a:cubicBezTo>
                <a:cubicBezTo>
                  <a:pt x="2485036" y="73302"/>
                  <a:pt x="2485036" y="67193"/>
                  <a:pt x="2472794" y="67193"/>
                </a:cubicBezTo>
                <a:cubicBezTo>
                  <a:pt x="2454431" y="61084"/>
                  <a:pt x="2442190" y="61084"/>
                  <a:pt x="2436070" y="73302"/>
                </a:cubicBezTo>
                <a:cubicBezTo>
                  <a:pt x="2429948" y="85519"/>
                  <a:pt x="2423828" y="97737"/>
                  <a:pt x="2417707" y="97737"/>
                </a:cubicBezTo>
                <a:cubicBezTo>
                  <a:pt x="2393224" y="67193"/>
                  <a:pt x="2335077" y="42760"/>
                  <a:pt x="2243264" y="24434"/>
                </a:cubicBezTo>
                <a:cubicBezTo>
                  <a:pt x="2160634" y="6109"/>
                  <a:pt x="2081064" y="0"/>
                  <a:pt x="2010675" y="0"/>
                </a:cubicBezTo>
                <a:cubicBezTo>
                  <a:pt x="1879078" y="18326"/>
                  <a:pt x="1729119" y="73302"/>
                  <a:pt x="1554677" y="171039"/>
                </a:cubicBezTo>
                <a:cubicBezTo>
                  <a:pt x="1459805" y="229069"/>
                  <a:pt x="1337390" y="302370"/>
                  <a:pt x="1181310" y="393998"/>
                </a:cubicBezTo>
                <a:cubicBezTo>
                  <a:pt x="1193551" y="427595"/>
                  <a:pt x="1187431" y="458137"/>
                  <a:pt x="1181310" y="488681"/>
                </a:cubicBezTo>
                <a:cubicBezTo>
                  <a:pt x="1169068" y="507006"/>
                  <a:pt x="1153766" y="531439"/>
                  <a:pt x="1141524" y="580307"/>
                </a:cubicBezTo>
                <a:cubicBezTo>
                  <a:pt x="1175189" y="586416"/>
                  <a:pt x="1205793" y="586416"/>
                  <a:pt x="1230276" y="580307"/>
                </a:cubicBezTo>
                <a:cubicBezTo>
                  <a:pt x="1260880" y="568091"/>
                  <a:pt x="1279242" y="568091"/>
                  <a:pt x="1285363" y="568091"/>
                </a:cubicBezTo>
                <a:cubicBezTo>
                  <a:pt x="1273122" y="616958"/>
                  <a:pt x="1248639" y="699423"/>
                  <a:pt x="1211914" y="803269"/>
                </a:cubicBezTo>
                <a:cubicBezTo>
                  <a:pt x="1187431" y="891841"/>
                  <a:pt x="1181310" y="989578"/>
                  <a:pt x="1181310" y="1078151"/>
                </a:cubicBezTo>
                <a:cubicBezTo>
                  <a:pt x="1267000" y="1127018"/>
                  <a:pt x="1291483" y="1200320"/>
                  <a:pt x="1254759" y="1301111"/>
                </a:cubicBezTo>
                <a:cubicBezTo>
                  <a:pt x="1236397" y="1356087"/>
                  <a:pt x="1193551" y="1441606"/>
                  <a:pt x="1129283" y="1560722"/>
                </a:cubicBezTo>
                <a:cubicBezTo>
                  <a:pt x="1129283" y="1585157"/>
                  <a:pt x="1147646" y="1597373"/>
                  <a:pt x="1181310" y="1609590"/>
                </a:cubicBezTo>
                <a:cubicBezTo>
                  <a:pt x="1193551" y="1615699"/>
                  <a:pt x="1218034" y="1621808"/>
                  <a:pt x="1260880" y="1621808"/>
                </a:cubicBezTo>
                <a:cubicBezTo>
                  <a:pt x="1260880" y="1698164"/>
                  <a:pt x="1267000" y="1753140"/>
                  <a:pt x="1279242" y="1795899"/>
                </a:cubicBezTo>
                <a:cubicBezTo>
                  <a:pt x="1291483" y="1820334"/>
                  <a:pt x="1319027" y="1856985"/>
                  <a:pt x="1355752" y="1908907"/>
                </a:cubicBezTo>
                <a:cubicBezTo>
                  <a:pt x="1123163" y="1856985"/>
                  <a:pt x="905874" y="1908907"/>
                  <a:pt x="691648" y="2055512"/>
                </a:cubicBezTo>
                <a:cubicBezTo>
                  <a:pt x="667164" y="2131868"/>
                  <a:pt x="630439" y="2272363"/>
                  <a:pt x="593715" y="2489215"/>
                </a:cubicBezTo>
                <a:cubicBezTo>
                  <a:pt x="553931" y="2699958"/>
                  <a:pt x="511085" y="2849616"/>
                  <a:pt x="468239" y="2941244"/>
                </a:cubicBezTo>
                <a:cubicBezTo>
                  <a:pt x="455997" y="2968732"/>
                  <a:pt x="437636" y="3005383"/>
                  <a:pt x="403972" y="3060360"/>
                </a:cubicBezTo>
                <a:cubicBezTo>
                  <a:pt x="391730" y="3084793"/>
                  <a:pt x="379489" y="3103119"/>
                  <a:pt x="367247" y="3121444"/>
                </a:cubicBezTo>
                <a:cubicBezTo>
                  <a:pt x="355006" y="3145879"/>
                  <a:pt x="342764" y="3173367"/>
                  <a:pt x="336643" y="3191693"/>
                </a:cubicBezTo>
                <a:cubicBezTo>
                  <a:pt x="330521" y="3203909"/>
                  <a:pt x="330521" y="3216126"/>
                  <a:pt x="324401" y="3228344"/>
                </a:cubicBezTo>
                <a:cubicBezTo>
                  <a:pt x="223408" y="3463521"/>
                  <a:pt x="162201" y="3607071"/>
                  <a:pt x="143838" y="3668156"/>
                </a:cubicBezTo>
                <a:cubicBezTo>
                  <a:pt x="73449" y="3854465"/>
                  <a:pt x="30604" y="4028557"/>
                  <a:pt x="18363" y="4187378"/>
                </a:cubicBezTo>
                <a:cubicBezTo>
                  <a:pt x="0" y="4450044"/>
                  <a:pt x="24483" y="4666896"/>
                  <a:pt x="79571" y="4819608"/>
                </a:cubicBezTo>
                <a:cubicBezTo>
                  <a:pt x="168321" y="5030352"/>
                  <a:pt x="318280" y="5118926"/>
                  <a:pt x="535568" y="5082275"/>
                </a:cubicBezTo>
                <a:close/>
                <a:moveTo>
                  <a:pt x="905874" y="2800749"/>
                </a:moveTo>
                <a:cubicBezTo>
                  <a:pt x="918116" y="2782423"/>
                  <a:pt x="954841" y="2751880"/>
                  <a:pt x="997687" y="2712175"/>
                </a:cubicBezTo>
                <a:cubicBezTo>
                  <a:pt x="1043592" y="2675524"/>
                  <a:pt x="1074196" y="2638873"/>
                  <a:pt x="1092558" y="2614439"/>
                </a:cubicBezTo>
                <a:cubicBezTo>
                  <a:pt x="1110921" y="2583896"/>
                  <a:pt x="1129283" y="2541137"/>
                  <a:pt x="1141524" y="2476998"/>
                </a:cubicBezTo>
                <a:cubicBezTo>
                  <a:pt x="1159887" y="2409805"/>
                  <a:pt x="1181310" y="2360936"/>
                  <a:pt x="1193551" y="2330394"/>
                </a:cubicBezTo>
                <a:cubicBezTo>
                  <a:pt x="1254759" y="2354828"/>
                  <a:pt x="1303725" y="2367045"/>
                  <a:pt x="1349632" y="2360936"/>
                </a:cubicBezTo>
                <a:cubicBezTo>
                  <a:pt x="1392476" y="2354828"/>
                  <a:pt x="1441442" y="2342610"/>
                  <a:pt x="1499591" y="2318177"/>
                </a:cubicBezTo>
                <a:cubicBezTo>
                  <a:pt x="1499591" y="2302905"/>
                  <a:pt x="1493469" y="2290689"/>
                  <a:pt x="1481228" y="2278471"/>
                </a:cubicBezTo>
                <a:cubicBezTo>
                  <a:pt x="1465925" y="2266254"/>
                  <a:pt x="1465925" y="2254038"/>
                  <a:pt x="1465925" y="2241821"/>
                </a:cubicBezTo>
                <a:cubicBezTo>
                  <a:pt x="1511832" y="2254038"/>
                  <a:pt x="1560798" y="2241821"/>
                  <a:pt x="1609764" y="2192952"/>
                </a:cubicBezTo>
                <a:cubicBezTo>
                  <a:pt x="1667911" y="2150193"/>
                  <a:pt x="1716877" y="2137976"/>
                  <a:pt x="1759723" y="2156301"/>
                </a:cubicBezTo>
                <a:cubicBezTo>
                  <a:pt x="1765844" y="2180735"/>
                  <a:pt x="1765844" y="2217387"/>
                  <a:pt x="1741360" y="2254038"/>
                </a:cubicBezTo>
                <a:cubicBezTo>
                  <a:pt x="1710757" y="2302905"/>
                  <a:pt x="1698516" y="2336502"/>
                  <a:pt x="1692394" y="2342610"/>
                </a:cubicBezTo>
                <a:cubicBezTo>
                  <a:pt x="1661791" y="2367045"/>
                  <a:pt x="1554677" y="2415912"/>
                  <a:pt x="1386356" y="2483107"/>
                </a:cubicBezTo>
                <a:cubicBezTo>
                  <a:pt x="1254759" y="2541137"/>
                  <a:pt x="1169068" y="2596114"/>
                  <a:pt x="1117041" y="2657198"/>
                </a:cubicBezTo>
                <a:cubicBezTo>
                  <a:pt x="1092558" y="2681633"/>
                  <a:pt x="1074196" y="2724393"/>
                  <a:pt x="1043592" y="2782423"/>
                </a:cubicBezTo>
                <a:cubicBezTo>
                  <a:pt x="1019109" y="2837400"/>
                  <a:pt x="991565" y="2880159"/>
                  <a:pt x="967082" y="2904593"/>
                </a:cubicBezTo>
                <a:cubicBezTo>
                  <a:pt x="960962" y="2956516"/>
                  <a:pt x="942599" y="3005383"/>
                  <a:pt x="918116" y="3048142"/>
                </a:cubicBezTo>
                <a:cubicBezTo>
                  <a:pt x="905874" y="3078686"/>
                  <a:pt x="875271" y="3115337"/>
                  <a:pt x="841606" y="3167258"/>
                </a:cubicBezTo>
                <a:cubicBezTo>
                  <a:pt x="817123" y="3145879"/>
                  <a:pt x="804882" y="3121444"/>
                  <a:pt x="798761" y="3097011"/>
                </a:cubicBezTo>
                <a:cubicBezTo>
                  <a:pt x="774278" y="3023709"/>
                  <a:pt x="811003" y="2922919"/>
                  <a:pt x="905874" y="2800749"/>
                </a:cubicBezTo>
                <a:close/>
              </a:path>
            </a:pathLst>
          </a:custGeom>
          <a:solidFill>
            <a:srgbClr val="BFBFB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5285" y="260350"/>
            <a:ext cx="4197350" cy="749935"/>
          </a:xfrm>
          <a:custGeom>
            <a:avLst/>
            <a:gdLst/>
            <a:ahLst/>
            <a:cxnLst/>
            <a:rect l="l" t="t" r="r" b="b"/>
            <a:pathLst>
              <a:path w="4197350" h="749935">
                <a:moveTo>
                  <a:pt x="452011" y="0"/>
                </a:moveTo>
                <a:lnTo>
                  <a:pt x="452017" y="0"/>
                </a:lnTo>
                <a:lnTo>
                  <a:pt x="3726165" y="0"/>
                </a:lnTo>
                <a:lnTo>
                  <a:pt x="3726165" y="1604"/>
                </a:lnTo>
                <a:lnTo>
                  <a:pt x="3745339" y="0"/>
                </a:lnTo>
                <a:cubicBezTo>
                  <a:pt x="3994978" y="0"/>
                  <a:pt x="4197350" y="167879"/>
                  <a:pt x="4197350" y="374968"/>
                </a:cubicBezTo>
                <a:cubicBezTo>
                  <a:pt x="4197350" y="582056"/>
                  <a:pt x="3994978" y="749935"/>
                  <a:pt x="3745339" y="749935"/>
                </a:cubicBezTo>
                <a:lnTo>
                  <a:pt x="3726165" y="748332"/>
                </a:lnTo>
                <a:lnTo>
                  <a:pt x="3726165" y="749935"/>
                </a:lnTo>
                <a:lnTo>
                  <a:pt x="452011" y="749935"/>
                </a:lnTo>
                <a:cubicBezTo>
                  <a:pt x="202372" y="749935"/>
                  <a:pt x="0" y="582056"/>
                  <a:pt x="0" y="374968"/>
                </a:cubicBezTo>
                <a:cubicBezTo>
                  <a:pt x="0" y="167879"/>
                  <a:pt x="202372" y="0"/>
                  <a:pt x="452011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8480" y="32639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09370" y="414655"/>
            <a:ext cx="294132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2.4 研究缺口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47249" y="1143496"/>
            <a:ext cx="10623712" cy="239966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开放词汇检测转化不足：</a:t>
            </a:r>
            <a:endParaRPr lang="en-US" sz="1100"/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现有文献多关注零样本直接感知</a:t>
            </a: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较少研究其预测结果如何稳定转化为大规模闭集训练标签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也缺乏对伪标签驱动下游检测器训练后泛化效能的系统评估。</a:t>
            </a:r>
          </a:p>
          <a:p>
            <a:pPr marL="0" indent="0" algn="just" defTabSz="914400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本文把 Grounding DINO 检出框批量固化为 V1 伪标签</a:t>
            </a: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再用 YOLO 下游训练判断其是否真的有用。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983774" y="3811685"/>
            <a:ext cx="10623712" cy="206121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marL="285750" indent="-285750" algn="l" defTabSz="914400">
              <a:lnSpc>
                <a:spcPct val="150000"/>
              </a:lnSpc>
              <a:spcAft>
                <a:spcPts val="600"/>
              </a:spcAft>
              <a:buClr>
                <a:srgbClr val="0A3760"/>
              </a:buClr>
              <a:buFont typeface="Wingdings"/>
              <a:buChar char="l"/>
              <a:defRPr/>
            </a:pPr>
            <a:r>
              <a:rPr lang="en-US" sz="20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后置操作不明：</a:t>
            </a:r>
            <a:endParaRPr lang="en-US" sz="1100"/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现有研究通常以分割边界更细并不一定更适合检测训练；</a:t>
            </a: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火和烟分别需要什么后置规则、是否要改框，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难以根据火和烟分别需要什么后置规则、是否要改框，现有研究尚缺分别验证。</a:t>
            </a:r>
          </a:p>
          <a:p>
            <a:pPr marL="0" indent="457200" algn="just" defTabSz="914400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同时，数据规模扩大后，</a:t>
            </a: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人工、单模型伪标签与级联流程如何选择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无法依据同时，数据规模扩大后，人工、单模型伪标签与级联流程如何选择，也缺乏系统工程层面的讨论。</a:t>
            </a:r>
          </a:p>
          <a:p>
            <a:pPr marL="539750" indent="-254000" algn="l" defTabSz="914400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8" name="AutoShape 8"/>
          <p:cNvSpPr/>
          <p:nvPr/>
        </p:nvSpPr>
        <p:spPr>
          <a:xfrm>
            <a:off x="-635" y="5767070"/>
            <a:ext cx="12115165" cy="1337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457200" algn="just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本文把人工标注、V1 单级自动化和 SAM3 级联方案放在 1k、10k、100k 三种规模下比较，用 Pareto 关系筛选流程。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03370" y="3271520"/>
            <a:ext cx="593217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3. 研究内容与路线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978455" y="222170"/>
            <a:ext cx="2915285" cy="344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火烟伪标签级联生产与验证技术路线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15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4F8">
              <a:alpha val="100000"/>
            </a:srgbClr>
          </a:solidFill>
          <a:ln w="12700" cap="flat" cmpd="sng">
            <a:solidFill>
              <a:srgbClr val="3498D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334135" y="751840"/>
            <a:ext cx="1672590" cy="272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阶段一：数据与测试治理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311275" y="1024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37335" y="1072515"/>
            <a:ext cx="1148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多源火烟图像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311275" y="1405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623695" y="145351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训练/开发/隔离测试集划分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1311275" y="1786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623695" y="1834515"/>
            <a:ext cx="9753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数据谱系与元数据版本固化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1311275" y="2167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12700" cap="flat" cmpd="sng">
            <a:solidFill>
              <a:srgbClr val="2980B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62735" y="2215515"/>
            <a:ext cx="10972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提示词空间与阈值检索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1311275" y="2548255"/>
            <a:ext cx="1600200" cy="304800"/>
          </a:xfrm>
          <a:custGeom>
            <a:avLst/>
            <a:gdLst/>
            <a:ahLst/>
            <a:cxnLst/>
            <a:rect l="l" t="t" r="r" b="b"/>
            <a:pathLst>
              <a:path w="1600200" h="3048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04800"/>
                </a:lnTo>
                <a:cubicBezTo>
                  <a:pt x="1600200" y="304800"/>
                  <a:pt x="1583143" y="304800"/>
                  <a:pt x="1562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577975" y="2596515"/>
            <a:ext cx="10668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训练集用于 YOLO 训练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064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3444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8F5E8">
              <a:alpha val="100000"/>
            </a:srgbClr>
          </a:solidFill>
          <a:ln w="12700" cap="flat" cmpd="sng">
            <a:solidFill>
              <a:srgbClr val="27AE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0087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阶段二：V1 自动生成与验证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35972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3795395" y="1360170"/>
            <a:ext cx="51816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230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擅长：文本—视觉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258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语义对齐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4664075" y="132905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876300" y="0"/>
                </a:moveTo>
                <a:cubicBezTo>
                  <a:pt x="897343" y="0"/>
                  <a:pt x="914400" y="0"/>
                  <a:pt x="914400" y="0"/>
                </a:cubicBezTo>
                <a:lnTo>
                  <a:pt x="914400" y="457200"/>
                </a:lnTo>
                <a:cubicBezTo>
                  <a:pt x="914400" y="457200"/>
                  <a:pt x="897343" y="457200"/>
                  <a:pt x="8763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12700" cap="flat" cmpd="sng">
            <a:solidFill>
              <a:srgbClr val="229954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890135" y="1360170"/>
            <a:ext cx="462280" cy="184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789805" y="1477645"/>
            <a:ext cx="66294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基准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92675" y="1576705"/>
            <a:ext cx="457200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3597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3810635" y="1910715"/>
            <a:ext cx="15544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标签质量分析：漏检/误检/框偏差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822700" y="2040890"/>
            <a:ext cx="153098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V1 直接用于 YOLO 下游基线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3597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4313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开发准入门槛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957955" y="2536190"/>
            <a:ext cx="1260475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 + 下游 mAP 双重判断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153535" y="26504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是否具备使用价值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5731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6111875" y="719455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09800" y="0"/>
                </a:moveTo>
                <a:cubicBezTo>
                  <a:pt x="2251884" y="0"/>
                  <a:pt x="2286000" y="0"/>
                  <a:pt x="2286000" y="0"/>
                </a:cubicBezTo>
                <a:lnTo>
                  <a:pt x="2286000" y="2286000"/>
                </a:lnTo>
                <a:cubicBezTo>
                  <a:pt x="2286000" y="2286000"/>
                  <a:pt x="2251884" y="2286000"/>
                  <a:pt x="2209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EF5E7">
              <a:alpha val="100000"/>
            </a:srgbClr>
          </a:solidFill>
          <a:ln w="12700" cap="flat" cmpd="sng">
            <a:solidFill>
              <a:srgbClr val="F39C1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6757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阶段三：SAM3 后置处理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6264275" y="10242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12700" cap="flat" cmpd="sng">
            <a:solidFill>
              <a:srgbClr val="7F8C8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305550" y="1024255"/>
            <a:ext cx="1671955" cy="182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后置节点权限拆分：不默认覆盖 V1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462395" y="1168400"/>
            <a:ext cx="1173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/ Append / Refiner 三类角色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62642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287135" y="1431290"/>
            <a:ext cx="563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Verifier：审核已有候选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3061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3404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69500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70110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Append：补漏隐藏目标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026275" y="155384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6" name="AutoShape 46"/>
          <p:cNvSpPr/>
          <p:nvPr/>
        </p:nvSpPr>
        <p:spPr>
          <a:xfrm>
            <a:off x="70262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7635875" y="1405255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571500" y="0"/>
                </a:moveTo>
                <a:cubicBezTo>
                  <a:pt x="592543" y="0"/>
                  <a:pt x="609600" y="0"/>
                  <a:pt x="609600" y="0"/>
                </a:cubicBezTo>
                <a:lnTo>
                  <a:pt x="609600" y="457200"/>
                </a:lnTo>
                <a:cubicBezTo>
                  <a:pt x="609600" y="457200"/>
                  <a:pt x="592543" y="457200"/>
                  <a:pt x="5715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solidFill>
              <a:srgbClr val="D6891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696835" y="1431290"/>
            <a:ext cx="487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Refiner：调整边界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7677785" y="1553845"/>
            <a:ext cx="52578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7712075" y="1652905"/>
            <a:ext cx="457200" cy="1822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264275" y="1938655"/>
            <a:ext cx="1981200" cy="304800"/>
          </a:xfrm>
          <a:custGeom>
            <a:avLst/>
            <a:gdLst/>
            <a:ahLst/>
            <a:cxnLst/>
            <a:rect l="l" t="t" r="r" b="b"/>
            <a:pathLst>
              <a:path w="1981200" h="3048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304800"/>
                </a:lnTo>
                <a:cubicBezTo>
                  <a:pt x="1981200" y="304800"/>
                  <a:pt x="1964143" y="304800"/>
                  <a:pt x="1943100" y="304800"/>
                </a:cubicBezTo>
                <a:lnTo>
                  <a:pt x="38100" y="304800"/>
                </a:lnTo>
                <a:cubicBezTo>
                  <a:pt x="17057" y="304800"/>
                  <a:pt x="0" y="304800"/>
                  <a:pt x="0" y="3048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8E44AD">
              <a:alpha val="100000"/>
            </a:srgbClr>
          </a:solidFill>
          <a:ln w="12700" cap="flat" cmpd="sng">
            <a:solidFill>
              <a:srgbClr val="7D3C98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6845935" y="1910715"/>
            <a:ext cx="8178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Stage-Gate：Go / Hold / Stop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401435" y="2040890"/>
            <a:ext cx="1706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多随机种子稳定性复验</a:t>
            </a:r>
            <a:endParaRPr lang="en-US" sz="1100"/>
          </a:p>
        </p:txBody>
      </p:sp>
      <p:sp>
        <p:nvSpPr>
          <p:cNvPr id="54" name="Freeform 54"/>
          <p:cNvSpPr/>
          <p:nvPr/>
        </p:nvSpPr>
        <p:spPr>
          <a:xfrm>
            <a:off x="6264275" y="2395855"/>
            <a:ext cx="1981200" cy="457200"/>
          </a:xfrm>
          <a:custGeom>
            <a:avLst/>
            <a:gdLst/>
            <a:ahLst/>
            <a:cxnLst/>
            <a:rect l="l" t="t" r="r" b="b"/>
            <a:pathLst>
              <a:path w="1981200" h="457200">
                <a:moveTo>
                  <a:pt x="1943100" y="0"/>
                </a:moveTo>
                <a:cubicBezTo>
                  <a:pt x="1964143" y="0"/>
                  <a:pt x="1981200" y="0"/>
                  <a:pt x="1981200" y="0"/>
                </a:cubicBezTo>
                <a:lnTo>
                  <a:pt x="1981200" y="457200"/>
                </a:lnTo>
                <a:cubicBezTo>
                  <a:pt x="1981200" y="457200"/>
                  <a:pt x="1964143" y="457200"/>
                  <a:pt x="1943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2C3E50">
              <a:alpha val="100000"/>
            </a:srgbClr>
          </a:solidFill>
          <a:ln w="127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980555" y="24060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 1k/10k/100k 推演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591935" y="2536190"/>
            <a:ext cx="13258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检测效果 / 制备时间 / 人工投入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858635" y="2650490"/>
            <a:ext cx="7924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Pareto 非支配比较</a:t>
            </a:r>
            <a:endParaRPr lang="en-US" sz="1100"/>
          </a:p>
        </p:txBody>
      </p:sp>
      <p:sp>
        <p:nvSpPr>
          <p:cNvPr id="58" name="Freeform 58"/>
          <p:cNvSpPr/>
          <p:nvPr/>
        </p:nvSpPr>
        <p:spPr>
          <a:xfrm>
            <a:off x="8398055" y="1786391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0" y="76200"/>
                </a:moveTo>
                <a:lnTo>
                  <a:pt x="228600" y="76200"/>
                </a:lnTo>
                <a:lnTo>
                  <a:pt x="152400" y="152400"/>
                </a:lnTo>
                <a:lnTo>
                  <a:pt x="152400" y="0"/>
                </a:lnTo>
                <a:lnTo>
                  <a:pt x="228600" y="76200"/>
                </a:lnTo>
                <a:close/>
              </a:path>
            </a:pathLst>
          </a:cu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59" name="Freeform 59"/>
          <p:cNvSpPr/>
          <p:nvPr/>
        </p:nvSpPr>
        <p:spPr>
          <a:xfrm>
            <a:off x="8778875" y="719455"/>
            <a:ext cx="1905000" cy="2286000"/>
          </a:xfrm>
          <a:custGeom>
            <a:avLst/>
            <a:gdLst/>
            <a:ahLst/>
            <a:cxnLst/>
            <a:rect l="l" t="t" r="r" b="b"/>
            <a:pathLst>
              <a:path w="1905000" h="2286000">
                <a:moveTo>
                  <a:pt x="1828800" y="0"/>
                </a:moveTo>
                <a:cubicBezTo>
                  <a:pt x="1870884" y="0"/>
                  <a:pt x="1905000" y="0"/>
                  <a:pt x="1905000" y="0"/>
                </a:cubicBezTo>
                <a:lnTo>
                  <a:pt x="1905000" y="2286000"/>
                </a:lnTo>
                <a:cubicBezTo>
                  <a:pt x="1905000" y="2286000"/>
                  <a:pt x="1870884" y="2286000"/>
                  <a:pt x="1828800" y="2286000"/>
                </a:cubicBezTo>
                <a:lnTo>
                  <a:pt x="76200" y="2286000"/>
                </a:lnTo>
                <a:cubicBezTo>
                  <a:pt x="34116" y="2286000"/>
                  <a:pt x="0" y="2286000"/>
                  <a:pt x="0" y="2286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ECF0F1">
              <a:alpha val="100000"/>
            </a:srgbClr>
          </a:solidFill>
          <a:ln w="12700" cap="flat" cmpd="sng">
            <a:solidFill>
              <a:srgbClr val="95A5A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0" name="AutoShape 60"/>
          <p:cNvSpPr/>
          <p:nvPr/>
        </p:nvSpPr>
        <p:spPr>
          <a:xfrm>
            <a:off x="9152255" y="735330"/>
            <a:ext cx="1158240" cy="252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阶段四：流程选型与交付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931275" y="10242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solidFill>
              <a:srgbClr val="2C3E5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2" name="AutoShape 62"/>
          <p:cNvSpPr/>
          <p:nvPr/>
        </p:nvSpPr>
        <p:spPr>
          <a:xfrm>
            <a:off x="9411335" y="1034415"/>
            <a:ext cx="64008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选定推荐生产流程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9297035" y="11645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落实到具体工作安排</a:t>
            </a: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8931275" y="14814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E74C3C">
              <a:alpha val="100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5" name="AutoShape 65"/>
          <p:cNvSpPr/>
          <p:nvPr/>
        </p:nvSpPr>
        <p:spPr>
          <a:xfrm>
            <a:off x="9457055" y="14916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全链路元数据可追溯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9297035" y="1621790"/>
            <a:ext cx="8686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跟踪执行效果和异常</a:t>
            </a:r>
            <a:endParaRPr lang="en-US" sz="1100"/>
          </a:p>
        </p:txBody>
      </p:sp>
      <p:sp>
        <p:nvSpPr>
          <p:cNvPr id="67" name="Freeform 67"/>
          <p:cNvSpPr/>
          <p:nvPr/>
        </p:nvSpPr>
        <p:spPr>
          <a:xfrm>
            <a:off x="8931275" y="1938655"/>
            <a:ext cx="1600200" cy="381000"/>
          </a:xfrm>
          <a:custGeom>
            <a:avLst/>
            <a:gdLst/>
            <a:ahLst/>
            <a:cxnLst/>
            <a:rect l="l" t="t" r="r" b="b"/>
            <a:pathLst>
              <a:path w="1600200" h="3810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381000"/>
                </a:lnTo>
                <a:cubicBezTo>
                  <a:pt x="1600200" y="381000"/>
                  <a:pt x="1583143" y="381000"/>
                  <a:pt x="1562100" y="381000"/>
                </a:cubicBezTo>
                <a:lnTo>
                  <a:pt x="38100" y="381000"/>
                </a:lnTo>
                <a:cubicBezTo>
                  <a:pt x="17057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68" name="AutoShape 68"/>
          <p:cNvSpPr/>
          <p:nvPr/>
        </p:nvSpPr>
        <p:spPr>
          <a:xfrm>
            <a:off x="9457055" y="19488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核心效用指标报告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9335135" y="2078990"/>
            <a:ext cx="792480" cy="1917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统计各项指标表现</a:t>
            </a:r>
            <a:endParaRPr lang="en-US" sz="1100"/>
          </a:p>
        </p:txBody>
      </p:sp>
      <p:sp>
        <p:nvSpPr>
          <p:cNvPr id="70" name="Freeform 70"/>
          <p:cNvSpPr/>
          <p:nvPr/>
        </p:nvSpPr>
        <p:spPr>
          <a:xfrm>
            <a:off x="8931275" y="2395855"/>
            <a:ext cx="1600200" cy="457200"/>
          </a:xfrm>
          <a:custGeom>
            <a:avLst/>
            <a:gdLst/>
            <a:ahLst/>
            <a:cxnLst/>
            <a:rect l="l" t="t" r="r" b="b"/>
            <a:pathLst>
              <a:path w="1600200" h="457200">
                <a:moveTo>
                  <a:pt x="1562100" y="0"/>
                </a:moveTo>
                <a:cubicBezTo>
                  <a:pt x="1583143" y="0"/>
                  <a:pt x="1600200" y="0"/>
                  <a:pt x="1600200" y="0"/>
                </a:cubicBezTo>
                <a:lnTo>
                  <a:pt x="1600200" y="457200"/>
                </a:lnTo>
                <a:cubicBezTo>
                  <a:pt x="1600200" y="457200"/>
                  <a:pt x="1583143" y="457200"/>
                  <a:pt x="15621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17A2B8">
              <a:alpha val="100000"/>
            </a:srgbClr>
          </a:solidFill>
          <a:ln w="12700" cap="flat" cmpd="sng">
            <a:solidFill>
              <a:srgbClr val="13849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1" name="AutoShape 71"/>
          <p:cNvSpPr/>
          <p:nvPr/>
        </p:nvSpPr>
        <p:spPr>
          <a:xfrm>
            <a:off x="9457055" y="2444115"/>
            <a:ext cx="5486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原始数据/配置/权重反查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9220835" y="2574290"/>
            <a:ext cx="1021080" cy="191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73" name="AutoShape 73"/>
          <p:cNvSpPr/>
          <p:nvPr/>
        </p:nvSpPr>
        <p:spPr>
          <a:xfrm>
            <a:off x="9297035" y="2688590"/>
            <a:ext cx="868680" cy="191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论文与复现材料</a:t>
            </a:r>
            <a:endParaRPr lang="en-US" sz="1100"/>
          </a:p>
        </p:txBody>
      </p:sp>
      <p:sp>
        <p:nvSpPr>
          <p:cNvPr id="74" name="Freeform 74"/>
          <p:cNvSpPr/>
          <p:nvPr/>
        </p:nvSpPr>
        <p:spPr>
          <a:xfrm>
            <a:off x="3825875" y="3005455"/>
            <a:ext cx="5905500" cy="533400"/>
          </a:xfrm>
          <a:custGeom>
            <a:avLst/>
            <a:gdLst/>
            <a:ahLst/>
            <a:cxnLst/>
            <a:rect l="l" t="t" r="r" b="b"/>
            <a:pathLst>
              <a:path w="5905500" h="533400">
                <a:moveTo>
                  <a:pt x="5905500" y="0"/>
                </a:moveTo>
                <a:cubicBezTo>
                  <a:pt x="5905500" y="355603"/>
                  <a:pt x="4953000" y="533400"/>
                  <a:pt x="3048000" y="533400"/>
                </a:cubicBezTo>
                <a:cubicBezTo>
                  <a:pt x="1015997" y="533400"/>
                  <a:pt x="0" y="406397"/>
                  <a:pt x="0" y="152400"/>
                </a:cubicBezTo>
              </a:path>
            </a:pathLst>
          </a:custGeom>
          <a:noFill/>
          <a:ln w="254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5" name="Freeform 75"/>
          <p:cNvSpPr/>
          <p:nvPr/>
        </p:nvSpPr>
        <p:spPr>
          <a:xfrm>
            <a:off x="3749675" y="311975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6" name="AutoShape 76"/>
          <p:cNvSpPr/>
          <p:nvPr/>
        </p:nvSpPr>
        <p:spPr>
          <a:xfrm>
            <a:off x="6355715" y="3532505"/>
            <a:ext cx="103632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 + 敏感性分析</a:t>
            </a:r>
            <a:endParaRPr lang="en-US" sz="1100"/>
          </a:p>
        </p:txBody>
      </p:sp>
      <p:sp>
        <p:nvSpPr>
          <p:cNvPr id="77" name="AutoShape 77"/>
          <p:cNvSpPr/>
          <p:nvPr/>
        </p:nvSpPr>
        <p:spPr>
          <a:xfrm>
            <a:off x="5913755" y="3701415"/>
            <a:ext cx="192024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为不同约束场景提供流程建议</a:t>
            </a:r>
            <a:endParaRPr lang="en-US" sz="1100"/>
          </a:p>
        </p:txBody>
      </p:sp>
      <p:sp>
        <p:nvSpPr>
          <p:cNvPr id="78" name="Freeform 78"/>
          <p:cNvSpPr/>
          <p:nvPr/>
        </p:nvSpPr>
        <p:spPr>
          <a:xfrm>
            <a:off x="1158875" y="4148455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9448800" y="0"/>
                </a:moveTo>
                <a:cubicBezTo>
                  <a:pt x="9490884" y="0"/>
                  <a:pt x="9525000" y="0"/>
                  <a:pt x="9525000" y="0"/>
                </a:cubicBezTo>
                <a:lnTo>
                  <a:pt x="9525000" y="1143000"/>
                </a:lnTo>
                <a:cubicBezTo>
                  <a:pt x="9525000" y="1143000"/>
                  <a:pt x="9490884" y="1143000"/>
                  <a:pt x="9448800" y="1143000"/>
                </a:cubicBezTo>
                <a:lnTo>
                  <a:pt x="76200" y="1143000"/>
                </a:lnTo>
                <a:cubicBezTo>
                  <a:pt x="34116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D1F2EB">
              <a:alpha val="100000"/>
            </a:srgbClr>
          </a:solidFill>
          <a:ln w="12700" cap="flat" cmpd="sng">
            <a:solidFill>
              <a:srgbClr val="52C41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79" name="AutoShape 79"/>
          <p:cNvSpPr/>
          <p:nvPr/>
        </p:nvSpPr>
        <p:spPr>
          <a:xfrm>
            <a:off x="5349875" y="4148455"/>
            <a:ext cx="1387475" cy="299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研究带来的价值</a:t>
            </a:r>
            <a:endParaRPr lang="en-US" sz="1100"/>
          </a:p>
        </p:txBody>
      </p:sp>
      <p:sp>
        <p:nvSpPr>
          <p:cNvPr id="80" name="Freeform 80"/>
          <p:cNvSpPr/>
          <p:nvPr/>
        </p:nvSpPr>
        <p:spPr>
          <a:xfrm>
            <a:off x="153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1" name="AutoShape 81"/>
          <p:cNvSpPr/>
          <p:nvPr/>
        </p:nvSpPr>
        <p:spPr>
          <a:xfrm>
            <a:off x="1837055" y="4561205"/>
            <a:ext cx="92964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/>
          </a:p>
        </p:txBody>
      </p:sp>
      <p:sp>
        <p:nvSpPr>
          <p:cNvPr id="82" name="AutoShape 82"/>
          <p:cNvSpPr/>
          <p:nvPr/>
        </p:nvSpPr>
        <p:spPr>
          <a:xfrm>
            <a:off x="1844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GPU 机时与人工工时待测算</a:t>
            </a:r>
            <a:endParaRPr lang="en-US" sz="1100"/>
          </a:p>
        </p:txBody>
      </p:sp>
      <p:sp>
        <p:nvSpPr>
          <p:cNvPr id="83" name="AutoShape 83"/>
          <p:cNvSpPr/>
          <p:nvPr/>
        </p:nvSpPr>
        <p:spPr>
          <a:xfrm>
            <a:off x="1890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193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5" name="Freeform 85"/>
          <p:cNvSpPr/>
          <p:nvPr/>
        </p:nvSpPr>
        <p:spPr>
          <a:xfrm>
            <a:off x="344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86" name="AutoShape 86"/>
          <p:cNvSpPr/>
          <p:nvPr/>
        </p:nvSpPr>
        <p:spPr>
          <a:xfrm>
            <a:off x="3795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标签质量诊断</a:t>
            </a:r>
            <a:endParaRPr lang="en-US" sz="1100"/>
          </a:p>
        </p:txBody>
      </p:sp>
      <p:sp>
        <p:nvSpPr>
          <p:cNvPr id="87" name="AutoShape 87"/>
          <p:cNvSpPr/>
          <p:nvPr/>
        </p:nvSpPr>
        <p:spPr>
          <a:xfrm>
            <a:off x="3749675" y="4730115"/>
            <a:ext cx="91440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验证漏检/误检能否下降、下游 mAP 能否提升</a:t>
            </a:r>
            <a:endParaRPr lang="en-US" sz="1100"/>
          </a:p>
        </p:txBody>
      </p:sp>
      <p:sp>
        <p:nvSpPr>
          <p:cNvPr id="88" name="AutoShape 88"/>
          <p:cNvSpPr/>
          <p:nvPr/>
        </p:nvSpPr>
        <p:spPr>
          <a:xfrm>
            <a:off x="3795395" y="48444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89" name="AutoShape 89"/>
          <p:cNvSpPr/>
          <p:nvPr/>
        </p:nvSpPr>
        <p:spPr>
          <a:xfrm>
            <a:off x="3886835" y="4958715"/>
            <a:ext cx="64008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0" name="Freeform 90"/>
          <p:cNvSpPr/>
          <p:nvPr/>
        </p:nvSpPr>
        <p:spPr>
          <a:xfrm>
            <a:off x="534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1" name="AutoShape 91"/>
          <p:cNvSpPr/>
          <p:nvPr/>
        </p:nvSpPr>
        <p:spPr>
          <a:xfrm>
            <a:off x="5647055" y="4561205"/>
            <a:ext cx="92964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人工负担可控</a:t>
            </a:r>
            <a:endParaRPr lang="en-US" sz="1100"/>
          </a:p>
        </p:txBody>
      </p:sp>
      <p:sp>
        <p:nvSpPr>
          <p:cNvPr id="92" name="AutoShape 92"/>
          <p:cNvSpPr/>
          <p:nvPr/>
        </p:nvSpPr>
        <p:spPr>
          <a:xfrm>
            <a:off x="5746115" y="47301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只做必要抽检与修正</a:t>
            </a:r>
            <a:endParaRPr lang="en-US" sz="1100"/>
          </a:p>
        </p:txBody>
      </p:sp>
      <p:sp>
        <p:nvSpPr>
          <p:cNvPr id="93" name="AutoShape 93"/>
          <p:cNvSpPr/>
          <p:nvPr/>
        </p:nvSpPr>
        <p:spPr>
          <a:xfrm>
            <a:off x="574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4" name="AutoShape 94"/>
          <p:cNvSpPr/>
          <p:nvPr/>
        </p:nvSpPr>
        <p:spPr>
          <a:xfrm>
            <a:off x="5700395" y="4958715"/>
            <a:ext cx="82296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5" name="Freeform 95"/>
          <p:cNvSpPr/>
          <p:nvPr/>
        </p:nvSpPr>
        <p:spPr>
          <a:xfrm>
            <a:off x="7254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96" name="AutoShape 96"/>
          <p:cNvSpPr/>
          <p:nvPr/>
        </p:nvSpPr>
        <p:spPr>
          <a:xfrm>
            <a:off x="7605395" y="4561205"/>
            <a:ext cx="822960" cy="232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流程可复现</a:t>
            </a:r>
            <a:endParaRPr lang="en-US" sz="1100"/>
          </a:p>
        </p:txBody>
      </p:sp>
      <p:sp>
        <p:nvSpPr>
          <p:cNvPr id="97" name="AutoShape 97"/>
          <p:cNvSpPr/>
          <p:nvPr/>
        </p:nvSpPr>
        <p:spPr>
          <a:xfrm>
            <a:off x="7605395" y="47301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可记录、可追溯、可反查</a:t>
            </a:r>
            <a:endParaRPr lang="en-US" sz="1100"/>
          </a:p>
        </p:txBody>
      </p:sp>
      <p:sp>
        <p:nvSpPr>
          <p:cNvPr id="98" name="AutoShape 98"/>
          <p:cNvSpPr/>
          <p:nvPr/>
        </p:nvSpPr>
        <p:spPr>
          <a:xfrm>
            <a:off x="7651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99" name="Freeform 99"/>
          <p:cNvSpPr/>
          <p:nvPr/>
        </p:nvSpPr>
        <p:spPr>
          <a:xfrm>
            <a:off x="9159875" y="4529455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524000" h="609600">
                <a:moveTo>
                  <a:pt x="1485900" y="0"/>
                </a:moveTo>
                <a:cubicBezTo>
                  <a:pt x="1506943" y="0"/>
                  <a:pt x="1524000" y="0"/>
                  <a:pt x="1524000" y="0"/>
                </a:cubicBezTo>
                <a:lnTo>
                  <a:pt x="1524000" y="609600"/>
                </a:lnTo>
                <a:cubicBezTo>
                  <a:pt x="1524000" y="609600"/>
                  <a:pt x="1506943" y="609600"/>
                  <a:pt x="1485900" y="609600"/>
                </a:cubicBezTo>
                <a:lnTo>
                  <a:pt x="38100" y="609600"/>
                </a:lnTo>
                <a:cubicBezTo>
                  <a:pt x="17057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52C41A">
              <a:alpha val="100000"/>
            </a:srgbClr>
          </a:solidFill>
          <a:ln w="12700" cap="flat" cmpd="sng">
            <a:solidFill>
              <a:srgbClr val="389E0D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0" name="AutoShape 100"/>
          <p:cNvSpPr/>
          <p:nvPr/>
        </p:nvSpPr>
        <p:spPr>
          <a:xfrm>
            <a:off x="9510395" y="4561205"/>
            <a:ext cx="822960" cy="2324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非刚性目标流程参考</a:t>
            </a:r>
            <a:endParaRPr lang="en-US" sz="1100"/>
          </a:p>
        </p:txBody>
      </p:sp>
      <p:sp>
        <p:nvSpPr>
          <p:cNvPr id="101" name="AutoShape 101"/>
          <p:cNvSpPr/>
          <p:nvPr/>
        </p:nvSpPr>
        <p:spPr>
          <a:xfrm>
            <a:off x="9556115" y="47301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为同类非刚性目标提供流程参考</a:t>
            </a:r>
            <a:endParaRPr lang="en-US" sz="1100"/>
          </a:p>
        </p:txBody>
      </p:sp>
      <p:sp>
        <p:nvSpPr>
          <p:cNvPr id="102" name="AutoShape 102"/>
          <p:cNvSpPr/>
          <p:nvPr/>
        </p:nvSpPr>
        <p:spPr>
          <a:xfrm>
            <a:off x="9556115" y="48444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3" name="AutoShape 103"/>
          <p:cNvSpPr/>
          <p:nvPr/>
        </p:nvSpPr>
        <p:spPr>
          <a:xfrm>
            <a:off x="9556115" y="4958715"/>
            <a:ext cx="731520" cy="21209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104" name="Freeform 104"/>
          <p:cNvSpPr/>
          <p:nvPr/>
        </p:nvSpPr>
        <p:spPr>
          <a:xfrm>
            <a:off x="2301875" y="5596255"/>
            <a:ext cx="7620000" cy="609600"/>
          </a:xfrm>
          <a:custGeom>
            <a:avLst/>
            <a:gdLst/>
            <a:ahLst/>
            <a:cxnLst/>
            <a:rect l="l" t="t" r="r" b="b"/>
            <a:pathLst>
              <a:path w="7620000" h="609600">
                <a:moveTo>
                  <a:pt x="7543800" y="0"/>
                </a:moveTo>
                <a:cubicBezTo>
                  <a:pt x="7585884" y="0"/>
                  <a:pt x="7620000" y="0"/>
                  <a:pt x="7620000" y="0"/>
                </a:cubicBezTo>
                <a:lnTo>
                  <a:pt x="7620000" y="609600"/>
                </a:lnTo>
                <a:cubicBezTo>
                  <a:pt x="7620000" y="609600"/>
                  <a:pt x="7585884" y="609600"/>
                  <a:pt x="7543800" y="609600"/>
                </a:cubicBezTo>
                <a:lnTo>
                  <a:pt x="76200" y="609600"/>
                </a:lnTo>
                <a:cubicBezTo>
                  <a:pt x="34116" y="609600"/>
                  <a:pt x="0" y="609600"/>
                  <a:pt x="0" y="609600"/>
                </a:cubicBezTo>
                <a:lnTo>
                  <a:pt x="0" y="0"/>
                </a:lnTo>
                <a:cubicBezTo>
                  <a:pt x="0" y="0"/>
                  <a:pt x="34116" y="0"/>
                  <a:pt x="76200" y="0"/>
                </a:cubicBezTo>
                <a:close/>
              </a:path>
            </a:pathLst>
          </a:custGeom>
          <a:solidFill>
            <a:srgbClr val="FFF3CD">
              <a:alpha val="100000"/>
            </a:srgbClr>
          </a:solidFill>
          <a:ln w="12700" cap="flat" cmpd="sng">
            <a:solidFill>
              <a:srgbClr val="FFC10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05" name="AutoShape 105"/>
          <p:cNvSpPr/>
          <p:nvPr/>
        </p:nvSpPr>
        <p:spPr>
          <a:xfrm>
            <a:off x="5715635" y="5612130"/>
            <a:ext cx="792480" cy="252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核心创新点</a:t>
            </a:r>
            <a:endParaRPr lang="en-US" sz="1100"/>
          </a:p>
        </p:txBody>
      </p:sp>
      <p:sp>
        <p:nvSpPr>
          <p:cNvPr id="106" name="AutoShape 106"/>
          <p:cNvSpPr/>
          <p:nvPr/>
        </p:nvSpPr>
        <p:spPr>
          <a:xfrm>
            <a:off x="3006725" y="5835015"/>
            <a:ext cx="87630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GD定位+SAM3审核+YOLO裁判</a:t>
            </a:r>
            <a:endParaRPr lang="en-US" sz="1100"/>
          </a:p>
        </p:txBody>
      </p:sp>
      <p:sp>
        <p:nvSpPr>
          <p:cNvPr id="107" name="AutoShape 107"/>
          <p:cNvSpPr/>
          <p:nvPr/>
        </p:nvSpPr>
        <p:spPr>
          <a:xfrm>
            <a:off x="4557395" y="5835015"/>
            <a:ext cx="86868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权限隔离与阶段门控</a:t>
            </a:r>
            <a:endParaRPr lang="en-US" sz="1100"/>
          </a:p>
        </p:txBody>
      </p:sp>
      <p:sp>
        <p:nvSpPr>
          <p:cNvPr id="108" name="AutoShape 108"/>
          <p:cNvSpPr/>
          <p:nvPr/>
        </p:nvSpPr>
        <p:spPr>
          <a:xfrm>
            <a:off x="6081395" y="5835015"/>
            <a:ext cx="82296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精度/时间/人工 Pareto 权衡</a:t>
            </a:r>
            <a:endParaRPr lang="en-US" sz="1100"/>
          </a:p>
        </p:txBody>
      </p:sp>
      <p:sp>
        <p:nvSpPr>
          <p:cNvPr id="109" name="AutoShape 109"/>
          <p:cNvSpPr/>
          <p:nvPr/>
        </p:nvSpPr>
        <p:spPr>
          <a:xfrm>
            <a:off x="7651115" y="58350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多规模流程选型</a:t>
            </a:r>
            <a:endParaRPr lang="en-US" sz="1100"/>
          </a:p>
        </p:txBody>
      </p:sp>
      <p:sp>
        <p:nvSpPr>
          <p:cNvPr id="110" name="AutoShape 110"/>
          <p:cNvSpPr/>
          <p:nvPr/>
        </p:nvSpPr>
        <p:spPr>
          <a:xfrm>
            <a:off x="5205095" y="5949315"/>
            <a:ext cx="181419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单次人工标注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""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可复现的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+</a:t>
            </a:r>
            <a:r>
              <a:rPr lang="en-US" sz="900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伪标签生产流程</a:t>
            </a:r>
            <a:r>
              <a:rPr lang="en-US" sz="825" b="0" i="0" u="none" strike="noStrike">
                <a:solidFill>
                  <a:srgbClr val="856404"/>
                </a:solidFill>
                <a:latin typeface="微软雅黑"/>
                <a:ea typeface="微软雅黑"/>
                <a:cs typeface="微软雅黑"/>
                <a:sym typeface="微软雅黑"/>
              </a:rPr>
              <a:t>"</a:t>
            </a:r>
            <a:endParaRPr lang="en-US" sz="1100"/>
          </a:p>
        </p:txBody>
      </p:sp>
      <p:sp>
        <p:nvSpPr>
          <p:cNvPr id="111" name="Freeform 111"/>
          <p:cNvSpPr/>
          <p:nvPr/>
        </p:nvSpPr>
        <p:spPr>
          <a:xfrm>
            <a:off x="1158875" y="6358255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3771900" y="0"/>
                </a:moveTo>
                <a:cubicBezTo>
                  <a:pt x="3792943" y="0"/>
                  <a:pt x="3810000" y="0"/>
                  <a:pt x="3810000" y="0"/>
                </a:cubicBezTo>
                <a:lnTo>
                  <a:pt x="3810000" y="457200"/>
                </a:lnTo>
                <a:cubicBezTo>
                  <a:pt x="3810000" y="457200"/>
                  <a:pt x="3792943" y="457200"/>
                  <a:pt x="3771900" y="457200"/>
                </a:cubicBezTo>
                <a:lnTo>
                  <a:pt x="38100" y="457200"/>
                </a:lnTo>
                <a:cubicBezTo>
                  <a:pt x="17057" y="457200"/>
                  <a:pt x="0" y="457200"/>
                  <a:pt x="0" y="457200"/>
                </a:cubicBezTo>
                <a:lnTo>
                  <a:pt x="0" y="0"/>
                </a:lnTo>
                <a:cubicBezTo>
                  <a:pt x="0" y="0"/>
                  <a:pt x="17057" y="0"/>
                  <a:pt x="38100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2" name="AutoShape 112"/>
          <p:cNvSpPr/>
          <p:nvPr/>
        </p:nvSpPr>
        <p:spPr>
          <a:xfrm>
            <a:off x="1143635" y="6351905"/>
            <a:ext cx="609600" cy="2324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流程说明</a:t>
            </a:r>
            <a:endParaRPr lang="en-US" sz="1100"/>
          </a:p>
        </p:txBody>
      </p:sp>
      <p:sp>
        <p:nvSpPr>
          <p:cNvPr id="113" name="Freeform 113"/>
          <p:cNvSpPr/>
          <p:nvPr/>
        </p:nvSpPr>
        <p:spPr>
          <a:xfrm>
            <a:off x="1250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3498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4" name="AutoShape 114"/>
          <p:cNvSpPr/>
          <p:nvPr/>
        </p:nvSpPr>
        <p:spPr>
          <a:xfrm>
            <a:off x="1334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数据与测试治理</a:t>
            </a:r>
            <a:endParaRPr lang="en-US" sz="1100"/>
          </a:p>
        </p:txBody>
      </p:sp>
      <p:sp>
        <p:nvSpPr>
          <p:cNvPr id="115" name="Freeform 115"/>
          <p:cNvSpPr/>
          <p:nvPr/>
        </p:nvSpPr>
        <p:spPr>
          <a:xfrm>
            <a:off x="2012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27AE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6" name="AutoShape 116"/>
          <p:cNvSpPr/>
          <p:nvPr/>
        </p:nvSpPr>
        <p:spPr>
          <a:xfrm>
            <a:off x="2096135" y="6520815"/>
            <a:ext cx="628015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25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AI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V1自动生成</a:t>
            </a:r>
            <a:endParaRPr lang="en-US" sz="1100"/>
          </a:p>
        </p:txBody>
      </p:sp>
      <p:sp>
        <p:nvSpPr>
          <p:cNvPr id="117" name="Freeform 117"/>
          <p:cNvSpPr/>
          <p:nvPr/>
        </p:nvSpPr>
        <p:spPr>
          <a:xfrm>
            <a:off x="27743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18" name="AutoShape 118"/>
          <p:cNvSpPr/>
          <p:nvPr/>
        </p:nvSpPr>
        <p:spPr>
          <a:xfrm>
            <a:off x="28581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SAM3后置</a:t>
            </a:r>
            <a:endParaRPr lang="en-US" sz="1100"/>
          </a:p>
        </p:txBody>
      </p:sp>
      <p:sp>
        <p:nvSpPr>
          <p:cNvPr id="119" name="Freeform 119"/>
          <p:cNvSpPr/>
          <p:nvPr/>
        </p:nvSpPr>
        <p:spPr>
          <a:xfrm>
            <a:off x="3612515" y="6563995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20" h="121920">
                <a:moveTo>
                  <a:pt x="121920" y="60960"/>
                </a:moveTo>
                <a:cubicBezTo>
                  <a:pt x="121920" y="94626"/>
                  <a:pt x="94626" y="121920"/>
                  <a:pt x="60960" y="121920"/>
                </a:cubicBezTo>
                <a:cubicBezTo>
                  <a:pt x="27294" y="121920"/>
                  <a:pt x="0" y="94626"/>
                  <a:pt x="0" y="60960"/>
                </a:cubicBezTo>
                <a:cubicBezTo>
                  <a:pt x="0" y="27294"/>
                  <a:pt x="27294" y="0"/>
                  <a:pt x="60960" y="0"/>
                </a:cubicBezTo>
                <a:cubicBezTo>
                  <a:pt x="94626" y="0"/>
                  <a:pt x="121920" y="27294"/>
                  <a:pt x="121920" y="60960"/>
                </a:cubicBezTo>
                <a:close/>
              </a:path>
            </a:pathLst>
          </a:custGeom>
          <a:solidFill>
            <a:srgbClr val="95A5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0" name="AutoShape 120"/>
          <p:cNvSpPr/>
          <p:nvPr/>
        </p:nvSpPr>
        <p:spPr>
          <a:xfrm>
            <a:off x="3696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稳定性复验</a:t>
            </a:r>
            <a:endParaRPr lang="en-US" sz="1100"/>
          </a:p>
        </p:txBody>
      </p:sp>
      <p:sp>
        <p:nvSpPr>
          <p:cNvPr id="121" name="Freeform 121"/>
          <p:cNvSpPr/>
          <p:nvPr/>
        </p:nvSpPr>
        <p:spPr>
          <a:xfrm>
            <a:off x="4283075" y="6624955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>
              <a:alpha val="100000"/>
            </a:srgbClr>
          </a:solidFill>
          <a:ln w="12700" cap="flat" cmpd="sng">
            <a:solidFill>
              <a:srgbClr val="E74C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sp>
        <p:nvSpPr>
          <p:cNvPr id="122" name="AutoShape 122"/>
          <p:cNvSpPr/>
          <p:nvPr/>
        </p:nvSpPr>
        <p:spPr>
          <a:xfrm>
            <a:off x="4458335" y="6520815"/>
            <a:ext cx="731520" cy="212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多规模选型</a:t>
            </a:r>
            <a:endParaRPr lang="en-US" sz="1100"/>
          </a:p>
        </p:txBody>
      </p:sp>
      <p:pic>
        <p:nvPicPr>
          <p:cNvPr id="123" name="Picture 1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4490" y="119380"/>
            <a:ext cx="518160" cy="5181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4460" y="141022"/>
            <a:ext cx="1783080" cy="3931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数据划分与 V1 生成流程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709160" y="412149"/>
            <a:ext cx="2773680" cy="292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从多源火烟图像到可训练的 V1 伪标签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1809750" y="952500"/>
            <a:ext cx="8572500" cy="952500"/>
          </a:xfrm>
          <a:custGeom>
            <a:avLst/>
            <a:gdLst/>
            <a:ahLst/>
            <a:cxnLst/>
            <a:rect l="l" t="t" r="r" b="b"/>
            <a:pathLst>
              <a:path w="8572500" h="9525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952500"/>
                </a:lnTo>
                <a:cubicBezTo>
                  <a:pt x="8572500" y="952500"/>
                  <a:pt x="8529855" y="952500"/>
                  <a:pt x="8477250" y="952500"/>
                </a:cubicBezTo>
                <a:lnTo>
                  <a:pt x="95250" y="952500"/>
                </a:lnTo>
                <a:cubicBezTo>
                  <a:pt x="42645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3498DB">
                  <a:alpha val="100000"/>
                </a:srgbClr>
              </a:gs>
              <a:gs pos="50000">
                <a:srgbClr val="2E8CCA">
                  <a:alpha val="100000"/>
                </a:srgbClr>
              </a:gs>
              <a:gs pos="100000">
                <a:srgbClr val="2980B9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79875" y="963295"/>
            <a:ext cx="4733925" cy="29908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第一步：数据划分与测试隔离（</a:t>
            </a:r>
            <a:r>
              <a:rPr lang="en-US" sz="135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目前</a:t>
            </a: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）已完成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095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375535" y="1357338"/>
            <a:ext cx="8686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7435" y="1520370"/>
            <a:ext cx="944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用于 YOLO 训练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37147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2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090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043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提示词与阈值检索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3340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283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隔离测试集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95020" y="1520370"/>
            <a:ext cx="706708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禁止参与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750" b="0" i="0" u="none" strike="noStrik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调参</a:t>
            </a: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等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95325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4758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数据谱系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4281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按来源分组划分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8572500" y="1333500"/>
            <a:ext cx="1428750" cy="476250"/>
          </a:xfrm>
          <a:custGeom>
            <a:avLst/>
            <a:gdLst/>
            <a:ahLst/>
            <a:cxnLst/>
            <a:rect l="l" t="t" r="r" b="b"/>
            <a:pathLst>
              <a:path w="1428750" h="476250">
                <a:moveTo>
                  <a:pt x="1381125" y="0"/>
                </a:moveTo>
                <a:cubicBezTo>
                  <a:pt x="1407428" y="0"/>
                  <a:pt x="1428750" y="0"/>
                  <a:pt x="1428750" y="0"/>
                </a:cubicBezTo>
                <a:lnTo>
                  <a:pt x="1428750" y="476250"/>
                </a:lnTo>
                <a:cubicBezTo>
                  <a:pt x="1428750" y="476250"/>
                  <a:pt x="1407428" y="476250"/>
                  <a:pt x="1381125" y="476250"/>
                </a:cubicBezTo>
                <a:lnTo>
                  <a:pt x="47625" y="476250"/>
                </a:lnTo>
                <a:cubicBezTo>
                  <a:pt x="21323" y="476250"/>
                  <a:pt x="0" y="476250"/>
                  <a:pt x="0" y="4762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66835" y="13573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元数据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62060" y="1520370"/>
            <a:ext cx="8496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版本固化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1809750" y="2286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9B59B6">
                  <a:alpha val="100000"/>
                </a:srgbClr>
              </a:gs>
              <a:gs pos="50000">
                <a:srgbClr val="944EB1">
                  <a:alpha val="100000"/>
                </a:srgbClr>
              </a:gs>
              <a:gs pos="100000">
                <a:srgbClr val="8E44AD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975860" y="2296795"/>
            <a:ext cx="3962400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第二步：提示词与阈值冻结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2095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3374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候选提示词评测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3850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在开发集上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385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独立评测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34529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评估指标</a:t>
            </a:r>
            <a:r>
              <a:rPr lang="en-US" sz="750" b="0" i="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P/R/F1/IoU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5242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2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76618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网格搜索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7661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连续置信区间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8138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阈值扫描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774044" y="3101520"/>
            <a:ext cx="73866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E74C3C"/>
                </a:solidFill>
                <a:latin typeface="微软雅黑"/>
                <a:ea typeface="微软雅黑"/>
                <a:cs typeface="微软雅黑"/>
                <a:sym typeface="微软雅黑"/>
              </a:rPr>
              <a:t>收敛优先级</a:t>
            </a:r>
            <a:r>
              <a:rPr lang="en-US" sz="750" b="0" i="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mAP→AP75→F1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49530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194935" y="2690838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Bootstrap 重采样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242560" y="2853870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95% 置信区间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290185" y="2977695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稳定性估计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189539" y="3101520"/>
            <a:ext cx="76517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保存形式</a:t>
            </a:r>
            <a:r>
              <a:rPr lang="en-US" sz="750" b="0" i="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YAML 配置</a:t>
            </a:r>
            <a:endParaRPr lang="en-US" sz="1100"/>
          </a:p>
        </p:txBody>
      </p:sp>
      <p:sp>
        <p:nvSpPr>
          <p:cNvPr id="38" name="Freeform 38"/>
          <p:cNvSpPr/>
          <p:nvPr/>
        </p:nvSpPr>
        <p:spPr>
          <a:xfrm>
            <a:off x="638175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68083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版本硬冻结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23685" y="2853870"/>
            <a:ext cx="7543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67131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作为超参数统一管理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591872" y="3101520"/>
            <a:ext cx="818004" cy="21715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7810500" y="2667000"/>
            <a:ext cx="1238250" cy="666750"/>
          </a:xfrm>
          <a:custGeom>
            <a:avLst/>
            <a:gdLst/>
            <a:ahLst/>
            <a:cxnLst/>
            <a:rect l="l" t="t" r="r" b="b"/>
            <a:pathLst>
              <a:path w="1238250" h="666750">
                <a:moveTo>
                  <a:pt x="1190625" y="0"/>
                </a:moveTo>
                <a:cubicBezTo>
                  <a:pt x="1216928" y="0"/>
                  <a:pt x="1238250" y="0"/>
                  <a:pt x="1238250" y="0"/>
                </a:cubicBezTo>
                <a:lnTo>
                  <a:pt x="1238250" y="666750"/>
                </a:lnTo>
                <a:cubicBezTo>
                  <a:pt x="1238250" y="666750"/>
                  <a:pt x="1216928" y="666750"/>
                  <a:pt x="1190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09585" y="2690838"/>
            <a:ext cx="6400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标签诊断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47685" y="2853870"/>
            <a:ext cx="56388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漏检/误检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100060" y="2977695"/>
            <a:ext cx="659130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7F8C8D"/>
                </a:solidFill>
                <a:latin typeface="微软雅黑"/>
                <a:ea typeface="微软雅黑"/>
                <a:cs typeface="微软雅黑"/>
                <a:sym typeface="微软雅黑"/>
              </a:rPr>
              <a:t>框偏差统计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033808" y="31015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2ECC71"/>
                </a:solidFill>
                <a:latin typeface="微软雅黑"/>
                <a:ea typeface="微软雅黑"/>
                <a:cs typeface="微软雅黑"/>
                <a:sym typeface="微软雅黑"/>
              </a:rPr>
              <a:t>输出</a:t>
            </a:r>
            <a:r>
              <a:rPr lang="en-US" sz="750" b="0" i="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48" name="Freeform 48"/>
          <p:cNvSpPr/>
          <p:nvPr/>
        </p:nvSpPr>
        <p:spPr>
          <a:xfrm>
            <a:off x="9239250" y="2667000"/>
            <a:ext cx="857250" cy="666750"/>
          </a:xfrm>
          <a:custGeom>
            <a:avLst/>
            <a:gdLst/>
            <a:ahLst/>
            <a:cxnLst/>
            <a:rect l="l" t="t" r="r" b="b"/>
            <a:pathLst>
              <a:path w="857250" h="666750">
                <a:moveTo>
                  <a:pt x="809625" y="0"/>
                </a:moveTo>
                <a:cubicBezTo>
                  <a:pt x="835927" y="0"/>
                  <a:pt x="857250" y="0"/>
                  <a:pt x="857250" y="0"/>
                </a:cubicBezTo>
                <a:lnTo>
                  <a:pt x="857250" y="666750"/>
                </a:lnTo>
                <a:cubicBezTo>
                  <a:pt x="857250" y="666750"/>
                  <a:pt x="835927" y="666750"/>
                  <a:pt x="809625" y="666750"/>
                </a:cubicBezTo>
                <a:lnTo>
                  <a:pt x="47625" y="666750"/>
                </a:lnTo>
                <a:cubicBezTo>
                  <a:pt x="21323" y="666750"/>
                  <a:pt x="0" y="666750"/>
                  <a:pt x="0" y="66675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39C1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290685" y="2738463"/>
            <a:ext cx="754380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下游验证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404985" y="29115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统一 YOLO 训练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9404985" y="30258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9404985" y="3140173"/>
            <a:ext cx="525780" cy="2045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675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判断 V1 价值</a:t>
            </a:r>
            <a:endParaRPr lang="en-US" sz="1100"/>
          </a:p>
        </p:txBody>
      </p:sp>
      <p:sp>
        <p:nvSpPr>
          <p:cNvPr id="53" name="Freeform 53"/>
          <p:cNvSpPr/>
          <p:nvPr/>
        </p:nvSpPr>
        <p:spPr>
          <a:xfrm>
            <a:off x="1809750" y="3810000"/>
            <a:ext cx="8572500" cy="1143000"/>
          </a:xfrm>
          <a:custGeom>
            <a:avLst/>
            <a:gdLst/>
            <a:ahLst/>
            <a:cxnLst/>
            <a:rect l="l" t="t" r="r" b="b"/>
            <a:pathLst>
              <a:path w="8572500" h="1143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1143000"/>
                </a:lnTo>
                <a:cubicBezTo>
                  <a:pt x="8572500" y="1143000"/>
                  <a:pt x="8529855" y="1143000"/>
                  <a:pt x="8477250" y="1143000"/>
                </a:cubicBezTo>
                <a:lnTo>
                  <a:pt x="95250" y="1143000"/>
                </a:lnTo>
                <a:cubicBezTo>
                  <a:pt x="42645" y="1143000"/>
                  <a:pt x="0" y="1143000"/>
                  <a:pt x="0" y="1143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gradFill rotWithShape="1">
            <a:gsLst>
              <a:gs pos="0">
                <a:srgbClr val="2ECC71">
                  <a:alpha val="100000"/>
                </a:srgbClr>
              </a:gs>
              <a:gs pos="50000">
                <a:srgbClr val="2ABD68">
                  <a:alpha val="100000"/>
                </a:srgbClr>
              </a:gs>
              <a:gs pos="100000">
                <a:srgbClr val="27AE60">
                  <a:alpha val="10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4890135" y="3820795"/>
            <a:ext cx="3543935" cy="2990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第三步：V1 批量生成与诊断</a:t>
            </a:r>
            <a:endParaRPr lang="en-US" sz="1100"/>
          </a:p>
        </p:txBody>
      </p:sp>
      <p:sp>
        <p:nvSpPr>
          <p:cNvPr id="55" name="Freeform 55"/>
          <p:cNvSpPr/>
          <p:nvPr/>
        </p:nvSpPr>
        <p:spPr>
          <a:xfrm>
            <a:off x="2286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2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27506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训练集</a:t>
            </a:r>
            <a:r>
              <a:rPr lang="en-US" sz="1050" b="1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批量推理产出 V1</a:t>
            </a:r>
            <a:endParaRPr lang="en-US" sz="1100"/>
          </a:p>
        </p:txBody>
      </p:sp>
      <p:sp>
        <p:nvSpPr>
          <p:cNvPr id="57" name="Freeform 57"/>
          <p:cNvSpPr/>
          <p:nvPr/>
        </p:nvSpPr>
        <p:spPr>
          <a:xfrm>
            <a:off x="43815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48461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验证集</a:t>
            </a:r>
            <a:r>
              <a:rPr lang="en-US" sz="1050" b="1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 下游基线</a:t>
            </a:r>
            <a:endParaRPr lang="en-US" sz="1100"/>
          </a:p>
        </p:txBody>
      </p:sp>
      <p:sp>
        <p:nvSpPr>
          <p:cNvPr id="59" name="Freeform 59"/>
          <p:cNvSpPr/>
          <p:nvPr/>
        </p:nvSpPr>
        <p:spPr>
          <a:xfrm>
            <a:off x="6477000" y="4286250"/>
            <a:ext cx="1905000" cy="571500"/>
          </a:xfrm>
          <a:custGeom>
            <a:avLst/>
            <a:gdLst/>
            <a:ahLst/>
            <a:cxnLst/>
            <a:rect l="l" t="t" r="r" b="b"/>
            <a:pathLst>
              <a:path w="1905000" h="571500">
                <a:moveTo>
                  <a:pt x="1857375" y="0"/>
                </a:moveTo>
                <a:cubicBezTo>
                  <a:pt x="1883678" y="0"/>
                  <a:pt x="1905000" y="0"/>
                  <a:pt x="1905000" y="0"/>
                </a:cubicBezTo>
                <a:lnTo>
                  <a:pt x="1905000" y="571500"/>
                </a:lnTo>
                <a:cubicBezTo>
                  <a:pt x="1905000" y="571500"/>
                  <a:pt x="1883678" y="571500"/>
                  <a:pt x="1857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6941656" y="4289931"/>
            <a:ext cx="975687" cy="2674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1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测试集</a:t>
            </a:r>
            <a:r>
              <a:rPr lang="en-US" sz="1050" b="1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YOLO 下游基线</a:t>
            </a:r>
            <a:endParaRPr lang="en-US" sz="1100"/>
          </a:p>
        </p:txBody>
      </p:sp>
      <p:sp>
        <p:nvSpPr>
          <p:cNvPr id="61" name="Freeform 61"/>
          <p:cNvSpPr/>
          <p:nvPr/>
        </p:nvSpPr>
        <p:spPr>
          <a:xfrm>
            <a:off x="8572500" y="4286250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476375" y="0"/>
                </a:moveTo>
                <a:cubicBezTo>
                  <a:pt x="1502678" y="0"/>
                  <a:pt x="1524000" y="0"/>
                  <a:pt x="1524000" y="0"/>
                </a:cubicBezTo>
                <a:lnTo>
                  <a:pt x="1524000" y="571500"/>
                </a:lnTo>
                <a:cubicBezTo>
                  <a:pt x="1524000" y="571500"/>
                  <a:pt x="1502678" y="571500"/>
                  <a:pt x="1476375" y="571500"/>
                </a:cubicBezTo>
                <a:lnTo>
                  <a:pt x="47625" y="571500"/>
                </a:lnTo>
                <a:cubicBezTo>
                  <a:pt x="21323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21323" y="0"/>
                  <a:pt x="47625" y="0"/>
                </a:cubicBezTo>
                <a:close/>
              </a:path>
            </a:pathLst>
          </a:custGeom>
          <a:solidFill>
            <a:srgbClr val="34495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8814435" y="4279853"/>
            <a:ext cx="1040130" cy="28000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125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标签层诊断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8938683" y="44731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静态指标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P/R/mAP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8938683" y="45874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性能保留率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相对人工 GT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8938683" y="4701720"/>
            <a:ext cx="791633" cy="217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750" b="0" i="0" u="none" strike="noStrike">
                <a:solidFill>
                  <a:srgbClr val="BDC3C7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可复现性</a:t>
            </a:r>
            <a:r>
              <a:rPr lang="en-US" sz="750" b="0" i="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版本可反查</a:t>
            </a:r>
            <a:endParaRPr lang="en-US" sz="1100"/>
          </a:p>
        </p:txBody>
      </p:sp>
      <p:sp>
        <p:nvSpPr>
          <p:cNvPr id="66" name="Freeform 66"/>
          <p:cNvSpPr/>
          <p:nvPr/>
        </p:nvSpPr>
        <p:spPr>
          <a:xfrm>
            <a:off x="1809750" y="5334000"/>
            <a:ext cx="8572500" cy="762000"/>
          </a:xfrm>
          <a:custGeom>
            <a:avLst/>
            <a:gdLst/>
            <a:ahLst/>
            <a:cxnLst/>
            <a:rect l="l" t="t" r="r" b="b"/>
            <a:pathLst>
              <a:path w="8572500" h="762000">
                <a:moveTo>
                  <a:pt x="8477250" y="0"/>
                </a:moveTo>
                <a:cubicBezTo>
                  <a:pt x="8529855" y="0"/>
                  <a:pt x="8572500" y="0"/>
                  <a:pt x="8572500" y="0"/>
                </a:cubicBezTo>
                <a:lnTo>
                  <a:pt x="8572500" y="762000"/>
                </a:lnTo>
                <a:cubicBezTo>
                  <a:pt x="8572500" y="762000"/>
                  <a:pt x="8529855" y="762000"/>
                  <a:pt x="8477250" y="762000"/>
                </a:cubicBezTo>
                <a:lnTo>
                  <a:pt x="95250" y="762000"/>
                </a:lnTo>
                <a:cubicBezTo>
                  <a:pt x="42645" y="762000"/>
                  <a:pt x="0" y="762000"/>
                  <a:pt x="0" y="762000"/>
                </a:cubicBezTo>
                <a:lnTo>
                  <a:pt x="0" y="0"/>
                </a:lnTo>
                <a:cubicBezTo>
                  <a:pt x="0" y="0"/>
                  <a:pt x="42645" y="0"/>
                  <a:pt x="95250" y="0"/>
                </a:cubicBezTo>
                <a:close/>
              </a:path>
            </a:pathLst>
          </a:custGeom>
          <a:solidFill>
            <a:srgbClr val="E67E2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4718685" y="5344992"/>
            <a:ext cx="2754630" cy="31772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最终输出：V1 基准伪标签</a:t>
            </a:r>
            <a:endParaRPr lang="en-US" sz="1100"/>
          </a:p>
        </p:txBody>
      </p:sp>
      <p:sp>
        <p:nvSpPr>
          <p:cNvPr id="68" name="AutoShape 68"/>
          <p:cNvSpPr/>
          <p:nvPr/>
        </p:nvSpPr>
        <p:spPr>
          <a:xfrm>
            <a:off x="4128576" y="5575806"/>
            <a:ext cx="3934846" cy="267438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0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总计</a:t>
            </a:r>
            <a:r>
              <a:rPr lang="en-US" sz="105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约 3000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张图像</a:t>
            </a:r>
            <a:r>
              <a:rPr lang="en-US" sz="105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可直接用于</a:t>
            </a:r>
            <a:r>
              <a:rPr lang="en-US" sz="105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r>
              <a:rPr lang="en-US" sz="105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训练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4357702" y="5738838"/>
            <a:ext cx="3476595" cy="2422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数据格式：标签版本 + 配置指纹 + 训练记录</a:t>
            </a:r>
            <a:endParaRPr lang="en-US" sz="1100"/>
          </a:p>
        </p:txBody>
      </p:sp>
      <p:sp>
        <p:nvSpPr>
          <p:cNvPr id="70" name="Freeform 70"/>
          <p:cNvSpPr/>
          <p:nvPr/>
        </p:nvSpPr>
        <p:spPr>
          <a:xfrm>
            <a:off x="6096000" y="1905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Freeform 71"/>
          <p:cNvSpPr/>
          <p:nvPr/>
        </p:nvSpPr>
        <p:spPr>
          <a:xfrm>
            <a:off x="6096000" y="3429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2" name="Freeform 72"/>
          <p:cNvSpPr/>
          <p:nvPr/>
        </p:nvSpPr>
        <p:spPr>
          <a:xfrm>
            <a:off x="6096000" y="495300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solidFill>
            <a:srgbClr val="000000">
              <a:alpha val="100000"/>
            </a:srgbClr>
          </a:solidFill>
          <a:ln w="38100" cap="flat" cmpd="sng">
            <a:solidFill>
              <a:srgbClr val="34495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3" name="Freeform 73"/>
          <p:cNvSpPr/>
          <p:nvPr/>
        </p:nvSpPr>
        <p:spPr>
          <a:xfrm>
            <a:off x="1809750" y="6286500"/>
            <a:ext cx="8572500" cy="381000"/>
          </a:xfrm>
          <a:custGeom>
            <a:avLst/>
            <a:gdLst/>
            <a:ahLst/>
            <a:cxnLst/>
            <a:rect l="l" t="t" r="r" b="b"/>
            <a:pathLst>
              <a:path w="8572500" h="381000">
                <a:moveTo>
                  <a:pt x="8524875" y="0"/>
                </a:moveTo>
                <a:cubicBezTo>
                  <a:pt x="8551177" y="0"/>
                  <a:pt x="8572500" y="0"/>
                  <a:pt x="8572500" y="0"/>
                </a:cubicBezTo>
                <a:lnTo>
                  <a:pt x="8572500" y="381000"/>
                </a:lnTo>
                <a:cubicBezTo>
                  <a:pt x="8572500" y="381000"/>
                  <a:pt x="8551177" y="381000"/>
                  <a:pt x="8524875" y="381000"/>
                </a:cubicBezTo>
                <a:lnTo>
                  <a:pt x="47625" y="381000"/>
                </a:lnTo>
                <a:cubicBezTo>
                  <a:pt x="21322" y="381000"/>
                  <a:pt x="0" y="381000"/>
                  <a:pt x="0" y="381000"/>
                </a:cubicBezTo>
                <a:lnTo>
                  <a:pt x="0" y="0"/>
                </a:lnTo>
                <a:cubicBezTo>
                  <a:pt x="0" y="0"/>
                  <a:pt x="21322" y="0"/>
                  <a:pt x="47625" y="0"/>
                </a:cubicBezTo>
                <a:close/>
              </a:path>
            </a:pathLst>
          </a:custGeom>
          <a:solidFill>
            <a:srgbClr val="F8F9FA">
              <a:alpha val="100000"/>
            </a:srgbClr>
          </a:solidFill>
          <a:ln w="12700" cap="flat" cmpd="sng">
            <a:solidFill>
              <a:srgbClr val="BDC3C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4" name="AutoShape 74"/>
          <p:cNvSpPr/>
          <p:nvPr/>
        </p:nvSpPr>
        <p:spPr>
          <a:xfrm>
            <a:off x="3876001" y="6307938"/>
            <a:ext cx="4558030" cy="229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sz="900" b="0" i="0" u="none" strike="noStrik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>
                <a:solidFill>
                  <a:srgbClr val="2C3E5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关键优势：训练/开发/隔离测试物理隔离，参数配置与评估基准可复现，避免数据泄漏</a:t>
            </a:r>
            <a:endParaRPr lang="en-US" sz="1100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4165" y="186690"/>
            <a:ext cx="526415" cy="52641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173" y="2922324"/>
            <a:ext cx="6261654" cy="1348631"/>
          </a:xfrm>
          <a:custGeom>
            <a:avLst/>
            <a:gdLst/>
            <a:ahLst/>
            <a:cxnLst/>
            <a:rect l="l" t="t" r="r" b="b"/>
            <a:pathLst>
              <a:path w="6261654" h="1348631">
                <a:moveTo>
                  <a:pt x="674315" y="0"/>
                </a:moveTo>
                <a:lnTo>
                  <a:pt x="674326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40" y="1"/>
                </a:lnTo>
                <a:cubicBezTo>
                  <a:pt x="5959753" y="1"/>
                  <a:pt x="6261654" y="301902"/>
                  <a:pt x="6261654" y="674315"/>
                </a:cubicBezTo>
                <a:cubicBezTo>
                  <a:pt x="6261654" y="1046730"/>
                  <a:pt x="5959753" y="1348631"/>
                  <a:pt x="5587340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70300" y="3271520"/>
            <a:ext cx="5556250" cy="1198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4.研究创新点与预期贡献</a:t>
            </a: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493712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3042285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6695" y="1176020"/>
            <a:ext cx="7724775" cy="1695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104868" y="5495271"/>
            <a:ext cx="6412026" cy="9845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面向火烟非刚性目标，构建 Grounding DINO 定位 + SAM3 审核 + YOLO 裁判三级结构，按角色分离权限，Refiner 仅在消融分支内验证，后置节点只做被允许的操作，避免多模型级联的负向修改与几何退化。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50566" y="5087473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异构大模型级联生产管线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104868" y="3571856"/>
            <a:ext cx="6412026" cy="984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将经验文本提示转为可冻结工程参数，按独立评测—主排序—稳定区间—硬冻结步骤确定提示词与阈值；引入边界风格敏感性审计、模型—测试集冲突仲裁与 IoF 包含率过滤。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150566" y="316405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低预算提示冻结与噪声审计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03598" y="1707496"/>
            <a:ext cx="6412026" cy="984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 defTabSz="914400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rPr>
              <a:t>独立核算纯标注环节的人工工时与 GPU 机时，在 1k、10k、100k 规模下比较检测效果、制备时间与人工投入，用 Pareto 非支配关系给出流程选型矩阵。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149296" y="1299698"/>
            <a:ext cx="5528761" cy="480976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成本核算与 Pareto 选型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36695" y="394335"/>
            <a:ext cx="6780530" cy="6229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A376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rPr>
              <a:t>拟形成的特色与贡献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24655" y="146558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24655" y="323977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224655" y="5179060"/>
            <a:ext cx="722630" cy="7226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999470" y="509270"/>
            <a:ext cx="762000" cy="29845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Freeform 16"/>
          <p:cNvSpPr/>
          <p:nvPr/>
        </p:nvSpPr>
        <p:spPr>
          <a:xfrm>
            <a:off x="2227430" y="1721150"/>
            <a:ext cx="1202963" cy="642184"/>
          </a:xfrm>
          <a:custGeom>
            <a:avLst/>
            <a:gdLst/>
            <a:ahLst/>
            <a:cxnLst/>
            <a:rect l="l" t="t" r="r" b="b"/>
            <a:pathLst>
              <a:path w="1202963" h="642184">
                <a:moveTo>
                  <a:pt x="274204" y="0"/>
                </a:moveTo>
                <a:lnTo>
                  <a:pt x="1202963" y="378176"/>
                </a:lnTo>
                <a:lnTo>
                  <a:pt x="787234" y="642184"/>
                </a:lnTo>
                <a:lnTo>
                  <a:pt x="0" y="249739"/>
                </a:lnTo>
                <a:lnTo>
                  <a:pt x="274204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788278" y="2650790"/>
            <a:ext cx="3016554" cy="686405"/>
          </a:xfrm>
          <a:custGeom>
            <a:avLst/>
            <a:gdLst/>
            <a:ahLst/>
            <a:cxnLst/>
            <a:rect l="l" t="t" r="r" b="b"/>
            <a:pathLst>
              <a:path w="3016554" h="686405">
                <a:moveTo>
                  <a:pt x="725999" y="0"/>
                </a:moveTo>
                <a:lnTo>
                  <a:pt x="3016554" y="254950"/>
                </a:lnTo>
                <a:lnTo>
                  <a:pt x="2341206" y="627570"/>
                </a:lnTo>
                <a:lnTo>
                  <a:pt x="0" y="686405"/>
                </a:lnTo>
                <a:lnTo>
                  <a:pt x="725999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11806" y="2070304"/>
            <a:ext cx="2787397" cy="1775040"/>
          </a:xfrm>
          <a:custGeom>
            <a:avLst/>
            <a:gdLst/>
            <a:ahLst/>
            <a:cxnLst/>
            <a:rect l="l" t="t" r="r" b="b"/>
            <a:pathLst>
              <a:path w="2787397" h="1775040">
                <a:moveTo>
                  <a:pt x="2409349" y="0"/>
                </a:moveTo>
                <a:lnTo>
                  <a:pt x="2787397" y="697508"/>
                </a:lnTo>
                <a:lnTo>
                  <a:pt x="338550" y="1775040"/>
                </a:lnTo>
                <a:lnTo>
                  <a:pt x="0" y="1726935"/>
                </a:lnTo>
                <a:lnTo>
                  <a:pt x="2409349" y="0"/>
                </a:lnTo>
                <a:close/>
              </a:path>
            </a:pathLst>
          </a:custGeom>
          <a:solidFill>
            <a:srgbClr val="00ACC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3394" y="3787774"/>
            <a:ext cx="2245531" cy="623661"/>
          </a:xfrm>
          <a:custGeom>
            <a:avLst/>
            <a:gdLst/>
            <a:ahLst/>
            <a:cxnLst/>
            <a:rect l="l" t="t" r="r" b="b"/>
            <a:pathLst>
              <a:path w="2245531" h="623661">
                <a:moveTo>
                  <a:pt x="0" y="0"/>
                </a:moveTo>
                <a:lnTo>
                  <a:pt x="95674" y="167909"/>
                </a:lnTo>
                <a:lnTo>
                  <a:pt x="1682741" y="623661"/>
                </a:lnTo>
                <a:lnTo>
                  <a:pt x="2245531" y="393386"/>
                </a:lnTo>
                <a:lnTo>
                  <a:pt x="0" y="0"/>
                </a:lnTo>
                <a:close/>
              </a:path>
            </a:pathLst>
          </a:custGeom>
          <a:solidFill>
            <a:srgbClr val="068F8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339812" y="2900255"/>
            <a:ext cx="2459391" cy="1444018"/>
          </a:xfrm>
          <a:custGeom>
            <a:avLst/>
            <a:gdLst/>
            <a:ahLst/>
            <a:cxnLst/>
            <a:rect l="l" t="t" r="r" b="b"/>
            <a:pathLst>
              <a:path w="2459391" h="1444018">
                <a:moveTo>
                  <a:pt x="2459391" y="0"/>
                </a:moveTo>
                <a:lnTo>
                  <a:pt x="2431316" y="350210"/>
                </a:lnTo>
                <a:lnTo>
                  <a:pt x="230217" y="1444018"/>
                </a:lnTo>
                <a:lnTo>
                  <a:pt x="0" y="1372057"/>
                </a:lnTo>
                <a:lnTo>
                  <a:pt x="2459391" y="0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339812" y="4257920"/>
            <a:ext cx="1682742" cy="570890"/>
          </a:xfrm>
          <a:custGeom>
            <a:avLst/>
            <a:gdLst/>
            <a:ahLst/>
            <a:cxnLst/>
            <a:rect l="l" t="t" r="r" b="b"/>
            <a:pathLst>
              <a:path w="1682742" h="570890">
                <a:moveTo>
                  <a:pt x="0" y="0"/>
                </a:moveTo>
                <a:lnTo>
                  <a:pt x="50651" y="172251"/>
                </a:lnTo>
                <a:lnTo>
                  <a:pt x="1277534" y="570890"/>
                </a:lnTo>
                <a:lnTo>
                  <a:pt x="1682742" y="565969"/>
                </a:lnTo>
                <a:lnTo>
                  <a:pt x="0" y="0"/>
                </a:ln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564928" y="4185959"/>
            <a:ext cx="1682742" cy="652447"/>
          </a:xfrm>
          <a:custGeom>
            <a:avLst/>
            <a:gdLst/>
            <a:ahLst/>
            <a:cxnLst/>
            <a:rect l="l" t="t" r="r" b="b"/>
            <a:pathLst>
              <a:path w="1682742" h="652447">
                <a:moveTo>
                  <a:pt x="1682742" y="0"/>
                </a:moveTo>
                <a:lnTo>
                  <a:pt x="1571302" y="350210"/>
                </a:lnTo>
                <a:lnTo>
                  <a:pt x="462476" y="647649"/>
                </a:lnTo>
                <a:lnTo>
                  <a:pt x="0" y="652447"/>
                </a:lnTo>
                <a:lnTo>
                  <a:pt x="1682742" y="0"/>
                </a:lnTo>
                <a:close/>
              </a:path>
            </a:pathLst>
          </a:custGeom>
          <a:solidFill>
            <a:srgbClr val="34CFB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559300" y="4824013"/>
            <a:ext cx="1468881" cy="100745"/>
          </a:xfrm>
          <a:custGeom>
            <a:avLst/>
            <a:gdLst/>
            <a:ahLst/>
            <a:cxnLst/>
            <a:rect l="l" t="t" r="r" b="b"/>
            <a:pathLst>
              <a:path w="1468881" h="100745">
                <a:moveTo>
                  <a:pt x="95674" y="100745"/>
                </a:moveTo>
                <a:lnTo>
                  <a:pt x="1373207" y="100745"/>
                </a:lnTo>
                <a:lnTo>
                  <a:pt x="1468881" y="0"/>
                </a:lnTo>
                <a:lnTo>
                  <a:pt x="0" y="9595"/>
                </a:lnTo>
                <a:lnTo>
                  <a:pt x="95674" y="100745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652160" y="5034711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652160" y="5189638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652160" y="5344566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652160" y="5499493"/>
            <a:ext cx="1283161" cy="89952"/>
          </a:xfrm>
          <a:prstGeom prst="roundRect">
            <a:avLst>
              <a:gd name="adj" fmla="val 16667"/>
            </a:avLst>
          </a:pr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1652160" y="5631955"/>
            <a:ext cx="1283161" cy="297504"/>
          </a:xfrm>
          <a:custGeom>
            <a:avLst/>
            <a:gdLst/>
            <a:ahLst/>
            <a:cxnLst/>
            <a:rect l="l" t="t" r="r" b="b"/>
            <a:pathLst>
              <a:path w="1283161" h="297504">
                <a:moveTo>
                  <a:pt x="240943" y="196093"/>
                </a:moveTo>
                <a:lnTo>
                  <a:pt x="1033774" y="196093"/>
                </a:lnTo>
                <a:lnTo>
                  <a:pt x="1033774" y="270402"/>
                </a:lnTo>
                <a:cubicBezTo>
                  <a:pt x="1033774" y="285370"/>
                  <a:pt x="1019538" y="297504"/>
                  <a:pt x="1001979" y="297504"/>
                </a:cubicBezTo>
                <a:lnTo>
                  <a:pt x="272736" y="297504"/>
                </a:lnTo>
                <a:cubicBezTo>
                  <a:pt x="255177" y="297504"/>
                  <a:pt x="240943" y="285370"/>
                  <a:pt x="240943" y="270402"/>
                </a:cubicBezTo>
                <a:close/>
                <a:moveTo>
                  <a:pt x="32620" y="61587"/>
                </a:moveTo>
                <a:lnTo>
                  <a:pt x="1250541" y="61587"/>
                </a:lnTo>
                <a:lnTo>
                  <a:pt x="1108053" y="196093"/>
                </a:lnTo>
                <a:lnTo>
                  <a:pt x="1033774" y="196093"/>
                </a:lnTo>
                <a:lnTo>
                  <a:pt x="1033774" y="161994"/>
                </a:lnTo>
                <a:cubicBezTo>
                  <a:pt x="1033774" y="147025"/>
                  <a:pt x="1019538" y="134892"/>
                  <a:pt x="1001979" y="134892"/>
                </a:cubicBezTo>
                <a:lnTo>
                  <a:pt x="272736" y="134892"/>
                </a:lnTo>
                <a:cubicBezTo>
                  <a:pt x="255177" y="134892"/>
                  <a:pt x="240943" y="147025"/>
                  <a:pt x="240943" y="161994"/>
                </a:cubicBezTo>
                <a:lnTo>
                  <a:pt x="240943" y="196093"/>
                </a:lnTo>
                <a:lnTo>
                  <a:pt x="175108" y="196093"/>
                </a:lnTo>
                <a:close/>
                <a:moveTo>
                  <a:pt x="1283161" y="30794"/>
                </a:moveTo>
                <a:lnTo>
                  <a:pt x="1283161" y="51322"/>
                </a:lnTo>
                <a:cubicBezTo>
                  <a:pt x="1283161" y="56991"/>
                  <a:pt x="1277770" y="61587"/>
                  <a:pt x="1271119" y="61587"/>
                </a:cubicBezTo>
                <a:lnTo>
                  <a:pt x="1250541" y="61587"/>
                </a:lnTo>
                <a:close/>
                <a:moveTo>
                  <a:pt x="0" y="30794"/>
                </a:moveTo>
                <a:lnTo>
                  <a:pt x="32620" y="61587"/>
                </a:lnTo>
                <a:lnTo>
                  <a:pt x="12042" y="61587"/>
                </a:lnTo>
                <a:cubicBezTo>
                  <a:pt x="5391" y="61587"/>
                  <a:pt x="0" y="56991"/>
                  <a:pt x="0" y="51322"/>
                </a:cubicBezTo>
                <a:close/>
                <a:moveTo>
                  <a:pt x="12042" y="0"/>
                </a:moveTo>
                <a:lnTo>
                  <a:pt x="1271119" y="0"/>
                </a:lnTo>
                <a:cubicBezTo>
                  <a:pt x="1277770" y="0"/>
                  <a:pt x="1283161" y="4596"/>
                  <a:pt x="1283161" y="10265"/>
                </a:cubicBezTo>
                <a:lnTo>
                  <a:pt x="1283161" y="30794"/>
                </a:lnTo>
                <a:lnTo>
                  <a:pt x="0" y="30794"/>
                </a:lnTo>
                <a:lnTo>
                  <a:pt x="0" y="10265"/>
                </a:lnTo>
                <a:cubicBezTo>
                  <a:pt x="0" y="4596"/>
                  <a:pt x="5391" y="0"/>
                  <a:pt x="12042" y="0"/>
                </a:cubicBezTo>
                <a:close/>
              </a:path>
            </a:pathLst>
          </a:custGeom>
          <a:solidFill>
            <a:srgbClr val="465A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 rot="-2586808">
            <a:off x="255773" y="2029257"/>
            <a:ext cx="2350930" cy="587020"/>
          </a:xfrm>
          <a:prstGeom prst="trapezoid">
            <a:avLst>
              <a:gd name="adj" fmla="val 95892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463804" y="1715685"/>
            <a:ext cx="958149" cy="399383"/>
          </a:xfrm>
          <a:custGeom>
            <a:avLst/>
            <a:gdLst/>
            <a:ahLst/>
            <a:cxnLst/>
            <a:rect l="l" t="t" r="r" b="b"/>
            <a:pathLst>
              <a:path w="958149" h="399383">
                <a:moveTo>
                  <a:pt x="958149" y="356206"/>
                </a:moveTo>
                <a:lnTo>
                  <a:pt x="97081" y="0"/>
                </a:lnTo>
                <a:lnTo>
                  <a:pt x="0" y="82754"/>
                </a:lnTo>
                <a:lnTo>
                  <a:pt x="856847" y="384990"/>
                </a:lnTo>
                <a:lnTo>
                  <a:pt x="894836" y="399383"/>
                </a:lnTo>
                <a:lnTo>
                  <a:pt x="958149" y="356206"/>
                </a:lnTo>
                <a:close/>
              </a:path>
            </a:pathLst>
          </a:custGeom>
          <a:solidFill>
            <a:srgbClr val="6FD5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775434" y="2831081"/>
            <a:ext cx="447418" cy="510924"/>
          </a:xfrm>
          <a:custGeom>
            <a:avLst/>
            <a:gdLst/>
            <a:ahLst/>
            <a:cxnLst/>
            <a:rect l="l" t="t" r="r" b="b"/>
            <a:pathLst>
              <a:path w="447418" h="510924">
                <a:moveTo>
                  <a:pt x="388325" y="0"/>
                </a:moveTo>
                <a:lnTo>
                  <a:pt x="0" y="449755"/>
                </a:lnTo>
                <a:lnTo>
                  <a:pt x="4220" y="510924"/>
                </a:lnTo>
                <a:lnTo>
                  <a:pt x="447418" y="97147"/>
                </a:lnTo>
                <a:lnTo>
                  <a:pt x="388325" y="0"/>
                </a:lnTo>
                <a:close/>
              </a:path>
            </a:pathLst>
          </a:cu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7305" y="180975"/>
            <a:ext cx="3730625" cy="642620"/>
          </a:xfrm>
          <a:custGeom>
            <a:avLst/>
            <a:gdLst/>
            <a:ahLst/>
            <a:cxnLst/>
            <a:rect l="l" t="t" r="r" b="b"/>
            <a:pathLst>
              <a:path w="3730625" h="642620">
                <a:moveTo>
                  <a:pt x="401749" y="0"/>
                </a:moveTo>
                <a:lnTo>
                  <a:pt x="401756" y="0"/>
                </a:lnTo>
                <a:lnTo>
                  <a:pt x="3311834" y="0"/>
                </a:lnTo>
                <a:lnTo>
                  <a:pt x="3311834" y="1374"/>
                </a:lnTo>
                <a:lnTo>
                  <a:pt x="3328876" y="0"/>
                </a:lnTo>
                <a:cubicBezTo>
                  <a:pt x="3550756" y="0"/>
                  <a:pt x="3730625" y="143855"/>
                  <a:pt x="3730625" y="321310"/>
                </a:cubicBezTo>
                <a:cubicBezTo>
                  <a:pt x="3730625" y="498765"/>
                  <a:pt x="3550756" y="642620"/>
                  <a:pt x="3328876" y="642620"/>
                </a:cubicBezTo>
                <a:lnTo>
                  <a:pt x="3311834" y="641246"/>
                </a:lnTo>
                <a:lnTo>
                  <a:pt x="3311834" y="642620"/>
                </a:lnTo>
                <a:lnTo>
                  <a:pt x="401749" y="642620"/>
                </a:lnTo>
                <a:cubicBezTo>
                  <a:pt x="179869" y="642620"/>
                  <a:pt x="0" y="498765"/>
                  <a:pt x="0" y="321310"/>
                </a:cubicBezTo>
                <a:cubicBezTo>
                  <a:pt x="0" y="143855"/>
                  <a:pt x="179869" y="0"/>
                  <a:pt x="401749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89865" y="179705"/>
            <a:ext cx="69913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889000" y="265430"/>
            <a:ext cx="278701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4. 研究创新点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54475" cy="617220"/>
          </a:xfrm>
          <a:custGeom>
            <a:avLst/>
            <a:gdLst/>
            <a:ahLst/>
            <a:cxnLst/>
            <a:rect l="l" t="t" r="r" b="b"/>
            <a:pathLst>
              <a:path w="4054475" h="617220">
                <a:moveTo>
                  <a:pt x="436625" y="0"/>
                </a:moveTo>
                <a:lnTo>
                  <a:pt x="436631" y="0"/>
                </a:lnTo>
                <a:lnTo>
                  <a:pt x="3599329" y="0"/>
                </a:lnTo>
                <a:lnTo>
                  <a:pt x="3599329" y="1321"/>
                </a:lnTo>
                <a:lnTo>
                  <a:pt x="3617850" y="0"/>
                </a:lnTo>
                <a:cubicBezTo>
                  <a:pt x="3858992" y="0"/>
                  <a:pt x="4054475" y="138170"/>
                  <a:pt x="4054475" y="308610"/>
                </a:cubicBezTo>
                <a:cubicBezTo>
                  <a:pt x="4054475" y="479050"/>
                  <a:pt x="3858992" y="617220"/>
                  <a:pt x="3617850" y="617220"/>
                </a:cubicBezTo>
                <a:lnTo>
                  <a:pt x="3599329" y="615900"/>
                </a:lnTo>
                <a:lnTo>
                  <a:pt x="3599329" y="617220"/>
                </a:lnTo>
                <a:lnTo>
                  <a:pt x="436625" y="617220"/>
                </a:lnTo>
                <a:cubicBezTo>
                  <a:pt x="195483" y="617220"/>
                  <a:pt x="0" y="479050"/>
                  <a:pt x="0" y="308610"/>
                </a:cubicBezTo>
                <a:cubicBezTo>
                  <a:pt x="0" y="138170"/>
                  <a:pt x="195483" y="0"/>
                  <a:pt x="43662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8299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系统总体架构</a:t>
            </a:r>
            <a:endParaRPr lang="en-US" sz="1100"/>
          </a:p>
          <a:p>
            <a:pPr marL="0" indent="0" algn="just" defTabSz="914400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" y="3048000"/>
            <a:ext cx="2032000" cy="1016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输入火烟图像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3">
            <a:off x="27305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302000" y="3048000"/>
            <a:ext cx="2349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Grounding DINO</a:t>
            </a:r>
            <a:endParaRPr lang="en-US" sz="1100"/>
          </a:p>
          <a:p>
            <a:pPr marL="0" indent="0" algn="ctr" defTabSz="914400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批量生成 V1 伪标签</a:t>
            </a:r>
          </a:p>
        </p:txBody>
      </p:sp>
      <p:cxnSp>
        <p:nvCxnSpPr>
          <p:cNvPr id="8" name="Connector 8"/>
          <p:cNvCxnSpPr/>
          <p:nvPr/>
        </p:nvCxnSpPr>
        <p:spPr>
          <a:xfrm rot="-85923">
            <a:off x="5715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286500" y="2984500"/>
            <a:ext cx="2667000" cy="1143000"/>
          </a:xfrm>
          <a:prstGeom prst="roundRect">
            <a:avLst>
              <a:gd name="adj" fmla="val 2222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SAM3 后置处理</a:t>
            </a:r>
            <a:endParaRPr lang="en-US" sz="110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审核 / Append 补漏</a:t>
            </a:r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Refiner 调框（权限受限）</a:t>
            </a:r>
          </a:p>
        </p:txBody>
      </p:sp>
      <p:cxnSp>
        <p:nvCxnSpPr>
          <p:cNvPr id="10" name="Connector 10"/>
          <p:cNvCxnSpPr/>
          <p:nvPr/>
        </p:nvCxnSpPr>
        <p:spPr>
          <a:xfrm rot="-85923">
            <a:off x="9017079" y="35496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0A3760">
                <a:alpha val="100000"/>
              </a:srgbClr>
            </a:solidFill>
            <a:prstDash val="solid"/>
            <a:round/>
            <a:headEnd type="none" w="lg" len="lg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88500" y="3048000"/>
            <a:ext cx="2095500" cy="1016000"/>
          </a:xfrm>
          <a:prstGeom prst="roundRect">
            <a:avLst>
              <a:gd name="adj" fmla="val 2500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YOLO 训练验证</a:t>
            </a:r>
            <a:endParaRPr lang="en-US" sz="1100"/>
          </a:p>
          <a:p>
            <a:pPr marL="0" indent="0" algn="ctr" defTabSz="914400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下游效用裁判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89000" y="4826000"/>
            <a:ext cx="10414000" cy="635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权限隔离：后置节点不默认覆盖 V1；Stage-Gate 按 Go / Hold / Stop 决定各分支去留。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605" y="120650"/>
            <a:ext cx="3484245" cy="617855"/>
          </a:xfrm>
          <a:custGeom>
            <a:avLst/>
            <a:gdLst/>
            <a:ahLst/>
            <a:cxnLst/>
            <a:rect l="l" t="t" r="r" b="b"/>
            <a:pathLst>
              <a:path w="3484245" h="617855">
                <a:moveTo>
                  <a:pt x="375216" y="0"/>
                </a:moveTo>
                <a:lnTo>
                  <a:pt x="375223" y="0"/>
                </a:lnTo>
                <a:lnTo>
                  <a:pt x="3093112" y="0"/>
                </a:lnTo>
                <a:lnTo>
                  <a:pt x="3093112" y="1322"/>
                </a:lnTo>
                <a:lnTo>
                  <a:pt x="3109029" y="0"/>
                </a:lnTo>
                <a:cubicBezTo>
                  <a:pt x="3316254" y="0"/>
                  <a:pt x="3484245" y="138312"/>
                  <a:pt x="3484245" y="308928"/>
                </a:cubicBezTo>
                <a:cubicBezTo>
                  <a:pt x="3484245" y="479543"/>
                  <a:pt x="3316254" y="617855"/>
                  <a:pt x="3109029" y="617855"/>
                </a:cubicBezTo>
                <a:lnTo>
                  <a:pt x="3093112" y="616534"/>
                </a:lnTo>
                <a:lnTo>
                  <a:pt x="3093112" y="617855"/>
                </a:lnTo>
                <a:lnTo>
                  <a:pt x="375216" y="617855"/>
                </a:lnTo>
                <a:cubicBezTo>
                  <a:pt x="167991" y="617855"/>
                  <a:pt x="0" y="479543"/>
                  <a:pt x="0" y="308928"/>
                </a:cubicBezTo>
                <a:cubicBezTo>
                  <a:pt x="0" y="138312"/>
                  <a:pt x="167991" y="0"/>
                  <a:pt x="375216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7941" y="120536"/>
            <a:ext cx="618131" cy="61813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1049755" y="199403"/>
            <a:ext cx="238696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4. 核心概念与边界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5408" y="1652303"/>
            <a:ext cx="296239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9810" y="2117090"/>
            <a:ext cx="10913110" cy="42208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marL="0" indent="0" algn="l" defTabSz="914400">
              <a:lnSpc>
                <a:spcPct val="100000"/>
              </a:lnSpc>
            </a:pPr>
            <a:endParaRPr lang="en-US" sz="1100"/>
          </a:p>
          <a:p>
            <a:pPr algn="l" defTabSz="914400">
              <a:lnSpc>
                <a:spcPct val="100000"/>
              </a:lnSpc>
            </a:pP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9810" y="873760"/>
          <a:ext cx="10988675" cy="636910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5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概念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本文定义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551">
                <a:tc rowSpan="4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主生成模型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Grounding DINO：语义匹配与初始框生成</a:t>
                      </a:r>
                      <a:endParaRPr lang="en-US" sz="1100"/>
                    </a:p>
                  </a:txBody>
                  <a:tcPr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只使用现有能力生成伪标签，不改进网络结构。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18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之后提供审核/补漏/调框证据的 SAM3</a:t>
                      </a:r>
                      <a:endParaRPr lang="en-US" sz="1100"/>
                    </a:p>
                  </a:txBody>
                  <a:tcPr marT="4233" marB="423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不预设其必然有效，验证后才进入正式流程。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2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064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290">
                <a:tc rowSpan="2"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V1 伪标签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提示词与阈值联合优化后批量产出的基准伪标签版本。</a:t>
                      </a:r>
                      <a:endParaRPr lang="en-US" sz="1100"/>
                    </a:p>
                  </a:txBody>
                  <a:tcPr marT="10785" marB="1078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构成后续所有级联与对比实验的后置策略比较的统一基线。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24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V2 候选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通过开发集门槛的 V1 后置处理版本。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只有通过门槛的方案才进入正式验证。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数据质量指标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 / R / IoU / 漏检 / 误检 / 框偏差。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用于诊断标签问题，不直接替代下游效用。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下游效用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统一 YOLO 训练协议下的检测性能。</a:t>
                      </a:r>
                      <a:endParaRPr lang="en-US" sz="1100"/>
                    </a:p>
                  </a:txBody>
                  <a:tcPr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YOLO 仅作效用验证器，不改其结构。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Stage-Gate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Go / Hold / Stop 阶段决策。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只用于分支收敛，不扩展为自动进化机制。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Pareto 比较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在有限候选流程之间进行非支配比较。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只用于方案筛选，不构造进化优化算法。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研究对象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火焰与烟雾（非刚性目标）。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边界弥散、形态多变，人工标注主观偏差大。</a:t>
                      </a:r>
                      <a:endParaRPr lang="en-US" sz="1100"/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90170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阶段性实验结果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79500" y="1397000"/>
            <a:ext cx="10033000" cy="381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前期实验结果与候选分支状态（V1 基线与 SAM3 候选消融，数据来源：附录 C）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Exp0 (人工GT基线)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0.8205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0.6717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0.7430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0.5377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Exp1 (V1 单级)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0.7635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0.6216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0.6647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0.4623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(Verifier)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0.7410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0.6609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0.6689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0.4577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E2B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0.7531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0.6169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0.6641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0.4529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E2C (Refiner)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0.6124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0.6182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0.5769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0.3701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79500" y="4660900"/>
            <a:ext cx="10033000" cy="762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Verifier 有继续稳定性复验的候选价值（关注误删与 Recall）；Append 具备补漏可能，仍需抽检与去重；Refiner 直接重定位出现明显下游退化，当前保持 Stop。</a:t>
            </a:r>
            <a:r>
              <a:rPr lang="en-US" sz="13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正文结论区分“已证实 / 待验证 / 已停止”，不以单次最优替代稳定性证据。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009390" cy="574040"/>
          </a:xfrm>
          <a:custGeom>
            <a:avLst/>
            <a:gdLst/>
            <a:ahLst/>
            <a:cxnLst/>
            <a:rect l="l" t="t" r="r" b="b"/>
            <a:pathLst>
              <a:path w="4009390" h="574040">
                <a:moveTo>
                  <a:pt x="431770" y="0"/>
                </a:moveTo>
                <a:lnTo>
                  <a:pt x="431776" y="0"/>
                </a:lnTo>
                <a:lnTo>
                  <a:pt x="3559305" y="0"/>
                </a:lnTo>
                <a:lnTo>
                  <a:pt x="3559305" y="1228"/>
                </a:lnTo>
                <a:lnTo>
                  <a:pt x="3577620" y="0"/>
                </a:lnTo>
                <a:cubicBezTo>
                  <a:pt x="3816081" y="0"/>
                  <a:pt x="4009390" y="128504"/>
                  <a:pt x="4009390" y="287020"/>
                </a:cubicBezTo>
                <a:cubicBezTo>
                  <a:pt x="4009390" y="445536"/>
                  <a:pt x="3816081" y="574040"/>
                  <a:pt x="3577620" y="574040"/>
                </a:cubicBezTo>
                <a:lnTo>
                  <a:pt x="3559305" y="572813"/>
                </a:lnTo>
                <a:lnTo>
                  <a:pt x="3559305" y="574040"/>
                </a:lnTo>
                <a:lnTo>
                  <a:pt x="431770" y="574040"/>
                </a:lnTo>
                <a:cubicBezTo>
                  <a:pt x="193309" y="574040"/>
                  <a:pt x="0" y="445536"/>
                  <a:pt x="0" y="287020"/>
                </a:cubicBezTo>
                <a:cubicBezTo>
                  <a:pt x="0" y="128504"/>
                  <a:pt x="193309" y="0"/>
                  <a:pt x="431770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6. 多随机种子稳定性复验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97000" y="1968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记录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1968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0" y="1968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271000" y="1968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mAP50:95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2400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seed0 (V1)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0.694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400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2400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71000" y="2400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0.426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28321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seed0 (Verifier)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0.729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28321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0.609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8321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0.656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71000" y="28321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0.456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97000" y="32639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seed1 (V1)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0.748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32639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0.586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32639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0.649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32639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97000" y="36957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seed1 (Verifier)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556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0.692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34000" y="36957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0.654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36957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0.660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0" y="36957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0.451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397000" y="41275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E1 seed2 (V1)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556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0.680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334000" y="41275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0.612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112000" y="41275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0.643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71000" y="41275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0.443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397000" y="4559300"/>
            <a:ext cx="1651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E2A seed2 (Verifier)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556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0.718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334000" y="4559300"/>
            <a:ext cx="1524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0.635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112000" y="4559300"/>
            <a:ext cx="1778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0.675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271000" y="4559300"/>
            <a:ext cx="1905000" cy="4318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D2DCE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125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0.464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79500" y="1397000"/>
            <a:ext cx="10033000" cy="381000"/>
          </a:xfrm>
          <a:prstGeom prst="roundRect">
            <a:avLst>
              <a:gd name="adj" fmla="val 0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52400" tIns="0" rIns="152400" bIns="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E1（V1）与 E2A（Verifier）各 3 个随机种子训练，验证结论稳定性（附录 C）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079500" y="5092700"/>
            <a:ext cx="10033000" cy="762000"/>
          </a:xfrm>
          <a:prstGeom prst="roundRect">
            <a:avLst>
              <a:gd name="adj" fmla="val 0"/>
            </a:avLst>
          </a:prstGeom>
          <a:solidFill>
            <a:srgbClr val="FAF5EB">
              <a:alpha val="100000"/>
            </a:srgbClr>
          </a:solidFill>
          <a:ln w="12700" cap="flat" cmpd="sng">
            <a:solidFill>
              <a:srgbClr val="C8783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03200" tIns="101600" rIns="203200" bIns="101600" rtlCol="0" anchor="ctr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250" b="1" i="0" u="none" strike="noStrike">
                <a:solidFill>
                  <a:srgbClr val="B4321E"/>
                </a:solidFill>
                <a:latin typeface="微软雅黑"/>
                <a:ea typeface="微软雅黑"/>
                <a:cs typeface="微软雅黑"/>
                <a:sym typeface="微软雅黑"/>
              </a:rPr>
              <a:t>结论：</a:t>
            </a:r>
            <a:r>
              <a:rPr lang="en-US" sz="1250" b="0" i="0" u="none" strike="noStrike">
                <a:solidFill>
                  <a:srgbClr val="783214"/>
                </a:solidFill>
                <a:latin typeface="微软雅黑"/>
                <a:ea typeface="微软雅黑"/>
                <a:cs typeface="微软雅黑"/>
                <a:sym typeface="微软雅黑"/>
              </a:rPr>
              <a:t>E2A（Verifier）在 3 个随机种子下 mAP50:95 均值为 0.456，E1（V1）为 0.437；正文以多 seed 均值与标准差判断方向，不以单次最优结果替代稳定性证据。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3858895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标签制备成本核算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270000"/>
            <a:ext cx="10414000" cy="889000"/>
          </a:xfrm>
          <a:prstGeom prst="roundRect">
            <a:avLst>
              <a:gd name="adj" fmla="val 0"/>
            </a:avLst>
          </a:prstGeom>
          <a:solidFill>
            <a:srgbClr val="0A376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C_total = p_GPU · t_infer + p_labor · t_labor + C_mgmt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4765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纯人工基准：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单框综合成本（含标注与质检返工）0.5 元/框；火/烟约 3 目标/张 → 单张全量人工约 1.5 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4671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自动化算力：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AutoDL RTX 4090(24G) 按需约 2.0 元/小时；实测吞吐约 9000 张/小时。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4577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 anchorCtr="0"/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人工抽检：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熟练标注 40 元/小时，审核约 200 张/小时 → 单图审核人工约 0.2 元（按被审核图像口径，不等于计入启动、推理与返工后的自动化总成本）。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448300"/>
            <a:ext cx="10414000" cy="838200"/>
          </a:xfrm>
          <a:prstGeom prst="roundRect">
            <a:avLst>
              <a:gd name="adj" fmla="val 0"/>
            </a:avLst>
          </a:prstGeom>
          <a:solidFill>
            <a:srgbClr val="F5F8FB">
              <a:alpha val="100000"/>
            </a:srgbClr>
          </a:solidFill>
          <a:ln w="127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77800" tIns="0" rIns="177800" bIns="0" rtlCol="0" anchor="ctr">
            <a:noAutofit/>
          </a:bodyPr>
          <a:lstStyle/>
          <a:p>
            <a:pPr marL="0" indent="0" algn="l" defTabSz="914400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● 规模与敏感性：</a:t>
            </a:r>
            <a:r>
              <a:rPr lang="en-US" sz="1300" b="0" i="0" u="none" strike="noStrike">
                <a:solidFill>
                  <a:srgbClr val="141E28"/>
                </a:solidFill>
                <a:latin typeface="微软雅黑"/>
                <a:ea typeface="微软雅黑"/>
                <a:cs typeface="微软雅黑"/>
                <a:sym typeface="微软雅黑"/>
              </a:rPr>
              <a:t>按 1k / 10k / 100k 测算 GPU 机时、人工工时与交付周期；变动算力单价（闲时折扣）与人工成本，检验 Pareto 选型是否稳定。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5945" y="245745"/>
            <a:ext cx="3858895" cy="46037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7. </a:t>
            </a: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跨规模成本测算与 Pareto 选型方案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318895" y="1353185"/>
          <a:ext cx="9554208" cy="447611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2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1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2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3435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数据规模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纯人工成本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GPU 机时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人工工时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检测效果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人工投入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Pareto 定位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76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1k 张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约1500元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0.11时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2.5时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基线水平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较高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待测算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10k 张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约1.5万元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1.1时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基线水平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保留率高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中等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待测算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100k 张</a:t>
                      </a:r>
                      <a:endParaRPr lang="en-US" sz="1100"/>
                    </a:p>
                  </a:txBody>
                  <a:tcPr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约15万元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11.1时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250时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待测算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低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待测算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ED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080"/>
            <a:ext cx="4435475" cy="617220"/>
          </a:xfrm>
          <a:custGeom>
            <a:avLst/>
            <a:gdLst/>
            <a:ahLst/>
            <a:cxnLst/>
            <a:rect l="l" t="t" r="r" b="b"/>
            <a:pathLst>
              <a:path w="4435475" h="617220">
                <a:moveTo>
                  <a:pt x="477655" y="0"/>
                </a:moveTo>
                <a:lnTo>
                  <a:pt x="477661" y="0"/>
                </a:lnTo>
                <a:lnTo>
                  <a:pt x="3937559" y="0"/>
                </a:lnTo>
                <a:lnTo>
                  <a:pt x="3937559" y="1321"/>
                </a:lnTo>
                <a:lnTo>
                  <a:pt x="3957820" y="0"/>
                </a:lnTo>
                <a:cubicBezTo>
                  <a:pt x="4221622" y="0"/>
                  <a:pt x="4435475" y="138170"/>
                  <a:pt x="4435475" y="308610"/>
                </a:cubicBezTo>
                <a:cubicBezTo>
                  <a:pt x="4435475" y="479050"/>
                  <a:pt x="4221622" y="617220"/>
                  <a:pt x="3957820" y="617220"/>
                </a:cubicBezTo>
                <a:lnTo>
                  <a:pt x="3937559" y="615900"/>
                </a:lnTo>
                <a:lnTo>
                  <a:pt x="3937559" y="617220"/>
                </a:lnTo>
                <a:lnTo>
                  <a:pt x="477655" y="617220"/>
                </a:lnTo>
                <a:cubicBezTo>
                  <a:pt x="213853" y="617220"/>
                  <a:pt x="0" y="479050"/>
                  <a:pt x="0" y="308610"/>
                </a:cubicBezTo>
                <a:cubicBezTo>
                  <a:pt x="0" y="138170"/>
                  <a:pt x="213853" y="0"/>
                  <a:pt x="477655" y="0"/>
                </a:cubicBezTo>
                <a:close/>
              </a:path>
            </a:pathLst>
          </a:custGeom>
          <a:solidFill>
            <a:srgbClr val="0A3760">
              <a:alpha val="100000"/>
            </a:srgbClr>
          </a:solidFill>
          <a:ln w="381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just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195" y="132080"/>
            <a:ext cx="617855" cy="6178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81050" y="245745"/>
            <a:ext cx="7112000" cy="4603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9.2 预期成果与可量化指标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标签制备成本测算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纯人工约 1.5 元/张；自动化审核约 0.2 元/张（审核口径，非自动化总成本），实际降幅待实测。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交付周期评估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综合 GPU 推理、人工复核与返工，评估实际交付周期。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89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 anchorCtr="0"/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下游检测性能保留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V1 mAP50 约 0.665 vs 人工 GT 约 0.743，保留率约 90%（待多随机种子复验确认）。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3937000"/>
            <a:ext cx="5080000" cy="2159000"/>
          </a:xfrm>
          <a:prstGeom prst="roundRect">
            <a:avLst>
              <a:gd name="adj" fmla="val 7058"/>
            </a:avLst>
          </a:prstGeom>
          <a:solidFill>
            <a:srgbClr val="F5F8FB">
              <a:alpha val="100000"/>
            </a:srgbClr>
          </a:solidFill>
          <a:ln w="25400" cap="flat" cmpd="sng">
            <a:solidFill>
              <a:srgbClr val="0A37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228600" tIns="203200" rIns="228600" bIns="152400" rtlCol="0" anchor="t">
            <a:noAutofit/>
          </a:bodyPr>
          <a:lstStyle/>
          <a:p>
            <a:pPr marL="0" indent="0" algn="l" defTabSz="914400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可复现工程基线</a:t>
            </a:r>
            <a:endParaRPr lang="en-US" sz="1100"/>
          </a:p>
          <a:p>
            <a:pPr marL="0" indent="0" algn="l" defTabSz="914400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E2832"/>
                </a:solidFill>
                <a:latin typeface="微软雅黑"/>
                <a:ea typeface="微软雅黑"/>
                <a:cs typeface="微软雅黑"/>
                <a:sym typeface="微软雅黑"/>
              </a:rPr>
              <a:t>提示词与阈值冻结为 YAML 配置，版本化固化，实验记录可反查。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2934" y="0"/>
            <a:ext cx="12214934" cy="3616960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9656" y="602203"/>
            <a:ext cx="3832687" cy="11122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Freeform 4"/>
          <p:cNvSpPr/>
          <p:nvPr/>
        </p:nvSpPr>
        <p:spPr>
          <a:xfrm>
            <a:off x="2965450" y="2922270"/>
            <a:ext cx="5532755" cy="1111885"/>
          </a:xfrm>
          <a:custGeom>
            <a:avLst/>
            <a:gdLst/>
            <a:ahLst/>
            <a:cxnLst/>
            <a:rect l="l" t="t" r="r" b="b"/>
            <a:pathLst>
              <a:path w="5532755" h="1111885">
                <a:moveTo>
                  <a:pt x="595821" y="0"/>
                </a:moveTo>
                <a:lnTo>
                  <a:pt x="595829" y="1"/>
                </a:lnTo>
                <a:lnTo>
                  <a:pt x="4911660" y="1"/>
                </a:lnTo>
                <a:lnTo>
                  <a:pt x="4911660" y="2379"/>
                </a:lnTo>
                <a:lnTo>
                  <a:pt x="4936934" y="1"/>
                </a:lnTo>
                <a:cubicBezTo>
                  <a:pt x="5265998" y="1"/>
                  <a:pt x="5532755" y="248905"/>
                  <a:pt x="5532755" y="555942"/>
                </a:cubicBezTo>
                <a:cubicBezTo>
                  <a:pt x="5532755" y="862982"/>
                  <a:pt x="5265998" y="1111885"/>
                  <a:pt x="4936934" y="1111885"/>
                </a:cubicBezTo>
                <a:lnTo>
                  <a:pt x="4911660" y="1109508"/>
                </a:lnTo>
                <a:lnTo>
                  <a:pt x="4911660" y="1111884"/>
                </a:lnTo>
                <a:lnTo>
                  <a:pt x="595821" y="1111884"/>
                </a:lnTo>
                <a:cubicBezTo>
                  <a:pt x="266757" y="1111884"/>
                  <a:pt x="0" y="862980"/>
                  <a:pt x="0" y="555942"/>
                </a:cubicBezTo>
                <a:cubicBezTo>
                  <a:pt x="0" y="248903"/>
                  <a:pt x="266757" y="0"/>
                  <a:pt x="5958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8100" cap="flat">
            <a:solidFill>
              <a:srgbClr val="0A3760">
                <a:alpha val="100000"/>
              </a:srgbClr>
            </a:solidFill>
            <a:prstDash val="solid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43400" y="3155950"/>
            <a:ext cx="506539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5. 工作计划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6362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4540" y="4950460"/>
            <a:ext cx="2181860" cy="2755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文献综述与开题报告撰写告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635749" y="1904580"/>
            <a:ext cx="1632373" cy="922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实践中发现问题；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相关资料的学习；</a:t>
            </a:r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数据的收集；</a:t>
            </a:r>
          </a:p>
        </p:txBody>
      </p:sp>
      <p:sp>
        <p:nvSpPr>
          <p:cNvPr id="6" name="AutoShape 6"/>
          <p:cNvSpPr/>
          <p:nvPr/>
        </p:nvSpPr>
        <p:spPr>
          <a:xfrm>
            <a:off x="4911725" y="4858385"/>
            <a:ext cx="1394460" cy="6136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伪标签生成与方案矩阵选定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73115" y="2095500"/>
            <a:ext cx="1878965" cy="6136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伪标签验证体系搭建与测试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72782" y="184013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3-6月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14545" y="1784985"/>
            <a:ext cx="1117600" cy="1088390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9-12月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941527" y="178108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3月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04097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7-8月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21642" y="4543966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1-2月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32532" y="4558571"/>
            <a:ext cx="1088571" cy="1088571"/>
          </a:xfrm>
          <a:prstGeom prst="ellipse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C8C8C8">
                  <a:alpha val="100000"/>
                </a:srgbClr>
              </a:gs>
            </a:gsLst>
            <a:lin ang="19800000"/>
          </a:gradFill>
          <a:ln w="25400" cap="flat">
            <a:gradFill rotWithShape="1">
              <a:gsLst>
                <a:gs pos="52999">
                  <a:srgbClr val="FFFFFF">
                    <a:alpha val="9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7200000"/>
            </a:gradFill>
            <a:prstDash val="solid"/>
          </a:ln>
          <a:effectLst>
            <a:outerShdw blurRad="482600" dist="279400" dir="8100000" algn="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34983"/>
                </a:solidFill>
                <a:latin typeface="微软雅黑"/>
                <a:ea typeface="微软雅黑"/>
                <a:cs typeface="微软雅黑"/>
                <a:sym typeface="微软雅黑"/>
              </a:rPr>
              <a:t>4月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71047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38462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A5A5A5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2026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27950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60535" y="3572453"/>
            <a:ext cx="1632373" cy="330315"/>
          </a:xfrm>
          <a:prstGeom prst="chevron">
            <a:avLst>
              <a:gd name="adj" fmla="val 50000"/>
            </a:avLst>
          </a:prstGeom>
          <a:solidFill>
            <a:srgbClr val="44546A">
              <a:alpha val="100000"/>
            </a:srgbClr>
          </a:solidFill>
          <a:ln w="12700" cap="flat">
            <a:solidFill>
              <a:srgbClr val="44546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608965">
              <a:lnSpc>
                <a:spcPct val="100000"/>
              </a:lnSpc>
              <a:defRPr/>
            </a:pPr>
            <a:r>
              <a:rPr lang="en-US" sz="1464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2027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59900" y="2145030"/>
            <a:ext cx="2182495" cy="3366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论文初稿撰写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21040" y="4858385"/>
            <a:ext cx="1393825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 defTabSz="608965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完善论文；</a:t>
            </a:r>
            <a:endParaRPr lang="en-US" sz="1100"/>
          </a:p>
          <a:p>
            <a:pPr marL="0" indent="0" algn="l" defTabSz="608965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A3760"/>
                </a:solidFill>
                <a:latin typeface="微软雅黑"/>
                <a:ea typeface="微软雅黑"/>
                <a:cs typeface="微软雅黑"/>
                <a:sym typeface="微软雅黑"/>
              </a:rPr>
              <a:t>准备论文预答辩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201358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1" name="Connector 21"/>
          <p:cNvCxnSpPr/>
          <p:nvPr/>
        </p:nvCxnSpPr>
        <p:spPr>
          <a:xfrm>
            <a:off x="364553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>
            <a:off x="5156200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>
            <a:off x="6862445" y="395224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Connector 24"/>
          <p:cNvCxnSpPr/>
          <p:nvPr/>
        </p:nvCxnSpPr>
        <p:spPr>
          <a:xfrm>
            <a:off x="8482965" y="297942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>
            <a:off x="10173335" y="4001770"/>
            <a:ext cx="5715" cy="542290"/>
          </a:xfrm>
          <a:prstGeom prst="line">
            <a:avLst/>
          </a:prstGeom>
          <a:noFill/>
          <a:ln w="12700" cap="flat">
            <a:solidFill>
              <a:srgbClr val="0A376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3001" y="325641"/>
            <a:ext cx="618131" cy="61813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7" name="AutoShape 27"/>
          <p:cNvSpPr/>
          <p:nvPr/>
        </p:nvSpPr>
        <p:spPr>
          <a:xfrm>
            <a:off x="1041500" y="414033"/>
            <a:ext cx="232918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 5.2  写作计划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0" y="0"/>
            <a:ext cx="12192000" cy="905256"/>
          </a:xfrm>
          <a:prstGeom prst="rect">
            <a:avLst/>
          </a:prstGeom>
          <a:solidFill>
            <a:srgbClr val="0A3760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7155" y="152400"/>
            <a:ext cx="11277689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3500" tIns="25400" rIns="63500" bIns="25400" rtlCol="0" anchor="ctr">
            <a:norm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400" b="1" i="0" u="none" strike="noStrike" spc="1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5. 写作计划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4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88230" y="362753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0" y="3042650"/>
            <a:ext cx="12192000" cy="2857500"/>
          </a:xfrm>
          <a:prstGeom prst="rect">
            <a:avLst/>
          </a:prstGeom>
          <a:solidFill>
            <a:srgbClr val="0A3760">
              <a:alpha val="81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67583" y="3429000"/>
            <a:ext cx="6256834" cy="1015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dist" defTabSz="914400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字魂105号-简雅黑"/>
                <a:ea typeface="字魂105号-简雅黑"/>
                <a:cs typeface="字魂105号-简雅黑"/>
                <a:sym typeface="字魂105号-简雅黑"/>
              </a:rPr>
              <a:t>请老师批评指正！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31385" y="249088"/>
            <a:ext cx="2552700" cy="25527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PresentationFormat>宽屏</PresentationFormat>
  <Paragraphs>635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MiSans</vt:lpstr>
      <vt:lpstr>Noto Sans SC</vt:lpstr>
      <vt:lpstr>Songti SC</vt:lpstr>
      <vt:lpstr>等线</vt:lpstr>
      <vt:lpstr>等线 Light</vt:lpstr>
      <vt:lpstr>微软雅黑</vt:lpstr>
      <vt:lpstr>字魂105号-简雅黑</vt:lpstr>
      <vt:lpstr>Arial</vt:lpstr>
      <vt:lpstr>Times New Roman</vt:lpstr>
      <vt:lpstr>Wingdings</vt:lpstr>
      <vt:lpstr>Office 主题​​</vt:lpstr>
      <vt:lpstr>自定义主题</vt:lpstr>
      <vt:lpstr>Office 主题​​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秀丽 董</cp:lastModifiedBy>
  <cp:revision>1</cp:revision>
  <dcterms:modified xsi:type="dcterms:W3CDTF">2026-09-19T14:53:51Z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{"Label":"1","ContentProducer":"001191110102MACQD9K64010000","ProduceID":"7687259234391935974","ReservedCode1":"","ContentPropagator":"","PropagateID":"","ReservedCode2":""}</vt:lpwstr>
  </property>
</Properties>
</file>