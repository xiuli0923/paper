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  <p:sldMasterId id="2147483661" r:id="rId3"/>
    <p:sldMasterId id="2147483662" r:id="rId4"/>
    <p:sldMasterId id="2147483663" r:id="rId5"/>
  </p:sldMasterIdLst>
  <p:notesMasterIdLst>
    <p:notesMasterId r:id="rId3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5" r:id="rId26"/>
    <p:sldId id="276" r:id="rId27"/>
    <p:sldId id="28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82889D68-492C-45E9-B5D8-21F282B127A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タイトルなしのセクション" id="{B47305E1-D848-4038-B933-D9E01713979B}">
          <p14:sldIdLst>
            <p14:sldId id="272"/>
            <p14:sldId id="273"/>
            <p14:sldId id="274"/>
            <p14:sldId id="275"/>
            <p14:sldId id="285"/>
            <p14:sldId id="276"/>
            <p14:sldId id="28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3760"/>
    <a:srgbClr val="CCCE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theme" Target="theme/theme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8" Type="http://schemas.openxmlformats.org/officeDocument/2006/relationships/slide" Target="slides/slide3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20.09.2026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随着智能监控需求的增长，目标检测技术在火灾预警等领域的应用日益广泛。然而，这些技术高度依赖高质量的人工标注数据。火烟作为典型的非刚性目标，其标注过程不仅成本高昂、周期漫长，而且主观性强，严重制约了模型的开发效率。幸运的是，Grounding DINO和SAM等视觉大模型的出现，为我们自动化生成训练标签提供了新的技术机遇。因此，本研究的焦点不再是发明新的网络结构，而是如何建立一套稳定、可复现的伪标签生成与验证流程，并从工程角度明确不同环节的成本收益边界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具体来说，本研究面临三大挑战。第一，如何稳定地生成可用的伪标签？Grounding DINO的输出受多种因素影响，我们需要找到最优配置并验证其实际效果。第二，如何设计有效的SAM3后置处理策略？更精细的分割边界不一定对检测训练更有利，我们需要探索其在审核、补漏等方面的真实价值。第三，如何进行多规模流程选型？不同方案在成本、效率和质量上各有优劣，我们需要在不同数据规模下进行综合比较，为工程实践提供决策依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基于以上挑战，本研究的总体目标是在减少对全量人工标注依赖的同时，确保标签的精度。为实现这一目标，我们将从方法、评价和工程三个层面展开工作。方法上，我们将构建并验证自动化的标签生成与优化流程。评价上，我们将建立一套结合标签层诊断和下游效用验证的双层评价体系。工程上，我们将引入阶段门控、Pareto分析等方法，确保研究成果的可落地性和综合价值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回顾国内外研究现状，我们发现几个明显的研究缺口。传统目标检测研究长期受困于数据标注瓶颈。虽然Grounding DINO等开放词汇检测模型和SAM系列分割模型为自动化标注带来了希望，但现有研究大多停留在验证模型本身能力的阶段，对于如何将其输出稳定、可靠地转化为下游检测器可用的训练标签，研究尚不充分。此外，在伪标签评价和不同数据规模下的流程选择方面，也缺乏系统性的探讨。这些缺口正是本研究旨在填补的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Past（历史数据）：同样是黑色曲线。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NN#1 + NN#2（两个神经网络）：这里用了两个网络：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NN#1 预测未来的平均走势。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NN#2 估计预测的不确定性（标准差）。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Forecast（预测）：蓝色曲线表示预测值。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Forecast Uncertainty (2σ)：淡蓝色阴影区域表示预测区间（±2个标准差，约 95% 置信区间）。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结果（Past+Forecast+Uncertainty）：结合历史、预测值以及不确定性带。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👉 特点：不仅给出预测值，还提供了 预测的不确定性范围，能更真实地反映模型对未来的信心程度。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Past（历史数据）：同样是黑色曲线。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NN#1 + NN#2（两个神经网络）：这里用了两个网络：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NN#1 预测未来的平均走势。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NN#2 估计预测的不确定性（标准差）。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Forecast（预测）：蓝色曲线表示预测值。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Forecast Uncertainty (2σ)：淡蓝色阴影区域表示预测区间（±2个标准差，约 95% 置信区间）。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结果（Past+Forecast+Uncertainty）：结合历史、预测值以及不确定性带。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👉 特点：不仅给出预测值，还提供了 预测的不确定性范围，能更真实地反映模型对未来的信心程度。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5558577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Past（历史数据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）：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同样是黑色曲线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NN#1 + NN#2（两个神经网络）：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这里用了两个网络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：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NN#1 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预测未来的平均走势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NN#2 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估计预测的不确定性（标准差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）。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Forecast（预测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）：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蓝色曲线表示预测值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Forecast Uncertainty (2σ)：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淡蓝色阴影区域表示预测区间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（±2个标准差，约 95% 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置信区间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）。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结果（Past+Forecast+Uncertainty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）：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结合历史、预测值以及不确定性带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。</a:t>
            </a:r>
          </a:p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👉 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特点：不仅给出预测值，还提供了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预测的不确定性范围，能更真实地反映模型对未来的信心程度</a:t>
            </a:r>
            <a:r>
              <a:rPr lang="en-US" sz="12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271587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1与E2A各跑3个随机种子。从原始结果看，E2A在3个seed下mAP50:95均略高于E1，方向稳定，说明Verifier带来的提升不是单次偶然。这一页用于证明结论的可复现性和稳健性，呼应论文中"以多种子均值判断、不以单次最优替代"的原则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自有点小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ctr">
              <a:lnSpc>
                <a:spcPct val="91666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91666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ctr">
              <a:lnSpc>
                <a:spcPct val="91666"/>
              </a:lnSpc>
              <a:defRPr sz="18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61950" algn="ctr">
              <a:lnSpc>
                <a:spcPct val="91666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subtitle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CEC384CD-57EF-43FD-907F-029DF5E63226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27C52C2F-0F0A-4498-8A70-B30F57DEB931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392B1D72-CE4E-4156-B42E-CB42F8310EA6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2" hasCustomPrompt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3" hasCustomPrompt="1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24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5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26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3ECDE5C9-8DC4-4CE3-8FD2-C96064BCBF4A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7" hasCustomPrompt="1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8" hasCustomPrompt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9" hasCustomPrompt="1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0" hasCustomPrompt="1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31" hasCustomPrompt="1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32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8" name="AutoShape 8"/>
          <p:cNvSpPr>
            <a:spLocks noGrp="1"/>
          </p:cNvSpPr>
          <p:nvPr>
            <p:ph type="body" sz="quarter" idx="33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9" name="AutoShape 9"/>
          <p:cNvSpPr>
            <a:spLocks noGrp="1"/>
          </p:cNvSpPr>
          <p:nvPr>
            <p:ph type="body" sz="quarter" idx="34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4809A646-E911-4D0D-ACEE-1BAE15261453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5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3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7E2B24AD-3E94-4A39-985A-897339F5CDA8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9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0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1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0F8C43DB-9465-491F-A085-5696C2DBC62B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2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3" hasCustomPrompt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4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81000" algn="l">
              <a:lnSpc>
                <a:spcPct val="91666"/>
              </a:lnSpc>
              <a:spcBef>
                <a:spcPts val="800"/>
              </a:spcBef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4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45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46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47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B40C1EA3-2CD2-4670-9ED1-F31CA8A71996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8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pic" sz="quarter" idx="49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0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5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BFBFE59F-575C-4ABB-87B8-5F4538859E05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4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55" hasCustomPrompt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F3BB03D7-7C23-4502-8454-1327DDE9FE30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9" hasCustomPrompt="1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60" hasCustomPrompt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6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6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6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F3EAEDB2-F17F-4003-933C-6749846023FB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9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2026/9/19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0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ctr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Footer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71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r" defTabSz="914400">
              <a:lnSpc>
                <a:spcPct val="100000"/>
              </a:lnSpc>
            </a:pPr>
            <a:fld id="{073F7704-67E6-463B-AA01-91680F0D660A}" type="slidenum">
              <a:rPr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等线"/>
              <a:ea typeface="等线"/>
              <a:cs typeface="等线"/>
              <a:sym typeface="等线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72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l" defTabSz="914400">
              <a:lnSpc>
                <a:spcPct val="91666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等线 Light"/>
              </a:defRPr>
            </a:lvl1pPr>
          </a:lstStyle>
          <a:p>
            <a:pPr marL="0" indent="0" algn="l" defTabSz="914400">
              <a:lnSpc>
                <a:spcPct val="91666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等线 Light"/>
                <a:ea typeface="等线 Light"/>
                <a:cs typeface="等线 Light"/>
                <a:sym typeface="等线 Light"/>
              </a:rPr>
              <a:t>单击此处编辑母版标题样式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3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2026/9/19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74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ctr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Footer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75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r" defTabSz="914400">
              <a:lnSpc>
                <a:spcPct val="100000"/>
              </a:lnSpc>
            </a:pPr>
            <a:fld id="{2C3567A9-B702-4EEE-8421-77F68C0B04EC}" type="slidenum">
              <a:rPr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等线"/>
              <a:ea typeface="等线"/>
              <a:cs typeface="等线"/>
              <a:sym typeface="等线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76" hasCustomPrompt="1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Autofit/>
          </a:bodyPr>
          <a:lstStyle>
            <a:lvl1pPr algn="ctr" defTabSz="914400">
              <a:lnSpc>
                <a:spcPct val="91666"/>
              </a:lnSpc>
              <a:defRPr sz="6000" b="0" i="0" u="none" strike="noStrike" spc="0">
                <a:solidFill>
                  <a:srgbClr val="000000">
                    <a:alpha val="100000"/>
                  </a:srgbClr>
                </a:solidFill>
                <a:latin typeface="等线 Light"/>
              </a:defRPr>
            </a:lvl1pPr>
          </a:lstStyle>
          <a:p>
            <a:pPr marL="0" indent="0" algn="ctr" defTabSz="914400">
              <a:lnSpc>
                <a:spcPct val="91666"/>
              </a:lnSpc>
            </a:pPr>
            <a:r>
              <a:rPr lang="en-US" sz="6000" b="0" i="0" u="none" strike="noStrike">
                <a:solidFill>
                  <a:srgbClr val="000000"/>
                </a:solidFill>
                <a:latin typeface="等线 Light"/>
                <a:ea typeface="等线 Light"/>
                <a:cs typeface="等线 Light"/>
                <a:sym typeface="等线 Light"/>
              </a:rPr>
              <a:t>单击此处编辑母版标题样式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7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ctr" defTabSz="914400">
              <a:lnSpc>
                <a:spcPct val="91666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ctr" defTabSz="914400">
              <a:lnSpc>
                <a:spcPct val="91666"/>
              </a:lnSpc>
              <a:spcBef>
                <a:spcPts val="1000"/>
              </a:spcBef>
            </a:pPr>
            <a:r>
              <a:rPr lang="en-US" sz="24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单击此处编辑母版副标题样式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78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2026/9/19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79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ctr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80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r" defTabSz="914400">
              <a:lnSpc>
                <a:spcPct val="100000"/>
              </a:lnSpc>
            </a:pPr>
            <a:fld id="{A88DB3E2-B678-4B5E-B1F7-F478445931FE}" type="slidenum">
              <a:rPr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等线"/>
              <a:ea typeface="等线"/>
              <a:cs typeface="等线"/>
              <a:sym typeface="等线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86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2026/9/19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87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ctr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Footer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8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r" defTabSz="914400">
              <a:lnSpc>
                <a:spcPct val="100000"/>
              </a:lnSpc>
            </a:pPr>
            <a:fld id="{715876E7-67F6-4709-B614-2B887129F4E5}" type="slidenum">
              <a:rPr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等线"/>
              <a:ea typeface="等线"/>
              <a:cs typeface="等线"/>
              <a:sym typeface="等线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89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l" defTabSz="914400">
              <a:lnSpc>
                <a:spcPct val="91666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等线 Light"/>
              </a:defRPr>
            </a:lvl1pPr>
          </a:lstStyle>
          <a:p>
            <a:pPr marL="0" indent="0" algn="l" defTabSz="914400">
              <a:lnSpc>
                <a:spcPct val="91666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等线 Light"/>
                <a:ea typeface="等线 Light"/>
                <a:cs typeface="等线 Light"/>
                <a:sym typeface="等线 Light"/>
              </a:rPr>
              <a:t>单击此处编辑母版标题样式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90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2026/9/19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91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ctr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Footer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92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r" defTabSz="914400">
              <a:lnSpc>
                <a:spcPct val="100000"/>
              </a:lnSpc>
            </a:pPr>
            <a:fld id="{64ED4803-3147-4436-A280-2F17AE386774}" type="slidenum">
              <a:rPr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等线"/>
              <a:ea typeface="等线"/>
              <a:cs typeface="等线"/>
              <a:sym typeface="等线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Relationship Id="rId9" Type="http://schemas.openxmlformats.org/officeDocument/2006/relationships/image" Target="../media/image1.jpe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5" Type="http://schemas.openxmlformats.org/officeDocument/2006/relationships/image" Target="../media/image1.jpeg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自定义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主题​​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"/>
          <p:cNvSpPr>
            <a:spLocks noGrp="1"/>
          </p:cNvSpPr>
          <p:nvPr>
            <p:ph type="body" sz="quarter" idx="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100000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id="2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100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BACBEE5D-034C-4615-988D-E40B811DE78E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57483700" r:id="rId1"/>
    <p:sldLayoutId id="2157483701" r:id="rId2"/>
    <p:sldLayoutId id="2157483702" r:id="rId3"/>
    <p:sldLayoutId id="2157483703" r:id="rId4"/>
    <p:sldLayoutId id="2157483704" r:id="rId5"/>
    <p:sldLayoutId id="2157483705" r:id="rId6"/>
    <p:sldLayoutId id="2157483706" r:id="rId7"/>
    <p:sldLayoutId id="2157483707" r:id="rId8"/>
    <p:sldLayoutId id="2157483708" r:id="rId9"/>
    <p:sldLayoutId id="2157483709" r:id="rId10"/>
    <p:sldLayoutId id="215748371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主题​​">
    <p:bg>
      <p:bgPr>
        <a:blipFill dpi="0" rotWithShape="1">
          <a:blip r:embed="rId9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"/>
          <p:cNvSpPr>
            <a:spLocks noGrp="1"/>
          </p:cNvSpPr>
          <p:nvPr>
            <p:ph type="body" sz="quarter" idx="64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rmAutofit/>
          </a:bodyPr>
          <a:lstStyle>
            <a:lvl1pPr algn="l" defTabSz="914400">
              <a:lnSpc>
                <a:spcPct val="91666"/>
              </a:lnSpc>
              <a:defRPr sz="4400" b="1" i="0" u="none" strike="noStrike" spc="0">
                <a:solidFill>
                  <a:srgbClr val="000000">
                    <a:alpha val="100000"/>
                  </a:srgbClr>
                </a:solidFill>
                <a:latin typeface="等线 Light"/>
              </a:defRPr>
            </a:lvl1pPr>
          </a:lstStyle>
          <a:p>
            <a:pPr marL="0" indent="0" algn="l" defTabSz="914400">
              <a:lnSpc>
                <a:spcPct val="91666"/>
              </a:lnSpc>
            </a:pPr>
            <a:r>
              <a:rPr lang="en-US" sz="4400" b="1" i="0" u="none" strike="noStrike">
                <a:solidFill>
                  <a:srgbClr val="000000"/>
                </a:solidFill>
                <a:latin typeface="等线 Light"/>
                <a:ea typeface="等线 Light"/>
                <a:cs typeface="等线 Light"/>
                <a:sym typeface="等线 Light"/>
              </a:rPr>
              <a:t>单击此处编辑母版标题样式</a:t>
            </a:r>
          </a:p>
        </p:txBody>
      </p:sp>
      <p:sp>
        <p:nvSpPr>
          <p:cNvPr id="2" name="AutoShape 2"/>
          <p:cNvSpPr>
            <a:spLocks noGrp="1"/>
          </p:cNvSpPr>
          <p:nvPr>
            <p:ph type="body" sz="quarter" idx="65" hasCustomPrompt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t">
            <a:normAutofit/>
          </a:bodyPr>
          <a:lstStyle>
            <a:lvl1pPr marL="584200" indent="-355600" algn="l" defTabSz="914400">
              <a:lnSpc>
                <a:spcPct val="91666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  <a:lvl2pPr marL="99060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228600" indent="-228600" algn="l" defTabSz="914400">
              <a:lnSpc>
                <a:spcPct val="91666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编辑母版文本样式</a:t>
            </a:r>
          </a:p>
          <a:p>
            <a:pPr marL="685800" lvl="1" indent="-228600" algn="l" defTabSz="914400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第二级</a:t>
            </a:r>
          </a:p>
          <a:p>
            <a:pPr marL="1143000" lvl="2" indent="-228600" algn="l" defTabSz="914400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第三级</a:t>
            </a:r>
          </a:p>
          <a:p>
            <a:pPr marL="1600200" lvl="3" indent="-228600" algn="l" defTabSz="914400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第四级</a:t>
            </a:r>
          </a:p>
          <a:p>
            <a:pPr marL="2057400" lvl="4" indent="-228600" algn="l" defTabSz="914400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第五级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66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2026/9/19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67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ctr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68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r" defTabSz="914400">
              <a:lnSpc>
                <a:spcPct val="100000"/>
              </a:lnSpc>
            </a:pPr>
            <a:fld id="{223E89D6-17A3-4E42-92DC-72F7BD07D676}" type="slidenum">
              <a:rPr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等线"/>
              <a:ea typeface="等线"/>
              <a:cs typeface="等线"/>
              <a:sym typeface="等线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57483711" r:id="rId1"/>
    <p:sldLayoutId id="2157483712" r:id="rId2"/>
    <p:sldLayoutId id="2157483713" r:id="rId3"/>
    <p:sldLayoutId id="2157483714" r:id="rId4"/>
    <p:sldLayoutId id="2157483715" r:id="rId5"/>
    <p:sldLayoutId id="2157483716" r:id="rId6"/>
    <p:sldLayoutId id="2157483717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1_Office 主题​​">
    <p:bg>
      <p:bgPr>
        <a:blipFill dpi="0" rotWithShape="1">
          <a:blip r:embed="rId5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"/>
          <p:cNvSpPr>
            <a:spLocks noGrp="1"/>
          </p:cNvSpPr>
          <p:nvPr>
            <p:ph type="body" sz="quarter" idx="81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rmAutofit/>
          </a:bodyPr>
          <a:lstStyle>
            <a:lvl1pPr algn="l" defTabSz="914400">
              <a:lnSpc>
                <a:spcPct val="91666"/>
              </a:lnSpc>
              <a:defRPr sz="4400" b="1" i="0" u="none" strike="noStrike" spc="0">
                <a:solidFill>
                  <a:srgbClr val="000000">
                    <a:alpha val="100000"/>
                  </a:srgbClr>
                </a:solidFill>
                <a:latin typeface="等线 Light"/>
              </a:defRPr>
            </a:lvl1pPr>
          </a:lstStyle>
          <a:p>
            <a:pPr marL="0" indent="0" algn="l" defTabSz="914400">
              <a:lnSpc>
                <a:spcPct val="91666"/>
              </a:lnSpc>
            </a:pPr>
            <a:r>
              <a:rPr lang="en-US" sz="4400" b="1" i="0" u="none" strike="noStrike">
                <a:solidFill>
                  <a:srgbClr val="000000"/>
                </a:solidFill>
                <a:latin typeface="等线 Light"/>
                <a:ea typeface="等线 Light"/>
                <a:cs typeface="等线 Light"/>
                <a:sym typeface="等线 Light"/>
              </a:rPr>
              <a:t>单击此处编辑母版标题样式</a:t>
            </a:r>
          </a:p>
        </p:txBody>
      </p:sp>
      <p:sp>
        <p:nvSpPr>
          <p:cNvPr id="2" name="AutoShape 2"/>
          <p:cNvSpPr>
            <a:spLocks noGrp="1"/>
          </p:cNvSpPr>
          <p:nvPr>
            <p:ph type="body" sz="quarter" idx="82" hasCustomPrompt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t">
            <a:normAutofit/>
          </a:bodyPr>
          <a:lstStyle>
            <a:lvl1pPr marL="584200" indent="-355600" algn="l" defTabSz="914400">
              <a:lnSpc>
                <a:spcPct val="91666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等线"/>
              </a:defRPr>
            </a:lvl1pPr>
            <a:lvl2pPr marL="99060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228600" indent="-228600" algn="l" defTabSz="914400">
              <a:lnSpc>
                <a:spcPct val="91666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编辑母版文本样式</a:t>
            </a:r>
          </a:p>
          <a:p>
            <a:pPr marL="685800" lvl="1" indent="-228600" algn="l" defTabSz="914400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第二级</a:t>
            </a:r>
          </a:p>
          <a:p>
            <a:pPr marL="1143000" lvl="2" indent="-228600" algn="l" defTabSz="914400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第三级</a:t>
            </a:r>
          </a:p>
          <a:p>
            <a:pPr marL="1600200" lvl="3" indent="-228600" algn="l" defTabSz="914400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第四级</a:t>
            </a:r>
          </a:p>
          <a:p>
            <a:pPr marL="2057400" lvl="4" indent="-228600" algn="l" defTabSz="914400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第五级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83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2026/9/19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4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ctr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85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r" defTabSz="9144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等线"/>
              </a:defRPr>
            </a:lvl1pPr>
          </a:lstStyle>
          <a:p>
            <a:pPr marL="0" indent="0" algn="r" defTabSz="914400">
              <a:lnSpc>
                <a:spcPct val="100000"/>
              </a:lnSpc>
            </a:pPr>
            <a:fld id="{0546DF46-9398-4D1E-A2D7-6ED481BE1431}" type="slidenum">
              <a:rPr sz="1200" b="0" i="0" u="none" strike="noStrike">
                <a:solidFill>
                  <a:srgbClr val="898989"/>
                </a:solidFill>
                <a:latin typeface="等线"/>
                <a:ea typeface="等线"/>
                <a:cs typeface="等线"/>
                <a:sym typeface="等线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等线"/>
              <a:ea typeface="等线"/>
              <a:cs typeface="等线"/>
              <a:sym typeface="等线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57483718" r:id="rId1"/>
    <p:sldLayoutId id="2157483719" r:id="rId2"/>
    <p:sldLayoutId id="2157483720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7.png"/><Relationship Id="rId9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1.jpe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10" Type="http://schemas.openxmlformats.org/officeDocument/2006/relationships/image" Target="../media/image27.svg"/><Relationship Id="rId4" Type="http://schemas.openxmlformats.org/officeDocument/2006/relationships/image" Target="../media/image7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svg"/><Relationship Id="rId3" Type="http://schemas.openxmlformats.org/officeDocument/2006/relationships/image" Target="../media/image7.png"/><Relationship Id="rId7" Type="http://schemas.openxmlformats.org/officeDocument/2006/relationships/image" Target="../media/image33.svg"/><Relationship Id="rId12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5" Type="http://schemas.openxmlformats.org/officeDocument/2006/relationships/image" Target="../media/image31.sv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.jpe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25000"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24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0" y="3428730"/>
            <a:ext cx="12192000" cy="2857500"/>
          </a:xfrm>
          <a:prstGeom prst="rect">
            <a:avLst/>
          </a:prstGeom>
          <a:solidFill>
            <a:srgbClr val="0A3760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97560" y="3716020"/>
            <a:ext cx="10930255" cy="7683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4400" b="1" i="0" u="none" strike="noStrike" spc="-3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基于多模型弱监督学习的低成本火烟检测研究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653280" y="5403576"/>
            <a:ext cx="3060700" cy="4603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240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学生</a:t>
            </a:r>
            <a:r>
              <a:rPr lang="en-US" sz="24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 ： </a:t>
            </a:r>
            <a:r>
              <a:rPr lang="en-US" sz="240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董秀丽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4653280" y="4911574"/>
            <a:ext cx="3022600" cy="4603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导师  ：高 明 教 授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888230" y="354127"/>
            <a:ext cx="2552700" cy="2552700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2934" y="0"/>
            <a:ext cx="4680659" cy="6858000"/>
          </a:xfrm>
          <a:prstGeom prst="rect">
            <a:avLst/>
          </a:prstGeom>
          <a:solidFill>
            <a:srgbClr val="0A3760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290327" y="720843"/>
            <a:ext cx="3062023" cy="64633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3600" b="1" i="0" u="none" strike="noStrike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CONTENTS</a:t>
            </a:r>
            <a:endParaRPr lang="en-US" sz="1100"/>
          </a:p>
        </p:txBody>
      </p:sp>
      <p:grpSp>
        <p:nvGrpSpPr>
          <p:cNvPr id="4" name="Group 4"/>
          <p:cNvGrpSpPr/>
          <p:nvPr/>
        </p:nvGrpSpPr>
        <p:grpSpPr>
          <a:xfrm>
            <a:off x="6290327" y="1912895"/>
            <a:ext cx="2284189" cy="584775"/>
            <a:chOff x="6290327" y="1912895"/>
            <a:chExt cx="2284189" cy="584775"/>
          </a:xfrm>
        </p:grpSpPr>
        <p:grpSp>
          <p:nvGrpSpPr>
            <p:cNvPr id="5" name="Group 5"/>
            <p:cNvGrpSpPr/>
            <p:nvPr/>
          </p:nvGrpSpPr>
          <p:grpSpPr>
            <a:xfrm>
              <a:off x="6290327" y="1912895"/>
              <a:ext cx="2284189" cy="584775"/>
              <a:chOff x="6290327" y="1912895"/>
              <a:chExt cx="2284189" cy="584775"/>
            </a:xfrm>
          </p:grpSpPr>
          <p:sp>
            <p:nvSpPr>
              <p:cNvPr id="6" name="AutoShape 6"/>
              <p:cNvSpPr/>
              <p:nvPr/>
            </p:nvSpPr>
            <p:spPr>
              <a:xfrm>
                <a:off x="6290327" y="1912895"/>
                <a:ext cx="1020724" cy="584775"/>
              </a:xfrm>
              <a:prstGeom prst="rect">
                <a:avLst/>
              </a:prstGeom>
              <a:noFill/>
              <a:ln w="12700">
                <a:noFill/>
                <a:prstDash val="solid"/>
              </a:ln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 marL="0" indent="0" algn="l" defTabSz="914400">
                  <a:lnSpc>
                    <a:spcPct val="100000"/>
                  </a:lnSpc>
                  <a:defRPr/>
                </a:pPr>
                <a:r>
                  <a:rPr lang="en-US" sz="3200" b="1" i="0" u="none" strike="noStrike">
                    <a:solidFill>
                      <a:srgbClr val="0A3760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a:t>01</a:t>
                </a:r>
                <a:endParaRPr lang="en-US" sz="1100"/>
              </a:p>
            </p:txBody>
          </p:sp>
          <p:sp>
            <p:nvSpPr>
              <p:cNvPr id="7" name="AutoShape 7"/>
              <p:cNvSpPr/>
              <p:nvPr/>
            </p:nvSpPr>
            <p:spPr>
              <a:xfrm>
                <a:off x="7169896" y="1963818"/>
                <a:ext cx="1404620" cy="460375"/>
              </a:xfrm>
              <a:prstGeom prst="rect">
                <a:avLst/>
              </a:prstGeom>
              <a:noFill/>
              <a:ln w="12700">
                <a:noFill/>
                <a:prstDash val="solid"/>
              </a:ln>
            </p:spPr>
            <p:txBody>
              <a:bodyPr wrap="none" lIns="91440" tIns="45720" rIns="91440" bIns="45720" rtlCol="0" anchor="t">
                <a:spAutoFit/>
              </a:bodyPr>
              <a:lstStyle/>
              <a:p>
                <a:pPr marL="0" indent="0" algn="l" defTabSz="914400">
                  <a:lnSpc>
                    <a:spcPct val="100000"/>
                  </a:lnSpc>
                  <a:defRPr/>
                </a:pPr>
                <a:r>
                  <a:rPr lang="en-US" sz="2400" b="1" i="0" u="none" strike="noStrike">
                    <a:solidFill>
                      <a:srgbClr val="000000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a:t>研究背景</a:t>
                </a:r>
                <a:endParaRPr lang="en-US" sz="1100"/>
              </a:p>
            </p:txBody>
          </p:sp>
        </p:grpSp>
        <p:cxnSp>
          <p:nvCxnSpPr>
            <p:cNvPr id="8" name="Connector 8"/>
            <p:cNvCxnSpPr/>
            <p:nvPr/>
          </p:nvCxnSpPr>
          <p:spPr>
            <a:xfrm>
              <a:off x="7148631" y="1995717"/>
              <a:ext cx="0" cy="396000"/>
            </a:xfrm>
            <a:prstGeom prst="line">
              <a:avLst/>
            </a:prstGeom>
            <a:noFill/>
            <a:ln w="12700" cap="flat">
              <a:solidFill>
                <a:srgbClr val="808080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</p:cxnSp>
      </p:grpSp>
      <p:grpSp>
        <p:nvGrpSpPr>
          <p:cNvPr id="9" name="Group 9"/>
          <p:cNvGrpSpPr/>
          <p:nvPr/>
        </p:nvGrpSpPr>
        <p:grpSpPr>
          <a:xfrm>
            <a:off x="6290327" y="2767134"/>
            <a:ext cx="3200494" cy="584775"/>
            <a:chOff x="6290327" y="2767134"/>
            <a:chExt cx="3200494" cy="584775"/>
          </a:xfrm>
        </p:grpSpPr>
        <p:grpSp>
          <p:nvGrpSpPr>
            <p:cNvPr id="10" name="Group 10"/>
            <p:cNvGrpSpPr/>
            <p:nvPr/>
          </p:nvGrpSpPr>
          <p:grpSpPr>
            <a:xfrm>
              <a:off x="6290327" y="2767134"/>
              <a:ext cx="3200494" cy="584775"/>
              <a:chOff x="6290327" y="2767134"/>
              <a:chExt cx="3200494" cy="584775"/>
            </a:xfrm>
          </p:grpSpPr>
          <p:sp>
            <p:nvSpPr>
              <p:cNvPr id="11" name="AutoShape 11"/>
              <p:cNvSpPr/>
              <p:nvPr/>
            </p:nvSpPr>
            <p:spPr>
              <a:xfrm>
                <a:off x="6290327" y="2767134"/>
                <a:ext cx="1020724" cy="584775"/>
              </a:xfrm>
              <a:prstGeom prst="rect">
                <a:avLst/>
              </a:prstGeom>
              <a:noFill/>
              <a:ln w="12700">
                <a:noFill/>
                <a:prstDash val="solid"/>
              </a:ln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 marL="0" indent="0" algn="l" defTabSz="914400">
                  <a:lnSpc>
                    <a:spcPct val="100000"/>
                  </a:lnSpc>
                  <a:defRPr/>
                </a:pPr>
                <a:r>
                  <a:rPr lang="en-US" sz="3200" b="1" i="0" u="none" strike="noStrike">
                    <a:solidFill>
                      <a:srgbClr val="0A3760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a:t>02</a:t>
                </a:r>
                <a:endParaRPr lang="en-US" sz="1100"/>
              </a:p>
            </p:txBody>
          </p:sp>
          <p:sp>
            <p:nvSpPr>
              <p:cNvPr id="12" name="AutoShape 12"/>
              <p:cNvSpPr/>
              <p:nvPr/>
            </p:nvSpPr>
            <p:spPr>
              <a:xfrm>
                <a:off x="7169896" y="2818057"/>
                <a:ext cx="2320925" cy="460375"/>
              </a:xfrm>
              <a:prstGeom prst="rect">
                <a:avLst/>
              </a:prstGeom>
              <a:noFill/>
              <a:ln w="12700">
                <a:noFill/>
                <a:prstDash val="solid"/>
              </a:ln>
            </p:spPr>
            <p:txBody>
              <a:bodyPr wrap="none" lIns="91440" tIns="45720" rIns="91440" bIns="45720" rtlCol="0" anchor="t">
                <a:spAutoFit/>
              </a:bodyPr>
              <a:lstStyle/>
              <a:p>
                <a:pPr marL="0" indent="0" algn="l" defTabSz="914400">
                  <a:lnSpc>
                    <a:spcPct val="100000"/>
                  </a:lnSpc>
                  <a:defRPr/>
                </a:pPr>
                <a:r>
                  <a:rPr lang="en-US" sz="2400" b="1" i="0" u="none" strike="noStrike">
                    <a:solidFill>
                      <a:srgbClr val="000000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a:t>国内外研究现状</a:t>
                </a:r>
                <a:endParaRPr lang="en-US" sz="1100"/>
              </a:p>
            </p:txBody>
          </p:sp>
        </p:grpSp>
        <p:cxnSp>
          <p:nvCxnSpPr>
            <p:cNvPr id="13" name="Connector 13"/>
            <p:cNvCxnSpPr/>
            <p:nvPr/>
          </p:nvCxnSpPr>
          <p:spPr>
            <a:xfrm>
              <a:off x="7148631" y="2849956"/>
              <a:ext cx="0" cy="396000"/>
            </a:xfrm>
            <a:prstGeom prst="line">
              <a:avLst/>
            </a:prstGeom>
            <a:noFill/>
            <a:ln w="12700" cap="flat">
              <a:solidFill>
                <a:srgbClr val="808080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</p:cxnSp>
      </p:grpSp>
      <p:grpSp>
        <p:nvGrpSpPr>
          <p:cNvPr id="14" name="Group 14"/>
          <p:cNvGrpSpPr/>
          <p:nvPr/>
        </p:nvGrpSpPr>
        <p:grpSpPr>
          <a:xfrm>
            <a:off x="6290327" y="3600109"/>
            <a:ext cx="3200494" cy="584775"/>
            <a:chOff x="6290327" y="3600109"/>
            <a:chExt cx="3200494" cy="584775"/>
          </a:xfrm>
        </p:grpSpPr>
        <p:grpSp>
          <p:nvGrpSpPr>
            <p:cNvPr id="15" name="Group 15"/>
            <p:cNvGrpSpPr/>
            <p:nvPr/>
          </p:nvGrpSpPr>
          <p:grpSpPr>
            <a:xfrm>
              <a:off x="6290327" y="3600109"/>
              <a:ext cx="3200494" cy="584775"/>
              <a:chOff x="6290327" y="3600109"/>
              <a:chExt cx="3200494" cy="584775"/>
            </a:xfrm>
          </p:grpSpPr>
          <p:sp>
            <p:nvSpPr>
              <p:cNvPr id="16" name="AutoShape 16"/>
              <p:cNvSpPr/>
              <p:nvPr/>
            </p:nvSpPr>
            <p:spPr>
              <a:xfrm>
                <a:off x="6290327" y="3600109"/>
                <a:ext cx="1020724" cy="584775"/>
              </a:xfrm>
              <a:prstGeom prst="rect">
                <a:avLst/>
              </a:prstGeom>
              <a:noFill/>
              <a:ln w="12700">
                <a:noFill/>
                <a:prstDash val="solid"/>
              </a:ln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 marL="0" indent="0" algn="l" defTabSz="914400">
                  <a:lnSpc>
                    <a:spcPct val="100000"/>
                  </a:lnSpc>
                  <a:defRPr/>
                </a:pPr>
                <a:r>
                  <a:rPr lang="en-US" sz="3200" b="1" i="0" u="none" strike="noStrike">
                    <a:solidFill>
                      <a:srgbClr val="0A3760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a:t>03</a:t>
                </a:r>
                <a:endParaRPr lang="en-US" sz="1100"/>
              </a:p>
            </p:txBody>
          </p:sp>
          <p:sp>
            <p:nvSpPr>
              <p:cNvPr id="17" name="AutoShape 17"/>
              <p:cNvSpPr/>
              <p:nvPr/>
            </p:nvSpPr>
            <p:spPr>
              <a:xfrm>
                <a:off x="7169896" y="3651032"/>
                <a:ext cx="2320925" cy="460375"/>
              </a:xfrm>
              <a:prstGeom prst="rect">
                <a:avLst/>
              </a:prstGeom>
              <a:noFill/>
              <a:ln w="12700">
                <a:noFill/>
                <a:prstDash val="solid"/>
              </a:ln>
            </p:spPr>
            <p:txBody>
              <a:bodyPr wrap="none" lIns="91440" tIns="45720" rIns="91440" bIns="45720" rtlCol="0" anchor="t">
                <a:spAutoFit/>
              </a:bodyPr>
              <a:lstStyle/>
              <a:p>
                <a:pPr marL="0" indent="0" algn="l" defTabSz="914400">
                  <a:lnSpc>
                    <a:spcPct val="100000"/>
                  </a:lnSpc>
                  <a:defRPr/>
                </a:pPr>
                <a:r>
                  <a:rPr lang="en-US" sz="2400" b="1" i="0" u="none" strike="noStrike">
                    <a:solidFill>
                      <a:srgbClr val="000000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a:t>研究内容与路线</a:t>
                </a:r>
                <a:endParaRPr lang="en-US" sz="1100"/>
              </a:p>
            </p:txBody>
          </p:sp>
        </p:grpSp>
        <p:cxnSp>
          <p:nvCxnSpPr>
            <p:cNvPr id="18" name="Connector 18"/>
            <p:cNvCxnSpPr/>
            <p:nvPr/>
          </p:nvCxnSpPr>
          <p:spPr>
            <a:xfrm>
              <a:off x="7148631" y="3682931"/>
              <a:ext cx="0" cy="396000"/>
            </a:xfrm>
            <a:prstGeom prst="line">
              <a:avLst/>
            </a:prstGeom>
            <a:noFill/>
            <a:ln w="12700" cap="flat">
              <a:solidFill>
                <a:srgbClr val="808080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</p:cxnSp>
      </p:grpSp>
      <p:grpSp>
        <p:nvGrpSpPr>
          <p:cNvPr id="19" name="Group 19"/>
          <p:cNvGrpSpPr/>
          <p:nvPr/>
        </p:nvGrpSpPr>
        <p:grpSpPr>
          <a:xfrm>
            <a:off x="6290327" y="4433084"/>
            <a:ext cx="4116799" cy="584775"/>
            <a:chOff x="6290327" y="4433084"/>
            <a:chExt cx="4116799" cy="584775"/>
          </a:xfrm>
        </p:grpSpPr>
        <p:grpSp>
          <p:nvGrpSpPr>
            <p:cNvPr id="20" name="Group 20"/>
            <p:cNvGrpSpPr/>
            <p:nvPr/>
          </p:nvGrpSpPr>
          <p:grpSpPr>
            <a:xfrm>
              <a:off x="6290327" y="4433084"/>
              <a:ext cx="4116799" cy="584775"/>
              <a:chOff x="6290327" y="4433084"/>
              <a:chExt cx="4116799" cy="584775"/>
            </a:xfrm>
          </p:grpSpPr>
          <p:sp>
            <p:nvSpPr>
              <p:cNvPr id="21" name="AutoShape 21"/>
              <p:cNvSpPr/>
              <p:nvPr/>
            </p:nvSpPr>
            <p:spPr>
              <a:xfrm>
                <a:off x="6290327" y="4433084"/>
                <a:ext cx="1020724" cy="584775"/>
              </a:xfrm>
              <a:prstGeom prst="rect">
                <a:avLst/>
              </a:prstGeom>
              <a:noFill/>
              <a:ln w="12700">
                <a:noFill/>
                <a:prstDash val="solid"/>
              </a:ln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 marL="0" indent="0" algn="l" defTabSz="914400">
                  <a:lnSpc>
                    <a:spcPct val="100000"/>
                  </a:lnSpc>
                  <a:defRPr/>
                </a:pPr>
                <a:r>
                  <a:rPr lang="en-US" sz="3200" b="1" i="0" u="none" strike="noStrike">
                    <a:solidFill>
                      <a:srgbClr val="0A3760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a:t>04</a:t>
                </a:r>
                <a:endParaRPr lang="en-US" sz="1100"/>
              </a:p>
            </p:txBody>
          </p:sp>
          <p:sp>
            <p:nvSpPr>
              <p:cNvPr id="22" name="AutoShape 22"/>
              <p:cNvSpPr/>
              <p:nvPr/>
            </p:nvSpPr>
            <p:spPr>
              <a:xfrm>
                <a:off x="7169896" y="4484007"/>
                <a:ext cx="3237230" cy="460375"/>
              </a:xfrm>
              <a:prstGeom prst="rect">
                <a:avLst/>
              </a:prstGeom>
              <a:noFill/>
              <a:ln w="12700">
                <a:noFill/>
                <a:prstDash val="solid"/>
              </a:ln>
            </p:spPr>
            <p:txBody>
              <a:bodyPr wrap="none" lIns="91440" tIns="45720" rIns="91440" bIns="45720" rtlCol="0" anchor="t">
                <a:spAutoFit/>
              </a:bodyPr>
              <a:lstStyle/>
              <a:p>
                <a:pPr marL="0" indent="0" algn="l" defTabSz="914400">
                  <a:lnSpc>
                    <a:spcPct val="100000"/>
                  </a:lnSpc>
                  <a:defRPr/>
                </a:pPr>
                <a:r>
                  <a:rPr lang="en-US" sz="2400" b="1" i="0" u="none" strike="noStrike">
                    <a:solidFill>
                      <a:srgbClr val="000000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a:t>研究创新点与预期贡献</a:t>
                </a:r>
                <a:endParaRPr lang="en-US" sz="1100"/>
              </a:p>
            </p:txBody>
          </p:sp>
        </p:grpSp>
        <p:cxnSp>
          <p:nvCxnSpPr>
            <p:cNvPr id="23" name="Connector 23"/>
            <p:cNvCxnSpPr/>
            <p:nvPr/>
          </p:nvCxnSpPr>
          <p:spPr>
            <a:xfrm>
              <a:off x="7148631" y="4515906"/>
              <a:ext cx="0" cy="396000"/>
            </a:xfrm>
            <a:prstGeom prst="line">
              <a:avLst/>
            </a:prstGeom>
            <a:noFill/>
            <a:ln w="12700" cap="flat">
              <a:solidFill>
                <a:srgbClr val="808080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</p:cxnSp>
      </p:grpSp>
      <p:pic>
        <p:nvPicPr>
          <p:cNvPr id="24" name="Picture 2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69262" y="694952"/>
            <a:ext cx="2416036" cy="701166"/>
          </a:xfrm>
          <a:prstGeom prst="rect">
            <a:avLst/>
          </a:prstGeom>
          <a:ln w="12700">
            <a:noFill/>
            <a:prstDash val="solid"/>
          </a:ln>
        </p:spPr>
      </p:pic>
      <p:grpSp>
        <p:nvGrpSpPr>
          <p:cNvPr id="25" name="Group 25"/>
          <p:cNvGrpSpPr/>
          <p:nvPr/>
        </p:nvGrpSpPr>
        <p:grpSpPr>
          <a:xfrm>
            <a:off x="6308177" y="5266059"/>
            <a:ext cx="2284189" cy="584775"/>
            <a:chOff x="6308177" y="5266059"/>
            <a:chExt cx="2284189" cy="584775"/>
          </a:xfrm>
        </p:grpSpPr>
        <p:grpSp>
          <p:nvGrpSpPr>
            <p:cNvPr id="26" name="Group 26"/>
            <p:cNvGrpSpPr/>
            <p:nvPr/>
          </p:nvGrpSpPr>
          <p:grpSpPr>
            <a:xfrm>
              <a:off x="6308177" y="5266059"/>
              <a:ext cx="2284189" cy="584775"/>
              <a:chOff x="6308177" y="5266059"/>
              <a:chExt cx="2284189" cy="584775"/>
            </a:xfrm>
          </p:grpSpPr>
          <p:sp>
            <p:nvSpPr>
              <p:cNvPr id="27" name="AutoShape 27"/>
              <p:cNvSpPr/>
              <p:nvPr/>
            </p:nvSpPr>
            <p:spPr>
              <a:xfrm>
                <a:off x="6308177" y="5266059"/>
                <a:ext cx="1020724" cy="584775"/>
              </a:xfrm>
              <a:prstGeom prst="rect">
                <a:avLst/>
              </a:prstGeom>
              <a:noFill/>
              <a:ln w="12700">
                <a:noFill/>
                <a:prstDash val="solid"/>
              </a:ln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 marL="0" indent="0" algn="l" defTabSz="914400">
                  <a:lnSpc>
                    <a:spcPct val="100000"/>
                  </a:lnSpc>
                  <a:defRPr/>
                </a:pPr>
                <a:r>
                  <a:rPr lang="en-US" sz="3200" b="1" i="0" u="none" strike="noStrike">
                    <a:solidFill>
                      <a:srgbClr val="0A3760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a:t>05</a:t>
                </a:r>
                <a:endParaRPr lang="en-US" sz="1100"/>
              </a:p>
            </p:txBody>
          </p:sp>
          <p:sp>
            <p:nvSpPr>
              <p:cNvPr id="28" name="AutoShape 28"/>
              <p:cNvSpPr/>
              <p:nvPr/>
            </p:nvSpPr>
            <p:spPr>
              <a:xfrm>
                <a:off x="7187746" y="5316982"/>
                <a:ext cx="1404620" cy="460375"/>
              </a:xfrm>
              <a:prstGeom prst="rect">
                <a:avLst/>
              </a:prstGeom>
              <a:noFill/>
              <a:ln w="12700">
                <a:noFill/>
                <a:prstDash val="solid"/>
              </a:ln>
            </p:spPr>
            <p:txBody>
              <a:bodyPr wrap="none" lIns="91440" tIns="45720" rIns="91440" bIns="45720" rtlCol="0" anchor="t">
                <a:spAutoFit/>
              </a:bodyPr>
              <a:lstStyle/>
              <a:p>
                <a:pPr marL="0" indent="0" algn="l" defTabSz="914400">
                  <a:lnSpc>
                    <a:spcPct val="100000"/>
                  </a:lnSpc>
                  <a:defRPr/>
                </a:pPr>
                <a:r>
                  <a:rPr lang="en-US" sz="2400" b="1" i="0" u="none" strike="noStrike">
                    <a:solidFill>
                      <a:srgbClr val="000000"/>
                    </a:solidFill>
                    <a:latin typeface="微软雅黑"/>
                    <a:ea typeface="微软雅黑"/>
                    <a:cs typeface="微软雅黑"/>
                    <a:sym typeface="微软雅黑"/>
                  </a:rPr>
                  <a:t>写作计划</a:t>
                </a:r>
                <a:endParaRPr lang="en-US" sz="1100"/>
              </a:p>
            </p:txBody>
          </p:sp>
        </p:grpSp>
        <p:cxnSp>
          <p:nvCxnSpPr>
            <p:cNvPr id="29" name="Connector 29"/>
            <p:cNvCxnSpPr/>
            <p:nvPr/>
          </p:nvCxnSpPr>
          <p:spPr>
            <a:xfrm>
              <a:off x="7166481" y="5348881"/>
              <a:ext cx="0" cy="396000"/>
            </a:xfrm>
            <a:prstGeom prst="line">
              <a:avLst/>
            </a:prstGeom>
            <a:noFill/>
            <a:ln w="12700" cap="flat">
              <a:solidFill>
                <a:srgbClr val="808080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</p:cxnSp>
      </p:grpSp>
      <p:pic>
        <p:nvPicPr>
          <p:cNvPr id="30" name="Picture 30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235490" y="2077686"/>
            <a:ext cx="1905000" cy="1905000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2934" y="0"/>
            <a:ext cx="12214934" cy="3616960"/>
          </a:xfrm>
          <a:prstGeom prst="rect">
            <a:avLst/>
          </a:prstGeom>
          <a:solidFill>
            <a:srgbClr val="0A3760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179656" y="602203"/>
            <a:ext cx="3832687" cy="1112297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4" name="Freeform 4"/>
          <p:cNvSpPr/>
          <p:nvPr/>
        </p:nvSpPr>
        <p:spPr>
          <a:xfrm>
            <a:off x="2965450" y="2922270"/>
            <a:ext cx="5464810" cy="1324610"/>
          </a:xfrm>
          <a:custGeom>
            <a:avLst/>
            <a:gdLst/>
            <a:ahLst/>
            <a:cxnLst/>
            <a:rect l="l" t="t" r="r" b="b"/>
            <a:pathLst>
              <a:path w="5464810" h="1324610">
                <a:moveTo>
                  <a:pt x="588503" y="0"/>
                </a:moveTo>
                <a:lnTo>
                  <a:pt x="588512" y="1"/>
                </a:lnTo>
                <a:lnTo>
                  <a:pt x="4851343" y="1"/>
                </a:lnTo>
                <a:lnTo>
                  <a:pt x="4851343" y="2833"/>
                </a:lnTo>
                <a:lnTo>
                  <a:pt x="4876307" y="1"/>
                </a:lnTo>
                <a:cubicBezTo>
                  <a:pt x="5201328" y="1"/>
                  <a:pt x="5464810" y="296525"/>
                  <a:pt x="5464810" y="662305"/>
                </a:cubicBezTo>
                <a:cubicBezTo>
                  <a:pt x="5464810" y="1028087"/>
                  <a:pt x="5201328" y="1324610"/>
                  <a:pt x="4876307" y="1324610"/>
                </a:cubicBezTo>
                <a:lnTo>
                  <a:pt x="4851343" y="1321778"/>
                </a:lnTo>
                <a:lnTo>
                  <a:pt x="4851343" y="1324609"/>
                </a:lnTo>
                <a:lnTo>
                  <a:pt x="588503" y="1324609"/>
                </a:lnTo>
                <a:cubicBezTo>
                  <a:pt x="263482" y="1324609"/>
                  <a:pt x="0" y="1028085"/>
                  <a:pt x="0" y="662305"/>
                </a:cubicBezTo>
                <a:cubicBezTo>
                  <a:pt x="0" y="296523"/>
                  <a:pt x="263482" y="0"/>
                  <a:pt x="588503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w="38100" cap="flat">
            <a:solidFill>
              <a:srgbClr val="0A3760">
                <a:alpha val="100000"/>
              </a:srgbClr>
            </a:solidFill>
            <a:prstDash val="solid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161570" y="3271730"/>
            <a:ext cx="2719070" cy="119888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36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1.  研究背景</a:t>
            </a:r>
            <a:endParaRPr lang="en-US" sz="1100"/>
          </a:p>
          <a:p>
            <a:pPr marL="0" indent="0" algn="l" defTabSz="914400">
              <a:lnSpc>
                <a:spcPct val="100000"/>
              </a:lnSpc>
            </a:pPr>
            <a:r>
              <a:rPr lang="en-US" sz="36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27000"/>
            <a:ext cx="3263900" cy="609600"/>
          </a:xfrm>
          <a:prstGeom prst="roundRect">
            <a:avLst>
              <a:gd name="adj" fmla="val 41665"/>
            </a:avLst>
          </a:prstGeom>
          <a:solidFill>
            <a:srgbClr val="0A37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l">
              <a:defRPr/>
            </a:pPr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77800" y="152400"/>
            <a:ext cx="558800" cy="558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812800" y="190500"/>
            <a:ext cx="2501900" cy="508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研究背景与动机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000" y="1968500"/>
            <a:ext cx="508000" cy="508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97000" y="19685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E3A8A"/>
                </a:solidFill>
                <a:latin typeface="微软雅黑"/>
                <a:ea typeface="微软雅黑"/>
                <a:cs typeface="微软雅黑"/>
                <a:sym typeface="微软雅黑"/>
              </a:rPr>
              <a:t>01 </a:t>
            </a:r>
            <a:r>
              <a:rPr lang="en-US" sz="1800" b="1" i="0" u="none" strike="noStrike" dirty="0" err="1">
                <a:solidFill>
                  <a:srgbClr val="1E3A8A"/>
                </a:solidFill>
                <a:latin typeface="微软雅黑"/>
                <a:ea typeface="微软雅黑"/>
                <a:cs typeface="微软雅黑"/>
                <a:sym typeface="微软雅黑"/>
              </a:rPr>
              <a:t>智能监控迫切需求</a:t>
            </a:r>
            <a:endParaRPr lang="en-US" sz="1100" dirty="0"/>
          </a:p>
        </p:txBody>
      </p:sp>
      <p:sp>
        <p:nvSpPr>
          <p:cNvPr id="8" name="AutoShape 8"/>
          <p:cNvSpPr/>
          <p:nvPr/>
        </p:nvSpPr>
        <p:spPr>
          <a:xfrm>
            <a:off x="762000" y="2540000"/>
            <a:ext cx="4953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08333"/>
              </a:lnSpc>
              <a:defRPr/>
            </a:pP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微软雅黑"/>
                <a:sym typeface="微软雅黑"/>
              </a:rPr>
              <a:t>在森林火灾、危化园区等高危场景中，智能监控是安防预警的核心。计算机视觉技术是实现目标精准识别与实时响应的关键支撑，对高效、准确的火情监测系统需求持续攀升</a:t>
            </a: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7000" y="19685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112000" y="19685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9A3412"/>
                </a:solidFill>
                <a:latin typeface="微软雅黑"/>
                <a:ea typeface="微软雅黑"/>
                <a:cs typeface="微软雅黑"/>
                <a:sym typeface="微软雅黑"/>
              </a:rPr>
              <a:t>02 </a:t>
            </a:r>
            <a:r>
              <a:rPr lang="en-US" sz="1800" b="1" i="0" u="none" strike="noStrike" dirty="0" err="1">
                <a:solidFill>
                  <a:srgbClr val="9A3412"/>
                </a:solidFill>
                <a:latin typeface="微软雅黑"/>
                <a:ea typeface="微软雅黑"/>
                <a:cs typeface="微软雅黑"/>
                <a:sym typeface="微软雅黑"/>
              </a:rPr>
              <a:t>人工标注痛点凸显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6477000" y="2540000"/>
            <a:ext cx="4953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08333"/>
              </a:lnSpc>
            </a:pPr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微软雅黑"/>
              </a:rPr>
              <a:t>主流检测算法依赖全监督学习，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微软雅黑"/>
              </a:rPr>
              <a:t>需海量高质量人工标注。火烟作为非刚性目标，形态弥散且边界模糊，导致标注成本高、周期长，且易因主观判断引入偏差</a:t>
            </a:r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微软雅黑"/>
              </a:rPr>
              <a:t>，成为模型落地的瓶颈</a:t>
            </a:r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Noto Sans SC"/>
              </a:rPr>
              <a:t>。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62000" y="4254500"/>
            <a:ext cx="508000" cy="508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397000" y="42545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64E3B"/>
                </a:solidFill>
                <a:latin typeface="微软雅黑"/>
                <a:ea typeface="微软雅黑"/>
                <a:cs typeface="微软雅黑"/>
                <a:sym typeface="微软雅黑"/>
              </a:rPr>
              <a:t>03 视觉大模型带来新契机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4826000"/>
            <a:ext cx="4953000" cy="10795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08333"/>
              </a:lnSpc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微软雅黑"/>
              </a:rPr>
              <a:t>Grounding DINO 与 SAM 等视觉大模型的问世，凭借强大的零样本定位与通用分割能力，为自动化生成高质量训练标签提供了技术可能，为自动化生成训练标签提供了新的技术路径。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77000" y="4254500"/>
            <a:ext cx="508000" cy="5080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7112000" y="42545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1D95"/>
                </a:solidFill>
                <a:latin typeface="微软雅黑"/>
                <a:ea typeface="微软雅黑"/>
                <a:cs typeface="微软雅黑"/>
                <a:sym typeface="微软雅黑"/>
              </a:rPr>
              <a:t>04 研究核心聚焦与突破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477000" y="4826000"/>
            <a:ext cx="4953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 defTabSz="914400">
              <a:lnSpc>
                <a:spcPct val="108333"/>
              </a:lnSpc>
              <a:defRPr/>
            </a:pP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研究不追求新网络架构创新，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微软雅黑"/>
              </a:rPr>
              <a:t>重点构建稳定</a:t>
            </a: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、可复现的伪标签生成与验证规范体系，量化后处理环节增益与成本，为同类非刚性目标的数据制备提供可复现的流程参考。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21" name="Connector 8">
            <a:extLst>
              <a:ext uri="{FF2B5EF4-FFF2-40B4-BE49-F238E27FC236}">
                <a16:creationId xmlns:a16="http://schemas.microsoft.com/office/drawing/2014/main" id="{DC63FCB9-A473-4B34-B4AA-5B9AABC6F109}"/>
              </a:ext>
            </a:extLst>
          </p:cNvPr>
          <p:cNvCxnSpPr>
            <a:cxnSpLocks/>
          </p:cNvCxnSpPr>
          <p:nvPr/>
        </p:nvCxnSpPr>
        <p:spPr>
          <a:xfrm>
            <a:off x="5974254" y="1541929"/>
            <a:ext cx="0" cy="458993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Connector 8">
            <a:extLst>
              <a:ext uri="{FF2B5EF4-FFF2-40B4-BE49-F238E27FC236}">
                <a16:creationId xmlns:a16="http://schemas.microsoft.com/office/drawing/2014/main" id="{4E7E6D87-53F6-4D71-B3BE-DE0ABD588878}"/>
              </a:ext>
            </a:extLst>
          </p:cNvPr>
          <p:cNvCxnSpPr>
            <a:cxnSpLocks/>
          </p:cNvCxnSpPr>
          <p:nvPr/>
        </p:nvCxnSpPr>
        <p:spPr>
          <a:xfrm>
            <a:off x="812800" y="3756212"/>
            <a:ext cx="10744200" cy="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27000"/>
            <a:ext cx="4330700" cy="609600"/>
          </a:xfrm>
          <a:prstGeom prst="roundRect">
            <a:avLst>
              <a:gd name="adj" fmla="val 41665"/>
            </a:avLst>
          </a:prstGeom>
          <a:solidFill>
            <a:srgbClr val="0A37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l">
              <a:defRPr/>
            </a:pPr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77800" y="152400"/>
            <a:ext cx="558800" cy="558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812800" y="190500"/>
            <a:ext cx="3568700" cy="508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研究面临的三大核心挑战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000" y="19685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270000" y="1968500"/>
            <a:ext cx="2667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微软雅黑"/>
                <a:ea typeface="微软雅黑"/>
                <a:cs typeface="微软雅黑"/>
                <a:sym typeface="微软雅黑"/>
              </a:rPr>
              <a:t>01 稳定生成可用伪标签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-14322">
            <a:off x="762013" y="25336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B82F6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762000" y="2730500"/>
            <a:ext cx="3048000" cy="2222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 defTabSz="914400">
              <a:lnSpc>
                <a:spcPct val="116666"/>
              </a:lnSpc>
              <a:defRPr/>
            </a:pPr>
            <a:r>
              <a:rPr lang="en-US" sz="13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受文本提示词、置信度阈值及数据分布影响，火烟的非刚性、边界模糊特性易导致漏检与误检。需在低预算候选空间内筛选并冻结提示词与阈值参数，批量生成高质量基准伪标签V1，并验证其对下游检测任务的实际效用，夯实数据基础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72000" y="19685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5080000" y="1968500"/>
            <a:ext cx="2667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C4A6E"/>
                </a:solidFill>
                <a:latin typeface="微软雅黑"/>
                <a:ea typeface="微软雅黑"/>
                <a:cs typeface="微软雅黑"/>
                <a:sym typeface="微软雅黑"/>
              </a:rPr>
              <a:t>02 后置处理策略设计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14322">
            <a:off x="4572013" y="25336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EA5E9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4572000" y="2730500"/>
            <a:ext cx="3048000" cy="222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16666"/>
              </a:lnSpc>
              <a:defRPr/>
            </a:pPr>
            <a:r>
              <a:rPr lang="en-US" sz="13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SAM3的细粒度分割边界未必直接适配检测训练需求。需针对火烟特性定制专属提示词与审核门槛，建立补漏规则与去重策略，严格限制重定位权限，重点验证其在标签审核、漏检补全及边界优化中的实际增量价值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82000" y="19685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890000" y="1968500"/>
            <a:ext cx="2667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1D95"/>
                </a:solidFill>
                <a:latin typeface="微软雅黑"/>
                <a:ea typeface="微软雅黑"/>
                <a:cs typeface="微软雅黑"/>
                <a:sym typeface="微软雅黑"/>
              </a:rPr>
              <a:t>03 多规模流程选型与权衡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14322">
            <a:off x="8382013" y="25336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7C3AED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8382000" y="2730500"/>
            <a:ext cx="3048000" cy="2222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 defTabSz="914400">
              <a:lnSpc>
                <a:spcPct val="116666"/>
              </a:lnSpc>
              <a:defRPr/>
            </a:pPr>
            <a:r>
              <a:rPr lang="en-US" sz="13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人工标注与自动化方案在质量、效率与成本间存在博弈。需在千级、万级及十万级三种数据规模下，对比单级自动化、级联后处理等方案的综合效益，分析标签制备时间与实际交付周期及人工复审成本，在质量、成本和周期约束下提供流程选择建议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508000" y="5461000"/>
            <a:ext cx="11176000" cy="825500"/>
          </a:xfrm>
          <a:prstGeom prst="roundRect">
            <a:avLst>
              <a:gd name="adj" fmla="val 0"/>
            </a:avLst>
          </a:prstGeom>
          <a:solidFill>
            <a:srgbClr val="1E293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762000" y="56134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334155"/>
                </a:solidFill>
                <a:latin typeface="微软雅黑"/>
                <a:ea typeface="微软雅黑"/>
                <a:cs typeface="微软雅黑"/>
                <a:sym typeface="微软雅黑"/>
              </a:rPr>
              <a:t>核心目标：</a:t>
            </a:r>
            <a:r>
              <a:rPr lang="en-US" sz="1400" b="0" i="0" u="none" strike="noStrike" dirty="0">
                <a:solidFill>
                  <a:srgbClr val="475569"/>
                </a:solidFill>
                <a:latin typeface="微软雅黑"/>
                <a:ea typeface="微软雅黑"/>
                <a:cs typeface="微软雅黑"/>
                <a:sym typeface="微软雅黑"/>
              </a:rPr>
              <a:t>通过系统性的参数优化、策略定制与多维度评估，构建兼顾精度与效率的自动化标注体系，为大规模模型训练提供高质量、低成本的数据支撑。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27000"/>
            <a:ext cx="2463800" cy="609600"/>
          </a:xfrm>
          <a:prstGeom prst="roundRect">
            <a:avLst>
              <a:gd name="adj" fmla="val 41665"/>
            </a:avLst>
          </a:prstGeom>
          <a:solidFill>
            <a:srgbClr val="0A37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l">
              <a:defRPr/>
            </a:pPr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77800" y="152400"/>
            <a:ext cx="558800" cy="558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812800" y="190500"/>
            <a:ext cx="1701800" cy="508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研究目标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16666"/>
              </a:lnSpc>
              <a:defRPr/>
            </a:pPr>
            <a:r>
              <a:rPr lang="en-US" sz="1600" b="0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致力于减少对全量人工逐框标注的依赖，打破“重数量轻质量”的传统困境，构建兼顾效率与精度的智能标注体系</a:t>
            </a:r>
            <a:r>
              <a:rPr lang="en-US" sz="16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2413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EFF6FF">
              <a:alpha val="6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2667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24000" y="2692400"/>
            <a:ext cx="2540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01 </a:t>
            </a:r>
            <a:r>
              <a:rPr lang="en-US" sz="1800" b="1" i="0" u="none" strike="noStrike" dirty="0" err="1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方法创新：可复现的伪标签生</a:t>
            </a:r>
            <a:r>
              <a:rPr lang="zh-CN" altLang="en-US" sz="1800" b="1" i="0" u="none" strike="noStrike" dirty="0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成</a:t>
            </a:r>
            <a:r>
              <a:rPr lang="en-US" sz="1800" b="1" i="0" u="none" strike="noStrike" dirty="0" err="1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与验证流程</a:t>
            </a:r>
            <a:endParaRPr lang="en-US" sz="1100" dirty="0"/>
          </a:p>
        </p:txBody>
      </p:sp>
      <p:cxnSp>
        <p:nvCxnSpPr>
          <p:cNvPr id="9" name="Connector 9"/>
          <p:cNvCxnSpPr/>
          <p:nvPr/>
        </p:nvCxnSpPr>
        <p:spPr>
          <a:xfrm rot="-14946">
            <a:off x="1016014" y="3232150"/>
            <a:ext cx="2921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1016000" y="3429000"/>
            <a:ext cx="2921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400" b="0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构建基于</a:t>
            </a: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sz="14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Grounding DINO</a:t>
            </a: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sz="1400" b="0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的伪标签自动生成流程，针对火焰与烟雾场景设计</a:t>
            </a: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sz="14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SAM3</a:t>
            </a: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sz="1400" b="0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后置校验与候选治理策略。对比不同数据规模下的投入产出比，平衡自动化效率与标注精准度</a:t>
            </a: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381500" y="2413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7ED">
              <a:alpha val="60000"/>
            </a:srgbClr>
          </a:solidFill>
          <a:ln w="12700" cap="flat" cmpd="sng">
            <a:solidFill>
              <a:srgbClr val="FDBA74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35500" y="26670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143500" y="26924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EA580C"/>
                </a:solidFill>
                <a:latin typeface="Noto Sans SC"/>
                <a:ea typeface="Noto Sans SC"/>
                <a:cs typeface="Noto Sans SC"/>
                <a:sym typeface="Noto Sans SC"/>
              </a:rPr>
              <a:t>02 评价体系：双重验证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14946">
            <a:off x="4635514" y="3232150"/>
            <a:ext cx="2921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A580C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4635500" y="3429000"/>
            <a:ext cx="2921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400" b="0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建立“</a:t>
            </a:r>
            <a:r>
              <a:rPr lang="en-US" sz="14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标签层诊断</a:t>
            </a:r>
            <a:r>
              <a:rPr lang="en-US" sz="14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+ </a:t>
            </a:r>
            <a:r>
              <a:rPr lang="en-US" sz="14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下游效用评估</a:t>
            </a:r>
            <a:r>
              <a:rPr lang="en-US" sz="1400" b="0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”的双层体系。通过指标量化标签质量以定位问题，利用统一训练协议下的</a:t>
            </a: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YOLO </a:t>
            </a:r>
            <a:r>
              <a:rPr lang="en-US" sz="1400" b="0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模型性能，客观判断标注流程的实际应用价值</a:t>
            </a: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8001000" y="2413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ECFDF5">
              <a:alpha val="60000"/>
            </a:srgbClr>
          </a:solidFill>
          <a:ln w="12700" cap="flat" cmpd="sng">
            <a:solidFill>
              <a:srgbClr val="6EE7B7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55000" y="26670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763000" y="26924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59669"/>
                </a:solidFill>
                <a:latin typeface="Noto Sans SC"/>
                <a:ea typeface="Noto Sans SC"/>
                <a:cs typeface="Noto Sans SC"/>
                <a:sym typeface="Noto Sans SC"/>
              </a:rPr>
              <a:t>03 工程落地：全链路保障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14946">
            <a:off x="8255014" y="3232150"/>
            <a:ext cx="2921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59669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8255000" y="3429000"/>
            <a:ext cx="2921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400" b="0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引入</a:t>
            </a: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sz="14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Stage-Gate </a:t>
            </a:r>
            <a:r>
              <a:rPr lang="en-US" sz="14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阶段门控</a:t>
            </a: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与 Pareto </a:t>
            </a:r>
            <a:r>
              <a:rPr lang="en-US" sz="1400" b="0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非支配分析，确保流程可控。建立全链路可复现机制，关注标注生产的稳定性、可扩展性及综合效益，实现技术向生产力的转化</a:t>
            </a:r>
            <a:r>
              <a:rPr lang="en-US" sz="14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762000" y="59055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374151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762000" y="5994400"/>
            <a:ext cx="1066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400" b="1" i="0" u="none" strike="noStrike" dirty="0" err="1">
                <a:solidFill>
                  <a:srgbClr val="4B55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核心愿景：以技术创新驱动标注流程升级，实现从“人工主导”向“智能驱动”的转变</a:t>
            </a:r>
            <a:r>
              <a:rPr lang="en-US" sz="1400" b="1" i="0" u="none" strike="noStrike" dirty="0">
                <a:solidFill>
                  <a:srgbClr val="4B55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。</a:t>
            </a:r>
            <a:endParaRPr lang="en-US" sz="11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2934" y="0"/>
            <a:ext cx="12214934" cy="3616960"/>
          </a:xfrm>
          <a:prstGeom prst="rect">
            <a:avLst/>
          </a:prstGeom>
          <a:solidFill>
            <a:srgbClr val="0A3760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179656" y="602203"/>
            <a:ext cx="3832687" cy="1112297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4" name="Freeform 4"/>
          <p:cNvSpPr/>
          <p:nvPr/>
        </p:nvSpPr>
        <p:spPr>
          <a:xfrm>
            <a:off x="2965450" y="2922270"/>
            <a:ext cx="6012180" cy="1212215"/>
          </a:xfrm>
          <a:custGeom>
            <a:avLst/>
            <a:gdLst/>
            <a:ahLst/>
            <a:cxnLst/>
            <a:rect l="l" t="t" r="r" b="b"/>
            <a:pathLst>
              <a:path w="6012180" h="1212215">
                <a:moveTo>
                  <a:pt x="647450" y="0"/>
                </a:moveTo>
                <a:lnTo>
                  <a:pt x="647459" y="1"/>
                </a:lnTo>
                <a:lnTo>
                  <a:pt x="5337266" y="1"/>
                </a:lnTo>
                <a:lnTo>
                  <a:pt x="5337266" y="2593"/>
                </a:lnTo>
                <a:lnTo>
                  <a:pt x="5364730" y="1"/>
                </a:lnTo>
                <a:cubicBezTo>
                  <a:pt x="5722308" y="1"/>
                  <a:pt x="6012180" y="271365"/>
                  <a:pt x="6012180" y="606108"/>
                </a:cubicBezTo>
                <a:cubicBezTo>
                  <a:pt x="6012180" y="940852"/>
                  <a:pt x="5722308" y="1212215"/>
                  <a:pt x="5364730" y="1212215"/>
                </a:cubicBezTo>
                <a:lnTo>
                  <a:pt x="5337266" y="1209624"/>
                </a:lnTo>
                <a:lnTo>
                  <a:pt x="5337266" y="1212214"/>
                </a:lnTo>
                <a:lnTo>
                  <a:pt x="647450" y="1212214"/>
                </a:lnTo>
                <a:cubicBezTo>
                  <a:pt x="289872" y="1212214"/>
                  <a:pt x="0" y="940850"/>
                  <a:pt x="0" y="606108"/>
                </a:cubicBezTo>
                <a:cubicBezTo>
                  <a:pt x="0" y="271363"/>
                  <a:pt x="289872" y="0"/>
                  <a:pt x="64745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w="38100" cap="flat">
            <a:solidFill>
              <a:srgbClr val="0A3760">
                <a:alpha val="100000"/>
              </a:srgbClr>
            </a:solidFill>
            <a:prstDash val="solid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179570" y="3271520"/>
            <a:ext cx="6261100" cy="64516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36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2. 国内外研究现状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4474451" cy="68580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609600" y="74295"/>
            <a:ext cx="3261360" cy="18135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25400" rIns="63500" bIns="25400" rtlCol="0" anchor="b">
            <a:noAutofit/>
          </a:bodyPr>
          <a:lstStyle/>
          <a:p>
            <a:pPr marL="0" indent="0" algn="l" defTabSz="914400">
              <a:lnSpc>
                <a:spcPct val="108333"/>
              </a:lnSpc>
              <a:defRPr/>
            </a:pPr>
            <a:r>
              <a:rPr lang="en-US" sz="3600" b="1" i="0" u="none" strike="noStrike" spc="26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2.1 研究综述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083931" y="1142937"/>
            <a:ext cx="6498577" cy="530225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wrap="square" lIns="63500" tIns="25400" rIns="63500" bIns="25400" rtlCol="0" anchor="b">
            <a:normAutofit/>
          </a:bodyPr>
          <a:lstStyle/>
          <a:p>
            <a:pPr marL="0" indent="0" algn="ctr" defTabSz="913765">
              <a:lnSpc>
                <a:spcPct val="100000"/>
              </a:lnSpc>
              <a:defRPr/>
            </a:pPr>
            <a:r>
              <a:rPr lang="en-US" sz="2800" b="1" i="0" u="none" strike="noStrike" spc="20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综述要点：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823460" y="1743710"/>
            <a:ext cx="7194550" cy="39712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25400" rIns="0" bIns="25400" rtlCol="0" anchor="t" anchorCtr="0"/>
          <a:lstStyle/>
          <a:p>
            <a:pPr marL="0" indent="0" algn="l" defTabSz="913765">
              <a:lnSpc>
                <a:spcPct val="83333"/>
              </a:lnSpc>
              <a:spcAft>
                <a:spcPts val="800"/>
              </a:spcAft>
              <a:defRPr/>
            </a:pPr>
            <a:r>
              <a:rPr lang="en-US" sz="1800" b="1" i="0" u="none" strike="noStrike" spc="120" dirty="0">
                <a:solidFill>
                  <a:srgbClr val="404040"/>
                </a:solidFill>
                <a:latin typeface="微软雅黑"/>
                <a:ea typeface="微软雅黑"/>
                <a:cs typeface="微软雅黑"/>
                <a:sym typeface="微软雅黑"/>
              </a:rPr>
              <a:t>1、转化不稳定：</a:t>
            </a:r>
            <a:endParaRPr lang="en-US" sz="1100" dirty="0"/>
          </a:p>
          <a:p>
            <a:pPr marL="0" indent="0" algn="l" defTabSz="913765">
              <a:lnSpc>
                <a:spcPct val="83333"/>
              </a:lnSpc>
              <a:spcAft>
                <a:spcPts val="800"/>
              </a:spcAft>
            </a:pPr>
            <a:r>
              <a:rPr lang="en-US" sz="1800" b="0" i="0" u="none" strike="noStrike" spc="12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现有文献多关注零样本直接感知，较少研究其预测结果如何稳定转化为大规模闭集训练标签</a:t>
            </a:r>
            <a:r>
              <a:rPr lang="en-US" sz="1800" b="0" i="0" u="none" strike="noStrike" spc="12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。</a:t>
            </a:r>
          </a:p>
          <a:p>
            <a:pPr marL="0" indent="0" algn="l" defTabSz="913765">
              <a:lnSpc>
                <a:spcPct val="83333"/>
              </a:lnSpc>
              <a:spcAft>
                <a:spcPts val="800"/>
              </a:spcAft>
            </a:pPr>
            <a:r>
              <a:rPr lang="en-US" sz="1800" b="1" i="0" u="none" strike="noStrike" spc="120" dirty="0">
                <a:solidFill>
                  <a:srgbClr val="404040"/>
                </a:solidFill>
                <a:latin typeface="微软雅黑"/>
                <a:ea typeface="微软雅黑"/>
                <a:cs typeface="微软雅黑"/>
                <a:sym typeface="微软雅黑"/>
              </a:rPr>
              <a:t>2、后置规则不明：</a:t>
            </a:r>
          </a:p>
          <a:p>
            <a:pPr marL="0" indent="457200" algn="l" defTabSz="913765">
              <a:lnSpc>
                <a:spcPct val="83333"/>
              </a:lnSpc>
              <a:spcAft>
                <a:spcPts val="800"/>
              </a:spcAft>
            </a:pPr>
            <a:r>
              <a:rPr lang="en-US" sz="1800" b="0" i="0" u="none" strike="noStrike" spc="12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分割边界更细并不一定更适合检测训练，火和烟是否需要不同后置规则尚缺分别验证</a:t>
            </a:r>
            <a:r>
              <a:rPr lang="en-US" sz="1800" b="0" i="0" u="none" strike="noStrike" spc="12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。</a:t>
            </a:r>
          </a:p>
          <a:p>
            <a:pPr marL="0" indent="0" algn="l" defTabSz="913765">
              <a:lnSpc>
                <a:spcPct val="83333"/>
              </a:lnSpc>
              <a:spcAft>
                <a:spcPts val="800"/>
              </a:spcAft>
            </a:pPr>
            <a:r>
              <a:rPr lang="en-US" sz="1800" b="1" i="0" u="none" strike="noStrike" spc="120" dirty="0">
                <a:solidFill>
                  <a:srgbClr val="404040"/>
                </a:solidFill>
                <a:latin typeface="微软雅黑"/>
                <a:ea typeface="微软雅黑"/>
                <a:cs typeface="微软雅黑"/>
                <a:sym typeface="微软雅黑"/>
              </a:rPr>
              <a:t>3、选型缺失：</a:t>
            </a:r>
          </a:p>
          <a:p>
            <a:pPr marL="0" indent="0" algn="l" defTabSz="913765">
              <a:lnSpc>
                <a:spcPct val="83333"/>
              </a:lnSpc>
              <a:spcAft>
                <a:spcPts val="800"/>
              </a:spcAft>
            </a:pPr>
            <a:r>
              <a:rPr lang="en-US" sz="1800" b="0" i="0" u="none" strike="noStrike" spc="12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现有研究较少从系统工程角度，讨论不同数据规模下人工标注、单模型伪标签和级联流程的</a:t>
            </a:r>
            <a:r>
              <a:rPr lang="en-US" sz="1800" b="1" i="0" u="none" strike="noStrike" spc="12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动态选择</a:t>
            </a:r>
            <a:r>
              <a:rPr lang="en-US" sz="1800" b="0" i="0" u="none" strike="noStrike" spc="12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。本文围绕这三个问题展开研究</a:t>
            </a:r>
            <a:r>
              <a:rPr lang="en-US" sz="1800" b="0" i="0" u="none" strike="noStrike" spc="12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/>
                <a:ea typeface="微软雅黑"/>
                <a:cs typeface="微软雅黑"/>
                <a:sym typeface="微软雅黑"/>
              </a:rPr>
              <a:t>。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9405" y="1143000"/>
            <a:ext cx="530860" cy="5308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6347012" cy="683895"/>
          </a:xfrm>
          <a:custGeom>
            <a:avLst/>
            <a:gdLst/>
            <a:ahLst/>
            <a:cxnLst/>
            <a:rect l="l" t="t" r="r" b="b"/>
            <a:pathLst>
              <a:path w="5035550" h="749935">
                <a:moveTo>
                  <a:pt x="542276" y="0"/>
                </a:moveTo>
                <a:lnTo>
                  <a:pt x="542285" y="0"/>
                </a:lnTo>
                <a:lnTo>
                  <a:pt x="4470270" y="0"/>
                </a:lnTo>
                <a:lnTo>
                  <a:pt x="4470270" y="1604"/>
                </a:lnTo>
                <a:lnTo>
                  <a:pt x="4493274" y="0"/>
                </a:lnTo>
                <a:cubicBezTo>
                  <a:pt x="4792764" y="0"/>
                  <a:pt x="5035550" y="167879"/>
                  <a:pt x="5035550" y="374968"/>
                </a:cubicBezTo>
                <a:cubicBezTo>
                  <a:pt x="5035550" y="582056"/>
                  <a:pt x="4792764" y="749935"/>
                  <a:pt x="4493274" y="749935"/>
                </a:cubicBezTo>
                <a:lnTo>
                  <a:pt x="4470270" y="748332"/>
                </a:lnTo>
                <a:lnTo>
                  <a:pt x="4470270" y="749935"/>
                </a:lnTo>
                <a:lnTo>
                  <a:pt x="542276" y="749935"/>
                </a:lnTo>
                <a:cubicBezTo>
                  <a:pt x="242786" y="749935"/>
                  <a:pt x="0" y="582056"/>
                  <a:pt x="0" y="374968"/>
                </a:cubicBezTo>
                <a:cubicBezTo>
                  <a:pt x="0" y="167879"/>
                  <a:pt x="242786" y="0"/>
                  <a:pt x="542276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3195" y="66040"/>
            <a:ext cx="617855" cy="617855"/>
          </a:xfrm>
          <a:prstGeom prst="rect">
            <a:avLst/>
          </a:prstGeom>
          <a:ln w="127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781685" y="144780"/>
            <a:ext cx="4049395" cy="460375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24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2.2 </a:t>
            </a:r>
            <a:r>
              <a:rPr lang="en-US" sz="240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基础模型：开放词汇检测与提示分割</a:t>
            </a:r>
            <a:endParaRPr lang="en-US" sz="11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88265" y="948055"/>
          <a:ext cx="11916840" cy="5909945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1013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9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619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1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338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005"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类别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作者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年份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方法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特点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3770">
                <a:tc rowSpan="5"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开放词汇与</a:t>
                      </a:r>
                      <a:endParaRPr lang="en-US" sz="1100" dirty="0"/>
                    </a:p>
                    <a:p>
                      <a:pPr marL="0" indent="0" algn="ctr" defTabSz="914400">
                        <a:lnSpc>
                          <a:spcPct val="100000"/>
                        </a:lnSpc>
                      </a:pPr>
                      <a:r>
                        <a:rPr lang="en-US" sz="18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分割基础模型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latin typeface="微软雅黑"/>
                        <a:ea typeface="微软雅黑"/>
                        <a:cs typeface="微软雅黑"/>
                        <a:sym typeface="微软雅黑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Liu 等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2024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Grounding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DINO：语言表征与检测架构结合，文本短语开放世界定位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零样本定位，为低人工干预的数据初始化提供路径。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现有文献多关注零样本直接感知，较少研究其预测结果如何稳定转化为大规模闭集训练标签。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9001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Kirillov 等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2023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SAM：通用提示驱动分割范式，支持对图像任意区域提示分割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为精细边界提取和未知目标发现提供补充。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1210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Ravi 等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2025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SAM2 将分割范式扩展到时序视频。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支持视频时序分割与跟踪。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89380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Carion 等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2026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SAM3 进一步支持概念提示驱动的检测、分割和跟踪。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本文将其定义为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 V1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之后的可选后置校验模块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7565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Fu 等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2026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PET-DINO：统一视觉线索增强 Grounding DINO。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文本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—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视觉提示对齐仍是开放集检测的重要问题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4942840" cy="749935"/>
          </a:xfrm>
          <a:custGeom>
            <a:avLst/>
            <a:gdLst/>
            <a:ahLst/>
            <a:cxnLst/>
            <a:rect l="l" t="t" r="r" b="b"/>
            <a:pathLst>
              <a:path w="4942840" h="749935">
                <a:moveTo>
                  <a:pt x="532293" y="0"/>
                </a:moveTo>
                <a:lnTo>
                  <a:pt x="532300" y="0"/>
                </a:lnTo>
                <a:lnTo>
                  <a:pt x="4387968" y="0"/>
                </a:lnTo>
                <a:lnTo>
                  <a:pt x="4387968" y="1604"/>
                </a:lnTo>
                <a:lnTo>
                  <a:pt x="4410547" y="0"/>
                </a:lnTo>
                <a:cubicBezTo>
                  <a:pt x="4704524" y="0"/>
                  <a:pt x="4942840" y="167879"/>
                  <a:pt x="4942840" y="374968"/>
                </a:cubicBezTo>
                <a:cubicBezTo>
                  <a:pt x="4942840" y="582056"/>
                  <a:pt x="4704524" y="749935"/>
                  <a:pt x="4410547" y="749935"/>
                </a:cubicBezTo>
                <a:lnTo>
                  <a:pt x="4387968" y="748332"/>
                </a:lnTo>
                <a:lnTo>
                  <a:pt x="4387968" y="749935"/>
                </a:lnTo>
                <a:lnTo>
                  <a:pt x="532293" y="749935"/>
                </a:lnTo>
                <a:cubicBezTo>
                  <a:pt x="238316" y="749935"/>
                  <a:pt x="0" y="582056"/>
                  <a:pt x="0" y="374968"/>
                </a:cubicBezTo>
                <a:cubicBezTo>
                  <a:pt x="0" y="167879"/>
                  <a:pt x="238316" y="0"/>
                  <a:pt x="532293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3195" y="66040"/>
            <a:ext cx="617855" cy="617855"/>
          </a:xfrm>
          <a:prstGeom prst="rect">
            <a:avLst/>
          </a:prstGeom>
          <a:ln w="127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779780" y="144780"/>
            <a:ext cx="4049395" cy="460375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2.3 标签噪声与伪标签评价</a:t>
            </a:r>
            <a:endParaRPr lang="en-US" sz="1100"/>
          </a:p>
        </p:txBody>
      </p:sp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141137"/>
              </p:ext>
            </p:extLst>
          </p:nvPr>
        </p:nvGraphicFramePr>
        <p:xfrm>
          <a:off x="0" y="895350"/>
          <a:ext cx="12192000" cy="6244313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220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92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1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69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334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28345"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类别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作者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年份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方法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特点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7787">
                <a:tc rowSpan="2"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标签噪声与数据质量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Frénay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 等</a:t>
                      </a:r>
                      <a:endParaRPr lang="en-US" sz="1100" dirty="0"/>
                    </a:p>
                    <a:p>
                      <a:pPr marL="0" indent="0" algn="ctr" defTabSz="914400">
                        <a:lnSpc>
                          <a:spcPct val="100000"/>
                        </a:lnSpc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2014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标签噪声分类综述：类别错误、漏标和定位噪声会干扰深度模型特征学习与泛化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  <a:p>
                      <a:pPr marL="0" indent="0" algn="ctr" defTabSz="914400">
                        <a:lnSpc>
                          <a:spcPct val="100000"/>
                        </a:lnSpc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只靠标准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 </a:t>
                      </a:r>
                      <a:r>
                        <a:rPr lang="en-US" sz="1600" b="1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IoU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 </a:t>
                      </a:r>
                      <a:r>
                        <a:rPr lang="en-US" sz="1600" b="1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很难区分松紧风格与真实定位偏差，需结合边界敏感性与下游训练结果判断伪标签是否真正可用</a:t>
                      </a:r>
                      <a:r>
                        <a:rPr lang="zh-CN" altLang="en-US" sz="1600" b="1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3163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Northcutt 等</a:t>
                      </a:r>
                      <a:endParaRPr lang="en-US" sz="1100" dirty="0"/>
                    </a:p>
                    <a:p>
                      <a:pPr marL="0" indent="0" algn="ctr" defTabSz="914400">
                        <a:lnSpc>
                          <a:spcPct val="100000"/>
                        </a:lnSpc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2021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测试集标签错误普遍存在：现有数据集多存在漏标、标签混淆和包围框尺度不一致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  <a:p>
                      <a:pPr marL="0" indent="0" algn="ctr" defTabSz="914400">
                        <a:lnSpc>
                          <a:spcPct val="100000"/>
                        </a:lnSpc>
                      </a:pPr>
                      <a:endParaRPr sz="1600" dirty="0"/>
                    </a:p>
                    <a:p>
                      <a:pPr marL="0" indent="0" algn="ctr" defTabSz="914400">
                        <a:lnSpc>
                          <a:spcPct val="100000"/>
                        </a:lnSpc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T="45352" marB="453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9216">
                <a:tc rowSpan="3"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边界质量与下游效用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Cheng 等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2021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Boundary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IoU：改进以对象为中心的图像分割评价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  <a:p>
                      <a:pPr marL="0" indent="0" algn="ctr" defTabSz="914400">
                        <a:lnSpc>
                          <a:spcPct val="100000"/>
                        </a:lnSpc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1600" b="1" i="0" u="none" strike="noStrike" dirty="0">
                          <a:solidFill>
                            <a:srgbClr val="00000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Arial"/>
                          <a:sym typeface="Arial"/>
                        </a:rPr>
                        <a:t>以更精准的边界指标为评判标准，深入密集拥挤的极端场景，最终构建出无需人工参与的端到端全自动训练管线，实现了从数据清洗到下游模型落地的全栈式效用提升</a:t>
                      </a:r>
                      <a:endParaRPr lang="en-US" sz="1200" b="1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0410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Dinh 等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2026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多尺度 tiling 伪标签用于密集场景目标检测。</a:t>
                      </a:r>
                      <a:endParaRPr lang="en-US" sz="1100"/>
                    </a:p>
                    <a:p>
                      <a:pPr marL="0" indent="0" algn="ctr" defTabSz="914400">
                        <a:lnSpc>
                          <a:spcPct val="100000"/>
                        </a:lnSpc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marT="42545" marB="4254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53411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Xin 等</a:t>
                      </a:r>
                      <a:endParaRPr lang="en-US" sz="110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2024</a:t>
                      </a:r>
                      <a:endParaRPr lang="en-US" sz="1100"/>
                    </a:p>
                  </a:txBody>
                  <a:tcPr marL="13017" marR="13017" marT="13017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DART：端到端自动检测标注与模型训练管线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  <a:p>
                      <a:pPr marL="0" indent="0" algn="ctr" defTabSz="914400">
                        <a:lnSpc>
                          <a:spcPct val="100000"/>
                        </a:lnSpc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lang="en-US" sz="1100"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6096000" cy="683895"/>
          </a:xfrm>
          <a:custGeom>
            <a:avLst/>
            <a:gdLst/>
            <a:ahLst/>
            <a:cxnLst/>
            <a:rect l="l" t="t" r="r" b="b"/>
            <a:pathLst>
              <a:path w="4942840" h="749935">
                <a:moveTo>
                  <a:pt x="532293" y="0"/>
                </a:moveTo>
                <a:lnTo>
                  <a:pt x="532300" y="0"/>
                </a:lnTo>
                <a:lnTo>
                  <a:pt x="4387968" y="0"/>
                </a:lnTo>
                <a:lnTo>
                  <a:pt x="4387968" y="1604"/>
                </a:lnTo>
                <a:lnTo>
                  <a:pt x="4410547" y="0"/>
                </a:lnTo>
                <a:cubicBezTo>
                  <a:pt x="4704524" y="0"/>
                  <a:pt x="4942840" y="167879"/>
                  <a:pt x="4942840" y="374968"/>
                </a:cubicBezTo>
                <a:cubicBezTo>
                  <a:pt x="4942840" y="582056"/>
                  <a:pt x="4704524" y="749935"/>
                  <a:pt x="4410547" y="749935"/>
                </a:cubicBezTo>
                <a:lnTo>
                  <a:pt x="4387968" y="748332"/>
                </a:lnTo>
                <a:lnTo>
                  <a:pt x="4387968" y="749935"/>
                </a:lnTo>
                <a:lnTo>
                  <a:pt x="532293" y="749935"/>
                </a:lnTo>
                <a:cubicBezTo>
                  <a:pt x="238316" y="749935"/>
                  <a:pt x="0" y="582056"/>
                  <a:pt x="0" y="374968"/>
                </a:cubicBezTo>
                <a:cubicBezTo>
                  <a:pt x="0" y="167879"/>
                  <a:pt x="238316" y="0"/>
                  <a:pt x="532293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just">
              <a:defRPr/>
            </a:pPr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3195" y="66040"/>
            <a:ext cx="617855" cy="617855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779780" y="144780"/>
            <a:ext cx="4049395" cy="46037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marL="0" indent="0" algn="just" defTabSz="914400">
              <a:lnSpc>
                <a:spcPct val="100000"/>
              </a:lnSpc>
              <a:defRPr/>
            </a:pPr>
            <a:r>
              <a:rPr lang="en-US" sz="24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2.4 </a:t>
            </a:r>
            <a:r>
              <a:rPr lang="en-US" sz="240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半监督</a:t>
            </a:r>
            <a:r>
              <a:rPr lang="zh-CN" altLang="en-US" sz="24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弱监督</a:t>
            </a:r>
            <a:r>
              <a:rPr lang="en-US" sz="240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与主动学习辅助标注</a:t>
            </a:r>
            <a:endParaRPr lang="en-US" sz="11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214646"/>
              </p:ext>
            </p:extLst>
          </p:nvPr>
        </p:nvGraphicFramePr>
        <p:xfrm>
          <a:off x="635" y="1380490"/>
          <a:ext cx="12191365" cy="527939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468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0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15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76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0085"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类别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作者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年份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方法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特点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2385">
                <a:tc rowSpan="4"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弱监督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/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半监督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/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主动学习</a:t>
                      </a:r>
                      <a:endParaRPr lang="en-US" sz="1100" dirty="0"/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Burges 等</a:t>
                      </a:r>
                      <a:endParaRPr lang="en-US" sz="110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2025</a:t>
                      </a:r>
                      <a:endParaRPr lang="en-US" sz="1100"/>
                    </a:p>
                  </a:txBody>
                  <a:tcPr marL="13017" marR="13017" marT="13017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主动学习结合基础模型，</a:t>
                      </a: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面向遥感目标检测的快速数据标注。</a:t>
                      </a:r>
                      <a:endParaRPr lang="en-US" sz="1100"/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endParaRPr lang="en-US" sz="1100"/>
                    </a:p>
                  </a:txBody>
                  <a:tcPr marL="13017" marR="13017" marT="13017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基础模型辅助标注可减少人工标注量，</a:t>
                      </a:r>
                      <a:r>
                        <a:rPr lang="en-US" sz="1600" b="1" i="0" u="none" strike="noStrike" dirty="0" err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但较少从系统工程角度讨论不同数据规模下标注范式的动态选择</a:t>
                      </a:r>
                      <a:r>
                        <a:rPr lang="en-US" sz="1600" b="1" i="0" u="none" strike="noStrike" dirty="0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  <a:p>
                      <a:pPr marL="0" indent="0" algn="ctr" defTabSz="914400">
                        <a:lnSpc>
                          <a:spcPct val="100000"/>
                        </a:lnSpc>
                      </a:pPr>
                      <a:endParaRPr lang="en-US" sz="1100" dirty="0"/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endParaRPr lang="en-US" sz="1100" dirty="0"/>
                    </a:p>
                  </a:txBody>
                  <a:tcPr marL="13017" marR="13017" marT="13017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2355"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Zhang 等</a:t>
                      </a:r>
                      <a:endParaRPr lang="en-US" sz="1100" dirty="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2026</a:t>
                      </a:r>
                      <a:endParaRPr lang="en-US" sz="1100"/>
                    </a:p>
                  </a:txBody>
                  <a:tcPr marL="13017" marR="13017" marT="13017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高效半监督目标检测（Detection Transformer）。</a:t>
                      </a:r>
                      <a:endParaRPr lang="en-US" sz="110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>
                      <a:noFill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05535"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Shehzadi 等</a:t>
                      </a:r>
                      <a:endParaRPr lang="en-US" sz="110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2025</a:t>
                      </a:r>
                      <a:endParaRPr lang="en-US" sz="1100"/>
                    </a:p>
                  </a:txBody>
                  <a:tcPr marL="13017" marR="13017" marT="13017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STEP-DETR：教师模型与伪标签引导文本查询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>
                      <a:noFill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29030"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Amershi 等</a:t>
                      </a:r>
                      <a:endParaRPr lang="en-US" sz="110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2019</a:t>
                      </a:r>
                      <a:endParaRPr lang="en-US" sz="1100"/>
                    </a:p>
                  </a:txBody>
                  <a:tcPr marL="13017" marR="13017" marT="13017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 err="1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机器学习系统软件工程案例：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强调数据过程管理与可复现规范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E5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>
                      <a:noFill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44780"/>
            <a:ext cx="4942840" cy="749935"/>
          </a:xfrm>
          <a:custGeom>
            <a:avLst/>
            <a:gdLst/>
            <a:ahLst/>
            <a:cxnLst/>
            <a:rect l="l" t="t" r="r" b="b"/>
            <a:pathLst>
              <a:path w="4942840" h="749935">
                <a:moveTo>
                  <a:pt x="532293" y="0"/>
                </a:moveTo>
                <a:lnTo>
                  <a:pt x="532300" y="0"/>
                </a:lnTo>
                <a:lnTo>
                  <a:pt x="4387968" y="0"/>
                </a:lnTo>
                <a:lnTo>
                  <a:pt x="4387968" y="1604"/>
                </a:lnTo>
                <a:lnTo>
                  <a:pt x="4410547" y="0"/>
                </a:lnTo>
                <a:cubicBezTo>
                  <a:pt x="4704524" y="0"/>
                  <a:pt x="4942840" y="167879"/>
                  <a:pt x="4942840" y="374967"/>
                </a:cubicBezTo>
                <a:cubicBezTo>
                  <a:pt x="4942840" y="582056"/>
                  <a:pt x="4704524" y="749935"/>
                  <a:pt x="4410547" y="749935"/>
                </a:cubicBezTo>
                <a:lnTo>
                  <a:pt x="4387968" y="748332"/>
                </a:lnTo>
                <a:lnTo>
                  <a:pt x="4387968" y="749935"/>
                </a:lnTo>
                <a:lnTo>
                  <a:pt x="532293" y="749935"/>
                </a:lnTo>
                <a:cubicBezTo>
                  <a:pt x="238316" y="749935"/>
                  <a:pt x="0" y="582056"/>
                  <a:pt x="0" y="374967"/>
                </a:cubicBezTo>
                <a:cubicBezTo>
                  <a:pt x="0" y="167879"/>
                  <a:pt x="238316" y="0"/>
                  <a:pt x="532293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just">
              <a:defRPr/>
            </a:pPr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3195" y="210820"/>
            <a:ext cx="617855" cy="617855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779780" y="289560"/>
            <a:ext cx="4049395" cy="46037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marL="0" indent="0" algn="just" defTabSz="914400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2.5 火烟场景应用研究</a:t>
            </a:r>
            <a:endParaRPr lang="en-US" sz="110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217805" y="1330960"/>
          <a:ext cx="11756390" cy="5029835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692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2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89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327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92150"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类别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作者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年份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方法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特点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2995">
                <a:tc rowSpan="4"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 err="1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火烟检测与分割应用</a:t>
                      </a:r>
                      <a:endParaRPr lang="en-US" sz="1100" dirty="0"/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Joshi 等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2025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基础模型结合边界框的高效火焰检测。</a:t>
                      </a:r>
                      <a:endParaRPr lang="en-US" sz="110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本文落点不同：</a:t>
                      </a:r>
                      <a:endParaRPr lang="en-US" sz="1100"/>
                    </a:p>
                    <a:p>
                      <a:pPr marL="0" indent="0" algn="ctr" defTabSz="914400">
                        <a:lnSpc>
                          <a:spcPct val="100000"/>
                        </a:lnSpc>
                      </a:pPr>
                      <a:r>
                        <a:rPr lang="en-US" sz="1600" b="1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已有工作多把分割质量本身当目标，分割更细不代表转换出的检测框更适合训练。</a:t>
                      </a:r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035"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Cao 等</a:t>
                      </a:r>
                      <a:endParaRPr lang="en-US" sz="110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2026</a:t>
                      </a:r>
                      <a:endParaRPr lang="en-US" sz="1100"/>
                    </a:p>
                  </a:txBody>
                  <a:tcPr marL="13017" marR="13017" marT="13017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SAM </a:t>
                      </a:r>
                      <a:r>
                        <a:rPr lang="en-US" sz="1600" b="0" i="0" u="none" strike="noStrike" dirty="0" err="1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驱动的密度感知渐进式烟雾分割框架</a:t>
                      </a:r>
                      <a:r>
                        <a:rPr lang="en-US" sz="1600" b="0" i="0" u="none" strike="noStrike" dirty="0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>
                      <a:noFill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5215"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Allabadi 等</a:t>
                      </a:r>
                      <a:endParaRPr lang="en-US" sz="110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2025</a:t>
                      </a:r>
                      <a:endParaRPr lang="en-US" sz="1100"/>
                    </a:p>
                  </a:txBody>
                  <a:tcPr marL="13017" marR="13017" marT="13017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在野外环境用 SAM 检测新目标物种。</a:t>
                      </a:r>
                      <a:endParaRPr lang="en-US" sz="110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>
                      <a:noFill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07440"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Cao 等</a:t>
                      </a:r>
                      <a:endParaRPr lang="en-US" sz="110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2024</a:t>
                      </a:r>
                      <a:endParaRPr lang="en-US" sz="110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600" b="0" i="0" u="none" strike="noStrike" dirty="0" err="1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面向遥感森林火烟检测的多面合成数据集</a:t>
                      </a:r>
                      <a:r>
                        <a:rPr lang="en-US" sz="1600" b="0" i="0" u="none" strike="noStrike" dirty="0">
                          <a:solidFill>
                            <a:srgbClr val="0D0D0D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 marL="13017" marR="13017" marT="13017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>
                        <a:alpha val="10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>
                      <a:noFill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27000"/>
            <a:ext cx="3263900" cy="609600"/>
          </a:xfrm>
          <a:prstGeom prst="roundRect">
            <a:avLst>
              <a:gd name="adj" fmla="val 41665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77800" y="152400"/>
            <a:ext cx="558800" cy="558800"/>
          </a:xfrm>
          <a:prstGeom prst="rect">
            <a:avLst/>
          </a:prstGeom>
          <a:ln w="127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812800" y="190500"/>
            <a:ext cx="2501900" cy="508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研究现状与缺口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08000" y="1651000"/>
            <a:ext cx="3556000" cy="2095500"/>
          </a:xfrm>
          <a:prstGeom prst="roundRect">
            <a:avLst>
              <a:gd name="adj" fmla="val 0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" y="1841500"/>
            <a:ext cx="304800" cy="304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079500" y="1841500"/>
            <a:ext cx="285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A37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01 </a:t>
            </a:r>
            <a:r>
              <a:rPr lang="en-US" sz="1600" b="1" i="0" u="none" strike="noStrike" dirty="0" err="1">
                <a:solidFill>
                  <a:srgbClr val="0A37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传统目标检测：标注瓶颈</a:t>
            </a:r>
            <a:endParaRPr lang="en-US" sz="1100" dirty="0">
              <a:solidFill>
                <a:srgbClr val="0A37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98500" y="2349500"/>
            <a:ext cx="3175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08333"/>
              </a:lnSpc>
              <a:defRPr/>
            </a:pPr>
            <a:r>
              <a:rPr lang="en-US" sz="1300" b="0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长期依赖全监督学习，算法效果高度依赖高质量人工标注。数据的“质”与“量”难以协同供给，成为模型规模化训练的核心制约因素</a:t>
            </a:r>
            <a:r>
              <a:rPr lang="en-US" sz="13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318000" y="1651000"/>
            <a:ext cx="3556000" cy="2095500"/>
          </a:xfrm>
          <a:prstGeom prst="roundRect">
            <a:avLst>
              <a:gd name="adj" fmla="val 0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8500" y="18415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889500" y="1841500"/>
            <a:ext cx="285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A37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02 </a:t>
            </a:r>
            <a:r>
              <a:rPr lang="en-US" sz="1600" b="1" i="0" u="none" strike="noStrike" dirty="0" err="1">
                <a:solidFill>
                  <a:srgbClr val="0A37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开放词汇检测：转化断层</a:t>
            </a:r>
            <a:endParaRPr lang="en-US" sz="1100" dirty="0">
              <a:solidFill>
                <a:srgbClr val="0A37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4508500" y="2349500"/>
            <a:ext cx="3175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08333"/>
              </a:lnSpc>
              <a:defRPr/>
            </a:pPr>
            <a:r>
              <a:rPr lang="en-US" sz="13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Grounding </a:t>
            </a:r>
            <a:r>
              <a:rPr lang="en-US" sz="1300" b="0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DINO等模型实现了开放世界定位，但缺乏将预测结果稳定转化为闭集训练标签的研究，对下游检测器的泛化效能评估不足</a:t>
            </a:r>
            <a:r>
              <a:rPr lang="en-US" sz="13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556000" cy="2095500"/>
          </a:xfrm>
          <a:prstGeom prst="roundRect">
            <a:avLst>
              <a:gd name="adj" fmla="val 0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18500" y="18415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699500" y="1841500"/>
            <a:ext cx="285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A37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03 </a:t>
            </a:r>
            <a:r>
              <a:rPr lang="en-US" sz="1600" b="1" i="0" u="none" strike="noStrike" dirty="0" err="1">
                <a:solidFill>
                  <a:srgbClr val="0A37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SAM系列：应用场景受限</a:t>
            </a:r>
            <a:endParaRPr lang="en-US" sz="1100" dirty="0">
              <a:solidFill>
                <a:srgbClr val="0A37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8318500" y="2349500"/>
            <a:ext cx="3175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08333"/>
              </a:lnSpc>
              <a:defRPr/>
            </a:pPr>
            <a:r>
              <a:rPr lang="en-US" sz="1300" b="0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虽提供细粒度空间信息，但鲜少验证其在审核、补漏及边界调整中的作用，且精细分割未必适配检测框的训练需求，存在转化鸿沟</a:t>
            </a:r>
            <a:r>
              <a:rPr lang="en-US" sz="13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508000" y="4064000"/>
            <a:ext cx="5461000" cy="2095500"/>
          </a:xfrm>
          <a:prstGeom prst="roundRect">
            <a:avLst>
              <a:gd name="adj" fmla="val 0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8500" y="4254500"/>
            <a:ext cx="304800" cy="304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079500" y="42545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A37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04 </a:t>
            </a:r>
            <a:r>
              <a:rPr lang="en-US" sz="1600" b="1" i="0" u="none" strike="noStrike" dirty="0" err="1">
                <a:solidFill>
                  <a:srgbClr val="0A37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自动标签评价：指标体系单一</a:t>
            </a:r>
            <a:endParaRPr lang="en-US" sz="1100" dirty="0">
              <a:solidFill>
                <a:srgbClr val="0A37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698500" y="4762500"/>
            <a:ext cx="5080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08333"/>
              </a:lnSpc>
              <a:defRPr/>
            </a:pPr>
            <a:r>
              <a:rPr lang="en-US" sz="13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仅依靠标准IoU指标难以有效区分标注风格差异与真实定位偏差，无法准确判断伪标签是否真正适用于下游训练，需建立结合实际训练效果的综合评价体系。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223000" y="4064000"/>
            <a:ext cx="5461000" cy="2095500"/>
          </a:xfrm>
          <a:prstGeom prst="roundRect">
            <a:avLst>
              <a:gd name="adj" fmla="val 0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13500" y="42545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6794500" y="42545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0A37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05 </a:t>
            </a:r>
            <a:r>
              <a:rPr lang="en-US" sz="1600" b="1" i="0" u="none" strike="noStrike" dirty="0" err="1">
                <a:solidFill>
                  <a:srgbClr val="0A37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数据制备：范式动态适配缺失</a:t>
            </a:r>
            <a:endParaRPr lang="en-US" sz="1100" dirty="0">
              <a:solidFill>
                <a:srgbClr val="0A37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6413500" y="4762500"/>
            <a:ext cx="5080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08333"/>
              </a:lnSpc>
              <a:defRPr/>
            </a:pPr>
            <a:r>
              <a:rPr lang="en-US" sz="1300" b="0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现有研究虽证明基础模型可减轻标注负担，但缺乏从系统工程视角，针对不同数据规模探讨标注范式的动态选择与效率优化，难以适配多样化的训练场景需求。</a:t>
            </a:r>
            <a:endParaRPr lang="en-US" sz="1100" dirty="0">
              <a:solidFill>
                <a:schemeClr val="tx1">
                  <a:lumMod val="85000"/>
                  <a:lumOff val="15000"/>
                </a:schemeClr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293100" y="1143496"/>
            <a:ext cx="3696948" cy="5714503"/>
          </a:xfrm>
          <a:custGeom>
            <a:avLst/>
            <a:gdLst/>
            <a:ahLst/>
            <a:cxnLst/>
            <a:rect l="l" t="t" r="r" b="b"/>
            <a:pathLst>
              <a:path w="3696948" h="5714503">
                <a:moveTo>
                  <a:pt x="535568" y="5082275"/>
                </a:moveTo>
                <a:cubicBezTo>
                  <a:pt x="547809" y="5094491"/>
                  <a:pt x="553931" y="5125033"/>
                  <a:pt x="547809" y="5155576"/>
                </a:cubicBezTo>
                <a:cubicBezTo>
                  <a:pt x="541689" y="5180010"/>
                  <a:pt x="541689" y="5204443"/>
                  <a:pt x="535568" y="5241096"/>
                </a:cubicBezTo>
                <a:cubicBezTo>
                  <a:pt x="553931" y="5241096"/>
                  <a:pt x="581473" y="5253312"/>
                  <a:pt x="618198" y="5259421"/>
                </a:cubicBezTo>
                <a:cubicBezTo>
                  <a:pt x="648802" y="5268584"/>
                  <a:pt x="673285" y="5274692"/>
                  <a:pt x="691648" y="5274692"/>
                </a:cubicBezTo>
                <a:cubicBezTo>
                  <a:pt x="685527" y="5369373"/>
                  <a:pt x="673285" y="5515978"/>
                  <a:pt x="651863" y="5714503"/>
                </a:cubicBezTo>
                <a:cubicBezTo>
                  <a:pt x="3155260" y="5714503"/>
                  <a:pt x="3155260" y="5714503"/>
                  <a:pt x="3155260" y="5714503"/>
                </a:cubicBezTo>
                <a:cubicBezTo>
                  <a:pt x="3155260" y="5714503"/>
                  <a:pt x="3155260" y="5714503"/>
                  <a:pt x="3155260" y="5714503"/>
                </a:cubicBezTo>
                <a:cubicBezTo>
                  <a:pt x="3167502" y="5668691"/>
                  <a:pt x="3179743" y="5638147"/>
                  <a:pt x="3185864" y="5625931"/>
                </a:cubicBezTo>
                <a:cubicBezTo>
                  <a:pt x="3198105" y="5552629"/>
                  <a:pt x="3216468" y="5439621"/>
                  <a:pt x="3228710" y="5280800"/>
                </a:cubicBezTo>
                <a:cubicBezTo>
                  <a:pt x="3240951" y="5118926"/>
                  <a:pt x="3259314" y="5005917"/>
                  <a:pt x="3277676" y="4932615"/>
                </a:cubicBezTo>
                <a:cubicBezTo>
                  <a:pt x="3292978" y="4865422"/>
                  <a:pt x="3323581" y="4776848"/>
                  <a:pt x="3366427" y="4673004"/>
                </a:cubicBezTo>
                <a:cubicBezTo>
                  <a:pt x="3436816" y="4492804"/>
                  <a:pt x="3473540" y="4398122"/>
                  <a:pt x="3473540" y="4398122"/>
                </a:cubicBezTo>
                <a:cubicBezTo>
                  <a:pt x="3534748" y="4220975"/>
                  <a:pt x="3565352" y="4126294"/>
                  <a:pt x="3571474" y="4126294"/>
                </a:cubicBezTo>
                <a:cubicBezTo>
                  <a:pt x="3611258" y="4028557"/>
                  <a:pt x="3654104" y="3952201"/>
                  <a:pt x="3696948" y="3903334"/>
                </a:cubicBezTo>
                <a:cubicBezTo>
                  <a:pt x="3690828" y="3555148"/>
                  <a:pt x="3678587" y="3307754"/>
                  <a:pt x="3660224" y="3167258"/>
                </a:cubicBezTo>
                <a:cubicBezTo>
                  <a:pt x="3635741" y="2922919"/>
                  <a:pt x="3571474" y="2745772"/>
                  <a:pt x="3473540" y="2614439"/>
                </a:cubicBezTo>
                <a:cubicBezTo>
                  <a:pt x="3455179" y="2590005"/>
                  <a:pt x="3415393" y="2553354"/>
                  <a:pt x="3366427" y="2513649"/>
                </a:cubicBezTo>
                <a:cubicBezTo>
                  <a:pt x="3305219" y="2458672"/>
                  <a:pt x="3265434" y="2422021"/>
                  <a:pt x="3247072" y="2403696"/>
                </a:cubicBezTo>
                <a:cubicBezTo>
                  <a:pt x="3103234" y="2260145"/>
                  <a:pt x="2986938" y="2162410"/>
                  <a:pt x="2892067" y="2107433"/>
                </a:cubicBezTo>
                <a:cubicBezTo>
                  <a:pt x="2892067" y="2079945"/>
                  <a:pt x="2873704" y="2031077"/>
                  <a:pt x="2836979" y="1969992"/>
                </a:cubicBezTo>
                <a:cubicBezTo>
                  <a:pt x="2836979" y="1963884"/>
                  <a:pt x="2830859" y="1957775"/>
                  <a:pt x="2830859" y="1951666"/>
                </a:cubicBezTo>
                <a:cubicBezTo>
                  <a:pt x="2791074" y="1875310"/>
                  <a:pt x="2766591" y="1814225"/>
                  <a:pt x="2766591" y="1771466"/>
                </a:cubicBezTo>
                <a:cubicBezTo>
                  <a:pt x="2754349" y="1759248"/>
                  <a:pt x="2742108" y="1759248"/>
                  <a:pt x="2723746" y="1759248"/>
                </a:cubicBezTo>
                <a:cubicBezTo>
                  <a:pt x="2711505" y="1759248"/>
                  <a:pt x="2693142" y="1753140"/>
                  <a:pt x="2665598" y="1753140"/>
                </a:cubicBezTo>
                <a:cubicBezTo>
                  <a:pt x="2772712" y="1676784"/>
                  <a:pt x="2849221" y="1554613"/>
                  <a:pt x="2904308" y="1380522"/>
                </a:cubicBezTo>
                <a:cubicBezTo>
                  <a:pt x="2953275" y="1212538"/>
                  <a:pt x="2971637" y="1038446"/>
                  <a:pt x="2959396" y="855190"/>
                </a:cubicBezTo>
                <a:cubicBezTo>
                  <a:pt x="2947154" y="662772"/>
                  <a:pt x="2904308" y="494788"/>
                  <a:pt x="2830859" y="369565"/>
                </a:cubicBezTo>
                <a:cubicBezTo>
                  <a:pt x="2742108" y="222960"/>
                  <a:pt x="2628873" y="134388"/>
                  <a:pt x="2485036" y="109953"/>
                </a:cubicBezTo>
                <a:cubicBezTo>
                  <a:pt x="2466673" y="109953"/>
                  <a:pt x="2466673" y="97737"/>
                  <a:pt x="2478914" y="85519"/>
                </a:cubicBezTo>
                <a:cubicBezTo>
                  <a:pt x="2485036" y="73302"/>
                  <a:pt x="2485036" y="67193"/>
                  <a:pt x="2472794" y="67193"/>
                </a:cubicBezTo>
                <a:cubicBezTo>
                  <a:pt x="2454431" y="61084"/>
                  <a:pt x="2442190" y="61084"/>
                  <a:pt x="2436070" y="73302"/>
                </a:cubicBezTo>
                <a:cubicBezTo>
                  <a:pt x="2429948" y="85519"/>
                  <a:pt x="2423828" y="97737"/>
                  <a:pt x="2417707" y="97737"/>
                </a:cubicBezTo>
                <a:cubicBezTo>
                  <a:pt x="2393224" y="67193"/>
                  <a:pt x="2335077" y="42760"/>
                  <a:pt x="2243264" y="24434"/>
                </a:cubicBezTo>
                <a:cubicBezTo>
                  <a:pt x="2160634" y="6109"/>
                  <a:pt x="2081064" y="0"/>
                  <a:pt x="2010675" y="0"/>
                </a:cubicBezTo>
                <a:cubicBezTo>
                  <a:pt x="1879078" y="18326"/>
                  <a:pt x="1729119" y="73302"/>
                  <a:pt x="1554677" y="171039"/>
                </a:cubicBezTo>
                <a:cubicBezTo>
                  <a:pt x="1459805" y="229069"/>
                  <a:pt x="1337390" y="302370"/>
                  <a:pt x="1181310" y="393998"/>
                </a:cubicBezTo>
                <a:cubicBezTo>
                  <a:pt x="1193551" y="427595"/>
                  <a:pt x="1187431" y="458137"/>
                  <a:pt x="1181310" y="488681"/>
                </a:cubicBezTo>
                <a:cubicBezTo>
                  <a:pt x="1169068" y="507006"/>
                  <a:pt x="1153766" y="531439"/>
                  <a:pt x="1141524" y="580307"/>
                </a:cubicBezTo>
                <a:cubicBezTo>
                  <a:pt x="1175189" y="586416"/>
                  <a:pt x="1205793" y="586416"/>
                  <a:pt x="1230276" y="580307"/>
                </a:cubicBezTo>
                <a:cubicBezTo>
                  <a:pt x="1260880" y="568091"/>
                  <a:pt x="1279242" y="568091"/>
                  <a:pt x="1285363" y="568091"/>
                </a:cubicBezTo>
                <a:cubicBezTo>
                  <a:pt x="1273122" y="616958"/>
                  <a:pt x="1248639" y="699423"/>
                  <a:pt x="1211914" y="803269"/>
                </a:cubicBezTo>
                <a:cubicBezTo>
                  <a:pt x="1187431" y="891841"/>
                  <a:pt x="1181310" y="989578"/>
                  <a:pt x="1181310" y="1078151"/>
                </a:cubicBezTo>
                <a:cubicBezTo>
                  <a:pt x="1267000" y="1127018"/>
                  <a:pt x="1291483" y="1200320"/>
                  <a:pt x="1254759" y="1301111"/>
                </a:cubicBezTo>
                <a:cubicBezTo>
                  <a:pt x="1236397" y="1356087"/>
                  <a:pt x="1193551" y="1441606"/>
                  <a:pt x="1129283" y="1560722"/>
                </a:cubicBezTo>
                <a:cubicBezTo>
                  <a:pt x="1129283" y="1585157"/>
                  <a:pt x="1147646" y="1597373"/>
                  <a:pt x="1181310" y="1609590"/>
                </a:cubicBezTo>
                <a:cubicBezTo>
                  <a:pt x="1193551" y="1615699"/>
                  <a:pt x="1218034" y="1621808"/>
                  <a:pt x="1260880" y="1621808"/>
                </a:cubicBezTo>
                <a:cubicBezTo>
                  <a:pt x="1260880" y="1698164"/>
                  <a:pt x="1267000" y="1753140"/>
                  <a:pt x="1279242" y="1795899"/>
                </a:cubicBezTo>
                <a:cubicBezTo>
                  <a:pt x="1291483" y="1820334"/>
                  <a:pt x="1319027" y="1856985"/>
                  <a:pt x="1355752" y="1908907"/>
                </a:cubicBezTo>
                <a:cubicBezTo>
                  <a:pt x="1123163" y="1856985"/>
                  <a:pt x="905874" y="1908907"/>
                  <a:pt x="691648" y="2055512"/>
                </a:cubicBezTo>
                <a:cubicBezTo>
                  <a:pt x="667164" y="2131868"/>
                  <a:pt x="630439" y="2272363"/>
                  <a:pt x="593715" y="2489215"/>
                </a:cubicBezTo>
                <a:cubicBezTo>
                  <a:pt x="553931" y="2699958"/>
                  <a:pt x="511085" y="2849616"/>
                  <a:pt x="468239" y="2941244"/>
                </a:cubicBezTo>
                <a:cubicBezTo>
                  <a:pt x="455997" y="2968732"/>
                  <a:pt x="437636" y="3005383"/>
                  <a:pt x="403972" y="3060360"/>
                </a:cubicBezTo>
                <a:cubicBezTo>
                  <a:pt x="391730" y="3084793"/>
                  <a:pt x="379489" y="3103119"/>
                  <a:pt x="367247" y="3121444"/>
                </a:cubicBezTo>
                <a:cubicBezTo>
                  <a:pt x="355006" y="3145879"/>
                  <a:pt x="342764" y="3173367"/>
                  <a:pt x="336643" y="3191693"/>
                </a:cubicBezTo>
                <a:cubicBezTo>
                  <a:pt x="330521" y="3203909"/>
                  <a:pt x="330521" y="3216126"/>
                  <a:pt x="324401" y="3228344"/>
                </a:cubicBezTo>
                <a:cubicBezTo>
                  <a:pt x="223408" y="3463521"/>
                  <a:pt x="162201" y="3607071"/>
                  <a:pt x="143838" y="3668156"/>
                </a:cubicBezTo>
                <a:cubicBezTo>
                  <a:pt x="73449" y="3854465"/>
                  <a:pt x="30604" y="4028557"/>
                  <a:pt x="18363" y="4187378"/>
                </a:cubicBezTo>
                <a:cubicBezTo>
                  <a:pt x="0" y="4450044"/>
                  <a:pt x="24483" y="4666896"/>
                  <a:pt x="79571" y="4819608"/>
                </a:cubicBezTo>
                <a:cubicBezTo>
                  <a:pt x="168321" y="5030352"/>
                  <a:pt x="318280" y="5118926"/>
                  <a:pt x="535568" y="5082275"/>
                </a:cubicBezTo>
                <a:close/>
                <a:moveTo>
                  <a:pt x="905874" y="2800749"/>
                </a:moveTo>
                <a:cubicBezTo>
                  <a:pt x="918116" y="2782423"/>
                  <a:pt x="954841" y="2751880"/>
                  <a:pt x="997687" y="2712175"/>
                </a:cubicBezTo>
                <a:cubicBezTo>
                  <a:pt x="1043592" y="2675524"/>
                  <a:pt x="1074196" y="2638873"/>
                  <a:pt x="1092558" y="2614439"/>
                </a:cubicBezTo>
                <a:cubicBezTo>
                  <a:pt x="1110921" y="2583896"/>
                  <a:pt x="1129283" y="2541137"/>
                  <a:pt x="1141524" y="2476998"/>
                </a:cubicBezTo>
                <a:cubicBezTo>
                  <a:pt x="1159887" y="2409805"/>
                  <a:pt x="1181310" y="2360936"/>
                  <a:pt x="1193551" y="2330394"/>
                </a:cubicBezTo>
                <a:cubicBezTo>
                  <a:pt x="1254759" y="2354828"/>
                  <a:pt x="1303725" y="2367045"/>
                  <a:pt x="1349632" y="2360936"/>
                </a:cubicBezTo>
                <a:cubicBezTo>
                  <a:pt x="1392476" y="2354828"/>
                  <a:pt x="1441442" y="2342610"/>
                  <a:pt x="1499591" y="2318177"/>
                </a:cubicBezTo>
                <a:cubicBezTo>
                  <a:pt x="1499591" y="2302905"/>
                  <a:pt x="1493469" y="2290689"/>
                  <a:pt x="1481228" y="2278471"/>
                </a:cubicBezTo>
                <a:cubicBezTo>
                  <a:pt x="1465925" y="2266254"/>
                  <a:pt x="1465925" y="2254038"/>
                  <a:pt x="1465925" y="2241821"/>
                </a:cubicBezTo>
                <a:cubicBezTo>
                  <a:pt x="1511832" y="2254038"/>
                  <a:pt x="1560798" y="2241821"/>
                  <a:pt x="1609764" y="2192952"/>
                </a:cubicBezTo>
                <a:cubicBezTo>
                  <a:pt x="1667911" y="2150193"/>
                  <a:pt x="1716877" y="2137976"/>
                  <a:pt x="1759723" y="2156301"/>
                </a:cubicBezTo>
                <a:cubicBezTo>
                  <a:pt x="1765844" y="2180735"/>
                  <a:pt x="1765844" y="2217387"/>
                  <a:pt x="1741360" y="2254038"/>
                </a:cubicBezTo>
                <a:cubicBezTo>
                  <a:pt x="1710757" y="2302905"/>
                  <a:pt x="1698516" y="2336502"/>
                  <a:pt x="1692394" y="2342610"/>
                </a:cubicBezTo>
                <a:cubicBezTo>
                  <a:pt x="1661791" y="2367045"/>
                  <a:pt x="1554677" y="2415912"/>
                  <a:pt x="1386356" y="2483107"/>
                </a:cubicBezTo>
                <a:cubicBezTo>
                  <a:pt x="1254759" y="2541137"/>
                  <a:pt x="1169068" y="2596114"/>
                  <a:pt x="1117041" y="2657198"/>
                </a:cubicBezTo>
                <a:cubicBezTo>
                  <a:pt x="1092558" y="2681633"/>
                  <a:pt x="1074196" y="2724393"/>
                  <a:pt x="1043592" y="2782423"/>
                </a:cubicBezTo>
                <a:cubicBezTo>
                  <a:pt x="1019109" y="2837400"/>
                  <a:pt x="991565" y="2880159"/>
                  <a:pt x="967082" y="2904593"/>
                </a:cubicBezTo>
                <a:cubicBezTo>
                  <a:pt x="960962" y="2956516"/>
                  <a:pt x="942599" y="3005383"/>
                  <a:pt x="918116" y="3048142"/>
                </a:cubicBezTo>
                <a:cubicBezTo>
                  <a:pt x="905874" y="3078686"/>
                  <a:pt x="875271" y="3115337"/>
                  <a:pt x="841606" y="3167258"/>
                </a:cubicBezTo>
                <a:cubicBezTo>
                  <a:pt x="817123" y="3145879"/>
                  <a:pt x="804882" y="3121444"/>
                  <a:pt x="798761" y="3097011"/>
                </a:cubicBezTo>
                <a:cubicBezTo>
                  <a:pt x="774278" y="3023709"/>
                  <a:pt x="811003" y="2922919"/>
                  <a:pt x="905874" y="2800749"/>
                </a:cubicBezTo>
                <a:close/>
              </a:path>
            </a:pathLst>
          </a:custGeom>
          <a:solidFill>
            <a:srgbClr val="BFBFBF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sp>
        <p:nvSpPr>
          <p:cNvPr id="3" name="Freeform 3"/>
          <p:cNvSpPr/>
          <p:nvPr/>
        </p:nvSpPr>
        <p:spPr>
          <a:xfrm>
            <a:off x="375285" y="260350"/>
            <a:ext cx="4197350" cy="749935"/>
          </a:xfrm>
          <a:custGeom>
            <a:avLst/>
            <a:gdLst/>
            <a:ahLst/>
            <a:cxnLst/>
            <a:rect l="l" t="t" r="r" b="b"/>
            <a:pathLst>
              <a:path w="4197350" h="749935">
                <a:moveTo>
                  <a:pt x="452011" y="0"/>
                </a:moveTo>
                <a:lnTo>
                  <a:pt x="452017" y="0"/>
                </a:lnTo>
                <a:lnTo>
                  <a:pt x="3726165" y="0"/>
                </a:lnTo>
                <a:lnTo>
                  <a:pt x="3726165" y="1604"/>
                </a:lnTo>
                <a:lnTo>
                  <a:pt x="3745339" y="0"/>
                </a:lnTo>
                <a:cubicBezTo>
                  <a:pt x="3994978" y="0"/>
                  <a:pt x="4197350" y="167879"/>
                  <a:pt x="4197350" y="374968"/>
                </a:cubicBezTo>
                <a:cubicBezTo>
                  <a:pt x="4197350" y="582056"/>
                  <a:pt x="3994978" y="749935"/>
                  <a:pt x="3745339" y="749935"/>
                </a:cubicBezTo>
                <a:lnTo>
                  <a:pt x="3726165" y="748332"/>
                </a:lnTo>
                <a:lnTo>
                  <a:pt x="3726165" y="749935"/>
                </a:lnTo>
                <a:lnTo>
                  <a:pt x="452011" y="749935"/>
                </a:lnTo>
                <a:cubicBezTo>
                  <a:pt x="202372" y="749935"/>
                  <a:pt x="0" y="582056"/>
                  <a:pt x="0" y="374968"/>
                </a:cubicBezTo>
                <a:cubicBezTo>
                  <a:pt x="0" y="167879"/>
                  <a:pt x="202372" y="0"/>
                  <a:pt x="452011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8480" y="326390"/>
            <a:ext cx="617855" cy="617855"/>
          </a:xfrm>
          <a:prstGeom prst="rect">
            <a:avLst/>
          </a:prstGeom>
          <a:ln w="127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309370" y="414655"/>
            <a:ext cx="2941320" cy="460375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字魂105号-简雅黑"/>
                <a:ea typeface="字魂105号-简雅黑"/>
                <a:cs typeface="字魂105号-简雅黑"/>
                <a:sym typeface="字魂105号-简雅黑"/>
              </a:rPr>
              <a:t>2.4 研究缺口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47249" y="1143496"/>
            <a:ext cx="10623712" cy="1761629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50000"/>
              </a:lnSpc>
              <a:defRPr/>
            </a:pPr>
            <a:r>
              <a:rPr lang="en-US" sz="2000" b="1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开放词汇检测转化不足</a:t>
            </a:r>
            <a:r>
              <a:rPr lang="en-US" sz="2000" b="1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  <a:endParaRPr lang="en-US" sz="1100" dirty="0"/>
          </a:p>
          <a:p>
            <a:pPr marL="0" indent="0" algn="just" defTabSz="914400">
              <a:lnSpc>
                <a:spcPct val="150000"/>
              </a:lnSpc>
            </a:pPr>
            <a:r>
              <a:rPr lang="en-US" sz="16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现有文献多关注零样本直接感知,</a:t>
            </a:r>
            <a:r>
              <a:rPr lang="en-US" sz="1600" b="1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较少研究其预测结果如何稳定转化为大规模闭集训练标签,</a:t>
            </a:r>
            <a:r>
              <a:rPr lang="en-US" sz="16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也缺乏对伪标签驱动下游检测器训练后泛化效能的系统评估。</a:t>
            </a:r>
          </a:p>
          <a:p>
            <a:pPr marL="0" indent="0" algn="just" defTabSz="914400">
              <a:lnSpc>
                <a:spcPct val="150000"/>
              </a:lnSpc>
            </a:pPr>
            <a:r>
              <a:rPr lang="en-US" sz="16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</a:t>
            </a:r>
            <a:r>
              <a:rPr lang="en-US" sz="1600" b="0" i="0" u="none" strike="noStrike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本文把</a:t>
            </a:r>
            <a:r>
              <a:rPr lang="en-US" sz="16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Grounding DINO </a:t>
            </a:r>
            <a:r>
              <a:rPr lang="en-US" sz="1600" b="0" i="0" u="none" strike="noStrike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检出框批量固化为</a:t>
            </a:r>
            <a:r>
              <a:rPr lang="en-US" sz="16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V1 </a:t>
            </a:r>
            <a:r>
              <a:rPr lang="en-US" sz="1600" b="0" i="0" u="none" strike="noStrike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伪标签,</a:t>
            </a:r>
            <a:r>
              <a:rPr lang="en-US" sz="1600" b="1" i="0" u="none" strike="noStrike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再用</a:t>
            </a:r>
            <a:r>
              <a:rPr lang="en-US" sz="1600" b="1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YOLO </a:t>
            </a:r>
            <a:r>
              <a:rPr lang="en-US" sz="1600" b="1" i="0" u="none" strike="noStrike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下游训练判断其是否真的有用</a:t>
            </a:r>
            <a:r>
              <a:rPr lang="en-US" sz="1600" b="1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。</a:t>
            </a:r>
          </a:p>
        </p:txBody>
      </p:sp>
      <p:sp>
        <p:nvSpPr>
          <p:cNvPr id="7" name="AutoShape 7"/>
          <p:cNvSpPr/>
          <p:nvPr/>
        </p:nvSpPr>
        <p:spPr>
          <a:xfrm>
            <a:off x="909490" y="3354485"/>
            <a:ext cx="10623712" cy="206121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>
            <a:lvl1pPr marL="539750" indent="-254000"/>
            <a:lvl2pPr marL="996950" indent="-254000"/>
            <a:lvl3pPr marL="1454150" indent="-254000"/>
            <a:lvl4pPr marL="1911350" indent="-254000"/>
            <a:lvl5pPr marL="2368550" indent="-254000"/>
            <a:lvl6pPr marL="2825750" indent="-254000"/>
            <a:lvl7pPr marL="3282950" indent="-254000"/>
            <a:lvl8pPr marL="3740150" indent="-254000"/>
            <a:lvl9pPr marL="4197350" indent="-254000"/>
          </a:lstStyle>
          <a:p>
            <a:pPr marL="0" indent="0" algn="l" defTabSz="914400">
              <a:lnSpc>
                <a:spcPct val="150000"/>
              </a:lnSpc>
              <a:spcAft>
                <a:spcPts val="600"/>
              </a:spcAft>
              <a:buClr>
                <a:srgbClr val="0A3760"/>
              </a:buClr>
              <a:defRPr/>
            </a:pPr>
            <a:r>
              <a:rPr lang="en-US" sz="2000" b="1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SAM3 </a:t>
            </a:r>
            <a:r>
              <a:rPr lang="en-US" sz="2000" b="1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后置操作不明</a:t>
            </a:r>
            <a:r>
              <a:rPr lang="en-US" sz="2000" b="1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  <a:endParaRPr lang="en-US" sz="1100" dirty="0"/>
          </a:p>
          <a:p>
            <a:pPr marL="0" indent="457200" algn="just" defTabSz="914400">
              <a:lnSpc>
                <a:spcPct val="150000"/>
              </a:lnSpc>
            </a:pPr>
            <a:r>
              <a:rPr lang="en-US" sz="1600" b="0" i="0" u="none" strike="noStrike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现有研究通常以分割边界更细</a:t>
            </a:r>
            <a:r>
              <a:rPr lang="zh-CN" altLang="en-US" sz="16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，分割质量作为研究，但更细的分割边界</a:t>
            </a:r>
            <a:r>
              <a:rPr lang="en-US" sz="16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并不一定更适合检测训练；</a:t>
            </a:r>
            <a:r>
              <a:rPr lang="en-US" sz="1600" b="1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火和烟分别需要什么后置规则、是否要改框，</a:t>
            </a:r>
            <a:r>
              <a:rPr lang="en-US" sz="16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难以根据火和烟分别需要什么后置规则、是否要改框，现有研究尚缺分别验证。</a:t>
            </a:r>
          </a:p>
          <a:p>
            <a:pPr marL="0" indent="457200" algn="just" defTabSz="914400">
              <a:lnSpc>
                <a:spcPct val="150000"/>
              </a:lnSpc>
            </a:pPr>
            <a:r>
              <a:rPr lang="en-US" sz="16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同时，数据规模扩大后，</a:t>
            </a:r>
            <a:r>
              <a:rPr lang="en-US" sz="1600" b="1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人工、单模型伪标签与级联流程如何选择</a:t>
            </a:r>
            <a:r>
              <a:rPr lang="en-US" sz="16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无法依据同时，数据规模扩大后，人工、单模型伪标签与级联流程如何选择，也缺乏系统工程层面的讨论。</a:t>
            </a:r>
          </a:p>
          <a:p>
            <a:pPr marL="539750" indent="-254000" algn="l" defTabSz="914400">
              <a:lnSpc>
                <a:spcPct val="150000"/>
              </a:lnSpc>
            </a:pPr>
            <a:r>
              <a:rPr lang="en-US" sz="16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</a:p>
        </p:txBody>
      </p:sp>
      <p:sp>
        <p:nvSpPr>
          <p:cNvPr id="8" name="AutoShape 8"/>
          <p:cNvSpPr/>
          <p:nvPr/>
        </p:nvSpPr>
        <p:spPr>
          <a:xfrm>
            <a:off x="-635" y="5767070"/>
            <a:ext cx="12115165" cy="929005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/>
          <a:p>
            <a:pPr marL="0" indent="457200" algn="just" defTabSz="914400">
              <a:lnSpc>
                <a:spcPct val="150000"/>
              </a:lnSpc>
              <a:defRPr/>
            </a:pPr>
            <a:r>
              <a:rPr lang="en-US" sz="1800" b="1" i="0" u="none" strike="noStrike" dirty="0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本文把人工标注、V1 </a:t>
            </a:r>
            <a:r>
              <a:rPr lang="en-US" sz="1800" b="1" i="0" u="none" strike="noStrike" dirty="0" err="1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单级自动化和</a:t>
            </a:r>
            <a:r>
              <a:rPr lang="en-US" sz="1800" b="1" i="0" u="none" strike="noStrike" dirty="0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 SAM3 </a:t>
            </a:r>
            <a:r>
              <a:rPr lang="en-US" sz="1800" b="1" i="0" u="none" strike="noStrike" dirty="0" err="1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级联方案放在</a:t>
            </a:r>
            <a:r>
              <a:rPr lang="en-US" sz="1800" b="1" i="0" u="none" strike="noStrike" dirty="0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 1k、10k、100k </a:t>
            </a:r>
            <a:r>
              <a:rPr lang="en-US" sz="1800" b="1" i="0" u="none" strike="noStrike" dirty="0" err="1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三种规模下比较，用</a:t>
            </a:r>
            <a:r>
              <a:rPr lang="en-US" sz="1800" b="1" i="0" u="none" strike="noStrike" dirty="0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 Pareto </a:t>
            </a:r>
            <a:r>
              <a:rPr lang="en-US" sz="1800" b="1" i="0" u="none" strike="noStrike" dirty="0" err="1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关系筛选流程</a:t>
            </a:r>
            <a:r>
              <a:rPr lang="en-US" sz="1800" b="1" i="0" u="none" strike="noStrike" dirty="0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。</a:t>
            </a:r>
            <a:endParaRPr lang="en-US" sz="1100" dirty="0"/>
          </a:p>
          <a:p>
            <a:pPr marL="0" indent="0" algn="l" defTabSz="914400">
              <a:lnSpc>
                <a:spcPct val="150000"/>
              </a:lnSpc>
            </a:pPr>
            <a:r>
              <a:rPr lang="en-US" sz="11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2934" y="0"/>
            <a:ext cx="12214934" cy="3616960"/>
          </a:xfrm>
          <a:prstGeom prst="rect">
            <a:avLst/>
          </a:prstGeom>
          <a:solidFill>
            <a:srgbClr val="0A3760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179656" y="602203"/>
            <a:ext cx="3832687" cy="1112297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4" name="Freeform 4"/>
          <p:cNvSpPr/>
          <p:nvPr/>
        </p:nvSpPr>
        <p:spPr>
          <a:xfrm>
            <a:off x="2965173" y="2922324"/>
            <a:ext cx="6261654" cy="1348631"/>
          </a:xfrm>
          <a:custGeom>
            <a:avLst/>
            <a:gdLst/>
            <a:ahLst/>
            <a:cxnLst/>
            <a:rect l="l" t="t" r="r" b="b"/>
            <a:pathLst>
              <a:path w="6261654" h="1348631">
                <a:moveTo>
                  <a:pt x="674315" y="0"/>
                </a:moveTo>
                <a:lnTo>
                  <a:pt x="674326" y="1"/>
                </a:lnTo>
                <a:lnTo>
                  <a:pt x="5558735" y="1"/>
                </a:lnTo>
                <a:lnTo>
                  <a:pt x="5558735" y="2885"/>
                </a:lnTo>
                <a:lnTo>
                  <a:pt x="5587340" y="1"/>
                </a:lnTo>
                <a:cubicBezTo>
                  <a:pt x="5959753" y="1"/>
                  <a:pt x="6261654" y="301902"/>
                  <a:pt x="6261654" y="674315"/>
                </a:cubicBezTo>
                <a:cubicBezTo>
                  <a:pt x="6261654" y="1046730"/>
                  <a:pt x="5959753" y="1348631"/>
                  <a:pt x="5587340" y="1348631"/>
                </a:cubicBezTo>
                <a:lnTo>
                  <a:pt x="5558735" y="1345748"/>
                </a:lnTo>
                <a:lnTo>
                  <a:pt x="5558735" y="1348630"/>
                </a:lnTo>
                <a:lnTo>
                  <a:pt x="674315" y="1348630"/>
                </a:lnTo>
                <a:cubicBezTo>
                  <a:pt x="301901" y="1348630"/>
                  <a:pt x="0" y="1046729"/>
                  <a:pt x="0" y="674315"/>
                </a:cubicBezTo>
                <a:cubicBezTo>
                  <a:pt x="0" y="301901"/>
                  <a:pt x="301901" y="0"/>
                  <a:pt x="674315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w="38100" cap="flat">
            <a:solidFill>
              <a:srgbClr val="0A3760">
                <a:alpha val="100000"/>
              </a:srgbClr>
            </a:solidFill>
            <a:prstDash val="solid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103370" y="3271520"/>
            <a:ext cx="5932170" cy="64516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36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3. 研究内容与路线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3978455" y="222170"/>
            <a:ext cx="2915285" cy="34480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650" b="1" i="0" u="none" strike="noStrike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火烟伪标签级联生产与验证技术路线</a:t>
            </a:r>
            <a:endParaRPr lang="en-US" sz="1100" dirty="0"/>
          </a:p>
        </p:txBody>
      </p:sp>
      <p:sp>
        <p:nvSpPr>
          <p:cNvPr id="3" name="Freeform 3"/>
          <p:cNvSpPr/>
          <p:nvPr/>
        </p:nvSpPr>
        <p:spPr>
          <a:xfrm>
            <a:off x="1158875" y="719455"/>
            <a:ext cx="1905000" cy="2286000"/>
          </a:xfrm>
          <a:custGeom>
            <a:avLst/>
            <a:gdLst/>
            <a:ahLst/>
            <a:cxnLst/>
            <a:rect l="l" t="t" r="r" b="b"/>
            <a:pathLst>
              <a:path w="1905000" h="2286000">
                <a:moveTo>
                  <a:pt x="1828800" y="0"/>
                </a:moveTo>
                <a:cubicBezTo>
                  <a:pt x="1870884" y="0"/>
                  <a:pt x="1905000" y="0"/>
                  <a:pt x="1905000" y="0"/>
                </a:cubicBezTo>
                <a:lnTo>
                  <a:pt x="1905000" y="2286000"/>
                </a:lnTo>
                <a:cubicBezTo>
                  <a:pt x="1905000" y="2286000"/>
                  <a:pt x="1870884" y="2286000"/>
                  <a:pt x="1828800" y="2286000"/>
                </a:cubicBezTo>
                <a:lnTo>
                  <a:pt x="76200" y="2286000"/>
                </a:lnTo>
                <a:cubicBezTo>
                  <a:pt x="34116" y="2286000"/>
                  <a:pt x="0" y="2286000"/>
                  <a:pt x="0" y="2286000"/>
                </a:cubicBezTo>
                <a:lnTo>
                  <a:pt x="0" y="0"/>
                </a:lnTo>
                <a:cubicBezTo>
                  <a:pt x="0" y="0"/>
                  <a:pt x="34116" y="0"/>
                  <a:pt x="76200" y="0"/>
                </a:cubicBezTo>
                <a:close/>
              </a:path>
            </a:pathLst>
          </a:custGeom>
          <a:solidFill>
            <a:srgbClr val="E8F4F8">
              <a:alpha val="100000"/>
            </a:srgbClr>
          </a:solidFill>
          <a:ln w="12700" cap="flat" cmpd="sng">
            <a:solidFill>
              <a:srgbClr val="3498DB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334135" y="751840"/>
            <a:ext cx="1672590" cy="27241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阶段一：数据与测试治理</a:t>
            </a:r>
            <a:endParaRPr lang="en-US" sz="1100"/>
          </a:p>
        </p:txBody>
      </p:sp>
      <p:sp>
        <p:nvSpPr>
          <p:cNvPr id="5" name="Freeform 5"/>
          <p:cNvSpPr/>
          <p:nvPr/>
        </p:nvSpPr>
        <p:spPr>
          <a:xfrm>
            <a:off x="1311275" y="1024255"/>
            <a:ext cx="1600200" cy="304800"/>
          </a:xfrm>
          <a:custGeom>
            <a:avLst/>
            <a:gdLst/>
            <a:ahLst/>
            <a:cxnLst/>
            <a:rect l="l" t="t" r="r" b="b"/>
            <a:pathLst>
              <a:path w="1600200" h="304800">
                <a:moveTo>
                  <a:pt x="1562100" y="0"/>
                </a:moveTo>
                <a:cubicBezTo>
                  <a:pt x="1583143" y="0"/>
                  <a:pt x="1600200" y="0"/>
                  <a:pt x="1600200" y="0"/>
                </a:cubicBezTo>
                <a:lnTo>
                  <a:pt x="1600200" y="304800"/>
                </a:lnTo>
                <a:cubicBezTo>
                  <a:pt x="1600200" y="304800"/>
                  <a:pt x="1583143" y="304800"/>
                  <a:pt x="1562100" y="304800"/>
                </a:cubicBezTo>
                <a:lnTo>
                  <a:pt x="38100" y="304800"/>
                </a:lnTo>
                <a:cubicBezTo>
                  <a:pt x="17057" y="304800"/>
                  <a:pt x="0" y="304800"/>
                  <a:pt x="0" y="3048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3498DB">
              <a:alpha val="100000"/>
            </a:srgbClr>
          </a:solidFill>
          <a:ln w="12700" cap="flat" cmpd="sng">
            <a:solidFill>
              <a:srgbClr val="2980B9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537335" y="1072515"/>
            <a:ext cx="114808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多源火烟图像</a:t>
            </a:r>
            <a:endParaRPr lang="en-US" sz="1100"/>
          </a:p>
        </p:txBody>
      </p:sp>
      <p:sp>
        <p:nvSpPr>
          <p:cNvPr id="7" name="Freeform 7"/>
          <p:cNvSpPr/>
          <p:nvPr/>
        </p:nvSpPr>
        <p:spPr>
          <a:xfrm>
            <a:off x="1311275" y="1440815"/>
            <a:ext cx="1600200" cy="304800"/>
          </a:xfrm>
          <a:custGeom>
            <a:avLst/>
            <a:gdLst/>
            <a:ahLst/>
            <a:cxnLst/>
            <a:rect l="l" t="t" r="r" b="b"/>
            <a:pathLst>
              <a:path w="1600200" h="304800">
                <a:moveTo>
                  <a:pt x="1562100" y="0"/>
                </a:moveTo>
                <a:cubicBezTo>
                  <a:pt x="1583143" y="0"/>
                  <a:pt x="1600200" y="0"/>
                  <a:pt x="1600200" y="0"/>
                </a:cubicBezTo>
                <a:lnTo>
                  <a:pt x="1600200" y="304800"/>
                </a:lnTo>
                <a:cubicBezTo>
                  <a:pt x="1600200" y="304800"/>
                  <a:pt x="1583143" y="304800"/>
                  <a:pt x="1562100" y="304800"/>
                </a:cubicBezTo>
                <a:lnTo>
                  <a:pt x="38100" y="304800"/>
                </a:lnTo>
                <a:cubicBezTo>
                  <a:pt x="17057" y="304800"/>
                  <a:pt x="0" y="304800"/>
                  <a:pt x="0" y="3048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3498DB">
              <a:alpha val="100000"/>
            </a:srgbClr>
          </a:solidFill>
          <a:ln w="12700" cap="flat" cmpd="sng">
            <a:solidFill>
              <a:srgbClr val="2980B9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1456055" y="1471295"/>
            <a:ext cx="97536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训练</a:t>
            </a:r>
            <a:r>
              <a:rPr lang="en-US" sz="90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/</a:t>
            </a: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开发</a:t>
            </a:r>
            <a:r>
              <a:rPr lang="en-US" sz="90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/</a:t>
            </a: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隔离测试集划分</a:t>
            </a:r>
            <a:endParaRPr lang="en-US" sz="1100" dirty="0"/>
          </a:p>
        </p:txBody>
      </p:sp>
      <p:sp>
        <p:nvSpPr>
          <p:cNvPr id="9" name="Freeform 9"/>
          <p:cNvSpPr/>
          <p:nvPr/>
        </p:nvSpPr>
        <p:spPr>
          <a:xfrm>
            <a:off x="1311275" y="1786255"/>
            <a:ext cx="1600200" cy="304800"/>
          </a:xfrm>
          <a:custGeom>
            <a:avLst/>
            <a:gdLst/>
            <a:ahLst/>
            <a:cxnLst/>
            <a:rect l="l" t="t" r="r" b="b"/>
            <a:pathLst>
              <a:path w="1600200" h="304800">
                <a:moveTo>
                  <a:pt x="1562100" y="0"/>
                </a:moveTo>
                <a:cubicBezTo>
                  <a:pt x="1583143" y="0"/>
                  <a:pt x="1600200" y="0"/>
                  <a:pt x="1600200" y="0"/>
                </a:cubicBezTo>
                <a:lnTo>
                  <a:pt x="1600200" y="304800"/>
                </a:lnTo>
                <a:cubicBezTo>
                  <a:pt x="1600200" y="304800"/>
                  <a:pt x="1583143" y="304800"/>
                  <a:pt x="1562100" y="304800"/>
                </a:cubicBezTo>
                <a:lnTo>
                  <a:pt x="38100" y="304800"/>
                </a:lnTo>
                <a:cubicBezTo>
                  <a:pt x="17057" y="304800"/>
                  <a:pt x="0" y="304800"/>
                  <a:pt x="0" y="3048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3498DB">
              <a:alpha val="100000"/>
            </a:srgbClr>
          </a:solidFill>
          <a:ln w="12700" cap="flat" cmpd="sng">
            <a:solidFill>
              <a:srgbClr val="2980B9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1410515" y="1840865"/>
            <a:ext cx="97536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数据谱系与元数据版本固化</a:t>
            </a:r>
            <a:endParaRPr lang="en-US" sz="1100" dirty="0"/>
          </a:p>
        </p:txBody>
      </p:sp>
      <p:sp>
        <p:nvSpPr>
          <p:cNvPr id="11" name="Freeform 11"/>
          <p:cNvSpPr/>
          <p:nvPr/>
        </p:nvSpPr>
        <p:spPr>
          <a:xfrm>
            <a:off x="1311275" y="2167255"/>
            <a:ext cx="1600200" cy="304800"/>
          </a:xfrm>
          <a:custGeom>
            <a:avLst/>
            <a:gdLst/>
            <a:ahLst/>
            <a:cxnLst/>
            <a:rect l="l" t="t" r="r" b="b"/>
            <a:pathLst>
              <a:path w="1600200" h="304800">
                <a:moveTo>
                  <a:pt x="1562100" y="0"/>
                </a:moveTo>
                <a:cubicBezTo>
                  <a:pt x="1583143" y="0"/>
                  <a:pt x="1600200" y="0"/>
                  <a:pt x="1600200" y="0"/>
                </a:cubicBezTo>
                <a:lnTo>
                  <a:pt x="1600200" y="304800"/>
                </a:lnTo>
                <a:cubicBezTo>
                  <a:pt x="1600200" y="304800"/>
                  <a:pt x="1583143" y="304800"/>
                  <a:pt x="1562100" y="304800"/>
                </a:cubicBezTo>
                <a:lnTo>
                  <a:pt x="38100" y="304800"/>
                </a:lnTo>
                <a:cubicBezTo>
                  <a:pt x="17057" y="304800"/>
                  <a:pt x="0" y="304800"/>
                  <a:pt x="0" y="3048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3498DB">
              <a:alpha val="100000"/>
            </a:srgbClr>
          </a:solidFill>
          <a:ln w="12700" cap="flat" cmpd="sng">
            <a:solidFill>
              <a:srgbClr val="2980B9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1562735" y="2215515"/>
            <a:ext cx="109728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提示词空间与阈值检索</a:t>
            </a:r>
            <a:endParaRPr lang="en-US" sz="1100" dirty="0"/>
          </a:p>
        </p:txBody>
      </p:sp>
      <p:sp>
        <p:nvSpPr>
          <p:cNvPr id="13" name="Freeform 13"/>
          <p:cNvSpPr/>
          <p:nvPr/>
        </p:nvSpPr>
        <p:spPr>
          <a:xfrm>
            <a:off x="1311275" y="2548255"/>
            <a:ext cx="1600200" cy="304800"/>
          </a:xfrm>
          <a:custGeom>
            <a:avLst/>
            <a:gdLst/>
            <a:ahLst/>
            <a:cxnLst/>
            <a:rect l="l" t="t" r="r" b="b"/>
            <a:pathLst>
              <a:path w="1600200" h="304800">
                <a:moveTo>
                  <a:pt x="1562100" y="0"/>
                </a:moveTo>
                <a:cubicBezTo>
                  <a:pt x="1583143" y="0"/>
                  <a:pt x="1600200" y="0"/>
                  <a:pt x="1600200" y="0"/>
                </a:cubicBezTo>
                <a:lnTo>
                  <a:pt x="1600200" y="304800"/>
                </a:lnTo>
                <a:cubicBezTo>
                  <a:pt x="1600200" y="304800"/>
                  <a:pt x="1583143" y="304800"/>
                  <a:pt x="1562100" y="304800"/>
                </a:cubicBezTo>
                <a:lnTo>
                  <a:pt x="38100" y="304800"/>
                </a:lnTo>
                <a:cubicBezTo>
                  <a:pt x="17057" y="304800"/>
                  <a:pt x="0" y="304800"/>
                  <a:pt x="0" y="3048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F39C12">
              <a:alpha val="100000"/>
            </a:srgbClr>
          </a:solidFill>
          <a:ln w="12700" cap="flat" cmpd="sng">
            <a:solidFill>
              <a:srgbClr val="E67E22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1577975" y="2596515"/>
            <a:ext cx="106680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训练集用于 YOLO 训练</a:t>
            </a:r>
            <a:endParaRPr lang="en-US" sz="1100"/>
          </a:p>
        </p:txBody>
      </p:sp>
      <p:sp>
        <p:nvSpPr>
          <p:cNvPr id="15" name="Freeform 15"/>
          <p:cNvSpPr/>
          <p:nvPr/>
        </p:nvSpPr>
        <p:spPr>
          <a:xfrm>
            <a:off x="3064055" y="1786391"/>
            <a:ext cx="228600" cy="152400"/>
          </a:xfrm>
          <a:custGeom>
            <a:avLst/>
            <a:gdLst/>
            <a:ahLst/>
            <a:cxnLst/>
            <a:rect l="l" t="t" r="r" b="b"/>
            <a:pathLst>
              <a:path w="228600" h="152400">
                <a:moveTo>
                  <a:pt x="0" y="76200"/>
                </a:moveTo>
                <a:lnTo>
                  <a:pt x="228600" y="76200"/>
                </a:lnTo>
                <a:lnTo>
                  <a:pt x="152400" y="152400"/>
                </a:lnTo>
                <a:lnTo>
                  <a:pt x="152400" y="0"/>
                </a:lnTo>
                <a:lnTo>
                  <a:pt x="228600" y="76200"/>
                </a:lnTo>
                <a:close/>
              </a:path>
            </a:pathLst>
          </a:custGeom>
          <a:solidFill>
            <a:srgbClr val="3449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6" name="Freeform 16"/>
          <p:cNvSpPr/>
          <p:nvPr/>
        </p:nvSpPr>
        <p:spPr>
          <a:xfrm>
            <a:off x="3444875" y="719455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09800" y="0"/>
                </a:moveTo>
                <a:cubicBezTo>
                  <a:pt x="2251884" y="0"/>
                  <a:pt x="2286000" y="0"/>
                  <a:pt x="2286000" y="0"/>
                </a:cubicBezTo>
                <a:lnTo>
                  <a:pt x="2286000" y="2286000"/>
                </a:lnTo>
                <a:cubicBezTo>
                  <a:pt x="2286000" y="2286000"/>
                  <a:pt x="2251884" y="2286000"/>
                  <a:pt x="2209800" y="2286000"/>
                </a:cubicBezTo>
                <a:lnTo>
                  <a:pt x="76200" y="2286000"/>
                </a:lnTo>
                <a:cubicBezTo>
                  <a:pt x="34116" y="2286000"/>
                  <a:pt x="0" y="2286000"/>
                  <a:pt x="0" y="2286000"/>
                </a:cubicBezTo>
                <a:lnTo>
                  <a:pt x="0" y="0"/>
                </a:lnTo>
                <a:cubicBezTo>
                  <a:pt x="0" y="0"/>
                  <a:pt x="34116" y="0"/>
                  <a:pt x="76200" y="0"/>
                </a:cubicBezTo>
                <a:close/>
              </a:path>
            </a:pathLst>
          </a:custGeom>
          <a:solidFill>
            <a:srgbClr val="E8F5E8">
              <a:alpha val="100000"/>
            </a:srgbClr>
          </a:solidFill>
          <a:ln w="12700" cap="flat" cmpd="sng">
            <a:solidFill>
              <a:srgbClr val="27AE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3539191" y="744332"/>
            <a:ext cx="1158240" cy="2520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200" b="1" i="0" u="none" strike="noStrike" dirty="0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阶段二：V1 </a:t>
            </a:r>
            <a:r>
              <a:rPr lang="en-US" sz="1200" b="1" i="0" u="none" strike="noStrike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自动生成与验证</a:t>
            </a:r>
            <a:endParaRPr lang="en-US" sz="1100" dirty="0"/>
          </a:p>
        </p:txBody>
      </p:sp>
      <p:sp>
        <p:nvSpPr>
          <p:cNvPr id="18" name="Freeform 18"/>
          <p:cNvSpPr/>
          <p:nvPr/>
        </p:nvSpPr>
        <p:spPr>
          <a:xfrm>
            <a:off x="3597275" y="1329055"/>
            <a:ext cx="914400" cy="457200"/>
          </a:xfrm>
          <a:custGeom>
            <a:avLst/>
            <a:gdLst/>
            <a:ahLst/>
            <a:cxnLst/>
            <a:rect l="l" t="t" r="r" b="b"/>
            <a:pathLst>
              <a:path w="914400" h="457200">
                <a:moveTo>
                  <a:pt x="876300" y="0"/>
                </a:moveTo>
                <a:cubicBezTo>
                  <a:pt x="897343" y="0"/>
                  <a:pt x="914400" y="0"/>
                  <a:pt x="914400" y="0"/>
                </a:cubicBezTo>
                <a:lnTo>
                  <a:pt x="914400" y="457200"/>
                </a:lnTo>
                <a:cubicBezTo>
                  <a:pt x="914400" y="457200"/>
                  <a:pt x="897343" y="457200"/>
                  <a:pt x="876300" y="457200"/>
                </a:cubicBezTo>
                <a:lnTo>
                  <a:pt x="38100" y="457200"/>
                </a:lnTo>
                <a:cubicBezTo>
                  <a:pt x="17057" y="457200"/>
                  <a:pt x="0" y="457200"/>
                  <a:pt x="0" y="4572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27AE60">
              <a:alpha val="100000"/>
            </a:srgbClr>
          </a:solidFill>
          <a:ln w="12700" cap="flat" cmpd="sng">
            <a:solidFill>
              <a:srgbClr val="229954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3536315" y="1334602"/>
            <a:ext cx="518160" cy="1847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defTabSz="914400">
              <a:lnSpc>
                <a:spcPct val="100000"/>
              </a:lnSpc>
              <a:defRPr/>
            </a:pPr>
            <a:r>
              <a:rPr lang="en-US" sz="825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Grounding DINO</a:t>
            </a:r>
            <a:endParaRPr lang="en-US" sz="1100" dirty="0"/>
          </a:p>
        </p:txBody>
      </p:sp>
      <p:sp>
        <p:nvSpPr>
          <p:cNvPr id="20" name="AutoShape 20"/>
          <p:cNvSpPr/>
          <p:nvPr/>
        </p:nvSpPr>
        <p:spPr>
          <a:xfrm>
            <a:off x="3723005" y="1477645"/>
            <a:ext cx="662940" cy="1822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675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擅长：文本</a:t>
            </a:r>
            <a:r>
              <a:rPr lang="en-US" sz="675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—</a:t>
            </a:r>
            <a:r>
              <a:rPr lang="en-US" sz="675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视觉</a:t>
            </a:r>
            <a:endParaRPr lang="en-US" sz="1100" dirty="0"/>
          </a:p>
        </p:txBody>
      </p:sp>
      <p:sp>
        <p:nvSpPr>
          <p:cNvPr id="21" name="AutoShape 21"/>
          <p:cNvSpPr/>
          <p:nvPr/>
        </p:nvSpPr>
        <p:spPr>
          <a:xfrm>
            <a:off x="3825875" y="1576705"/>
            <a:ext cx="457200" cy="1822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675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语义对齐</a:t>
            </a:r>
            <a:endParaRPr lang="en-US" sz="1100"/>
          </a:p>
        </p:txBody>
      </p:sp>
      <p:sp>
        <p:nvSpPr>
          <p:cNvPr id="22" name="Freeform 22"/>
          <p:cNvSpPr/>
          <p:nvPr/>
        </p:nvSpPr>
        <p:spPr>
          <a:xfrm>
            <a:off x="4664075" y="1329055"/>
            <a:ext cx="914400" cy="457200"/>
          </a:xfrm>
          <a:custGeom>
            <a:avLst/>
            <a:gdLst/>
            <a:ahLst/>
            <a:cxnLst/>
            <a:rect l="l" t="t" r="r" b="b"/>
            <a:pathLst>
              <a:path w="914400" h="457200">
                <a:moveTo>
                  <a:pt x="876300" y="0"/>
                </a:moveTo>
                <a:cubicBezTo>
                  <a:pt x="897343" y="0"/>
                  <a:pt x="914400" y="0"/>
                  <a:pt x="914400" y="0"/>
                </a:cubicBezTo>
                <a:lnTo>
                  <a:pt x="914400" y="457200"/>
                </a:lnTo>
                <a:cubicBezTo>
                  <a:pt x="914400" y="457200"/>
                  <a:pt x="897343" y="457200"/>
                  <a:pt x="876300" y="457200"/>
                </a:cubicBezTo>
                <a:lnTo>
                  <a:pt x="38100" y="457200"/>
                </a:lnTo>
                <a:cubicBezTo>
                  <a:pt x="17057" y="457200"/>
                  <a:pt x="0" y="457200"/>
                  <a:pt x="0" y="4572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27AE60">
              <a:alpha val="100000"/>
            </a:srgbClr>
          </a:solidFill>
          <a:ln w="12700" cap="flat" cmpd="sng">
            <a:solidFill>
              <a:srgbClr val="229954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4728845" y="1342390"/>
            <a:ext cx="462280" cy="1847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825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批量生成</a:t>
            </a:r>
            <a:endParaRPr lang="en-US" sz="1100" dirty="0"/>
          </a:p>
        </p:txBody>
      </p:sp>
      <p:sp>
        <p:nvSpPr>
          <p:cNvPr id="24" name="AutoShape 24"/>
          <p:cNvSpPr/>
          <p:nvPr/>
        </p:nvSpPr>
        <p:spPr>
          <a:xfrm>
            <a:off x="4789805" y="1477645"/>
            <a:ext cx="662940" cy="1822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>
              <a:defRPr/>
            </a:pPr>
            <a:r>
              <a:rPr lang="en-US" sz="675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V1 </a:t>
            </a:r>
            <a:r>
              <a:rPr lang="en-US" sz="675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基准</a:t>
            </a:r>
            <a:r>
              <a:rPr lang="en-US" altLang="ja-JP" sz="800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伪标签</a:t>
            </a:r>
            <a:endParaRPr lang="en-US" altLang="ja-JP" sz="1800" dirty="0"/>
          </a:p>
        </p:txBody>
      </p:sp>
      <p:sp>
        <p:nvSpPr>
          <p:cNvPr id="25" name="AutoShape 25"/>
          <p:cNvSpPr/>
          <p:nvPr/>
        </p:nvSpPr>
        <p:spPr>
          <a:xfrm>
            <a:off x="4892675" y="1576705"/>
            <a:ext cx="457200" cy="1822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endParaRPr lang="en-US" sz="1100" dirty="0"/>
          </a:p>
        </p:txBody>
      </p:sp>
      <p:sp>
        <p:nvSpPr>
          <p:cNvPr id="26" name="Freeform 26"/>
          <p:cNvSpPr/>
          <p:nvPr/>
        </p:nvSpPr>
        <p:spPr>
          <a:xfrm>
            <a:off x="3597275" y="1938655"/>
            <a:ext cx="1981200" cy="304800"/>
          </a:xfrm>
          <a:custGeom>
            <a:avLst/>
            <a:gdLst/>
            <a:ahLst/>
            <a:cxnLst/>
            <a:rect l="l" t="t" r="r" b="b"/>
            <a:pathLst>
              <a:path w="1981200" h="304800">
                <a:moveTo>
                  <a:pt x="1943100" y="0"/>
                </a:moveTo>
                <a:cubicBezTo>
                  <a:pt x="1964143" y="0"/>
                  <a:pt x="1981200" y="0"/>
                  <a:pt x="1981200" y="0"/>
                </a:cubicBezTo>
                <a:lnTo>
                  <a:pt x="1981200" y="304800"/>
                </a:lnTo>
                <a:cubicBezTo>
                  <a:pt x="1981200" y="304800"/>
                  <a:pt x="1964143" y="304800"/>
                  <a:pt x="1943100" y="304800"/>
                </a:cubicBezTo>
                <a:lnTo>
                  <a:pt x="38100" y="304800"/>
                </a:lnTo>
                <a:cubicBezTo>
                  <a:pt x="17057" y="304800"/>
                  <a:pt x="0" y="304800"/>
                  <a:pt x="0" y="3048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8E44AD">
              <a:alpha val="100000"/>
            </a:srgbClr>
          </a:solidFill>
          <a:ln w="12700" cap="flat" cmpd="sng">
            <a:solidFill>
              <a:srgbClr val="7D3C98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3810635" y="1910715"/>
            <a:ext cx="155448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8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标签质量分析：漏检</a:t>
            </a:r>
            <a:r>
              <a:rPr lang="en-US" sz="80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/</a:t>
            </a:r>
            <a:r>
              <a:rPr lang="en-US" sz="8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误检</a:t>
            </a:r>
            <a:r>
              <a:rPr lang="en-US" sz="80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/</a:t>
            </a:r>
            <a:r>
              <a:rPr lang="en-US" sz="8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框偏差</a:t>
            </a:r>
            <a:endParaRPr lang="en-US" sz="1050" dirty="0"/>
          </a:p>
        </p:txBody>
      </p:sp>
      <p:sp>
        <p:nvSpPr>
          <p:cNvPr id="28" name="AutoShape 28"/>
          <p:cNvSpPr/>
          <p:nvPr/>
        </p:nvSpPr>
        <p:spPr>
          <a:xfrm>
            <a:off x="3822700" y="2040890"/>
            <a:ext cx="1530985" cy="1917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V1 直接用于 YOLO 下游基线</a:t>
            </a:r>
            <a:endParaRPr lang="en-US" sz="1100"/>
          </a:p>
        </p:txBody>
      </p:sp>
      <p:sp>
        <p:nvSpPr>
          <p:cNvPr id="29" name="Freeform 29"/>
          <p:cNvSpPr/>
          <p:nvPr/>
        </p:nvSpPr>
        <p:spPr>
          <a:xfrm>
            <a:off x="3597275" y="2395855"/>
            <a:ext cx="1981200" cy="457200"/>
          </a:xfrm>
          <a:custGeom>
            <a:avLst/>
            <a:gdLst/>
            <a:ahLst/>
            <a:cxnLst/>
            <a:rect l="l" t="t" r="r" b="b"/>
            <a:pathLst>
              <a:path w="1981200" h="457200">
                <a:moveTo>
                  <a:pt x="1943100" y="0"/>
                </a:moveTo>
                <a:cubicBezTo>
                  <a:pt x="1964143" y="0"/>
                  <a:pt x="1981200" y="0"/>
                  <a:pt x="1981200" y="0"/>
                </a:cubicBezTo>
                <a:lnTo>
                  <a:pt x="1981200" y="457200"/>
                </a:lnTo>
                <a:cubicBezTo>
                  <a:pt x="1981200" y="457200"/>
                  <a:pt x="1964143" y="457200"/>
                  <a:pt x="1943100" y="457200"/>
                </a:cubicBezTo>
                <a:lnTo>
                  <a:pt x="38100" y="457200"/>
                </a:lnTo>
                <a:cubicBezTo>
                  <a:pt x="17057" y="457200"/>
                  <a:pt x="0" y="457200"/>
                  <a:pt x="0" y="4572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2C3E50">
              <a:alpha val="100000"/>
            </a:srgbClr>
          </a:solidFill>
          <a:ln w="12700" cap="flat" cmpd="sng">
            <a:solidFill>
              <a:srgbClr val="34495E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4313555" y="2406015"/>
            <a:ext cx="54864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开发准入门槛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3957955" y="2536190"/>
            <a:ext cx="1260475" cy="1917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静态指标 + 下游 mAP 双重判断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4153535" y="2650490"/>
            <a:ext cx="868680" cy="1917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判断 V1 是否具备使用价值</a:t>
            </a:r>
            <a:endParaRPr lang="en-US" sz="1100"/>
          </a:p>
        </p:txBody>
      </p:sp>
      <p:sp>
        <p:nvSpPr>
          <p:cNvPr id="33" name="Freeform 33"/>
          <p:cNvSpPr/>
          <p:nvPr/>
        </p:nvSpPr>
        <p:spPr>
          <a:xfrm>
            <a:off x="5731055" y="1786391"/>
            <a:ext cx="228600" cy="152400"/>
          </a:xfrm>
          <a:custGeom>
            <a:avLst/>
            <a:gdLst/>
            <a:ahLst/>
            <a:cxnLst/>
            <a:rect l="l" t="t" r="r" b="b"/>
            <a:pathLst>
              <a:path w="228600" h="152400">
                <a:moveTo>
                  <a:pt x="0" y="76200"/>
                </a:moveTo>
                <a:lnTo>
                  <a:pt x="228600" y="76200"/>
                </a:lnTo>
                <a:lnTo>
                  <a:pt x="152400" y="152400"/>
                </a:lnTo>
                <a:lnTo>
                  <a:pt x="152400" y="0"/>
                </a:lnTo>
                <a:lnTo>
                  <a:pt x="228600" y="76200"/>
                </a:lnTo>
                <a:close/>
              </a:path>
            </a:pathLst>
          </a:custGeom>
          <a:solidFill>
            <a:srgbClr val="3449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34" name="Freeform 34"/>
          <p:cNvSpPr/>
          <p:nvPr/>
        </p:nvSpPr>
        <p:spPr>
          <a:xfrm>
            <a:off x="6111875" y="719455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09800" y="0"/>
                </a:moveTo>
                <a:cubicBezTo>
                  <a:pt x="2251884" y="0"/>
                  <a:pt x="2286000" y="0"/>
                  <a:pt x="2286000" y="0"/>
                </a:cubicBezTo>
                <a:lnTo>
                  <a:pt x="2286000" y="2286000"/>
                </a:lnTo>
                <a:cubicBezTo>
                  <a:pt x="2286000" y="2286000"/>
                  <a:pt x="2251884" y="2286000"/>
                  <a:pt x="2209800" y="2286000"/>
                </a:cubicBezTo>
                <a:lnTo>
                  <a:pt x="76200" y="2286000"/>
                </a:lnTo>
                <a:cubicBezTo>
                  <a:pt x="34116" y="2286000"/>
                  <a:pt x="0" y="2286000"/>
                  <a:pt x="0" y="2286000"/>
                </a:cubicBezTo>
                <a:lnTo>
                  <a:pt x="0" y="0"/>
                </a:lnTo>
                <a:cubicBezTo>
                  <a:pt x="0" y="0"/>
                  <a:pt x="34116" y="0"/>
                  <a:pt x="76200" y="0"/>
                </a:cubicBezTo>
                <a:close/>
              </a:path>
            </a:pathLst>
          </a:custGeom>
          <a:solidFill>
            <a:srgbClr val="FEF5E7">
              <a:alpha val="100000"/>
            </a:srgbClr>
          </a:solidFill>
          <a:ln w="12700" cap="flat" cmpd="sng">
            <a:solidFill>
              <a:srgbClr val="F39C12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35" name="AutoShape 35"/>
          <p:cNvSpPr/>
          <p:nvPr/>
        </p:nvSpPr>
        <p:spPr>
          <a:xfrm>
            <a:off x="6340475" y="735050"/>
            <a:ext cx="1158240" cy="2520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200" b="1" i="0" u="none" strike="noStrike" dirty="0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阶段三：SAM3 </a:t>
            </a:r>
            <a:r>
              <a:rPr lang="en-US" sz="1200" b="1" i="0" u="none" strike="noStrike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后置处理</a:t>
            </a:r>
            <a:endParaRPr lang="en-US" sz="1100" dirty="0"/>
          </a:p>
        </p:txBody>
      </p:sp>
      <p:sp>
        <p:nvSpPr>
          <p:cNvPr id="36" name="Freeform 36"/>
          <p:cNvSpPr/>
          <p:nvPr/>
        </p:nvSpPr>
        <p:spPr>
          <a:xfrm>
            <a:off x="6264275" y="1024255"/>
            <a:ext cx="1981200" cy="304800"/>
          </a:xfrm>
          <a:custGeom>
            <a:avLst/>
            <a:gdLst/>
            <a:ahLst/>
            <a:cxnLst/>
            <a:rect l="l" t="t" r="r" b="b"/>
            <a:pathLst>
              <a:path w="1981200" h="304800">
                <a:moveTo>
                  <a:pt x="1943100" y="0"/>
                </a:moveTo>
                <a:cubicBezTo>
                  <a:pt x="1964143" y="0"/>
                  <a:pt x="1981200" y="0"/>
                  <a:pt x="1981200" y="0"/>
                </a:cubicBezTo>
                <a:lnTo>
                  <a:pt x="1981200" y="304800"/>
                </a:lnTo>
                <a:cubicBezTo>
                  <a:pt x="1981200" y="304800"/>
                  <a:pt x="1964143" y="304800"/>
                  <a:pt x="1943100" y="304800"/>
                </a:cubicBezTo>
                <a:lnTo>
                  <a:pt x="38100" y="304800"/>
                </a:lnTo>
                <a:cubicBezTo>
                  <a:pt x="17057" y="304800"/>
                  <a:pt x="0" y="304800"/>
                  <a:pt x="0" y="3048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95A5A6">
              <a:alpha val="100000"/>
            </a:srgbClr>
          </a:solidFill>
          <a:ln w="12700" cap="flat" cmpd="sng">
            <a:solidFill>
              <a:srgbClr val="7F8C8D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6305550" y="1024255"/>
            <a:ext cx="1671955" cy="1822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后置节点权限拆分：不默认覆盖</a:t>
            </a:r>
            <a:r>
              <a:rPr lang="en-US" sz="90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 V1</a:t>
            </a:r>
            <a:endParaRPr lang="en-US" sz="1100" dirty="0"/>
          </a:p>
        </p:txBody>
      </p:sp>
      <p:sp>
        <p:nvSpPr>
          <p:cNvPr id="38" name="AutoShape 38"/>
          <p:cNvSpPr/>
          <p:nvPr/>
        </p:nvSpPr>
        <p:spPr>
          <a:xfrm>
            <a:off x="6462395" y="1168400"/>
            <a:ext cx="1173480" cy="1917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Verifier / Append / Refiner 三类角色</a:t>
            </a:r>
            <a:endParaRPr lang="en-US" sz="1100"/>
          </a:p>
        </p:txBody>
      </p:sp>
      <p:sp>
        <p:nvSpPr>
          <p:cNvPr id="39" name="Freeform 39"/>
          <p:cNvSpPr/>
          <p:nvPr/>
        </p:nvSpPr>
        <p:spPr>
          <a:xfrm>
            <a:off x="6264275" y="1405255"/>
            <a:ext cx="609600" cy="457200"/>
          </a:xfrm>
          <a:custGeom>
            <a:avLst/>
            <a:gdLst/>
            <a:ahLst/>
            <a:cxnLst/>
            <a:rect l="l" t="t" r="r" b="b"/>
            <a:pathLst>
              <a:path w="609600" h="457200">
                <a:moveTo>
                  <a:pt x="571500" y="0"/>
                </a:moveTo>
                <a:cubicBezTo>
                  <a:pt x="592543" y="0"/>
                  <a:pt x="609600" y="0"/>
                  <a:pt x="609600" y="0"/>
                </a:cubicBezTo>
                <a:lnTo>
                  <a:pt x="609600" y="457200"/>
                </a:lnTo>
                <a:cubicBezTo>
                  <a:pt x="609600" y="457200"/>
                  <a:pt x="592543" y="457200"/>
                  <a:pt x="571500" y="457200"/>
                </a:cubicBezTo>
                <a:lnTo>
                  <a:pt x="38100" y="457200"/>
                </a:lnTo>
                <a:cubicBezTo>
                  <a:pt x="17057" y="457200"/>
                  <a:pt x="0" y="457200"/>
                  <a:pt x="0" y="4572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E67E22">
              <a:alpha val="100000"/>
            </a:srgbClr>
          </a:solidFill>
          <a:ln w="12700" cap="flat" cmpd="sng">
            <a:solidFill>
              <a:srgbClr val="D6891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40" name="AutoShape 40"/>
          <p:cNvSpPr/>
          <p:nvPr/>
        </p:nvSpPr>
        <p:spPr>
          <a:xfrm>
            <a:off x="6287135" y="1431289"/>
            <a:ext cx="558800" cy="3930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Verifier</a:t>
            </a:r>
            <a:endParaRPr lang="en-US" sz="750" dirty="0">
              <a:solidFill>
                <a:srgbClr val="FFFFFF"/>
              </a:solidFill>
              <a:latin typeface="微软雅黑"/>
              <a:ea typeface="微软雅黑"/>
              <a:cs typeface="微软雅黑"/>
              <a:sym typeface="微软雅黑"/>
            </a:endParaRPr>
          </a:p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审核候选</a:t>
            </a:r>
            <a:endParaRPr lang="en-US" sz="750" dirty="0"/>
          </a:p>
        </p:txBody>
      </p:sp>
      <p:sp>
        <p:nvSpPr>
          <p:cNvPr id="41" name="AutoShape 41"/>
          <p:cNvSpPr/>
          <p:nvPr/>
        </p:nvSpPr>
        <p:spPr>
          <a:xfrm>
            <a:off x="6306185" y="1553845"/>
            <a:ext cx="525780" cy="18224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6340475" y="1652905"/>
            <a:ext cx="457200" cy="18224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43" name="Freeform 43"/>
          <p:cNvSpPr/>
          <p:nvPr/>
        </p:nvSpPr>
        <p:spPr>
          <a:xfrm>
            <a:off x="6950075" y="1405255"/>
            <a:ext cx="609600" cy="457200"/>
          </a:xfrm>
          <a:custGeom>
            <a:avLst/>
            <a:gdLst/>
            <a:ahLst/>
            <a:cxnLst/>
            <a:rect l="l" t="t" r="r" b="b"/>
            <a:pathLst>
              <a:path w="609600" h="457200">
                <a:moveTo>
                  <a:pt x="571500" y="0"/>
                </a:moveTo>
                <a:cubicBezTo>
                  <a:pt x="592543" y="0"/>
                  <a:pt x="609600" y="0"/>
                  <a:pt x="609600" y="0"/>
                </a:cubicBezTo>
                <a:lnTo>
                  <a:pt x="609600" y="457200"/>
                </a:lnTo>
                <a:cubicBezTo>
                  <a:pt x="609600" y="457200"/>
                  <a:pt x="592543" y="457200"/>
                  <a:pt x="571500" y="457200"/>
                </a:cubicBezTo>
                <a:lnTo>
                  <a:pt x="38100" y="457200"/>
                </a:lnTo>
                <a:cubicBezTo>
                  <a:pt x="17057" y="457200"/>
                  <a:pt x="0" y="457200"/>
                  <a:pt x="0" y="4572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E67E22">
              <a:alpha val="100000"/>
            </a:srgbClr>
          </a:solidFill>
          <a:ln w="12700" cap="flat" cmpd="sng">
            <a:solidFill>
              <a:srgbClr val="D6891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44" name="AutoShape 44"/>
          <p:cNvSpPr/>
          <p:nvPr/>
        </p:nvSpPr>
        <p:spPr>
          <a:xfrm>
            <a:off x="7011035" y="1431290"/>
            <a:ext cx="487680" cy="1917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Append</a:t>
            </a:r>
          </a:p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补漏</a:t>
            </a:r>
            <a:endParaRPr lang="en-US" sz="1100" dirty="0"/>
          </a:p>
        </p:txBody>
      </p:sp>
      <p:sp>
        <p:nvSpPr>
          <p:cNvPr id="45" name="AutoShape 45"/>
          <p:cNvSpPr/>
          <p:nvPr/>
        </p:nvSpPr>
        <p:spPr>
          <a:xfrm>
            <a:off x="7026275" y="1553845"/>
            <a:ext cx="457200" cy="18224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46" name="AutoShape 46"/>
          <p:cNvSpPr/>
          <p:nvPr/>
        </p:nvSpPr>
        <p:spPr>
          <a:xfrm>
            <a:off x="7026275" y="1652905"/>
            <a:ext cx="457200" cy="18224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47" name="Freeform 47"/>
          <p:cNvSpPr/>
          <p:nvPr/>
        </p:nvSpPr>
        <p:spPr>
          <a:xfrm>
            <a:off x="7635875" y="1405255"/>
            <a:ext cx="609600" cy="457200"/>
          </a:xfrm>
          <a:custGeom>
            <a:avLst/>
            <a:gdLst/>
            <a:ahLst/>
            <a:cxnLst/>
            <a:rect l="l" t="t" r="r" b="b"/>
            <a:pathLst>
              <a:path w="609600" h="457200">
                <a:moveTo>
                  <a:pt x="571500" y="0"/>
                </a:moveTo>
                <a:cubicBezTo>
                  <a:pt x="592543" y="0"/>
                  <a:pt x="609600" y="0"/>
                  <a:pt x="609600" y="0"/>
                </a:cubicBezTo>
                <a:lnTo>
                  <a:pt x="609600" y="457200"/>
                </a:lnTo>
                <a:cubicBezTo>
                  <a:pt x="609600" y="457200"/>
                  <a:pt x="592543" y="457200"/>
                  <a:pt x="571500" y="457200"/>
                </a:cubicBezTo>
                <a:lnTo>
                  <a:pt x="38100" y="457200"/>
                </a:lnTo>
                <a:cubicBezTo>
                  <a:pt x="17057" y="457200"/>
                  <a:pt x="0" y="457200"/>
                  <a:pt x="0" y="4572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E67E22">
              <a:alpha val="100000"/>
            </a:srgbClr>
          </a:solidFill>
          <a:ln w="12700" cap="flat" cmpd="sng">
            <a:solidFill>
              <a:srgbClr val="D6891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48" name="AutoShape 48"/>
          <p:cNvSpPr/>
          <p:nvPr/>
        </p:nvSpPr>
        <p:spPr>
          <a:xfrm>
            <a:off x="7696835" y="1431290"/>
            <a:ext cx="487680" cy="37465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>
              <a:defRPr/>
            </a:pPr>
            <a:r>
              <a:rPr lang="en-US" sz="75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Refiner</a:t>
            </a:r>
            <a:endParaRPr lang="en-US" sz="750" dirty="0">
              <a:solidFill>
                <a:srgbClr val="FFFFFF"/>
              </a:solidFill>
              <a:latin typeface="微软雅黑"/>
              <a:ea typeface="微软雅黑"/>
              <a:cs typeface="微软雅黑"/>
              <a:sym typeface="微软雅黑"/>
            </a:endParaRPr>
          </a:p>
          <a:p>
            <a:pPr>
              <a:defRPr/>
            </a:pPr>
            <a:r>
              <a:rPr lang="zh-CN" altLang="en-US" sz="75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修改边界</a:t>
            </a:r>
            <a:endParaRPr lang="en-US" sz="750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9" name="AutoShape 49"/>
          <p:cNvSpPr/>
          <p:nvPr/>
        </p:nvSpPr>
        <p:spPr>
          <a:xfrm>
            <a:off x="7677785" y="1553845"/>
            <a:ext cx="525780" cy="18224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50" name="AutoShape 50"/>
          <p:cNvSpPr/>
          <p:nvPr/>
        </p:nvSpPr>
        <p:spPr>
          <a:xfrm>
            <a:off x="7712075" y="1652905"/>
            <a:ext cx="457200" cy="18224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51" name="Freeform 51"/>
          <p:cNvSpPr/>
          <p:nvPr/>
        </p:nvSpPr>
        <p:spPr>
          <a:xfrm>
            <a:off x="6264275" y="1938655"/>
            <a:ext cx="1981200" cy="304800"/>
          </a:xfrm>
          <a:custGeom>
            <a:avLst/>
            <a:gdLst/>
            <a:ahLst/>
            <a:cxnLst/>
            <a:rect l="l" t="t" r="r" b="b"/>
            <a:pathLst>
              <a:path w="1981200" h="304800">
                <a:moveTo>
                  <a:pt x="1943100" y="0"/>
                </a:moveTo>
                <a:cubicBezTo>
                  <a:pt x="1964143" y="0"/>
                  <a:pt x="1981200" y="0"/>
                  <a:pt x="1981200" y="0"/>
                </a:cubicBezTo>
                <a:lnTo>
                  <a:pt x="1981200" y="304800"/>
                </a:lnTo>
                <a:cubicBezTo>
                  <a:pt x="1981200" y="304800"/>
                  <a:pt x="1964143" y="304800"/>
                  <a:pt x="1943100" y="304800"/>
                </a:cubicBezTo>
                <a:lnTo>
                  <a:pt x="38100" y="304800"/>
                </a:lnTo>
                <a:cubicBezTo>
                  <a:pt x="17057" y="304800"/>
                  <a:pt x="0" y="304800"/>
                  <a:pt x="0" y="3048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8E44AD">
              <a:alpha val="100000"/>
            </a:srgbClr>
          </a:solidFill>
          <a:ln w="12700" cap="flat" cmpd="sng">
            <a:solidFill>
              <a:srgbClr val="7D3C98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52" name="AutoShape 52"/>
          <p:cNvSpPr/>
          <p:nvPr/>
        </p:nvSpPr>
        <p:spPr>
          <a:xfrm>
            <a:off x="6845935" y="1910715"/>
            <a:ext cx="81788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Stage-Gate：</a:t>
            </a:r>
            <a:r>
              <a:rPr lang="en-US" sz="5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Go</a:t>
            </a:r>
            <a:r>
              <a:rPr lang="en-US" sz="50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 / Hold / Stop</a:t>
            </a:r>
            <a:endParaRPr lang="en-US" sz="1100" dirty="0"/>
          </a:p>
        </p:txBody>
      </p:sp>
      <p:sp>
        <p:nvSpPr>
          <p:cNvPr id="53" name="AutoShape 53"/>
          <p:cNvSpPr/>
          <p:nvPr/>
        </p:nvSpPr>
        <p:spPr>
          <a:xfrm>
            <a:off x="6401435" y="2040890"/>
            <a:ext cx="1706880" cy="1917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多随机种子稳定性复验</a:t>
            </a:r>
            <a:endParaRPr lang="en-US" sz="1100" dirty="0"/>
          </a:p>
        </p:txBody>
      </p:sp>
      <p:sp>
        <p:nvSpPr>
          <p:cNvPr id="54" name="Freeform 54"/>
          <p:cNvSpPr/>
          <p:nvPr/>
        </p:nvSpPr>
        <p:spPr>
          <a:xfrm>
            <a:off x="6264275" y="2395855"/>
            <a:ext cx="1981200" cy="457200"/>
          </a:xfrm>
          <a:custGeom>
            <a:avLst/>
            <a:gdLst/>
            <a:ahLst/>
            <a:cxnLst/>
            <a:rect l="l" t="t" r="r" b="b"/>
            <a:pathLst>
              <a:path w="1981200" h="457200">
                <a:moveTo>
                  <a:pt x="1943100" y="0"/>
                </a:moveTo>
                <a:cubicBezTo>
                  <a:pt x="1964143" y="0"/>
                  <a:pt x="1981200" y="0"/>
                  <a:pt x="1981200" y="0"/>
                </a:cubicBezTo>
                <a:lnTo>
                  <a:pt x="1981200" y="457200"/>
                </a:lnTo>
                <a:cubicBezTo>
                  <a:pt x="1981200" y="457200"/>
                  <a:pt x="1964143" y="457200"/>
                  <a:pt x="1943100" y="457200"/>
                </a:cubicBezTo>
                <a:lnTo>
                  <a:pt x="38100" y="457200"/>
                </a:lnTo>
                <a:cubicBezTo>
                  <a:pt x="17057" y="457200"/>
                  <a:pt x="0" y="457200"/>
                  <a:pt x="0" y="4572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2C3E50">
              <a:alpha val="100000"/>
            </a:srgbClr>
          </a:solidFill>
          <a:ln w="12700" cap="flat" cmpd="sng">
            <a:solidFill>
              <a:srgbClr val="34495E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55" name="AutoShape 55"/>
          <p:cNvSpPr/>
          <p:nvPr/>
        </p:nvSpPr>
        <p:spPr>
          <a:xfrm>
            <a:off x="6980555" y="2406015"/>
            <a:ext cx="54864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多规模 1k/10k/100k 推演</a:t>
            </a:r>
            <a:endParaRPr lang="en-US" sz="1100"/>
          </a:p>
        </p:txBody>
      </p:sp>
      <p:sp>
        <p:nvSpPr>
          <p:cNvPr id="56" name="AutoShape 56"/>
          <p:cNvSpPr/>
          <p:nvPr/>
        </p:nvSpPr>
        <p:spPr>
          <a:xfrm>
            <a:off x="6591935" y="2536190"/>
            <a:ext cx="1325880" cy="1917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检测效果 / 制备时间 / 人工投入</a:t>
            </a:r>
            <a:endParaRPr lang="en-US" sz="1100"/>
          </a:p>
        </p:txBody>
      </p:sp>
      <p:sp>
        <p:nvSpPr>
          <p:cNvPr id="57" name="AutoShape 57"/>
          <p:cNvSpPr/>
          <p:nvPr/>
        </p:nvSpPr>
        <p:spPr>
          <a:xfrm>
            <a:off x="6858635" y="2650490"/>
            <a:ext cx="792480" cy="1917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Pareto 非支配比较</a:t>
            </a:r>
            <a:endParaRPr lang="en-US" sz="1100"/>
          </a:p>
        </p:txBody>
      </p:sp>
      <p:sp>
        <p:nvSpPr>
          <p:cNvPr id="58" name="Freeform 58"/>
          <p:cNvSpPr/>
          <p:nvPr/>
        </p:nvSpPr>
        <p:spPr>
          <a:xfrm>
            <a:off x="8398055" y="1786391"/>
            <a:ext cx="228600" cy="152400"/>
          </a:xfrm>
          <a:custGeom>
            <a:avLst/>
            <a:gdLst/>
            <a:ahLst/>
            <a:cxnLst/>
            <a:rect l="l" t="t" r="r" b="b"/>
            <a:pathLst>
              <a:path w="228600" h="152400">
                <a:moveTo>
                  <a:pt x="0" y="76200"/>
                </a:moveTo>
                <a:lnTo>
                  <a:pt x="228600" y="76200"/>
                </a:lnTo>
                <a:lnTo>
                  <a:pt x="152400" y="152400"/>
                </a:lnTo>
                <a:lnTo>
                  <a:pt x="152400" y="0"/>
                </a:lnTo>
                <a:lnTo>
                  <a:pt x="228600" y="76200"/>
                </a:lnTo>
                <a:close/>
              </a:path>
            </a:pathLst>
          </a:custGeom>
          <a:solidFill>
            <a:srgbClr val="3449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59" name="Freeform 59"/>
          <p:cNvSpPr/>
          <p:nvPr/>
        </p:nvSpPr>
        <p:spPr>
          <a:xfrm>
            <a:off x="8778875" y="719455"/>
            <a:ext cx="1905000" cy="2286000"/>
          </a:xfrm>
          <a:custGeom>
            <a:avLst/>
            <a:gdLst/>
            <a:ahLst/>
            <a:cxnLst/>
            <a:rect l="l" t="t" r="r" b="b"/>
            <a:pathLst>
              <a:path w="1905000" h="2286000">
                <a:moveTo>
                  <a:pt x="1828800" y="0"/>
                </a:moveTo>
                <a:cubicBezTo>
                  <a:pt x="1870884" y="0"/>
                  <a:pt x="1905000" y="0"/>
                  <a:pt x="1905000" y="0"/>
                </a:cubicBezTo>
                <a:lnTo>
                  <a:pt x="1905000" y="2286000"/>
                </a:lnTo>
                <a:cubicBezTo>
                  <a:pt x="1905000" y="2286000"/>
                  <a:pt x="1870884" y="2286000"/>
                  <a:pt x="1828800" y="2286000"/>
                </a:cubicBezTo>
                <a:lnTo>
                  <a:pt x="76200" y="2286000"/>
                </a:lnTo>
                <a:cubicBezTo>
                  <a:pt x="34116" y="2286000"/>
                  <a:pt x="0" y="2286000"/>
                  <a:pt x="0" y="2286000"/>
                </a:cubicBezTo>
                <a:lnTo>
                  <a:pt x="0" y="0"/>
                </a:lnTo>
                <a:cubicBezTo>
                  <a:pt x="0" y="0"/>
                  <a:pt x="34116" y="0"/>
                  <a:pt x="76200" y="0"/>
                </a:cubicBezTo>
                <a:close/>
              </a:path>
            </a:pathLst>
          </a:custGeom>
          <a:solidFill>
            <a:srgbClr val="ECF0F1">
              <a:alpha val="100000"/>
            </a:srgbClr>
          </a:solidFill>
          <a:ln w="12700" cap="flat" cmpd="sng">
            <a:solidFill>
              <a:srgbClr val="95A5A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60" name="AutoShape 60"/>
          <p:cNvSpPr/>
          <p:nvPr/>
        </p:nvSpPr>
        <p:spPr>
          <a:xfrm>
            <a:off x="9152255" y="735330"/>
            <a:ext cx="1158240" cy="2520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阶段四：流程选型与交付</a:t>
            </a:r>
            <a:endParaRPr lang="en-US" sz="1100"/>
          </a:p>
        </p:txBody>
      </p:sp>
      <p:sp>
        <p:nvSpPr>
          <p:cNvPr id="61" name="Freeform 61"/>
          <p:cNvSpPr/>
          <p:nvPr/>
        </p:nvSpPr>
        <p:spPr>
          <a:xfrm>
            <a:off x="8931275" y="1024255"/>
            <a:ext cx="1600200" cy="381000"/>
          </a:xfrm>
          <a:custGeom>
            <a:avLst/>
            <a:gdLst/>
            <a:ahLst/>
            <a:cxnLst/>
            <a:rect l="l" t="t" r="r" b="b"/>
            <a:pathLst>
              <a:path w="1600200" h="381000">
                <a:moveTo>
                  <a:pt x="1562100" y="0"/>
                </a:moveTo>
                <a:cubicBezTo>
                  <a:pt x="1583143" y="0"/>
                  <a:pt x="1600200" y="0"/>
                  <a:pt x="1600200" y="0"/>
                </a:cubicBezTo>
                <a:lnTo>
                  <a:pt x="1600200" y="381000"/>
                </a:lnTo>
                <a:cubicBezTo>
                  <a:pt x="1600200" y="381000"/>
                  <a:pt x="1583143" y="381000"/>
                  <a:pt x="1562100" y="381000"/>
                </a:cubicBezTo>
                <a:lnTo>
                  <a:pt x="38100" y="381000"/>
                </a:lnTo>
                <a:cubicBezTo>
                  <a:pt x="17057" y="381000"/>
                  <a:pt x="0" y="381000"/>
                  <a:pt x="0" y="3810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34495E">
              <a:alpha val="100000"/>
            </a:srgbClr>
          </a:solidFill>
          <a:ln w="12700" cap="flat" cmpd="sng">
            <a:solidFill>
              <a:srgbClr val="2C3E5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62" name="AutoShape 62"/>
          <p:cNvSpPr/>
          <p:nvPr/>
        </p:nvSpPr>
        <p:spPr>
          <a:xfrm>
            <a:off x="9034816" y="1034415"/>
            <a:ext cx="64008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选定推荐生产流程</a:t>
            </a:r>
            <a:endParaRPr lang="en-US" sz="1100" dirty="0"/>
          </a:p>
        </p:txBody>
      </p:sp>
      <p:sp>
        <p:nvSpPr>
          <p:cNvPr id="63" name="AutoShape 63"/>
          <p:cNvSpPr/>
          <p:nvPr/>
        </p:nvSpPr>
        <p:spPr>
          <a:xfrm>
            <a:off x="9297035" y="1164590"/>
            <a:ext cx="868680" cy="19177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落实到具体工作安排</a:t>
            </a:r>
            <a:endParaRPr lang="en-US" sz="1100"/>
          </a:p>
        </p:txBody>
      </p:sp>
      <p:sp>
        <p:nvSpPr>
          <p:cNvPr id="64" name="Freeform 64"/>
          <p:cNvSpPr/>
          <p:nvPr/>
        </p:nvSpPr>
        <p:spPr>
          <a:xfrm>
            <a:off x="8931275" y="1499235"/>
            <a:ext cx="1600200" cy="381000"/>
          </a:xfrm>
          <a:custGeom>
            <a:avLst/>
            <a:gdLst/>
            <a:ahLst/>
            <a:cxnLst/>
            <a:rect l="l" t="t" r="r" b="b"/>
            <a:pathLst>
              <a:path w="1600200" h="381000">
                <a:moveTo>
                  <a:pt x="1562100" y="0"/>
                </a:moveTo>
                <a:cubicBezTo>
                  <a:pt x="1583143" y="0"/>
                  <a:pt x="1600200" y="0"/>
                  <a:pt x="1600200" y="0"/>
                </a:cubicBezTo>
                <a:lnTo>
                  <a:pt x="1600200" y="381000"/>
                </a:lnTo>
                <a:cubicBezTo>
                  <a:pt x="1600200" y="381000"/>
                  <a:pt x="1583143" y="381000"/>
                  <a:pt x="1562100" y="381000"/>
                </a:cubicBezTo>
                <a:lnTo>
                  <a:pt x="38100" y="381000"/>
                </a:lnTo>
                <a:cubicBezTo>
                  <a:pt x="17057" y="381000"/>
                  <a:pt x="0" y="381000"/>
                  <a:pt x="0" y="3810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E74C3C">
              <a:alpha val="100000"/>
            </a:srgbClr>
          </a:solidFill>
          <a:ln w="12700" cap="flat" cmpd="sng">
            <a:solidFill>
              <a:srgbClr val="C0392B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65" name="AutoShape 65"/>
          <p:cNvSpPr/>
          <p:nvPr/>
        </p:nvSpPr>
        <p:spPr>
          <a:xfrm>
            <a:off x="9035700" y="1491615"/>
            <a:ext cx="54864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全链路元数据可追溯</a:t>
            </a:r>
            <a:endParaRPr lang="en-US" sz="1100" dirty="0"/>
          </a:p>
        </p:txBody>
      </p:sp>
      <p:sp>
        <p:nvSpPr>
          <p:cNvPr id="66" name="AutoShape 66"/>
          <p:cNvSpPr/>
          <p:nvPr/>
        </p:nvSpPr>
        <p:spPr>
          <a:xfrm>
            <a:off x="9297035" y="1621790"/>
            <a:ext cx="868680" cy="19177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跟踪执行效果和异常</a:t>
            </a:r>
            <a:endParaRPr lang="en-US" sz="1100" dirty="0"/>
          </a:p>
        </p:txBody>
      </p:sp>
      <p:sp>
        <p:nvSpPr>
          <p:cNvPr id="67" name="Freeform 67"/>
          <p:cNvSpPr/>
          <p:nvPr/>
        </p:nvSpPr>
        <p:spPr>
          <a:xfrm>
            <a:off x="8931275" y="1938655"/>
            <a:ext cx="1600200" cy="381000"/>
          </a:xfrm>
          <a:custGeom>
            <a:avLst/>
            <a:gdLst/>
            <a:ahLst/>
            <a:cxnLst/>
            <a:rect l="l" t="t" r="r" b="b"/>
            <a:pathLst>
              <a:path w="1600200" h="381000">
                <a:moveTo>
                  <a:pt x="1562100" y="0"/>
                </a:moveTo>
                <a:cubicBezTo>
                  <a:pt x="1583143" y="0"/>
                  <a:pt x="1600200" y="0"/>
                  <a:pt x="1600200" y="0"/>
                </a:cubicBezTo>
                <a:lnTo>
                  <a:pt x="1600200" y="381000"/>
                </a:lnTo>
                <a:cubicBezTo>
                  <a:pt x="1600200" y="381000"/>
                  <a:pt x="1583143" y="381000"/>
                  <a:pt x="1562100" y="381000"/>
                </a:cubicBezTo>
                <a:lnTo>
                  <a:pt x="38100" y="381000"/>
                </a:lnTo>
                <a:cubicBezTo>
                  <a:pt x="17057" y="381000"/>
                  <a:pt x="0" y="381000"/>
                  <a:pt x="0" y="3810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F39C12">
              <a:alpha val="100000"/>
            </a:srgbClr>
          </a:solidFill>
          <a:ln w="12700" cap="flat" cmpd="sng">
            <a:solidFill>
              <a:srgbClr val="E67E22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68" name="AutoShape 68"/>
          <p:cNvSpPr/>
          <p:nvPr/>
        </p:nvSpPr>
        <p:spPr>
          <a:xfrm>
            <a:off x="9008815" y="1948815"/>
            <a:ext cx="54864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核心效用指标报告</a:t>
            </a:r>
            <a:endParaRPr lang="en-US" sz="1100" dirty="0"/>
          </a:p>
        </p:txBody>
      </p:sp>
      <p:sp>
        <p:nvSpPr>
          <p:cNvPr id="69" name="AutoShape 69"/>
          <p:cNvSpPr/>
          <p:nvPr/>
        </p:nvSpPr>
        <p:spPr>
          <a:xfrm>
            <a:off x="9274178" y="2078430"/>
            <a:ext cx="792480" cy="19177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统计各项指标表现</a:t>
            </a:r>
            <a:endParaRPr lang="en-US" sz="1100" dirty="0"/>
          </a:p>
        </p:txBody>
      </p:sp>
      <p:sp>
        <p:nvSpPr>
          <p:cNvPr id="70" name="Freeform 70"/>
          <p:cNvSpPr/>
          <p:nvPr/>
        </p:nvSpPr>
        <p:spPr>
          <a:xfrm>
            <a:off x="8931275" y="2395855"/>
            <a:ext cx="1600200" cy="457200"/>
          </a:xfrm>
          <a:custGeom>
            <a:avLst/>
            <a:gdLst/>
            <a:ahLst/>
            <a:cxnLst/>
            <a:rect l="l" t="t" r="r" b="b"/>
            <a:pathLst>
              <a:path w="1600200" h="457200">
                <a:moveTo>
                  <a:pt x="1562100" y="0"/>
                </a:moveTo>
                <a:cubicBezTo>
                  <a:pt x="1583143" y="0"/>
                  <a:pt x="1600200" y="0"/>
                  <a:pt x="1600200" y="0"/>
                </a:cubicBezTo>
                <a:lnTo>
                  <a:pt x="1600200" y="457200"/>
                </a:lnTo>
                <a:cubicBezTo>
                  <a:pt x="1600200" y="457200"/>
                  <a:pt x="1583143" y="457200"/>
                  <a:pt x="1562100" y="457200"/>
                </a:cubicBezTo>
                <a:lnTo>
                  <a:pt x="38100" y="457200"/>
                </a:lnTo>
                <a:cubicBezTo>
                  <a:pt x="17057" y="457200"/>
                  <a:pt x="0" y="457200"/>
                  <a:pt x="0" y="4572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17A2B8">
              <a:alpha val="100000"/>
            </a:srgbClr>
          </a:solidFill>
          <a:ln w="12700" cap="flat" cmpd="sng">
            <a:solidFill>
              <a:srgbClr val="13849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71" name="AutoShape 71"/>
          <p:cNvSpPr/>
          <p:nvPr/>
        </p:nvSpPr>
        <p:spPr>
          <a:xfrm>
            <a:off x="8999858" y="2444115"/>
            <a:ext cx="54864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原始数据</a:t>
            </a:r>
            <a:r>
              <a:rPr lang="en-US" sz="90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/</a:t>
            </a: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配置</a:t>
            </a:r>
            <a:r>
              <a:rPr lang="en-US" sz="90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/</a:t>
            </a: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权重反查</a:t>
            </a:r>
            <a:endParaRPr lang="en-US" sz="1100" dirty="0"/>
          </a:p>
        </p:txBody>
      </p:sp>
      <p:sp>
        <p:nvSpPr>
          <p:cNvPr id="72" name="AutoShape 72"/>
          <p:cNvSpPr/>
          <p:nvPr/>
        </p:nvSpPr>
        <p:spPr>
          <a:xfrm>
            <a:off x="9220835" y="2574290"/>
            <a:ext cx="1021080" cy="19177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73" name="AutoShape 73"/>
          <p:cNvSpPr/>
          <p:nvPr/>
        </p:nvSpPr>
        <p:spPr>
          <a:xfrm>
            <a:off x="9354856" y="2599578"/>
            <a:ext cx="868680" cy="1917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论文与复现材料</a:t>
            </a:r>
            <a:endParaRPr lang="en-US" sz="1100" dirty="0"/>
          </a:p>
        </p:txBody>
      </p:sp>
      <p:sp>
        <p:nvSpPr>
          <p:cNvPr id="74" name="Freeform 74"/>
          <p:cNvSpPr/>
          <p:nvPr/>
        </p:nvSpPr>
        <p:spPr>
          <a:xfrm>
            <a:off x="3825875" y="3005455"/>
            <a:ext cx="5905500" cy="533400"/>
          </a:xfrm>
          <a:custGeom>
            <a:avLst/>
            <a:gdLst/>
            <a:ahLst/>
            <a:cxnLst/>
            <a:rect l="l" t="t" r="r" b="b"/>
            <a:pathLst>
              <a:path w="5905500" h="533400">
                <a:moveTo>
                  <a:pt x="5905500" y="0"/>
                </a:moveTo>
                <a:cubicBezTo>
                  <a:pt x="5905500" y="355603"/>
                  <a:pt x="4953000" y="533400"/>
                  <a:pt x="3048000" y="533400"/>
                </a:cubicBezTo>
                <a:cubicBezTo>
                  <a:pt x="1015997" y="533400"/>
                  <a:pt x="0" y="406397"/>
                  <a:pt x="0" y="152400"/>
                </a:cubicBezTo>
              </a:path>
            </a:pathLst>
          </a:custGeom>
          <a:noFill/>
          <a:ln w="25400" cap="flat" cmpd="sng">
            <a:solidFill>
              <a:srgbClr val="E74C3C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75" name="Freeform 75"/>
          <p:cNvSpPr/>
          <p:nvPr/>
        </p:nvSpPr>
        <p:spPr>
          <a:xfrm>
            <a:off x="3749675" y="3119755"/>
            <a:ext cx="152400" cy="76200"/>
          </a:xfrm>
          <a:custGeom>
            <a:avLst/>
            <a:gdLst/>
            <a:ahLst/>
            <a:cxnLst/>
            <a:rect l="l" t="t" r="r" b="b"/>
            <a:pathLst>
              <a:path w="152400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152400" y="38100"/>
                </a:lnTo>
                <a:close/>
              </a:path>
            </a:pathLst>
          </a:custGeom>
          <a:solidFill>
            <a:srgbClr val="E74C3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76" name="AutoShape 76"/>
          <p:cNvSpPr/>
          <p:nvPr/>
        </p:nvSpPr>
        <p:spPr>
          <a:xfrm>
            <a:off x="6355715" y="3532505"/>
            <a:ext cx="1036320" cy="23241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050" b="1" i="0" u="none" strike="noStrike">
                <a:solidFill>
                  <a:srgbClr val="E74C3C"/>
                </a:solidFill>
                <a:latin typeface="微软雅黑"/>
                <a:ea typeface="微软雅黑"/>
                <a:cs typeface="微软雅黑"/>
                <a:sym typeface="微软雅黑"/>
              </a:rPr>
              <a:t>多规模选型 + 敏感性分析</a:t>
            </a:r>
            <a:endParaRPr lang="en-US" sz="1100"/>
          </a:p>
        </p:txBody>
      </p:sp>
      <p:sp>
        <p:nvSpPr>
          <p:cNvPr id="77" name="AutoShape 77"/>
          <p:cNvSpPr/>
          <p:nvPr/>
        </p:nvSpPr>
        <p:spPr>
          <a:xfrm>
            <a:off x="5913755" y="3701415"/>
            <a:ext cx="192024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E74C3C"/>
                </a:solidFill>
                <a:latin typeface="微软雅黑"/>
                <a:ea typeface="微软雅黑"/>
                <a:cs typeface="微软雅黑"/>
                <a:sym typeface="微软雅黑"/>
              </a:rPr>
              <a:t>为不同约束场景提供流程建议</a:t>
            </a:r>
            <a:endParaRPr lang="en-US" sz="1100"/>
          </a:p>
        </p:txBody>
      </p:sp>
      <p:sp>
        <p:nvSpPr>
          <p:cNvPr id="78" name="Freeform 78"/>
          <p:cNvSpPr/>
          <p:nvPr/>
        </p:nvSpPr>
        <p:spPr>
          <a:xfrm>
            <a:off x="1158875" y="4148455"/>
            <a:ext cx="9525000" cy="1143000"/>
          </a:xfrm>
          <a:custGeom>
            <a:avLst/>
            <a:gdLst/>
            <a:ahLst/>
            <a:cxnLst/>
            <a:rect l="l" t="t" r="r" b="b"/>
            <a:pathLst>
              <a:path w="9525000" h="1143000">
                <a:moveTo>
                  <a:pt x="9448800" y="0"/>
                </a:moveTo>
                <a:cubicBezTo>
                  <a:pt x="9490884" y="0"/>
                  <a:pt x="9525000" y="0"/>
                  <a:pt x="9525000" y="0"/>
                </a:cubicBezTo>
                <a:lnTo>
                  <a:pt x="9525000" y="1143000"/>
                </a:lnTo>
                <a:cubicBezTo>
                  <a:pt x="9525000" y="1143000"/>
                  <a:pt x="9490884" y="1143000"/>
                  <a:pt x="9448800" y="1143000"/>
                </a:cubicBezTo>
                <a:lnTo>
                  <a:pt x="76200" y="1143000"/>
                </a:lnTo>
                <a:cubicBezTo>
                  <a:pt x="34116" y="1143000"/>
                  <a:pt x="0" y="1143000"/>
                  <a:pt x="0" y="1143000"/>
                </a:cubicBezTo>
                <a:lnTo>
                  <a:pt x="0" y="0"/>
                </a:lnTo>
                <a:cubicBezTo>
                  <a:pt x="0" y="0"/>
                  <a:pt x="34116" y="0"/>
                  <a:pt x="76200" y="0"/>
                </a:cubicBezTo>
                <a:close/>
              </a:path>
            </a:pathLst>
          </a:custGeom>
          <a:solidFill>
            <a:srgbClr val="D1F2EB">
              <a:alpha val="100000"/>
            </a:srgbClr>
          </a:solidFill>
          <a:ln w="12700" cap="flat" cmpd="sng">
            <a:solidFill>
              <a:srgbClr val="52C41A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79" name="AutoShape 79"/>
          <p:cNvSpPr/>
          <p:nvPr/>
        </p:nvSpPr>
        <p:spPr>
          <a:xfrm>
            <a:off x="5349875" y="4148455"/>
            <a:ext cx="1387475" cy="29908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35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研究带来的价值</a:t>
            </a:r>
            <a:endParaRPr lang="en-US" sz="1100"/>
          </a:p>
        </p:txBody>
      </p:sp>
      <p:sp>
        <p:nvSpPr>
          <p:cNvPr id="80" name="Freeform 80"/>
          <p:cNvSpPr/>
          <p:nvPr/>
        </p:nvSpPr>
        <p:spPr>
          <a:xfrm>
            <a:off x="1539875" y="4529455"/>
            <a:ext cx="1524000" cy="609600"/>
          </a:xfrm>
          <a:custGeom>
            <a:avLst/>
            <a:gdLst/>
            <a:ahLst/>
            <a:cxnLst/>
            <a:rect l="l" t="t" r="r" b="b"/>
            <a:pathLst>
              <a:path w="1524000" h="609600">
                <a:moveTo>
                  <a:pt x="1485900" y="0"/>
                </a:moveTo>
                <a:cubicBezTo>
                  <a:pt x="1506943" y="0"/>
                  <a:pt x="1524000" y="0"/>
                  <a:pt x="1524000" y="0"/>
                </a:cubicBezTo>
                <a:lnTo>
                  <a:pt x="1524000" y="609600"/>
                </a:lnTo>
                <a:cubicBezTo>
                  <a:pt x="1524000" y="609600"/>
                  <a:pt x="1506943" y="609600"/>
                  <a:pt x="1485900" y="609600"/>
                </a:cubicBezTo>
                <a:lnTo>
                  <a:pt x="38100" y="609600"/>
                </a:lnTo>
                <a:cubicBezTo>
                  <a:pt x="17057" y="609600"/>
                  <a:pt x="0" y="609600"/>
                  <a:pt x="0" y="6096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52C41A">
              <a:alpha val="100000"/>
            </a:srgbClr>
          </a:solidFill>
          <a:ln w="12700" cap="flat" cmpd="sng">
            <a:solidFill>
              <a:srgbClr val="389E0D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81" name="AutoShape 81"/>
          <p:cNvSpPr/>
          <p:nvPr/>
        </p:nvSpPr>
        <p:spPr>
          <a:xfrm>
            <a:off x="1837055" y="4561205"/>
            <a:ext cx="929640" cy="23241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05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标签制备成本测算</a:t>
            </a:r>
            <a:endParaRPr lang="en-US" sz="1100"/>
          </a:p>
        </p:txBody>
      </p:sp>
      <p:sp>
        <p:nvSpPr>
          <p:cNvPr id="82" name="AutoShape 82"/>
          <p:cNvSpPr/>
          <p:nvPr/>
        </p:nvSpPr>
        <p:spPr>
          <a:xfrm>
            <a:off x="1844675" y="4730115"/>
            <a:ext cx="914400" cy="2120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GPU 机时与人工工时待测算</a:t>
            </a:r>
            <a:endParaRPr lang="en-US" sz="1100"/>
          </a:p>
        </p:txBody>
      </p:sp>
      <p:sp>
        <p:nvSpPr>
          <p:cNvPr id="83" name="AutoShape 83"/>
          <p:cNvSpPr/>
          <p:nvPr/>
        </p:nvSpPr>
        <p:spPr>
          <a:xfrm>
            <a:off x="1890395" y="4844415"/>
            <a:ext cx="822960" cy="2120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84" name="AutoShape 84"/>
          <p:cNvSpPr/>
          <p:nvPr/>
        </p:nvSpPr>
        <p:spPr>
          <a:xfrm>
            <a:off x="1936115" y="4958715"/>
            <a:ext cx="731520" cy="2120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85" name="Freeform 85"/>
          <p:cNvSpPr/>
          <p:nvPr/>
        </p:nvSpPr>
        <p:spPr>
          <a:xfrm>
            <a:off x="3444875" y="4529455"/>
            <a:ext cx="1524000" cy="609600"/>
          </a:xfrm>
          <a:custGeom>
            <a:avLst/>
            <a:gdLst/>
            <a:ahLst/>
            <a:cxnLst/>
            <a:rect l="l" t="t" r="r" b="b"/>
            <a:pathLst>
              <a:path w="1524000" h="609600">
                <a:moveTo>
                  <a:pt x="1485900" y="0"/>
                </a:moveTo>
                <a:cubicBezTo>
                  <a:pt x="1506943" y="0"/>
                  <a:pt x="1524000" y="0"/>
                  <a:pt x="1524000" y="0"/>
                </a:cubicBezTo>
                <a:lnTo>
                  <a:pt x="1524000" y="609600"/>
                </a:lnTo>
                <a:cubicBezTo>
                  <a:pt x="1524000" y="609600"/>
                  <a:pt x="1506943" y="609600"/>
                  <a:pt x="1485900" y="609600"/>
                </a:cubicBezTo>
                <a:lnTo>
                  <a:pt x="38100" y="609600"/>
                </a:lnTo>
                <a:cubicBezTo>
                  <a:pt x="17057" y="609600"/>
                  <a:pt x="0" y="609600"/>
                  <a:pt x="0" y="6096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52C41A">
              <a:alpha val="100000"/>
            </a:srgbClr>
          </a:solidFill>
          <a:ln w="12700" cap="flat" cmpd="sng">
            <a:solidFill>
              <a:srgbClr val="389E0D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86" name="AutoShape 86"/>
          <p:cNvSpPr/>
          <p:nvPr/>
        </p:nvSpPr>
        <p:spPr>
          <a:xfrm>
            <a:off x="3795395" y="4561205"/>
            <a:ext cx="822960" cy="23241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05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标签质量诊断</a:t>
            </a:r>
            <a:endParaRPr lang="en-US" sz="1100"/>
          </a:p>
        </p:txBody>
      </p:sp>
      <p:sp>
        <p:nvSpPr>
          <p:cNvPr id="87" name="AutoShape 87"/>
          <p:cNvSpPr/>
          <p:nvPr/>
        </p:nvSpPr>
        <p:spPr>
          <a:xfrm>
            <a:off x="3749675" y="4730115"/>
            <a:ext cx="914400" cy="2120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验证漏检/误检能否下降、下游 mAP 能否提升</a:t>
            </a:r>
            <a:endParaRPr lang="en-US" sz="1100"/>
          </a:p>
        </p:txBody>
      </p:sp>
      <p:sp>
        <p:nvSpPr>
          <p:cNvPr id="88" name="AutoShape 88"/>
          <p:cNvSpPr/>
          <p:nvPr/>
        </p:nvSpPr>
        <p:spPr>
          <a:xfrm>
            <a:off x="3795395" y="4844415"/>
            <a:ext cx="822960" cy="2120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89" name="AutoShape 89"/>
          <p:cNvSpPr/>
          <p:nvPr/>
        </p:nvSpPr>
        <p:spPr>
          <a:xfrm>
            <a:off x="3886835" y="4958715"/>
            <a:ext cx="640080" cy="2120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90" name="Freeform 90"/>
          <p:cNvSpPr/>
          <p:nvPr/>
        </p:nvSpPr>
        <p:spPr>
          <a:xfrm>
            <a:off x="5349875" y="4529455"/>
            <a:ext cx="1524000" cy="609600"/>
          </a:xfrm>
          <a:custGeom>
            <a:avLst/>
            <a:gdLst/>
            <a:ahLst/>
            <a:cxnLst/>
            <a:rect l="l" t="t" r="r" b="b"/>
            <a:pathLst>
              <a:path w="1524000" h="609600">
                <a:moveTo>
                  <a:pt x="1485900" y="0"/>
                </a:moveTo>
                <a:cubicBezTo>
                  <a:pt x="1506943" y="0"/>
                  <a:pt x="1524000" y="0"/>
                  <a:pt x="1524000" y="0"/>
                </a:cubicBezTo>
                <a:lnTo>
                  <a:pt x="1524000" y="609600"/>
                </a:lnTo>
                <a:cubicBezTo>
                  <a:pt x="1524000" y="609600"/>
                  <a:pt x="1506943" y="609600"/>
                  <a:pt x="1485900" y="609600"/>
                </a:cubicBezTo>
                <a:lnTo>
                  <a:pt x="38100" y="609600"/>
                </a:lnTo>
                <a:cubicBezTo>
                  <a:pt x="17057" y="609600"/>
                  <a:pt x="0" y="609600"/>
                  <a:pt x="0" y="6096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52C41A">
              <a:alpha val="100000"/>
            </a:srgbClr>
          </a:solidFill>
          <a:ln w="12700" cap="flat" cmpd="sng">
            <a:solidFill>
              <a:srgbClr val="389E0D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91" name="AutoShape 91"/>
          <p:cNvSpPr/>
          <p:nvPr/>
        </p:nvSpPr>
        <p:spPr>
          <a:xfrm>
            <a:off x="5647055" y="4561205"/>
            <a:ext cx="929640" cy="23241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05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人工负担可控</a:t>
            </a:r>
            <a:endParaRPr lang="en-US" sz="1100"/>
          </a:p>
        </p:txBody>
      </p:sp>
      <p:sp>
        <p:nvSpPr>
          <p:cNvPr id="92" name="AutoShape 92"/>
          <p:cNvSpPr/>
          <p:nvPr/>
        </p:nvSpPr>
        <p:spPr>
          <a:xfrm>
            <a:off x="5746115" y="4730115"/>
            <a:ext cx="73152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只做必要抽检与修正</a:t>
            </a:r>
            <a:endParaRPr lang="en-US" sz="1100"/>
          </a:p>
        </p:txBody>
      </p:sp>
      <p:sp>
        <p:nvSpPr>
          <p:cNvPr id="93" name="AutoShape 93"/>
          <p:cNvSpPr/>
          <p:nvPr/>
        </p:nvSpPr>
        <p:spPr>
          <a:xfrm>
            <a:off x="5746115" y="4844415"/>
            <a:ext cx="731520" cy="2120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94" name="AutoShape 94"/>
          <p:cNvSpPr/>
          <p:nvPr/>
        </p:nvSpPr>
        <p:spPr>
          <a:xfrm>
            <a:off x="5700395" y="4958715"/>
            <a:ext cx="822960" cy="2120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95" name="Freeform 95"/>
          <p:cNvSpPr/>
          <p:nvPr/>
        </p:nvSpPr>
        <p:spPr>
          <a:xfrm>
            <a:off x="7254875" y="4529455"/>
            <a:ext cx="1524000" cy="609600"/>
          </a:xfrm>
          <a:custGeom>
            <a:avLst/>
            <a:gdLst/>
            <a:ahLst/>
            <a:cxnLst/>
            <a:rect l="l" t="t" r="r" b="b"/>
            <a:pathLst>
              <a:path w="1524000" h="609600">
                <a:moveTo>
                  <a:pt x="1485900" y="0"/>
                </a:moveTo>
                <a:cubicBezTo>
                  <a:pt x="1506943" y="0"/>
                  <a:pt x="1524000" y="0"/>
                  <a:pt x="1524000" y="0"/>
                </a:cubicBezTo>
                <a:lnTo>
                  <a:pt x="1524000" y="609600"/>
                </a:lnTo>
                <a:cubicBezTo>
                  <a:pt x="1524000" y="609600"/>
                  <a:pt x="1506943" y="609600"/>
                  <a:pt x="1485900" y="609600"/>
                </a:cubicBezTo>
                <a:lnTo>
                  <a:pt x="38100" y="609600"/>
                </a:lnTo>
                <a:cubicBezTo>
                  <a:pt x="17057" y="609600"/>
                  <a:pt x="0" y="609600"/>
                  <a:pt x="0" y="6096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52C41A">
              <a:alpha val="100000"/>
            </a:srgbClr>
          </a:solidFill>
          <a:ln w="12700" cap="flat" cmpd="sng">
            <a:solidFill>
              <a:srgbClr val="389E0D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96" name="AutoShape 96"/>
          <p:cNvSpPr/>
          <p:nvPr/>
        </p:nvSpPr>
        <p:spPr>
          <a:xfrm>
            <a:off x="7605395" y="4561205"/>
            <a:ext cx="822960" cy="23241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05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流程可复现</a:t>
            </a:r>
            <a:endParaRPr lang="en-US" sz="1100"/>
          </a:p>
        </p:txBody>
      </p:sp>
      <p:sp>
        <p:nvSpPr>
          <p:cNvPr id="97" name="AutoShape 97"/>
          <p:cNvSpPr/>
          <p:nvPr/>
        </p:nvSpPr>
        <p:spPr>
          <a:xfrm>
            <a:off x="7605395" y="4730115"/>
            <a:ext cx="82296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可记录、可追溯、可反查</a:t>
            </a:r>
            <a:endParaRPr lang="en-US" sz="1100"/>
          </a:p>
        </p:txBody>
      </p:sp>
      <p:sp>
        <p:nvSpPr>
          <p:cNvPr id="98" name="AutoShape 98"/>
          <p:cNvSpPr/>
          <p:nvPr/>
        </p:nvSpPr>
        <p:spPr>
          <a:xfrm>
            <a:off x="7651115" y="4958715"/>
            <a:ext cx="731520" cy="2120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99" name="Freeform 99"/>
          <p:cNvSpPr/>
          <p:nvPr/>
        </p:nvSpPr>
        <p:spPr>
          <a:xfrm>
            <a:off x="9159875" y="4529455"/>
            <a:ext cx="1524000" cy="609600"/>
          </a:xfrm>
          <a:custGeom>
            <a:avLst/>
            <a:gdLst/>
            <a:ahLst/>
            <a:cxnLst/>
            <a:rect l="l" t="t" r="r" b="b"/>
            <a:pathLst>
              <a:path w="1524000" h="609600">
                <a:moveTo>
                  <a:pt x="1485900" y="0"/>
                </a:moveTo>
                <a:cubicBezTo>
                  <a:pt x="1506943" y="0"/>
                  <a:pt x="1524000" y="0"/>
                  <a:pt x="1524000" y="0"/>
                </a:cubicBezTo>
                <a:lnTo>
                  <a:pt x="1524000" y="609600"/>
                </a:lnTo>
                <a:cubicBezTo>
                  <a:pt x="1524000" y="609600"/>
                  <a:pt x="1506943" y="609600"/>
                  <a:pt x="1485900" y="609600"/>
                </a:cubicBezTo>
                <a:lnTo>
                  <a:pt x="38100" y="609600"/>
                </a:lnTo>
                <a:cubicBezTo>
                  <a:pt x="17057" y="609600"/>
                  <a:pt x="0" y="609600"/>
                  <a:pt x="0" y="6096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52C41A">
              <a:alpha val="100000"/>
            </a:srgbClr>
          </a:solidFill>
          <a:ln w="12700" cap="flat" cmpd="sng">
            <a:solidFill>
              <a:srgbClr val="389E0D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00" name="AutoShape 100"/>
          <p:cNvSpPr/>
          <p:nvPr/>
        </p:nvSpPr>
        <p:spPr>
          <a:xfrm>
            <a:off x="9510395" y="4561205"/>
            <a:ext cx="822960" cy="23241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05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非刚性目标流程参考</a:t>
            </a:r>
            <a:endParaRPr lang="en-US" sz="1100"/>
          </a:p>
        </p:txBody>
      </p:sp>
      <p:sp>
        <p:nvSpPr>
          <p:cNvPr id="101" name="AutoShape 101"/>
          <p:cNvSpPr/>
          <p:nvPr/>
        </p:nvSpPr>
        <p:spPr>
          <a:xfrm>
            <a:off x="9556115" y="4730115"/>
            <a:ext cx="731520" cy="2120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为同类非刚性目标提供流程参考</a:t>
            </a:r>
            <a:endParaRPr lang="en-US" sz="1100"/>
          </a:p>
        </p:txBody>
      </p:sp>
      <p:sp>
        <p:nvSpPr>
          <p:cNvPr id="102" name="AutoShape 102"/>
          <p:cNvSpPr/>
          <p:nvPr/>
        </p:nvSpPr>
        <p:spPr>
          <a:xfrm>
            <a:off x="9556115" y="4844415"/>
            <a:ext cx="731520" cy="2120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103" name="AutoShape 103"/>
          <p:cNvSpPr/>
          <p:nvPr/>
        </p:nvSpPr>
        <p:spPr>
          <a:xfrm>
            <a:off x="9556115" y="4958715"/>
            <a:ext cx="731520" cy="21209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104" name="Freeform 104"/>
          <p:cNvSpPr/>
          <p:nvPr/>
        </p:nvSpPr>
        <p:spPr>
          <a:xfrm>
            <a:off x="2301875" y="5596255"/>
            <a:ext cx="7620000" cy="609600"/>
          </a:xfrm>
          <a:custGeom>
            <a:avLst/>
            <a:gdLst/>
            <a:ahLst/>
            <a:cxnLst/>
            <a:rect l="l" t="t" r="r" b="b"/>
            <a:pathLst>
              <a:path w="7620000" h="609600">
                <a:moveTo>
                  <a:pt x="7543800" y="0"/>
                </a:moveTo>
                <a:cubicBezTo>
                  <a:pt x="7585884" y="0"/>
                  <a:pt x="7620000" y="0"/>
                  <a:pt x="7620000" y="0"/>
                </a:cubicBezTo>
                <a:lnTo>
                  <a:pt x="7620000" y="609600"/>
                </a:lnTo>
                <a:cubicBezTo>
                  <a:pt x="7620000" y="609600"/>
                  <a:pt x="7585884" y="609600"/>
                  <a:pt x="7543800" y="609600"/>
                </a:cubicBezTo>
                <a:lnTo>
                  <a:pt x="76200" y="609600"/>
                </a:lnTo>
                <a:cubicBezTo>
                  <a:pt x="34116" y="609600"/>
                  <a:pt x="0" y="609600"/>
                  <a:pt x="0" y="609600"/>
                </a:cubicBezTo>
                <a:lnTo>
                  <a:pt x="0" y="0"/>
                </a:lnTo>
                <a:cubicBezTo>
                  <a:pt x="0" y="0"/>
                  <a:pt x="34116" y="0"/>
                  <a:pt x="76200" y="0"/>
                </a:cubicBezTo>
                <a:close/>
              </a:path>
            </a:pathLst>
          </a:custGeom>
          <a:solidFill>
            <a:srgbClr val="FFF3CD">
              <a:alpha val="100000"/>
            </a:srgbClr>
          </a:solidFill>
          <a:ln w="12700" cap="flat" cmpd="sng">
            <a:solidFill>
              <a:srgbClr val="FFC107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05" name="AutoShape 105"/>
          <p:cNvSpPr/>
          <p:nvPr/>
        </p:nvSpPr>
        <p:spPr>
          <a:xfrm>
            <a:off x="5715635" y="5612130"/>
            <a:ext cx="792480" cy="25209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核心创新点</a:t>
            </a:r>
            <a:endParaRPr lang="en-US" sz="1100"/>
          </a:p>
        </p:txBody>
      </p:sp>
      <p:sp>
        <p:nvSpPr>
          <p:cNvPr id="106" name="AutoShape 106"/>
          <p:cNvSpPr/>
          <p:nvPr/>
        </p:nvSpPr>
        <p:spPr>
          <a:xfrm>
            <a:off x="3006725" y="5835015"/>
            <a:ext cx="87630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GD定位+SAM3审核+YOLO裁判</a:t>
            </a:r>
            <a:endParaRPr lang="en-US" sz="1100"/>
          </a:p>
        </p:txBody>
      </p:sp>
      <p:sp>
        <p:nvSpPr>
          <p:cNvPr id="107" name="AutoShape 107"/>
          <p:cNvSpPr/>
          <p:nvPr/>
        </p:nvSpPr>
        <p:spPr>
          <a:xfrm>
            <a:off x="4557395" y="5835015"/>
            <a:ext cx="868680" cy="2298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权限隔离与阶段门控</a:t>
            </a:r>
            <a:endParaRPr lang="en-US" sz="1100"/>
          </a:p>
        </p:txBody>
      </p:sp>
      <p:sp>
        <p:nvSpPr>
          <p:cNvPr id="108" name="AutoShape 108"/>
          <p:cNvSpPr/>
          <p:nvPr/>
        </p:nvSpPr>
        <p:spPr>
          <a:xfrm>
            <a:off x="6081395" y="5835015"/>
            <a:ext cx="82296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 dirty="0" err="1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精度</a:t>
            </a:r>
            <a:r>
              <a:rPr lang="en-US" sz="900" b="0" i="0" u="none" strike="noStrike" dirty="0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/</a:t>
            </a:r>
            <a:r>
              <a:rPr lang="en-US" sz="900" b="0" i="0" u="none" strike="noStrike" dirty="0" err="1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时间</a:t>
            </a:r>
            <a:r>
              <a:rPr lang="en-US" sz="900" b="0" i="0" u="none" strike="noStrike" dirty="0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/</a:t>
            </a:r>
            <a:r>
              <a:rPr lang="en-US" sz="900" b="0" i="0" u="none" strike="noStrike" dirty="0" err="1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人工</a:t>
            </a:r>
            <a:r>
              <a:rPr lang="en-US" sz="900" b="0" i="0" u="none" strike="noStrike" dirty="0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 Pareto </a:t>
            </a:r>
            <a:r>
              <a:rPr lang="en-US" sz="900" b="0" i="0" u="none" strike="noStrike" dirty="0" err="1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权衡</a:t>
            </a:r>
            <a:endParaRPr lang="en-US" sz="1100" dirty="0"/>
          </a:p>
        </p:txBody>
      </p:sp>
      <p:sp>
        <p:nvSpPr>
          <p:cNvPr id="109" name="AutoShape 109"/>
          <p:cNvSpPr/>
          <p:nvPr/>
        </p:nvSpPr>
        <p:spPr>
          <a:xfrm>
            <a:off x="7651115" y="5835015"/>
            <a:ext cx="73152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 dirty="0" err="1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多规模流程选型</a:t>
            </a:r>
            <a:endParaRPr lang="en-US" sz="1100" dirty="0"/>
          </a:p>
        </p:txBody>
      </p:sp>
      <p:sp>
        <p:nvSpPr>
          <p:cNvPr id="110" name="AutoShape 110"/>
          <p:cNvSpPr/>
          <p:nvPr/>
        </p:nvSpPr>
        <p:spPr>
          <a:xfrm>
            <a:off x="5205095" y="5949315"/>
            <a:ext cx="1814195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825" b="0" i="0" u="none" strike="noStrike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"</a:t>
            </a:r>
            <a:r>
              <a:rPr lang="en-US" sz="900" b="0" i="0" u="none" strike="noStrike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单次人工标注</a:t>
            </a:r>
            <a:r>
              <a:rPr lang="en-US" sz="825" b="0" i="0" u="none" strike="noStrike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""</a:t>
            </a:r>
            <a:r>
              <a:rPr lang="en-US" sz="900" b="0" i="0" u="none" strike="noStrike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可复现的</a:t>
            </a:r>
            <a:r>
              <a:rPr lang="en-US" sz="825" b="0" i="0" u="none" strike="noStrike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+</a:t>
            </a:r>
            <a:r>
              <a:rPr lang="en-US" sz="900" b="0" i="0" u="none" strike="noStrike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伪标签生产流程</a:t>
            </a:r>
            <a:r>
              <a:rPr lang="en-US" sz="825" b="0" i="0" u="none" strike="noStrike">
                <a:solidFill>
                  <a:srgbClr val="856404"/>
                </a:solidFill>
                <a:latin typeface="微软雅黑"/>
                <a:ea typeface="微软雅黑"/>
                <a:cs typeface="微软雅黑"/>
                <a:sym typeface="微软雅黑"/>
              </a:rPr>
              <a:t>"</a:t>
            </a:r>
            <a:endParaRPr lang="en-US" sz="1100"/>
          </a:p>
        </p:txBody>
      </p:sp>
      <p:sp>
        <p:nvSpPr>
          <p:cNvPr id="111" name="Freeform 111"/>
          <p:cNvSpPr/>
          <p:nvPr/>
        </p:nvSpPr>
        <p:spPr>
          <a:xfrm>
            <a:off x="1158875" y="6358255"/>
            <a:ext cx="3810000" cy="457200"/>
          </a:xfrm>
          <a:custGeom>
            <a:avLst/>
            <a:gdLst/>
            <a:ahLst/>
            <a:cxnLst/>
            <a:rect l="l" t="t" r="r" b="b"/>
            <a:pathLst>
              <a:path w="3810000" h="457200">
                <a:moveTo>
                  <a:pt x="3771900" y="0"/>
                </a:moveTo>
                <a:cubicBezTo>
                  <a:pt x="3792943" y="0"/>
                  <a:pt x="3810000" y="0"/>
                  <a:pt x="3810000" y="0"/>
                </a:cubicBezTo>
                <a:lnTo>
                  <a:pt x="3810000" y="457200"/>
                </a:lnTo>
                <a:cubicBezTo>
                  <a:pt x="3810000" y="457200"/>
                  <a:pt x="3792943" y="457200"/>
                  <a:pt x="3771900" y="457200"/>
                </a:cubicBezTo>
                <a:lnTo>
                  <a:pt x="38100" y="457200"/>
                </a:lnTo>
                <a:cubicBezTo>
                  <a:pt x="17057" y="457200"/>
                  <a:pt x="0" y="457200"/>
                  <a:pt x="0" y="457200"/>
                </a:cubicBezTo>
                <a:lnTo>
                  <a:pt x="0" y="0"/>
                </a:lnTo>
                <a:cubicBezTo>
                  <a:pt x="0" y="0"/>
                  <a:pt x="17057" y="0"/>
                  <a:pt x="38100" y="0"/>
                </a:cubicBezTo>
                <a:close/>
              </a:path>
            </a:pathLst>
          </a:custGeom>
          <a:solidFill>
            <a:srgbClr val="F8F9FA">
              <a:alpha val="100000"/>
            </a:srgbClr>
          </a:solidFill>
          <a:ln w="12700" cap="flat" cmpd="sng">
            <a:solidFill>
              <a:srgbClr val="DEE2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12" name="AutoShape 112"/>
          <p:cNvSpPr/>
          <p:nvPr/>
        </p:nvSpPr>
        <p:spPr>
          <a:xfrm>
            <a:off x="1143635" y="6351905"/>
            <a:ext cx="609600" cy="23241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05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流程说明</a:t>
            </a:r>
            <a:endParaRPr lang="en-US" sz="1100"/>
          </a:p>
        </p:txBody>
      </p:sp>
      <p:sp>
        <p:nvSpPr>
          <p:cNvPr id="113" name="Freeform 113"/>
          <p:cNvSpPr/>
          <p:nvPr/>
        </p:nvSpPr>
        <p:spPr>
          <a:xfrm>
            <a:off x="1250315" y="6563995"/>
            <a:ext cx="121920" cy="121920"/>
          </a:xfrm>
          <a:custGeom>
            <a:avLst/>
            <a:gdLst/>
            <a:ahLst/>
            <a:cxnLst/>
            <a:rect l="l" t="t" r="r" b="b"/>
            <a:pathLst>
              <a:path w="121920" h="121920">
                <a:moveTo>
                  <a:pt x="121920" y="60960"/>
                </a:moveTo>
                <a:cubicBezTo>
                  <a:pt x="121920" y="94626"/>
                  <a:pt x="94626" y="121920"/>
                  <a:pt x="60960" y="121920"/>
                </a:cubicBezTo>
                <a:cubicBezTo>
                  <a:pt x="27294" y="121920"/>
                  <a:pt x="0" y="94626"/>
                  <a:pt x="0" y="60960"/>
                </a:cubicBezTo>
                <a:cubicBezTo>
                  <a:pt x="0" y="27294"/>
                  <a:pt x="27294" y="0"/>
                  <a:pt x="60960" y="0"/>
                </a:cubicBezTo>
                <a:cubicBezTo>
                  <a:pt x="94626" y="0"/>
                  <a:pt x="121920" y="27294"/>
                  <a:pt x="121920" y="60960"/>
                </a:cubicBezTo>
                <a:close/>
              </a:path>
            </a:pathLst>
          </a:custGeom>
          <a:solidFill>
            <a:srgbClr val="3498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14" name="AutoShape 114"/>
          <p:cNvSpPr/>
          <p:nvPr/>
        </p:nvSpPr>
        <p:spPr>
          <a:xfrm>
            <a:off x="1334135" y="6520815"/>
            <a:ext cx="73152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数据与测试治理</a:t>
            </a:r>
            <a:endParaRPr lang="en-US" sz="1100"/>
          </a:p>
        </p:txBody>
      </p:sp>
      <p:sp>
        <p:nvSpPr>
          <p:cNvPr id="115" name="Freeform 115"/>
          <p:cNvSpPr/>
          <p:nvPr/>
        </p:nvSpPr>
        <p:spPr>
          <a:xfrm>
            <a:off x="2012315" y="6563995"/>
            <a:ext cx="121920" cy="121920"/>
          </a:xfrm>
          <a:custGeom>
            <a:avLst/>
            <a:gdLst/>
            <a:ahLst/>
            <a:cxnLst/>
            <a:rect l="l" t="t" r="r" b="b"/>
            <a:pathLst>
              <a:path w="121920" h="121920">
                <a:moveTo>
                  <a:pt x="121920" y="60960"/>
                </a:moveTo>
                <a:cubicBezTo>
                  <a:pt x="121920" y="94626"/>
                  <a:pt x="94626" y="121920"/>
                  <a:pt x="60960" y="121920"/>
                </a:cubicBezTo>
                <a:cubicBezTo>
                  <a:pt x="27294" y="121920"/>
                  <a:pt x="0" y="94626"/>
                  <a:pt x="0" y="60960"/>
                </a:cubicBezTo>
                <a:cubicBezTo>
                  <a:pt x="0" y="27294"/>
                  <a:pt x="27294" y="0"/>
                  <a:pt x="60960" y="0"/>
                </a:cubicBezTo>
                <a:cubicBezTo>
                  <a:pt x="94626" y="0"/>
                  <a:pt x="121920" y="27294"/>
                  <a:pt x="121920" y="60960"/>
                </a:cubicBezTo>
                <a:close/>
              </a:path>
            </a:pathLst>
          </a:custGeom>
          <a:solidFill>
            <a:srgbClr val="27AE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16" name="AutoShape 116"/>
          <p:cNvSpPr/>
          <p:nvPr/>
        </p:nvSpPr>
        <p:spPr>
          <a:xfrm>
            <a:off x="2096135" y="6520815"/>
            <a:ext cx="628015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825" b="0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AI</a:t>
            </a:r>
            <a:r>
              <a:rPr lang="en-US" sz="900" b="0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V1自动生成</a:t>
            </a:r>
            <a:endParaRPr lang="en-US" sz="1100"/>
          </a:p>
        </p:txBody>
      </p:sp>
      <p:sp>
        <p:nvSpPr>
          <p:cNvPr id="117" name="Freeform 117"/>
          <p:cNvSpPr/>
          <p:nvPr/>
        </p:nvSpPr>
        <p:spPr>
          <a:xfrm>
            <a:off x="2774315" y="6563995"/>
            <a:ext cx="121920" cy="121920"/>
          </a:xfrm>
          <a:custGeom>
            <a:avLst/>
            <a:gdLst/>
            <a:ahLst/>
            <a:cxnLst/>
            <a:rect l="l" t="t" r="r" b="b"/>
            <a:pathLst>
              <a:path w="121920" h="121920">
                <a:moveTo>
                  <a:pt x="121920" y="60960"/>
                </a:moveTo>
                <a:cubicBezTo>
                  <a:pt x="121920" y="94626"/>
                  <a:pt x="94626" y="121920"/>
                  <a:pt x="60960" y="121920"/>
                </a:cubicBezTo>
                <a:cubicBezTo>
                  <a:pt x="27294" y="121920"/>
                  <a:pt x="0" y="94626"/>
                  <a:pt x="0" y="60960"/>
                </a:cubicBezTo>
                <a:cubicBezTo>
                  <a:pt x="0" y="27294"/>
                  <a:pt x="27294" y="0"/>
                  <a:pt x="60960" y="0"/>
                </a:cubicBezTo>
                <a:cubicBezTo>
                  <a:pt x="94626" y="0"/>
                  <a:pt x="121920" y="27294"/>
                  <a:pt x="121920" y="60960"/>
                </a:cubicBezTo>
                <a:close/>
              </a:path>
            </a:pathLst>
          </a:custGeom>
          <a:solidFill>
            <a:srgbClr val="F39C1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18" name="AutoShape 118"/>
          <p:cNvSpPr/>
          <p:nvPr/>
        </p:nvSpPr>
        <p:spPr>
          <a:xfrm>
            <a:off x="2858135" y="6520815"/>
            <a:ext cx="73152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SAM3后置</a:t>
            </a:r>
            <a:endParaRPr lang="en-US" sz="1100"/>
          </a:p>
        </p:txBody>
      </p:sp>
      <p:sp>
        <p:nvSpPr>
          <p:cNvPr id="119" name="Freeform 119"/>
          <p:cNvSpPr/>
          <p:nvPr/>
        </p:nvSpPr>
        <p:spPr>
          <a:xfrm>
            <a:off x="3612515" y="6563995"/>
            <a:ext cx="121920" cy="121920"/>
          </a:xfrm>
          <a:custGeom>
            <a:avLst/>
            <a:gdLst/>
            <a:ahLst/>
            <a:cxnLst/>
            <a:rect l="l" t="t" r="r" b="b"/>
            <a:pathLst>
              <a:path w="121920" h="121920">
                <a:moveTo>
                  <a:pt x="121920" y="60960"/>
                </a:moveTo>
                <a:cubicBezTo>
                  <a:pt x="121920" y="94626"/>
                  <a:pt x="94626" y="121920"/>
                  <a:pt x="60960" y="121920"/>
                </a:cubicBezTo>
                <a:cubicBezTo>
                  <a:pt x="27294" y="121920"/>
                  <a:pt x="0" y="94626"/>
                  <a:pt x="0" y="60960"/>
                </a:cubicBezTo>
                <a:cubicBezTo>
                  <a:pt x="0" y="27294"/>
                  <a:pt x="27294" y="0"/>
                  <a:pt x="60960" y="0"/>
                </a:cubicBezTo>
                <a:cubicBezTo>
                  <a:pt x="94626" y="0"/>
                  <a:pt x="121920" y="27294"/>
                  <a:pt x="121920" y="60960"/>
                </a:cubicBezTo>
                <a:close/>
              </a:path>
            </a:pathLst>
          </a:custGeom>
          <a:solidFill>
            <a:srgbClr val="95A5A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20" name="AutoShape 120"/>
          <p:cNvSpPr/>
          <p:nvPr/>
        </p:nvSpPr>
        <p:spPr>
          <a:xfrm>
            <a:off x="3696335" y="6520815"/>
            <a:ext cx="73152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稳定性复验</a:t>
            </a:r>
            <a:endParaRPr lang="en-US" sz="1100"/>
          </a:p>
        </p:txBody>
      </p:sp>
      <p:sp>
        <p:nvSpPr>
          <p:cNvPr id="121" name="Freeform 121"/>
          <p:cNvSpPr/>
          <p:nvPr/>
        </p:nvSpPr>
        <p:spPr>
          <a:xfrm>
            <a:off x="4283075" y="6624955"/>
            <a:ext cx="228600" cy="0"/>
          </a:xfrm>
          <a:custGeom>
            <a:avLst/>
            <a:gdLst/>
            <a:ahLst/>
            <a:cxnLst/>
            <a:rect l="l" t="t" r="r" b="b"/>
            <a:pathLst>
              <a:path w="228600">
                <a:moveTo>
                  <a:pt x="0" y="0"/>
                </a:moveTo>
                <a:lnTo>
                  <a:pt x="228600" y="0"/>
                </a:lnTo>
              </a:path>
            </a:pathLst>
          </a:custGeom>
          <a:solidFill>
            <a:srgbClr val="000000">
              <a:alpha val="100000"/>
            </a:srgbClr>
          </a:solidFill>
          <a:ln w="12700" cap="flat" cmpd="sng">
            <a:solidFill>
              <a:srgbClr val="E74C3C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sp>
        <p:nvSpPr>
          <p:cNvPr id="122" name="AutoShape 122"/>
          <p:cNvSpPr/>
          <p:nvPr/>
        </p:nvSpPr>
        <p:spPr>
          <a:xfrm>
            <a:off x="4458335" y="6520815"/>
            <a:ext cx="731520" cy="2120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多规模选型</a:t>
            </a:r>
            <a:endParaRPr lang="en-US" sz="1100"/>
          </a:p>
        </p:txBody>
      </p:sp>
      <p:pic>
        <p:nvPicPr>
          <p:cNvPr id="123" name="Picture 12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4490" y="119380"/>
            <a:ext cx="518160" cy="51816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585335" y="100167"/>
            <a:ext cx="1783080" cy="3931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800" b="1" i="0" u="none" strike="noStrike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数据划分与</a:t>
            </a:r>
            <a:r>
              <a:rPr lang="en-US" sz="1800" b="1" i="0" u="none" strike="noStrike" dirty="0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 V1 </a:t>
            </a:r>
            <a:r>
              <a:rPr lang="en-US" sz="1800" b="1" i="0" u="none" strike="noStrike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生成流程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709160" y="412149"/>
            <a:ext cx="2773680" cy="29258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200" b="0" i="0" u="none" strike="noStrike" dirty="0" err="1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从多源火烟图像到可训练的</a:t>
            </a:r>
            <a:r>
              <a:rPr lang="en-US" sz="1200" b="0" i="0" u="none" strike="noStrike" dirty="0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 V1 </a:t>
            </a:r>
            <a:r>
              <a:rPr lang="en-US" sz="1200" b="0" i="0" u="none" strike="noStrike" dirty="0" err="1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伪标签</a:t>
            </a:r>
            <a:endParaRPr lang="en-US" sz="1100" dirty="0"/>
          </a:p>
        </p:txBody>
      </p:sp>
      <p:sp>
        <p:nvSpPr>
          <p:cNvPr id="4" name="Freeform 4"/>
          <p:cNvSpPr/>
          <p:nvPr/>
        </p:nvSpPr>
        <p:spPr>
          <a:xfrm>
            <a:off x="1809750" y="952500"/>
            <a:ext cx="8572500" cy="952500"/>
          </a:xfrm>
          <a:custGeom>
            <a:avLst/>
            <a:gdLst/>
            <a:ahLst/>
            <a:cxnLst/>
            <a:rect l="l" t="t" r="r" b="b"/>
            <a:pathLst>
              <a:path w="8572500" h="952500">
                <a:moveTo>
                  <a:pt x="8477250" y="0"/>
                </a:moveTo>
                <a:cubicBezTo>
                  <a:pt x="8529855" y="0"/>
                  <a:pt x="8572500" y="0"/>
                  <a:pt x="8572500" y="0"/>
                </a:cubicBezTo>
                <a:lnTo>
                  <a:pt x="8572500" y="952500"/>
                </a:lnTo>
                <a:cubicBezTo>
                  <a:pt x="8572500" y="952500"/>
                  <a:pt x="8529855" y="952500"/>
                  <a:pt x="8477250" y="952500"/>
                </a:cubicBezTo>
                <a:lnTo>
                  <a:pt x="95250" y="952500"/>
                </a:lnTo>
                <a:cubicBezTo>
                  <a:pt x="42645" y="952500"/>
                  <a:pt x="0" y="952500"/>
                  <a:pt x="0" y="952500"/>
                </a:cubicBezTo>
                <a:lnTo>
                  <a:pt x="0" y="0"/>
                </a:lnTo>
                <a:cubicBezTo>
                  <a:pt x="0" y="0"/>
                  <a:pt x="42645" y="0"/>
                  <a:pt x="95250" y="0"/>
                </a:cubicBezTo>
                <a:close/>
              </a:path>
            </a:pathLst>
          </a:custGeom>
          <a:gradFill rotWithShape="1">
            <a:gsLst>
              <a:gs pos="0">
                <a:srgbClr val="3498DB">
                  <a:alpha val="100000"/>
                </a:srgbClr>
              </a:gs>
              <a:gs pos="50000">
                <a:srgbClr val="2E8CCA">
                  <a:alpha val="100000"/>
                </a:srgbClr>
              </a:gs>
              <a:gs pos="100000">
                <a:srgbClr val="2980B9">
                  <a:alpha val="100000"/>
                </a:srgbClr>
              </a:gs>
            </a:gsLst>
            <a:lin ang="2700000"/>
          </a:gra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079875" y="963295"/>
            <a:ext cx="4733925" cy="299085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35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第一步：数据划分与测试隔离（</a:t>
            </a:r>
            <a:r>
              <a:rPr lang="en-US" sz="1350" b="1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目前</a:t>
            </a:r>
            <a:r>
              <a:rPr lang="en-US" sz="135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）已完成</a:t>
            </a:r>
            <a:endParaRPr lang="en-US" sz="1100"/>
          </a:p>
        </p:txBody>
      </p:sp>
      <p:sp>
        <p:nvSpPr>
          <p:cNvPr id="6" name="Freeform 6"/>
          <p:cNvSpPr/>
          <p:nvPr/>
        </p:nvSpPr>
        <p:spPr>
          <a:xfrm>
            <a:off x="2095500" y="1333500"/>
            <a:ext cx="1428750" cy="476250"/>
          </a:xfrm>
          <a:custGeom>
            <a:avLst/>
            <a:gdLst/>
            <a:ahLst/>
            <a:cxnLst/>
            <a:rect l="l" t="t" r="r" b="b"/>
            <a:pathLst>
              <a:path w="1428750" h="476250">
                <a:moveTo>
                  <a:pt x="1381125" y="0"/>
                </a:moveTo>
                <a:cubicBezTo>
                  <a:pt x="1407428" y="0"/>
                  <a:pt x="1428750" y="0"/>
                  <a:pt x="1428750" y="0"/>
                </a:cubicBezTo>
                <a:lnTo>
                  <a:pt x="1428750" y="476250"/>
                </a:lnTo>
                <a:cubicBezTo>
                  <a:pt x="1428750" y="476250"/>
                  <a:pt x="1407428" y="476250"/>
                  <a:pt x="1381125" y="476250"/>
                </a:cubicBezTo>
                <a:lnTo>
                  <a:pt x="47625" y="476250"/>
                </a:lnTo>
                <a:cubicBezTo>
                  <a:pt x="21322" y="476250"/>
                  <a:pt x="0" y="476250"/>
                  <a:pt x="0" y="476250"/>
                </a:cubicBezTo>
                <a:lnTo>
                  <a:pt x="0" y="0"/>
                </a:lnTo>
                <a:cubicBezTo>
                  <a:pt x="0" y="0"/>
                  <a:pt x="21322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2375535" y="1357338"/>
            <a:ext cx="868680" cy="2422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训练集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337435" y="1520370"/>
            <a:ext cx="94488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用于 YOLO 训练</a:t>
            </a:r>
            <a:endParaRPr lang="en-US" sz="1100"/>
          </a:p>
        </p:txBody>
      </p:sp>
      <p:sp>
        <p:nvSpPr>
          <p:cNvPr id="9" name="Freeform 9"/>
          <p:cNvSpPr/>
          <p:nvPr/>
        </p:nvSpPr>
        <p:spPr>
          <a:xfrm>
            <a:off x="3714750" y="1333500"/>
            <a:ext cx="1428750" cy="476250"/>
          </a:xfrm>
          <a:custGeom>
            <a:avLst/>
            <a:gdLst/>
            <a:ahLst/>
            <a:cxnLst/>
            <a:rect l="l" t="t" r="r" b="b"/>
            <a:pathLst>
              <a:path w="1428750" h="476250">
                <a:moveTo>
                  <a:pt x="1381125" y="0"/>
                </a:moveTo>
                <a:cubicBezTo>
                  <a:pt x="1407428" y="0"/>
                  <a:pt x="1428750" y="0"/>
                  <a:pt x="1428750" y="0"/>
                </a:cubicBezTo>
                <a:lnTo>
                  <a:pt x="1428750" y="476250"/>
                </a:lnTo>
                <a:cubicBezTo>
                  <a:pt x="1428750" y="476250"/>
                  <a:pt x="1407428" y="476250"/>
                  <a:pt x="1381125" y="476250"/>
                </a:cubicBezTo>
                <a:lnTo>
                  <a:pt x="47625" y="476250"/>
                </a:lnTo>
                <a:cubicBezTo>
                  <a:pt x="21322" y="476250"/>
                  <a:pt x="0" y="476250"/>
                  <a:pt x="0" y="476250"/>
                </a:cubicBezTo>
                <a:lnTo>
                  <a:pt x="0" y="0"/>
                </a:lnTo>
                <a:cubicBezTo>
                  <a:pt x="0" y="0"/>
                  <a:pt x="21322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109085" y="1357338"/>
            <a:ext cx="640080" cy="2422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开发集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004310" y="1520370"/>
            <a:ext cx="84963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提示词与阈值检索</a:t>
            </a:r>
            <a:endParaRPr lang="en-US" sz="1100"/>
          </a:p>
        </p:txBody>
      </p:sp>
      <p:sp>
        <p:nvSpPr>
          <p:cNvPr id="12" name="Freeform 12"/>
          <p:cNvSpPr/>
          <p:nvPr/>
        </p:nvSpPr>
        <p:spPr>
          <a:xfrm>
            <a:off x="5334000" y="1333500"/>
            <a:ext cx="1428750" cy="476250"/>
          </a:xfrm>
          <a:custGeom>
            <a:avLst/>
            <a:gdLst/>
            <a:ahLst/>
            <a:cxnLst/>
            <a:rect l="l" t="t" r="r" b="b"/>
            <a:pathLst>
              <a:path w="1428750" h="476250">
                <a:moveTo>
                  <a:pt x="1381125" y="0"/>
                </a:moveTo>
                <a:cubicBezTo>
                  <a:pt x="1407428" y="0"/>
                  <a:pt x="1428750" y="0"/>
                  <a:pt x="1428750" y="0"/>
                </a:cubicBezTo>
                <a:lnTo>
                  <a:pt x="1428750" y="476250"/>
                </a:lnTo>
                <a:cubicBezTo>
                  <a:pt x="1428750" y="476250"/>
                  <a:pt x="1407428" y="476250"/>
                  <a:pt x="1381125" y="476250"/>
                </a:cubicBezTo>
                <a:lnTo>
                  <a:pt x="47625" y="476250"/>
                </a:lnTo>
                <a:cubicBezTo>
                  <a:pt x="21323" y="476250"/>
                  <a:pt x="0" y="476250"/>
                  <a:pt x="0" y="476250"/>
                </a:cubicBezTo>
                <a:lnTo>
                  <a:pt x="0" y="0"/>
                </a:lnTo>
                <a:cubicBezTo>
                  <a:pt x="0" y="0"/>
                  <a:pt x="21323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5728335" y="1357338"/>
            <a:ext cx="640080" cy="2422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隔离测试集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695020" y="1520370"/>
            <a:ext cx="706708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7F8C8D"/>
                </a:solidFill>
                <a:latin typeface="Arial"/>
                <a:ea typeface="Arial"/>
                <a:cs typeface="Arial"/>
                <a:sym typeface="Arial"/>
              </a:rPr>
              <a:t>禁止参与</a:t>
            </a: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 </a:t>
            </a:r>
            <a:r>
              <a:rPr lang="en-US" sz="750" b="0" i="0" u="none" strike="noStrike">
                <a:solidFill>
                  <a:srgbClr val="7F8C8D"/>
                </a:solidFill>
                <a:latin typeface="Arial"/>
                <a:ea typeface="Arial"/>
                <a:cs typeface="Arial"/>
                <a:sym typeface="Arial"/>
              </a:rPr>
              <a:t>调参</a:t>
            </a: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等</a:t>
            </a:r>
            <a:endParaRPr lang="en-US" sz="1100"/>
          </a:p>
        </p:txBody>
      </p:sp>
      <p:sp>
        <p:nvSpPr>
          <p:cNvPr id="15" name="Freeform 15"/>
          <p:cNvSpPr/>
          <p:nvPr/>
        </p:nvSpPr>
        <p:spPr>
          <a:xfrm>
            <a:off x="6953250" y="1333500"/>
            <a:ext cx="1428750" cy="476250"/>
          </a:xfrm>
          <a:custGeom>
            <a:avLst/>
            <a:gdLst/>
            <a:ahLst/>
            <a:cxnLst/>
            <a:rect l="l" t="t" r="r" b="b"/>
            <a:pathLst>
              <a:path w="1428750" h="476250">
                <a:moveTo>
                  <a:pt x="1381125" y="0"/>
                </a:moveTo>
                <a:cubicBezTo>
                  <a:pt x="1407428" y="0"/>
                  <a:pt x="1428750" y="0"/>
                  <a:pt x="1428750" y="0"/>
                </a:cubicBezTo>
                <a:lnTo>
                  <a:pt x="1428750" y="476250"/>
                </a:lnTo>
                <a:cubicBezTo>
                  <a:pt x="1428750" y="476250"/>
                  <a:pt x="1407428" y="476250"/>
                  <a:pt x="1381125" y="476250"/>
                </a:cubicBezTo>
                <a:lnTo>
                  <a:pt x="47625" y="476250"/>
                </a:lnTo>
                <a:cubicBezTo>
                  <a:pt x="21323" y="476250"/>
                  <a:pt x="0" y="476250"/>
                  <a:pt x="0" y="476250"/>
                </a:cubicBezTo>
                <a:lnTo>
                  <a:pt x="0" y="0"/>
                </a:lnTo>
                <a:cubicBezTo>
                  <a:pt x="0" y="0"/>
                  <a:pt x="21323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347585" y="1357338"/>
            <a:ext cx="640080" cy="2422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数据谱系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242810" y="1520370"/>
            <a:ext cx="84963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按来源分组划分</a:t>
            </a:r>
            <a:endParaRPr lang="en-US" sz="1100"/>
          </a:p>
        </p:txBody>
      </p:sp>
      <p:sp>
        <p:nvSpPr>
          <p:cNvPr id="18" name="Freeform 18"/>
          <p:cNvSpPr/>
          <p:nvPr/>
        </p:nvSpPr>
        <p:spPr>
          <a:xfrm>
            <a:off x="8572500" y="1333500"/>
            <a:ext cx="1428750" cy="476250"/>
          </a:xfrm>
          <a:custGeom>
            <a:avLst/>
            <a:gdLst/>
            <a:ahLst/>
            <a:cxnLst/>
            <a:rect l="l" t="t" r="r" b="b"/>
            <a:pathLst>
              <a:path w="1428750" h="476250">
                <a:moveTo>
                  <a:pt x="1381125" y="0"/>
                </a:moveTo>
                <a:cubicBezTo>
                  <a:pt x="1407428" y="0"/>
                  <a:pt x="1428750" y="0"/>
                  <a:pt x="1428750" y="0"/>
                </a:cubicBezTo>
                <a:lnTo>
                  <a:pt x="1428750" y="476250"/>
                </a:lnTo>
                <a:cubicBezTo>
                  <a:pt x="1428750" y="476250"/>
                  <a:pt x="1407428" y="476250"/>
                  <a:pt x="1381125" y="476250"/>
                </a:cubicBezTo>
                <a:lnTo>
                  <a:pt x="47625" y="476250"/>
                </a:lnTo>
                <a:cubicBezTo>
                  <a:pt x="21323" y="476250"/>
                  <a:pt x="0" y="476250"/>
                  <a:pt x="0" y="476250"/>
                </a:cubicBezTo>
                <a:lnTo>
                  <a:pt x="0" y="0"/>
                </a:lnTo>
                <a:cubicBezTo>
                  <a:pt x="0" y="0"/>
                  <a:pt x="21323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966835" y="1357338"/>
            <a:ext cx="640080" cy="2422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元数据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980170" y="1503066"/>
            <a:ext cx="84963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 err="1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版本固化</a:t>
            </a:r>
            <a:endParaRPr lang="en-US" sz="1100" dirty="0"/>
          </a:p>
        </p:txBody>
      </p:sp>
      <p:sp>
        <p:nvSpPr>
          <p:cNvPr id="21" name="Freeform 21"/>
          <p:cNvSpPr/>
          <p:nvPr/>
        </p:nvSpPr>
        <p:spPr>
          <a:xfrm>
            <a:off x="1809750" y="2286000"/>
            <a:ext cx="8572500" cy="1143000"/>
          </a:xfrm>
          <a:custGeom>
            <a:avLst/>
            <a:gdLst/>
            <a:ahLst/>
            <a:cxnLst/>
            <a:rect l="l" t="t" r="r" b="b"/>
            <a:pathLst>
              <a:path w="8572500" h="1143000">
                <a:moveTo>
                  <a:pt x="8477250" y="0"/>
                </a:moveTo>
                <a:cubicBezTo>
                  <a:pt x="8529855" y="0"/>
                  <a:pt x="8572500" y="0"/>
                  <a:pt x="8572500" y="0"/>
                </a:cubicBezTo>
                <a:lnTo>
                  <a:pt x="8572500" y="1143000"/>
                </a:lnTo>
                <a:cubicBezTo>
                  <a:pt x="8572500" y="1143000"/>
                  <a:pt x="8529855" y="1143000"/>
                  <a:pt x="8477250" y="1143000"/>
                </a:cubicBezTo>
                <a:lnTo>
                  <a:pt x="95250" y="1143000"/>
                </a:lnTo>
                <a:cubicBezTo>
                  <a:pt x="42645" y="1143000"/>
                  <a:pt x="0" y="1143000"/>
                  <a:pt x="0" y="1143000"/>
                </a:cubicBezTo>
                <a:lnTo>
                  <a:pt x="0" y="0"/>
                </a:lnTo>
                <a:cubicBezTo>
                  <a:pt x="0" y="0"/>
                  <a:pt x="42645" y="0"/>
                  <a:pt x="95250" y="0"/>
                </a:cubicBezTo>
                <a:close/>
              </a:path>
            </a:pathLst>
          </a:custGeom>
          <a:gradFill rotWithShape="1">
            <a:gsLst>
              <a:gs pos="0">
                <a:srgbClr val="9B59B6">
                  <a:alpha val="100000"/>
                </a:srgbClr>
              </a:gs>
              <a:gs pos="50000">
                <a:srgbClr val="944EB1">
                  <a:alpha val="100000"/>
                </a:srgbClr>
              </a:gs>
              <a:gs pos="100000">
                <a:srgbClr val="8E44AD">
                  <a:alpha val="100000"/>
                </a:srgbClr>
              </a:gs>
            </a:gsLst>
            <a:lin ang="2700000"/>
          </a:gra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975860" y="2296795"/>
            <a:ext cx="3962400" cy="2990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35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第二步：提示词与阈值冻结</a:t>
            </a:r>
            <a:endParaRPr lang="en-US" sz="1100" dirty="0"/>
          </a:p>
        </p:txBody>
      </p:sp>
      <p:sp>
        <p:nvSpPr>
          <p:cNvPr id="23" name="Freeform 23"/>
          <p:cNvSpPr/>
          <p:nvPr/>
        </p:nvSpPr>
        <p:spPr>
          <a:xfrm>
            <a:off x="2095500" y="2667000"/>
            <a:ext cx="1238250" cy="666750"/>
          </a:xfrm>
          <a:custGeom>
            <a:avLst/>
            <a:gdLst/>
            <a:ahLst/>
            <a:cxnLst/>
            <a:rect l="l" t="t" r="r" b="b"/>
            <a:pathLst>
              <a:path w="1238250" h="666750">
                <a:moveTo>
                  <a:pt x="1190625" y="0"/>
                </a:moveTo>
                <a:cubicBezTo>
                  <a:pt x="1216928" y="0"/>
                  <a:pt x="1238250" y="0"/>
                  <a:pt x="1238250" y="0"/>
                </a:cubicBezTo>
                <a:lnTo>
                  <a:pt x="1238250" y="666750"/>
                </a:lnTo>
                <a:cubicBezTo>
                  <a:pt x="1238250" y="666750"/>
                  <a:pt x="1216928" y="666750"/>
                  <a:pt x="1190625" y="666750"/>
                </a:cubicBezTo>
                <a:lnTo>
                  <a:pt x="47625" y="666750"/>
                </a:lnTo>
                <a:cubicBezTo>
                  <a:pt x="21322" y="666750"/>
                  <a:pt x="0" y="666750"/>
                  <a:pt x="0" y="666750"/>
                </a:cubicBezTo>
                <a:lnTo>
                  <a:pt x="0" y="0"/>
                </a:lnTo>
                <a:cubicBezTo>
                  <a:pt x="0" y="0"/>
                  <a:pt x="21322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2337435" y="2690838"/>
            <a:ext cx="754380" cy="2422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候选提示词评测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2385060" y="2853870"/>
            <a:ext cx="65913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在开发集上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2385060" y="2977695"/>
            <a:ext cx="65913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独立评测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2345294" y="3101520"/>
            <a:ext cx="73866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E74C3C"/>
                </a:solidFill>
                <a:latin typeface="微软雅黑"/>
                <a:ea typeface="微软雅黑"/>
                <a:cs typeface="微软雅黑"/>
                <a:sym typeface="微软雅黑"/>
              </a:rPr>
              <a:t>评估指标</a:t>
            </a:r>
            <a:r>
              <a:rPr lang="en-US" sz="750" b="0" i="0" u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P/R/F1/IoU</a:t>
            </a:r>
            <a:endParaRPr lang="en-US" sz="1100"/>
          </a:p>
        </p:txBody>
      </p:sp>
      <p:sp>
        <p:nvSpPr>
          <p:cNvPr id="28" name="Freeform 28"/>
          <p:cNvSpPr/>
          <p:nvPr/>
        </p:nvSpPr>
        <p:spPr>
          <a:xfrm>
            <a:off x="3524250" y="2667000"/>
            <a:ext cx="1238250" cy="666750"/>
          </a:xfrm>
          <a:custGeom>
            <a:avLst/>
            <a:gdLst/>
            <a:ahLst/>
            <a:cxnLst/>
            <a:rect l="l" t="t" r="r" b="b"/>
            <a:pathLst>
              <a:path w="1238250" h="666750">
                <a:moveTo>
                  <a:pt x="1190625" y="0"/>
                </a:moveTo>
                <a:cubicBezTo>
                  <a:pt x="1216928" y="0"/>
                  <a:pt x="1238250" y="0"/>
                  <a:pt x="1238250" y="0"/>
                </a:cubicBezTo>
                <a:lnTo>
                  <a:pt x="1238250" y="666750"/>
                </a:lnTo>
                <a:cubicBezTo>
                  <a:pt x="1238250" y="666750"/>
                  <a:pt x="1216928" y="666750"/>
                  <a:pt x="1190625" y="666750"/>
                </a:cubicBezTo>
                <a:lnTo>
                  <a:pt x="47625" y="666750"/>
                </a:lnTo>
                <a:cubicBezTo>
                  <a:pt x="21322" y="666750"/>
                  <a:pt x="0" y="666750"/>
                  <a:pt x="0" y="666750"/>
                </a:cubicBezTo>
                <a:lnTo>
                  <a:pt x="0" y="0"/>
                </a:lnTo>
                <a:cubicBezTo>
                  <a:pt x="0" y="0"/>
                  <a:pt x="21322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3766185" y="2690838"/>
            <a:ext cx="754380" cy="2422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网格搜索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3766185" y="2853870"/>
            <a:ext cx="75438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连续置信区间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3813810" y="2977695"/>
            <a:ext cx="65913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阈值扫描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3499486" y="3101520"/>
            <a:ext cx="100203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>
                <a:solidFill>
                  <a:srgbClr val="E74C3C"/>
                </a:solidFill>
                <a:latin typeface="微软雅黑"/>
                <a:ea typeface="微软雅黑"/>
                <a:cs typeface="微软雅黑"/>
                <a:sym typeface="微软雅黑"/>
              </a:rPr>
              <a:t>收敛优先级</a:t>
            </a:r>
            <a:r>
              <a:rPr lang="en-US" sz="750" b="0" i="0" u="none" strike="noStrike" dirty="0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mAP→AP75→F1</a:t>
            </a:r>
            <a:endParaRPr lang="en-US" sz="1100" dirty="0"/>
          </a:p>
        </p:txBody>
      </p:sp>
      <p:sp>
        <p:nvSpPr>
          <p:cNvPr id="33" name="Freeform 33"/>
          <p:cNvSpPr/>
          <p:nvPr/>
        </p:nvSpPr>
        <p:spPr>
          <a:xfrm>
            <a:off x="4953000" y="2667000"/>
            <a:ext cx="1238250" cy="666750"/>
          </a:xfrm>
          <a:custGeom>
            <a:avLst/>
            <a:gdLst/>
            <a:ahLst/>
            <a:cxnLst/>
            <a:rect l="l" t="t" r="r" b="b"/>
            <a:pathLst>
              <a:path w="1238250" h="666750">
                <a:moveTo>
                  <a:pt x="1190625" y="0"/>
                </a:moveTo>
                <a:cubicBezTo>
                  <a:pt x="1216928" y="0"/>
                  <a:pt x="1238250" y="0"/>
                  <a:pt x="1238250" y="0"/>
                </a:cubicBezTo>
                <a:lnTo>
                  <a:pt x="1238250" y="666750"/>
                </a:lnTo>
                <a:cubicBezTo>
                  <a:pt x="1238250" y="666750"/>
                  <a:pt x="1216928" y="666750"/>
                  <a:pt x="1190625" y="666750"/>
                </a:cubicBezTo>
                <a:lnTo>
                  <a:pt x="47625" y="666750"/>
                </a:lnTo>
                <a:cubicBezTo>
                  <a:pt x="21323" y="666750"/>
                  <a:pt x="0" y="666750"/>
                  <a:pt x="0" y="666750"/>
                </a:cubicBezTo>
                <a:lnTo>
                  <a:pt x="0" y="0"/>
                </a:lnTo>
                <a:cubicBezTo>
                  <a:pt x="0" y="0"/>
                  <a:pt x="21323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5109305" y="2683368"/>
            <a:ext cx="754380" cy="2422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1" i="0" u="none" strike="noStrike" dirty="0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Bootstrap </a:t>
            </a:r>
            <a:r>
              <a:rPr lang="en-US" sz="900" b="1" i="0" u="none" strike="noStrike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重采样</a:t>
            </a:r>
            <a:endParaRPr lang="en-US" sz="1100" dirty="0"/>
          </a:p>
        </p:txBody>
      </p:sp>
      <p:sp>
        <p:nvSpPr>
          <p:cNvPr id="35" name="AutoShape 35"/>
          <p:cNvSpPr/>
          <p:nvPr/>
        </p:nvSpPr>
        <p:spPr>
          <a:xfrm>
            <a:off x="5242560" y="2853870"/>
            <a:ext cx="65913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95% </a:t>
            </a:r>
            <a:r>
              <a:rPr lang="en-US" sz="750" b="0" i="0" u="none" strike="noStrike" dirty="0" err="1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置信区间</a:t>
            </a:r>
            <a:endParaRPr lang="en-US" sz="1100" dirty="0"/>
          </a:p>
        </p:txBody>
      </p:sp>
      <p:sp>
        <p:nvSpPr>
          <p:cNvPr id="36" name="AutoShape 36"/>
          <p:cNvSpPr/>
          <p:nvPr/>
        </p:nvSpPr>
        <p:spPr>
          <a:xfrm>
            <a:off x="5290185" y="2977695"/>
            <a:ext cx="56388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稳定性估计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5189539" y="3101520"/>
            <a:ext cx="76517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 err="1">
                <a:solidFill>
                  <a:srgbClr val="2ECC71"/>
                </a:solidFill>
                <a:latin typeface="微软雅黑"/>
                <a:ea typeface="微软雅黑"/>
                <a:cs typeface="微软雅黑"/>
                <a:sym typeface="微软雅黑"/>
              </a:rPr>
              <a:t>保存形式</a:t>
            </a:r>
            <a:r>
              <a:rPr lang="en-US" sz="750" b="0" i="0" u="none" strike="noStrike" dirty="0" err="1">
                <a:solidFill>
                  <a:srgbClr val="2ECC71"/>
                </a:solidFill>
                <a:latin typeface="Arial"/>
                <a:ea typeface="Arial"/>
                <a:cs typeface="Arial"/>
                <a:sym typeface="Arial"/>
              </a:rPr>
              <a:t>YAML</a:t>
            </a:r>
            <a:r>
              <a:rPr lang="en-US" sz="750" b="0" i="0" u="none" strike="noStrike" dirty="0">
                <a:solidFill>
                  <a:srgbClr val="2ECC7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750" b="0" i="0" u="none" strike="noStrike" dirty="0" err="1">
                <a:solidFill>
                  <a:srgbClr val="2ECC71"/>
                </a:solidFill>
                <a:latin typeface="Arial"/>
                <a:ea typeface="Arial"/>
                <a:cs typeface="Arial"/>
                <a:sym typeface="Arial"/>
              </a:rPr>
              <a:t>配置</a:t>
            </a:r>
            <a:endParaRPr lang="en-US" sz="1100" dirty="0"/>
          </a:p>
        </p:txBody>
      </p:sp>
      <p:sp>
        <p:nvSpPr>
          <p:cNvPr id="38" name="Freeform 38"/>
          <p:cNvSpPr/>
          <p:nvPr/>
        </p:nvSpPr>
        <p:spPr>
          <a:xfrm>
            <a:off x="6381750" y="2667000"/>
            <a:ext cx="1238250" cy="666750"/>
          </a:xfrm>
          <a:custGeom>
            <a:avLst/>
            <a:gdLst/>
            <a:ahLst/>
            <a:cxnLst/>
            <a:rect l="l" t="t" r="r" b="b"/>
            <a:pathLst>
              <a:path w="1238250" h="666750">
                <a:moveTo>
                  <a:pt x="1190625" y="0"/>
                </a:moveTo>
                <a:cubicBezTo>
                  <a:pt x="1216928" y="0"/>
                  <a:pt x="1238250" y="0"/>
                  <a:pt x="1238250" y="0"/>
                </a:cubicBezTo>
                <a:lnTo>
                  <a:pt x="1238250" y="666750"/>
                </a:lnTo>
                <a:cubicBezTo>
                  <a:pt x="1238250" y="666750"/>
                  <a:pt x="1216928" y="666750"/>
                  <a:pt x="1190625" y="666750"/>
                </a:cubicBezTo>
                <a:lnTo>
                  <a:pt x="47625" y="666750"/>
                </a:lnTo>
                <a:cubicBezTo>
                  <a:pt x="21323" y="666750"/>
                  <a:pt x="0" y="666750"/>
                  <a:pt x="0" y="666750"/>
                </a:cubicBezTo>
                <a:lnTo>
                  <a:pt x="0" y="0"/>
                </a:lnTo>
                <a:cubicBezTo>
                  <a:pt x="0" y="0"/>
                  <a:pt x="21323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6680835" y="2690838"/>
            <a:ext cx="640080" cy="2422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版本硬冻结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6623685" y="2853870"/>
            <a:ext cx="75438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提示词与阈值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6598416" y="2977695"/>
            <a:ext cx="65913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 dirty="0" err="1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作为超参数统一管理</a:t>
            </a:r>
            <a:endParaRPr lang="en-US" sz="1100" dirty="0"/>
          </a:p>
        </p:txBody>
      </p:sp>
      <p:sp>
        <p:nvSpPr>
          <p:cNvPr id="42" name="AutoShape 42"/>
          <p:cNvSpPr/>
          <p:nvPr/>
        </p:nvSpPr>
        <p:spPr>
          <a:xfrm>
            <a:off x="6591872" y="3101520"/>
            <a:ext cx="818004" cy="217153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3" name="Freeform 43"/>
          <p:cNvSpPr/>
          <p:nvPr/>
        </p:nvSpPr>
        <p:spPr>
          <a:xfrm>
            <a:off x="7810500" y="2667000"/>
            <a:ext cx="1238250" cy="666750"/>
          </a:xfrm>
          <a:custGeom>
            <a:avLst/>
            <a:gdLst/>
            <a:ahLst/>
            <a:cxnLst/>
            <a:rect l="l" t="t" r="r" b="b"/>
            <a:pathLst>
              <a:path w="1238250" h="666750">
                <a:moveTo>
                  <a:pt x="1190625" y="0"/>
                </a:moveTo>
                <a:cubicBezTo>
                  <a:pt x="1216928" y="0"/>
                  <a:pt x="1238250" y="0"/>
                  <a:pt x="1238250" y="0"/>
                </a:cubicBezTo>
                <a:lnTo>
                  <a:pt x="1238250" y="666750"/>
                </a:lnTo>
                <a:cubicBezTo>
                  <a:pt x="1238250" y="666750"/>
                  <a:pt x="1216928" y="666750"/>
                  <a:pt x="1190625" y="666750"/>
                </a:cubicBezTo>
                <a:lnTo>
                  <a:pt x="47625" y="666750"/>
                </a:lnTo>
                <a:cubicBezTo>
                  <a:pt x="21323" y="666750"/>
                  <a:pt x="0" y="666750"/>
                  <a:pt x="0" y="666750"/>
                </a:cubicBezTo>
                <a:lnTo>
                  <a:pt x="0" y="0"/>
                </a:lnTo>
                <a:cubicBezTo>
                  <a:pt x="0" y="0"/>
                  <a:pt x="21323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109585" y="2690838"/>
            <a:ext cx="640080" cy="2422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1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标签诊断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8147685" y="2853870"/>
            <a:ext cx="56388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漏检/误检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8100060" y="2977695"/>
            <a:ext cx="659130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7F8C8D"/>
                </a:solidFill>
                <a:latin typeface="微软雅黑"/>
                <a:ea typeface="微软雅黑"/>
                <a:cs typeface="微软雅黑"/>
                <a:sym typeface="微软雅黑"/>
              </a:rPr>
              <a:t>框偏差统计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8033808" y="3101520"/>
            <a:ext cx="791633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2ECC71"/>
                </a:solidFill>
                <a:latin typeface="微软雅黑"/>
                <a:ea typeface="微软雅黑"/>
                <a:cs typeface="微软雅黑"/>
                <a:sym typeface="微软雅黑"/>
              </a:rPr>
              <a:t>输出</a:t>
            </a:r>
            <a:r>
              <a:rPr lang="en-US" sz="750" b="0" i="0" u="none" strike="noStrike">
                <a:solidFill>
                  <a:srgbClr val="2ECC71"/>
                </a:solidFill>
                <a:latin typeface="Arial"/>
                <a:ea typeface="Arial"/>
                <a:cs typeface="Arial"/>
                <a:sym typeface="Arial"/>
              </a:rPr>
              <a:t>P/R/mAP</a:t>
            </a:r>
            <a:endParaRPr lang="en-US" sz="1100"/>
          </a:p>
        </p:txBody>
      </p:sp>
      <p:sp>
        <p:nvSpPr>
          <p:cNvPr id="48" name="Freeform 48"/>
          <p:cNvSpPr/>
          <p:nvPr/>
        </p:nvSpPr>
        <p:spPr>
          <a:xfrm>
            <a:off x="9239250" y="2667000"/>
            <a:ext cx="857250" cy="666750"/>
          </a:xfrm>
          <a:custGeom>
            <a:avLst/>
            <a:gdLst/>
            <a:ahLst/>
            <a:cxnLst/>
            <a:rect l="l" t="t" r="r" b="b"/>
            <a:pathLst>
              <a:path w="857250" h="666750">
                <a:moveTo>
                  <a:pt x="809625" y="0"/>
                </a:moveTo>
                <a:cubicBezTo>
                  <a:pt x="835927" y="0"/>
                  <a:pt x="857250" y="0"/>
                  <a:pt x="857250" y="0"/>
                </a:cubicBezTo>
                <a:lnTo>
                  <a:pt x="857250" y="666750"/>
                </a:lnTo>
                <a:cubicBezTo>
                  <a:pt x="857250" y="666750"/>
                  <a:pt x="835927" y="666750"/>
                  <a:pt x="809625" y="666750"/>
                </a:cubicBezTo>
                <a:lnTo>
                  <a:pt x="47625" y="666750"/>
                </a:lnTo>
                <a:cubicBezTo>
                  <a:pt x="21323" y="666750"/>
                  <a:pt x="0" y="666750"/>
                  <a:pt x="0" y="666750"/>
                </a:cubicBezTo>
                <a:lnTo>
                  <a:pt x="0" y="0"/>
                </a:lnTo>
                <a:cubicBezTo>
                  <a:pt x="0" y="0"/>
                  <a:pt x="21323" y="0"/>
                  <a:pt x="47625" y="0"/>
                </a:cubicBezTo>
                <a:close/>
              </a:path>
            </a:pathLst>
          </a:custGeom>
          <a:solidFill>
            <a:srgbClr val="F39C12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9290685" y="2738463"/>
            <a:ext cx="754380" cy="2422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下游验证</a:t>
            </a:r>
            <a:endParaRPr lang="en-US" sz="1100"/>
          </a:p>
        </p:txBody>
      </p:sp>
      <p:sp>
        <p:nvSpPr>
          <p:cNvPr id="50" name="AutoShape 50"/>
          <p:cNvSpPr/>
          <p:nvPr/>
        </p:nvSpPr>
        <p:spPr>
          <a:xfrm>
            <a:off x="9404985" y="2911573"/>
            <a:ext cx="525780" cy="20458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675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统一 YOLO 训练</a:t>
            </a:r>
            <a:endParaRPr lang="en-US" sz="1100"/>
          </a:p>
        </p:txBody>
      </p:sp>
      <p:sp>
        <p:nvSpPr>
          <p:cNvPr id="51" name="AutoShape 51"/>
          <p:cNvSpPr/>
          <p:nvPr/>
        </p:nvSpPr>
        <p:spPr>
          <a:xfrm>
            <a:off x="9404985" y="3025873"/>
            <a:ext cx="525780" cy="20458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675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性能保留率</a:t>
            </a:r>
            <a:endParaRPr lang="en-US" sz="1100"/>
          </a:p>
        </p:txBody>
      </p:sp>
      <p:sp>
        <p:nvSpPr>
          <p:cNvPr id="52" name="AutoShape 52"/>
          <p:cNvSpPr/>
          <p:nvPr/>
        </p:nvSpPr>
        <p:spPr>
          <a:xfrm>
            <a:off x="9404985" y="3140173"/>
            <a:ext cx="525780" cy="20458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675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判断 V1 价值</a:t>
            </a:r>
            <a:endParaRPr lang="en-US" sz="1100"/>
          </a:p>
        </p:txBody>
      </p:sp>
      <p:sp>
        <p:nvSpPr>
          <p:cNvPr id="53" name="Freeform 53"/>
          <p:cNvSpPr/>
          <p:nvPr/>
        </p:nvSpPr>
        <p:spPr>
          <a:xfrm>
            <a:off x="1809750" y="3810000"/>
            <a:ext cx="8572500" cy="1143000"/>
          </a:xfrm>
          <a:custGeom>
            <a:avLst/>
            <a:gdLst/>
            <a:ahLst/>
            <a:cxnLst/>
            <a:rect l="l" t="t" r="r" b="b"/>
            <a:pathLst>
              <a:path w="8572500" h="1143000">
                <a:moveTo>
                  <a:pt x="8477250" y="0"/>
                </a:moveTo>
                <a:cubicBezTo>
                  <a:pt x="8529855" y="0"/>
                  <a:pt x="8572500" y="0"/>
                  <a:pt x="8572500" y="0"/>
                </a:cubicBezTo>
                <a:lnTo>
                  <a:pt x="8572500" y="1143000"/>
                </a:lnTo>
                <a:cubicBezTo>
                  <a:pt x="8572500" y="1143000"/>
                  <a:pt x="8529855" y="1143000"/>
                  <a:pt x="8477250" y="1143000"/>
                </a:cubicBezTo>
                <a:lnTo>
                  <a:pt x="95250" y="1143000"/>
                </a:lnTo>
                <a:cubicBezTo>
                  <a:pt x="42645" y="1143000"/>
                  <a:pt x="0" y="1143000"/>
                  <a:pt x="0" y="1143000"/>
                </a:cubicBezTo>
                <a:lnTo>
                  <a:pt x="0" y="0"/>
                </a:lnTo>
                <a:cubicBezTo>
                  <a:pt x="0" y="0"/>
                  <a:pt x="42645" y="0"/>
                  <a:pt x="95250" y="0"/>
                </a:cubicBezTo>
                <a:close/>
              </a:path>
            </a:pathLst>
          </a:custGeom>
          <a:gradFill rotWithShape="1">
            <a:gsLst>
              <a:gs pos="0">
                <a:srgbClr val="2ECC71">
                  <a:alpha val="100000"/>
                </a:srgbClr>
              </a:gs>
              <a:gs pos="50000">
                <a:srgbClr val="2ABD68">
                  <a:alpha val="100000"/>
                </a:srgbClr>
              </a:gs>
              <a:gs pos="100000">
                <a:srgbClr val="27AE60">
                  <a:alpha val="100000"/>
                </a:srgbClr>
              </a:gs>
            </a:gsLst>
            <a:lin ang="2700000"/>
          </a:gra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4" name="AutoShape 54"/>
          <p:cNvSpPr/>
          <p:nvPr/>
        </p:nvSpPr>
        <p:spPr>
          <a:xfrm>
            <a:off x="4890135" y="3820795"/>
            <a:ext cx="3543935" cy="2990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35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第三步：V1 </a:t>
            </a:r>
            <a:r>
              <a:rPr lang="en-US" sz="135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批量生成与诊断</a:t>
            </a:r>
            <a:endParaRPr lang="en-US" sz="1100" dirty="0"/>
          </a:p>
        </p:txBody>
      </p:sp>
      <p:sp>
        <p:nvSpPr>
          <p:cNvPr id="55" name="Freeform 55"/>
          <p:cNvSpPr/>
          <p:nvPr/>
        </p:nvSpPr>
        <p:spPr>
          <a:xfrm>
            <a:off x="2286000" y="4286250"/>
            <a:ext cx="1905000" cy="571500"/>
          </a:xfrm>
          <a:custGeom>
            <a:avLst/>
            <a:gdLst/>
            <a:ahLst/>
            <a:cxnLst/>
            <a:rect l="l" t="t" r="r" b="b"/>
            <a:pathLst>
              <a:path w="1905000" h="571500">
                <a:moveTo>
                  <a:pt x="1857375" y="0"/>
                </a:moveTo>
                <a:cubicBezTo>
                  <a:pt x="1883678" y="0"/>
                  <a:pt x="1905000" y="0"/>
                  <a:pt x="1905000" y="0"/>
                </a:cubicBezTo>
                <a:lnTo>
                  <a:pt x="1905000" y="571500"/>
                </a:lnTo>
                <a:cubicBezTo>
                  <a:pt x="1905000" y="571500"/>
                  <a:pt x="1883678" y="571500"/>
                  <a:pt x="1857375" y="571500"/>
                </a:cubicBezTo>
                <a:lnTo>
                  <a:pt x="47625" y="571500"/>
                </a:lnTo>
                <a:cubicBezTo>
                  <a:pt x="21322" y="571500"/>
                  <a:pt x="0" y="571500"/>
                  <a:pt x="0" y="571500"/>
                </a:cubicBezTo>
                <a:lnTo>
                  <a:pt x="0" y="0"/>
                </a:lnTo>
                <a:cubicBezTo>
                  <a:pt x="0" y="0"/>
                  <a:pt x="21322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6" name="AutoShape 56"/>
          <p:cNvSpPr/>
          <p:nvPr/>
        </p:nvSpPr>
        <p:spPr>
          <a:xfrm>
            <a:off x="2502731" y="4339401"/>
            <a:ext cx="975687" cy="26743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050" b="1" i="0" u="none" strike="noStrike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训练集</a:t>
            </a:r>
            <a:r>
              <a:rPr lang="en-US" sz="1050" b="1" i="0" u="none" strike="noStrike" dirty="0" err="1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批量推理产出</a:t>
            </a:r>
            <a:r>
              <a:rPr lang="en-US" sz="1050" b="1" i="0" u="none" strike="noStrike" dirty="0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 V1</a:t>
            </a:r>
            <a:endParaRPr lang="en-US" sz="1100" dirty="0"/>
          </a:p>
        </p:txBody>
      </p:sp>
      <p:sp>
        <p:nvSpPr>
          <p:cNvPr id="57" name="Freeform 57"/>
          <p:cNvSpPr/>
          <p:nvPr/>
        </p:nvSpPr>
        <p:spPr>
          <a:xfrm>
            <a:off x="4381500" y="4286250"/>
            <a:ext cx="1905000" cy="571500"/>
          </a:xfrm>
          <a:custGeom>
            <a:avLst/>
            <a:gdLst/>
            <a:ahLst/>
            <a:cxnLst/>
            <a:rect l="l" t="t" r="r" b="b"/>
            <a:pathLst>
              <a:path w="1905000" h="571500">
                <a:moveTo>
                  <a:pt x="1857375" y="0"/>
                </a:moveTo>
                <a:cubicBezTo>
                  <a:pt x="1883678" y="0"/>
                  <a:pt x="1905000" y="0"/>
                  <a:pt x="1905000" y="0"/>
                </a:cubicBezTo>
                <a:lnTo>
                  <a:pt x="1905000" y="571500"/>
                </a:lnTo>
                <a:cubicBezTo>
                  <a:pt x="1905000" y="571500"/>
                  <a:pt x="1883678" y="571500"/>
                  <a:pt x="1857375" y="571500"/>
                </a:cubicBezTo>
                <a:lnTo>
                  <a:pt x="47625" y="571500"/>
                </a:lnTo>
                <a:cubicBezTo>
                  <a:pt x="21323" y="571500"/>
                  <a:pt x="0" y="571500"/>
                  <a:pt x="0" y="571500"/>
                </a:cubicBezTo>
                <a:lnTo>
                  <a:pt x="0" y="0"/>
                </a:lnTo>
                <a:cubicBezTo>
                  <a:pt x="0" y="0"/>
                  <a:pt x="21323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8" name="AutoShape 58"/>
          <p:cNvSpPr/>
          <p:nvPr/>
        </p:nvSpPr>
        <p:spPr>
          <a:xfrm>
            <a:off x="4648536" y="4331990"/>
            <a:ext cx="975687" cy="26743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050" b="1" i="0" u="none" strike="noStrike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验证集</a:t>
            </a:r>
            <a:r>
              <a:rPr lang="en-US" sz="1050" b="1" i="0" u="none" strike="noStrike" dirty="0" err="1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YOLO</a:t>
            </a:r>
            <a:r>
              <a:rPr lang="en-US" sz="1050" b="1" i="0" u="none" strike="noStrike" dirty="0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b="1" i="0" u="none" strike="noStrike" dirty="0" err="1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下游基线</a:t>
            </a:r>
            <a:endParaRPr lang="en-US" sz="1100" dirty="0"/>
          </a:p>
        </p:txBody>
      </p:sp>
      <p:sp>
        <p:nvSpPr>
          <p:cNvPr id="59" name="Freeform 59"/>
          <p:cNvSpPr/>
          <p:nvPr/>
        </p:nvSpPr>
        <p:spPr>
          <a:xfrm>
            <a:off x="6477000" y="4286250"/>
            <a:ext cx="1905000" cy="571500"/>
          </a:xfrm>
          <a:custGeom>
            <a:avLst/>
            <a:gdLst/>
            <a:ahLst/>
            <a:cxnLst/>
            <a:rect l="l" t="t" r="r" b="b"/>
            <a:pathLst>
              <a:path w="1905000" h="571500">
                <a:moveTo>
                  <a:pt x="1857375" y="0"/>
                </a:moveTo>
                <a:cubicBezTo>
                  <a:pt x="1883678" y="0"/>
                  <a:pt x="1905000" y="0"/>
                  <a:pt x="1905000" y="0"/>
                </a:cubicBezTo>
                <a:lnTo>
                  <a:pt x="1905000" y="571500"/>
                </a:lnTo>
                <a:cubicBezTo>
                  <a:pt x="1905000" y="571500"/>
                  <a:pt x="1883678" y="571500"/>
                  <a:pt x="1857375" y="571500"/>
                </a:cubicBezTo>
                <a:lnTo>
                  <a:pt x="47625" y="571500"/>
                </a:lnTo>
                <a:cubicBezTo>
                  <a:pt x="21323" y="571500"/>
                  <a:pt x="0" y="571500"/>
                  <a:pt x="0" y="571500"/>
                </a:cubicBezTo>
                <a:lnTo>
                  <a:pt x="0" y="0"/>
                </a:lnTo>
                <a:cubicBezTo>
                  <a:pt x="0" y="0"/>
                  <a:pt x="21323" y="0"/>
                  <a:pt x="47625" y="0"/>
                </a:cubicBezTo>
                <a:close/>
              </a:path>
            </a:pathLst>
          </a:custGeom>
          <a:solidFill>
            <a:srgbClr val="FFFFFF">
              <a:alpha val="9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0" name="AutoShape 60"/>
          <p:cNvSpPr/>
          <p:nvPr/>
        </p:nvSpPr>
        <p:spPr>
          <a:xfrm>
            <a:off x="6652683" y="4304562"/>
            <a:ext cx="975687" cy="26743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050" b="1" i="0" u="none" strike="noStrike" dirty="0" err="1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测试集</a:t>
            </a:r>
            <a:r>
              <a:rPr lang="en-US" sz="1050" b="1" i="0" u="none" strike="noStrike" dirty="0" err="1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YOLO</a:t>
            </a:r>
            <a:r>
              <a:rPr lang="en-US" sz="1050" b="1" i="0" u="none" strike="noStrike" dirty="0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 b="1" i="0" u="none" strike="noStrike" dirty="0" err="1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下游基线</a:t>
            </a:r>
            <a:endParaRPr lang="en-US" sz="1100" dirty="0"/>
          </a:p>
        </p:txBody>
      </p:sp>
      <p:sp>
        <p:nvSpPr>
          <p:cNvPr id="61" name="Freeform 61"/>
          <p:cNvSpPr/>
          <p:nvPr/>
        </p:nvSpPr>
        <p:spPr>
          <a:xfrm>
            <a:off x="8572500" y="4286250"/>
            <a:ext cx="1524000" cy="571500"/>
          </a:xfrm>
          <a:custGeom>
            <a:avLst/>
            <a:gdLst/>
            <a:ahLst/>
            <a:cxnLst/>
            <a:rect l="l" t="t" r="r" b="b"/>
            <a:pathLst>
              <a:path w="1524000" h="571500">
                <a:moveTo>
                  <a:pt x="1476375" y="0"/>
                </a:moveTo>
                <a:cubicBezTo>
                  <a:pt x="1502678" y="0"/>
                  <a:pt x="1524000" y="0"/>
                  <a:pt x="1524000" y="0"/>
                </a:cubicBezTo>
                <a:lnTo>
                  <a:pt x="1524000" y="571500"/>
                </a:lnTo>
                <a:cubicBezTo>
                  <a:pt x="1524000" y="571500"/>
                  <a:pt x="1502678" y="571500"/>
                  <a:pt x="1476375" y="571500"/>
                </a:cubicBezTo>
                <a:lnTo>
                  <a:pt x="47625" y="571500"/>
                </a:lnTo>
                <a:cubicBezTo>
                  <a:pt x="21323" y="571500"/>
                  <a:pt x="0" y="571500"/>
                  <a:pt x="0" y="571500"/>
                </a:cubicBezTo>
                <a:lnTo>
                  <a:pt x="0" y="0"/>
                </a:lnTo>
                <a:cubicBezTo>
                  <a:pt x="0" y="0"/>
                  <a:pt x="21323" y="0"/>
                  <a:pt x="47625" y="0"/>
                </a:cubicBezTo>
                <a:close/>
              </a:path>
            </a:pathLst>
          </a:custGeom>
          <a:solidFill>
            <a:srgbClr val="34495E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2" name="AutoShape 62"/>
          <p:cNvSpPr/>
          <p:nvPr/>
        </p:nvSpPr>
        <p:spPr>
          <a:xfrm>
            <a:off x="8814435" y="4279853"/>
            <a:ext cx="1040130" cy="28000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125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标签层诊断</a:t>
            </a:r>
            <a:endParaRPr lang="en-US" sz="1100"/>
          </a:p>
        </p:txBody>
      </p:sp>
      <p:sp>
        <p:nvSpPr>
          <p:cNvPr id="63" name="AutoShape 63"/>
          <p:cNvSpPr/>
          <p:nvPr/>
        </p:nvSpPr>
        <p:spPr>
          <a:xfrm>
            <a:off x="8938683" y="4473120"/>
            <a:ext cx="791633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BDC3C7"/>
                </a:solidFill>
                <a:latin typeface="微软雅黑"/>
                <a:ea typeface="微软雅黑"/>
                <a:cs typeface="微软雅黑"/>
                <a:sym typeface="微软雅黑"/>
              </a:rPr>
              <a:t>静态指标</a:t>
            </a:r>
            <a:r>
              <a:rPr lang="en-US" sz="750" b="0" i="0" u="none" strike="noStrike">
                <a:solidFill>
                  <a:srgbClr val="BDC3C7"/>
                </a:solidFill>
                <a:latin typeface="Arial"/>
                <a:ea typeface="Arial"/>
                <a:cs typeface="Arial"/>
                <a:sym typeface="Arial"/>
              </a:rPr>
              <a:t>P/R/mAP</a:t>
            </a:r>
            <a:endParaRPr lang="en-US" sz="1100"/>
          </a:p>
        </p:txBody>
      </p:sp>
      <p:sp>
        <p:nvSpPr>
          <p:cNvPr id="64" name="AutoShape 64"/>
          <p:cNvSpPr/>
          <p:nvPr/>
        </p:nvSpPr>
        <p:spPr>
          <a:xfrm>
            <a:off x="8938683" y="4587420"/>
            <a:ext cx="791633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BDC3C7"/>
                </a:solidFill>
                <a:latin typeface="微软雅黑"/>
                <a:ea typeface="微软雅黑"/>
                <a:cs typeface="微软雅黑"/>
                <a:sym typeface="微软雅黑"/>
              </a:rPr>
              <a:t>性能保留率</a:t>
            </a:r>
            <a:r>
              <a:rPr lang="en-US" sz="750" b="0" i="0" u="none" strike="noStrike">
                <a:solidFill>
                  <a:srgbClr val="BDC3C7"/>
                </a:solidFill>
                <a:latin typeface="Arial"/>
                <a:ea typeface="Arial"/>
                <a:cs typeface="Arial"/>
                <a:sym typeface="Arial"/>
              </a:rPr>
              <a:t>相对人工 GT</a:t>
            </a:r>
            <a:endParaRPr lang="en-US" sz="1100"/>
          </a:p>
        </p:txBody>
      </p:sp>
      <p:sp>
        <p:nvSpPr>
          <p:cNvPr id="65" name="AutoShape 65"/>
          <p:cNvSpPr/>
          <p:nvPr/>
        </p:nvSpPr>
        <p:spPr>
          <a:xfrm>
            <a:off x="8938683" y="4701720"/>
            <a:ext cx="791633" cy="21715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750" b="0" i="0" u="none" strike="noStrike">
                <a:solidFill>
                  <a:srgbClr val="BDC3C7"/>
                </a:solidFill>
                <a:latin typeface="微软雅黑"/>
                <a:ea typeface="微软雅黑"/>
                <a:cs typeface="微软雅黑"/>
                <a:sym typeface="微软雅黑"/>
              </a:rPr>
              <a:t>可复现性</a:t>
            </a:r>
            <a:r>
              <a:rPr lang="en-US" sz="750" b="0" i="0" u="none" strike="noStrike">
                <a:solidFill>
                  <a:srgbClr val="BDC3C7"/>
                </a:solidFill>
                <a:latin typeface="Arial"/>
                <a:ea typeface="Arial"/>
                <a:cs typeface="Arial"/>
                <a:sym typeface="Arial"/>
              </a:rPr>
              <a:t>版本可反查</a:t>
            </a:r>
            <a:endParaRPr lang="en-US" sz="1100"/>
          </a:p>
        </p:txBody>
      </p:sp>
      <p:sp>
        <p:nvSpPr>
          <p:cNvPr id="66" name="Freeform 66"/>
          <p:cNvSpPr/>
          <p:nvPr/>
        </p:nvSpPr>
        <p:spPr>
          <a:xfrm>
            <a:off x="1809750" y="5334000"/>
            <a:ext cx="8572500" cy="762000"/>
          </a:xfrm>
          <a:custGeom>
            <a:avLst/>
            <a:gdLst/>
            <a:ahLst/>
            <a:cxnLst/>
            <a:rect l="l" t="t" r="r" b="b"/>
            <a:pathLst>
              <a:path w="8572500" h="762000">
                <a:moveTo>
                  <a:pt x="8477250" y="0"/>
                </a:moveTo>
                <a:cubicBezTo>
                  <a:pt x="8529855" y="0"/>
                  <a:pt x="8572500" y="0"/>
                  <a:pt x="8572500" y="0"/>
                </a:cubicBezTo>
                <a:lnTo>
                  <a:pt x="8572500" y="762000"/>
                </a:lnTo>
                <a:cubicBezTo>
                  <a:pt x="8572500" y="762000"/>
                  <a:pt x="8529855" y="762000"/>
                  <a:pt x="8477250" y="762000"/>
                </a:cubicBezTo>
                <a:lnTo>
                  <a:pt x="95250" y="762000"/>
                </a:lnTo>
                <a:cubicBezTo>
                  <a:pt x="42645" y="762000"/>
                  <a:pt x="0" y="762000"/>
                  <a:pt x="0" y="762000"/>
                </a:cubicBezTo>
                <a:lnTo>
                  <a:pt x="0" y="0"/>
                </a:lnTo>
                <a:cubicBezTo>
                  <a:pt x="0" y="0"/>
                  <a:pt x="42645" y="0"/>
                  <a:pt x="95250" y="0"/>
                </a:cubicBezTo>
                <a:close/>
              </a:path>
            </a:pathLst>
          </a:custGeom>
          <a:solidFill>
            <a:srgbClr val="E67E22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7" name="AutoShape 67"/>
          <p:cNvSpPr/>
          <p:nvPr/>
        </p:nvSpPr>
        <p:spPr>
          <a:xfrm>
            <a:off x="4718685" y="5344992"/>
            <a:ext cx="2754630" cy="31772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35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最终输出：V1 基准伪标签</a:t>
            </a:r>
            <a:endParaRPr lang="en-US" sz="1100"/>
          </a:p>
        </p:txBody>
      </p:sp>
      <p:sp>
        <p:nvSpPr>
          <p:cNvPr id="68" name="AutoShape 68"/>
          <p:cNvSpPr/>
          <p:nvPr/>
        </p:nvSpPr>
        <p:spPr>
          <a:xfrm>
            <a:off x="4520565" y="5585643"/>
            <a:ext cx="3934846" cy="267438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05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总计</a:t>
            </a:r>
            <a:r>
              <a:rPr lang="en-US" sz="1050" b="0" i="0" u="none" strike="noStrik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约</a:t>
            </a:r>
            <a:r>
              <a:rPr lang="en-US" sz="1050" b="0" i="0" u="none" strike="noStrik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3000</a:t>
            </a:r>
            <a:r>
              <a:rPr lang="en-US" sz="105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张图像</a:t>
            </a:r>
            <a:r>
              <a:rPr lang="en-US" sz="1050" b="0" i="0" u="none" strike="noStrik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| </a:t>
            </a:r>
            <a:r>
              <a:rPr lang="en-US" sz="105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可直接用于</a:t>
            </a:r>
            <a:r>
              <a:rPr lang="en-US" sz="1050" b="0" i="0" u="none" strike="noStrik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YOLO</a:t>
            </a:r>
            <a:r>
              <a:rPr lang="en-US" sz="105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训练</a:t>
            </a:r>
            <a:endParaRPr lang="en-US" sz="1100" dirty="0"/>
          </a:p>
        </p:txBody>
      </p:sp>
      <p:sp>
        <p:nvSpPr>
          <p:cNvPr id="69" name="AutoShape 69"/>
          <p:cNvSpPr/>
          <p:nvPr/>
        </p:nvSpPr>
        <p:spPr>
          <a:xfrm>
            <a:off x="4718685" y="5761425"/>
            <a:ext cx="3476595" cy="24229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数据格式：标签版本</a:t>
            </a:r>
            <a:r>
              <a:rPr lang="en-US" sz="90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 + </a:t>
            </a: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配置指纹</a:t>
            </a:r>
            <a:r>
              <a:rPr lang="en-US" sz="90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 + </a:t>
            </a:r>
            <a:r>
              <a:rPr lang="en-US" sz="9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训练记录</a:t>
            </a:r>
            <a:endParaRPr lang="en-US" sz="1100" dirty="0"/>
          </a:p>
        </p:txBody>
      </p:sp>
      <p:sp>
        <p:nvSpPr>
          <p:cNvPr id="70" name="Freeform 70"/>
          <p:cNvSpPr/>
          <p:nvPr/>
        </p:nvSpPr>
        <p:spPr>
          <a:xfrm>
            <a:off x="6096000" y="1905000"/>
            <a:ext cx="0" cy="333375"/>
          </a:xfrm>
          <a:custGeom>
            <a:avLst/>
            <a:gdLst/>
            <a:ahLst/>
            <a:cxnLst/>
            <a:rect l="l" t="t" r="r" b="b"/>
            <a:pathLst>
              <a:path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solidFill>
            <a:srgbClr val="000000">
              <a:alpha val="100000"/>
            </a:srgbClr>
          </a:solidFill>
          <a:ln w="38100" cap="flat" cmpd="sng">
            <a:solidFill>
              <a:srgbClr val="34495E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1" name="Freeform 71"/>
          <p:cNvSpPr/>
          <p:nvPr/>
        </p:nvSpPr>
        <p:spPr>
          <a:xfrm>
            <a:off x="6096000" y="3429000"/>
            <a:ext cx="0" cy="333375"/>
          </a:xfrm>
          <a:custGeom>
            <a:avLst/>
            <a:gdLst/>
            <a:ahLst/>
            <a:cxnLst/>
            <a:rect l="l" t="t" r="r" b="b"/>
            <a:pathLst>
              <a:path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solidFill>
            <a:srgbClr val="000000">
              <a:alpha val="100000"/>
            </a:srgbClr>
          </a:solidFill>
          <a:ln w="38100" cap="flat" cmpd="sng">
            <a:solidFill>
              <a:srgbClr val="34495E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2" name="Freeform 72"/>
          <p:cNvSpPr/>
          <p:nvPr/>
        </p:nvSpPr>
        <p:spPr>
          <a:xfrm>
            <a:off x="6096000" y="4953000"/>
            <a:ext cx="0" cy="333375"/>
          </a:xfrm>
          <a:custGeom>
            <a:avLst/>
            <a:gdLst/>
            <a:ahLst/>
            <a:cxnLst/>
            <a:rect l="l" t="t" r="r" b="b"/>
            <a:pathLst>
              <a:path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solidFill>
            <a:srgbClr val="000000">
              <a:alpha val="100000"/>
            </a:srgbClr>
          </a:solidFill>
          <a:ln w="38100" cap="flat" cmpd="sng">
            <a:solidFill>
              <a:srgbClr val="34495E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3" name="Freeform 73"/>
          <p:cNvSpPr/>
          <p:nvPr/>
        </p:nvSpPr>
        <p:spPr>
          <a:xfrm>
            <a:off x="1809750" y="6286500"/>
            <a:ext cx="8572500" cy="381000"/>
          </a:xfrm>
          <a:custGeom>
            <a:avLst/>
            <a:gdLst/>
            <a:ahLst/>
            <a:cxnLst/>
            <a:rect l="l" t="t" r="r" b="b"/>
            <a:pathLst>
              <a:path w="8572500" h="381000">
                <a:moveTo>
                  <a:pt x="8524875" y="0"/>
                </a:moveTo>
                <a:cubicBezTo>
                  <a:pt x="8551177" y="0"/>
                  <a:pt x="8572500" y="0"/>
                  <a:pt x="8572500" y="0"/>
                </a:cubicBezTo>
                <a:lnTo>
                  <a:pt x="8572500" y="381000"/>
                </a:lnTo>
                <a:cubicBezTo>
                  <a:pt x="8572500" y="381000"/>
                  <a:pt x="8551177" y="381000"/>
                  <a:pt x="8524875" y="381000"/>
                </a:cubicBezTo>
                <a:lnTo>
                  <a:pt x="47625" y="381000"/>
                </a:lnTo>
                <a:cubicBezTo>
                  <a:pt x="21322" y="381000"/>
                  <a:pt x="0" y="381000"/>
                  <a:pt x="0" y="381000"/>
                </a:cubicBezTo>
                <a:lnTo>
                  <a:pt x="0" y="0"/>
                </a:lnTo>
                <a:cubicBezTo>
                  <a:pt x="0" y="0"/>
                  <a:pt x="21322" y="0"/>
                  <a:pt x="47625" y="0"/>
                </a:cubicBezTo>
                <a:close/>
              </a:path>
            </a:pathLst>
          </a:custGeom>
          <a:solidFill>
            <a:srgbClr val="F8F9FA">
              <a:alpha val="100000"/>
            </a:srgbClr>
          </a:solidFill>
          <a:ln w="12700" cap="flat" cmpd="sng">
            <a:solidFill>
              <a:srgbClr val="BDC3C7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4" name="AutoShape 74"/>
          <p:cNvSpPr/>
          <p:nvPr/>
        </p:nvSpPr>
        <p:spPr>
          <a:xfrm>
            <a:off x="3876001" y="6307938"/>
            <a:ext cx="4558030" cy="2298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2C3E50"/>
                </a:solidFill>
                <a:latin typeface="Noto Sans SC"/>
                <a:ea typeface="Noto Sans SC"/>
                <a:cs typeface="Noto Sans SC"/>
                <a:sym typeface="Noto Sans SC"/>
              </a:rPr>
              <a:t>💡</a:t>
            </a:r>
            <a:r>
              <a:rPr lang="en-US" sz="900" b="0" i="0" u="none" strike="noStrike">
                <a:solidFill>
                  <a:srgbClr val="2C3E5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00" b="0" i="0" u="none" strike="noStrike">
                <a:solidFill>
                  <a:srgbClr val="2C3E50"/>
                </a:solidFill>
                <a:latin typeface="微软雅黑"/>
                <a:ea typeface="微软雅黑"/>
                <a:cs typeface="微软雅黑"/>
                <a:sym typeface="微软雅黑"/>
              </a:rPr>
              <a:t>关键优势：训练/开发/隔离测试物理隔离，参数配置与评估基准可复现，避免数据泄漏</a:t>
            </a:r>
            <a:endParaRPr lang="en-US" sz="1100"/>
          </a:p>
        </p:txBody>
      </p:sp>
      <p:pic>
        <p:nvPicPr>
          <p:cNvPr id="75" name="Picture 7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04165" y="186690"/>
            <a:ext cx="526415" cy="526415"/>
          </a:xfrm>
          <a:prstGeom prst="rect">
            <a:avLst/>
          </a:prstGeom>
          <a:ln w="127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2934" y="0"/>
            <a:ext cx="12214934" cy="3616960"/>
          </a:xfrm>
          <a:prstGeom prst="rect">
            <a:avLst/>
          </a:prstGeom>
          <a:solidFill>
            <a:srgbClr val="0A3760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179656" y="602203"/>
            <a:ext cx="3832687" cy="1112297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4" name="Freeform 4"/>
          <p:cNvSpPr/>
          <p:nvPr/>
        </p:nvSpPr>
        <p:spPr>
          <a:xfrm>
            <a:off x="2965173" y="2922324"/>
            <a:ext cx="6261654" cy="1348631"/>
          </a:xfrm>
          <a:custGeom>
            <a:avLst/>
            <a:gdLst/>
            <a:ahLst/>
            <a:cxnLst/>
            <a:rect l="l" t="t" r="r" b="b"/>
            <a:pathLst>
              <a:path w="6261654" h="1348631">
                <a:moveTo>
                  <a:pt x="674315" y="0"/>
                </a:moveTo>
                <a:lnTo>
                  <a:pt x="674326" y="1"/>
                </a:lnTo>
                <a:lnTo>
                  <a:pt x="5558735" y="1"/>
                </a:lnTo>
                <a:lnTo>
                  <a:pt x="5558735" y="2885"/>
                </a:lnTo>
                <a:lnTo>
                  <a:pt x="5587340" y="1"/>
                </a:lnTo>
                <a:cubicBezTo>
                  <a:pt x="5959753" y="1"/>
                  <a:pt x="6261654" y="301902"/>
                  <a:pt x="6261654" y="674315"/>
                </a:cubicBezTo>
                <a:cubicBezTo>
                  <a:pt x="6261654" y="1046730"/>
                  <a:pt x="5959753" y="1348631"/>
                  <a:pt x="5587340" y="1348631"/>
                </a:cubicBezTo>
                <a:lnTo>
                  <a:pt x="5558735" y="1345748"/>
                </a:lnTo>
                <a:lnTo>
                  <a:pt x="5558735" y="1348630"/>
                </a:lnTo>
                <a:lnTo>
                  <a:pt x="674315" y="1348630"/>
                </a:lnTo>
                <a:cubicBezTo>
                  <a:pt x="301901" y="1348630"/>
                  <a:pt x="0" y="1046729"/>
                  <a:pt x="0" y="674315"/>
                </a:cubicBezTo>
                <a:cubicBezTo>
                  <a:pt x="0" y="301901"/>
                  <a:pt x="301901" y="0"/>
                  <a:pt x="674315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w="38100" cap="flat">
            <a:solidFill>
              <a:srgbClr val="0A3760">
                <a:alpha val="100000"/>
              </a:srgbClr>
            </a:solidFill>
            <a:prstDash val="solid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670300" y="3271520"/>
            <a:ext cx="5556250" cy="119888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36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4.研究创新点与预期贡献</a:t>
            </a:r>
            <a:endParaRPr lang="en-US" sz="1100"/>
          </a:p>
          <a:p>
            <a:pPr marL="0" indent="0" algn="l" defTabSz="914400">
              <a:lnSpc>
                <a:spcPct val="100000"/>
              </a:lnSpc>
            </a:pPr>
            <a:r>
              <a:rPr lang="en-US" sz="36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036695" y="4937125"/>
            <a:ext cx="7724775" cy="169545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036695" y="3042285"/>
            <a:ext cx="7724775" cy="169545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036695" y="1176020"/>
            <a:ext cx="7724775" cy="169545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5104868" y="5495271"/>
            <a:ext cx="6412026" cy="98457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just" defTabSz="914400">
              <a:lnSpc>
                <a:spcPct val="150000"/>
              </a:lnSpc>
              <a:defRPr/>
            </a:pP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面向火烟非刚性目标，构建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 Grounding DINO 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定位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 + SAM3 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审核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 + YOLO 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裁判三级结构，按角色分离权限，Refiner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 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仅在消融分支内验证，后置节点只做被允许的操作，避免多模型级联的负向修改与几何退化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。</a:t>
            </a:r>
            <a:endParaRPr lang="en-US" sz="11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5150566" y="5087473"/>
            <a:ext cx="5528761" cy="480976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800" b="1" i="0" u="none" strike="noStrike" dirty="0" err="1">
                <a:solidFill>
                  <a:srgbClr val="0A3760"/>
                </a:solidFill>
                <a:effectLst>
                  <a:outerShdw blurRad="38100" dist="25400" dir="5400000" algn="ctr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异构大模型级联生产管线</a:t>
            </a:r>
            <a:endParaRPr lang="en-US" sz="11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5104868" y="3571856"/>
            <a:ext cx="6412026" cy="98457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>
            <a:noAutofit/>
          </a:bodyPr>
          <a:lstStyle/>
          <a:p>
            <a:pPr marL="0" indent="0" algn="just" defTabSz="914400">
              <a:lnSpc>
                <a:spcPct val="150000"/>
              </a:lnSpc>
              <a:defRPr/>
            </a:pP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将经验文本提示转为可冻结工程参数，按独立评测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—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主排序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—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稳定区间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—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硬冻结步骤确定提示词与阈值；引入边界风格敏感性审计、模型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—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测试集冲突仲裁与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 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IoF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 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包含率过滤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。</a:t>
            </a:r>
            <a:endParaRPr lang="en-US" sz="11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5150566" y="3164058"/>
            <a:ext cx="5528761" cy="480976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800" b="1" i="0" u="none" strike="noStrike" dirty="0" err="1">
                <a:solidFill>
                  <a:srgbClr val="0A3760"/>
                </a:solidFill>
                <a:effectLst>
                  <a:outerShdw blurRad="38100" dist="25400" dir="5400000" algn="ctr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低预算提示冻结与噪声审计</a:t>
            </a:r>
            <a:endParaRPr lang="en-US" sz="11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5103598" y="1707496"/>
            <a:ext cx="6412026" cy="98457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>
            <a:noAutofit/>
          </a:bodyPr>
          <a:lstStyle/>
          <a:p>
            <a:pPr marL="0" indent="0" algn="just" defTabSz="914400">
              <a:lnSpc>
                <a:spcPct val="150000"/>
              </a:lnSpc>
              <a:defRPr/>
            </a:pP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独立核算纯标注环节的人工工时与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 GPU 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机时，在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 1k、10k、100k 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规模下比较检测效果、制备时间与人工投入，用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 Pareto </a:t>
            </a:r>
            <a:r>
              <a:rPr lang="en-US" sz="1400" b="0" i="0" u="none" strike="noStrike" dirty="0" err="1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非支配关系给出流程选型矩阵</a:t>
            </a:r>
            <a:r>
              <a:rPr lang="en-US" sz="1400" b="0" i="0" u="none" strike="noStrike" dirty="0">
                <a:solidFill>
                  <a:srgbClr val="26262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。</a:t>
            </a:r>
            <a:endParaRPr lang="en-US" sz="11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5149296" y="1299698"/>
            <a:ext cx="5528761" cy="480976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1800" b="1" i="0" u="none" strike="noStrike" dirty="0" err="1">
                <a:solidFill>
                  <a:srgbClr val="0A3760"/>
                </a:solidFill>
                <a:effectLst>
                  <a:outerShdw blurRad="38100" dist="25400" dir="5400000" algn="ctr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成本核算与</a:t>
            </a:r>
            <a:r>
              <a:rPr lang="en-US" sz="1800" b="1" i="0" u="none" strike="noStrike" dirty="0">
                <a:solidFill>
                  <a:srgbClr val="0A3760"/>
                </a:solidFill>
                <a:effectLst>
                  <a:outerShdw blurRad="38100" dist="25400" dir="5400000" algn="ctr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 Pareto </a:t>
            </a:r>
            <a:r>
              <a:rPr lang="en-US" sz="1800" b="1" i="0" u="none" strike="noStrike" dirty="0" err="1">
                <a:solidFill>
                  <a:srgbClr val="0A3760"/>
                </a:solidFill>
                <a:effectLst>
                  <a:outerShdw blurRad="38100" dist="25400" dir="5400000" algn="ctr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cs typeface="MiSans"/>
                <a:sym typeface="MiSans"/>
              </a:rPr>
              <a:t>选型</a:t>
            </a:r>
            <a:endParaRPr lang="en-US" sz="11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036695" y="394335"/>
            <a:ext cx="6780530" cy="62293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2800" b="1" i="0" u="none" strike="noStrike">
                <a:solidFill>
                  <a:srgbClr val="0A3760"/>
                </a:solidFill>
                <a:effectLst>
                  <a:outerShdw blurRad="38100" dist="25400" dir="5400000" algn="ctr">
                    <a:srgbClr val="6E747A">
                      <a:alpha val="43000"/>
                    </a:srgbClr>
                  </a:outerShdw>
                </a:effectLst>
                <a:latin typeface="MiSans"/>
                <a:ea typeface="MiSans"/>
                <a:cs typeface="MiSans"/>
                <a:sym typeface="MiSans"/>
              </a:rPr>
              <a:t>拟形成的特色与贡献</a:t>
            </a:r>
            <a:endParaRPr lang="en-US" sz="1100"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224655" y="1465580"/>
            <a:ext cx="722630" cy="72263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224655" y="3239770"/>
            <a:ext cx="722630" cy="72263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224655" y="5179060"/>
            <a:ext cx="722630" cy="72263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10999470" y="509270"/>
            <a:ext cx="762000" cy="29845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Freeform 16"/>
          <p:cNvSpPr/>
          <p:nvPr/>
        </p:nvSpPr>
        <p:spPr>
          <a:xfrm>
            <a:off x="2227430" y="1721150"/>
            <a:ext cx="1202963" cy="642184"/>
          </a:xfrm>
          <a:custGeom>
            <a:avLst/>
            <a:gdLst/>
            <a:ahLst/>
            <a:cxnLst/>
            <a:rect l="l" t="t" r="r" b="b"/>
            <a:pathLst>
              <a:path w="1202963" h="642184">
                <a:moveTo>
                  <a:pt x="274204" y="0"/>
                </a:moveTo>
                <a:lnTo>
                  <a:pt x="1202963" y="378176"/>
                </a:lnTo>
                <a:lnTo>
                  <a:pt x="787234" y="642184"/>
                </a:lnTo>
                <a:lnTo>
                  <a:pt x="0" y="249739"/>
                </a:lnTo>
                <a:lnTo>
                  <a:pt x="274204" y="0"/>
                </a:lnTo>
                <a:close/>
              </a:path>
            </a:pathLst>
          </a:custGeom>
          <a:solidFill>
            <a:srgbClr val="6FD57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" name="Freeform 17"/>
          <p:cNvSpPr/>
          <p:nvPr/>
        </p:nvSpPr>
        <p:spPr>
          <a:xfrm>
            <a:off x="788278" y="2650790"/>
            <a:ext cx="3016554" cy="686405"/>
          </a:xfrm>
          <a:custGeom>
            <a:avLst/>
            <a:gdLst/>
            <a:ahLst/>
            <a:cxnLst/>
            <a:rect l="l" t="t" r="r" b="b"/>
            <a:pathLst>
              <a:path w="3016554" h="686405">
                <a:moveTo>
                  <a:pt x="725999" y="0"/>
                </a:moveTo>
                <a:lnTo>
                  <a:pt x="3016554" y="254950"/>
                </a:lnTo>
                <a:lnTo>
                  <a:pt x="2341206" y="627570"/>
                </a:lnTo>
                <a:lnTo>
                  <a:pt x="0" y="686405"/>
                </a:lnTo>
                <a:lnTo>
                  <a:pt x="725999" y="0"/>
                </a:lnTo>
                <a:close/>
              </a:path>
            </a:pathLst>
          </a:custGeom>
          <a:solidFill>
            <a:srgbClr val="465A6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1011806" y="2070304"/>
            <a:ext cx="2787397" cy="1775040"/>
          </a:xfrm>
          <a:custGeom>
            <a:avLst/>
            <a:gdLst/>
            <a:ahLst/>
            <a:cxnLst/>
            <a:rect l="l" t="t" r="r" b="b"/>
            <a:pathLst>
              <a:path w="2787397" h="1775040">
                <a:moveTo>
                  <a:pt x="2409349" y="0"/>
                </a:moveTo>
                <a:lnTo>
                  <a:pt x="2787397" y="697508"/>
                </a:lnTo>
                <a:lnTo>
                  <a:pt x="338550" y="1775040"/>
                </a:lnTo>
                <a:lnTo>
                  <a:pt x="0" y="1726935"/>
                </a:lnTo>
                <a:lnTo>
                  <a:pt x="2409349" y="0"/>
                </a:lnTo>
                <a:close/>
              </a:path>
            </a:pathLst>
          </a:custGeom>
          <a:solidFill>
            <a:srgbClr val="00ACC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" name="Freeform 19"/>
          <p:cNvSpPr/>
          <p:nvPr/>
        </p:nvSpPr>
        <p:spPr>
          <a:xfrm>
            <a:off x="1013394" y="3787774"/>
            <a:ext cx="2245531" cy="623661"/>
          </a:xfrm>
          <a:custGeom>
            <a:avLst/>
            <a:gdLst/>
            <a:ahLst/>
            <a:cxnLst/>
            <a:rect l="l" t="t" r="r" b="b"/>
            <a:pathLst>
              <a:path w="2245531" h="623661">
                <a:moveTo>
                  <a:pt x="0" y="0"/>
                </a:moveTo>
                <a:lnTo>
                  <a:pt x="95674" y="167909"/>
                </a:lnTo>
                <a:lnTo>
                  <a:pt x="1682741" y="623661"/>
                </a:lnTo>
                <a:lnTo>
                  <a:pt x="2245531" y="393386"/>
                </a:lnTo>
                <a:lnTo>
                  <a:pt x="0" y="0"/>
                </a:lnTo>
                <a:close/>
              </a:path>
            </a:pathLst>
          </a:custGeom>
          <a:solidFill>
            <a:srgbClr val="068F8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339812" y="2900255"/>
            <a:ext cx="2459391" cy="1444018"/>
          </a:xfrm>
          <a:custGeom>
            <a:avLst/>
            <a:gdLst/>
            <a:ahLst/>
            <a:cxnLst/>
            <a:rect l="l" t="t" r="r" b="b"/>
            <a:pathLst>
              <a:path w="2459391" h="1444018">
                <a:moveTo>
                  <a:pt x="2459391" y="0"/>
                </a:moveTo>
                <a:lnTo>
                  <a:pt x="2431316" y="350210"/>
                </a:lnTo>
                <a:lnTo>
                  <a:pt x="230217" y="1444018"/>
                </a:lnTo>
                <a:lnTo>
                  <a:pt x="0" y="1372057"/>
                </a:lnTo>
                <a:lnTo>
                  <a:pt x="2459391" y="0"/>
                </a:lnTo>
                <a:close/>
              </a:path>
            </a:pathLst>
          </a:custGeom>
          <a:solidFill>
            <a:srgbClr val="6FD57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1" name="Freeform 21"/>
          <p:cNvSpPr/>
          <p:nvPr/>
        </p:nvSpPr>
        <p:spPr>
          <a:xfrm>
            <a:off x="1339812" y="4257920"/>
            <a:ext cx="1682742" cy="570890"/>
          </a:xfrm>
          <a:custGeom>
            <a:avLst/>
            <a:gdLst/>
            <a:ahLst/>
            <a:cxnLst/>
            <a:rect l="l" t="t" r="r" b="b"/>
            <a:pathLst>
              <a:path w="1682742" h="570890">
                <a:moveTo>
                  <a:pt x="0" y="0"/>
                </a:moveTo>
                <a:lnTo>
                  <a:pt x="50651" y="172251"/>
                </a:lnTo>
                <a:lnTo>
                  <a:pt x="1277534" y="570890"/>
                </a:lnTo>
                <a:lnTo>
                  <a:pt x="1682742" y="565969"/>
                </a:lnTo>
                <a:lnTo>
                  <a:pt x="0" y="0"/>
                </a:lnTo>
                <a:close/>
              </a:path>
            </a:pathLst>
          </a:custGeom>
          <a:solidFill>
            <a:srgbClr val="465A6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2" name="Freeform 22"/>
          <p:cNvSpPr/>
          <p:nvPr/>
        </p:nvSpPr>
        <p:spPr>
          <a:xfrm>
            <a:off x="1564928" y="4185959"/>
            <a:ext cx="1682742" cy="652447"/>
          </a:xfrm>
          <a:custGeom>
            <a:avLst/>
            <a:gdLst/>
            <a:ahLst/>
            <a:cxnLst/>
            <a:rect l="l" t="t" r="r" b="b"/>
            <a:pathLst>
              <a:path w="1682742" h="652447">
                <a:moveTo>
                  <a:pt x="1682742" y="0"/>
                </a:moveTo>
                <a:lnTo>
                  <a:pt x="1571302" y="350210"/>
                </a:lnTo>
                <a:lnTo>
                  <a:pt x="462476" y="647649"/>
                </a:lnTo>
                <a:lnTo>
                  <a:pt x="0" y="652447"/>
                </a:lnTo>
                <a:lnTo>
                  <a:pt x="1682742" y="0"/>
                </a:lnTo>
                <a:close/>
              </a:path>
            </a:pathLst>
          </a:custGeom>
          <a:solidFill>
            <a:srgbClr val="34CFB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" name="Freeform 23"/>
          <p:cNvSpPr/>
          <p:nvPr/>
        </p:nvSpPr>
        <p:spPr>
          <a:xfrm>
            <a:off x="1559300" y="4824013"/>
            <a:ext cx="1468881" cy="100745"/>
          </a:xfrm>
          <a:custGeom>
            <a:avLst/>
            <a:gdLst/>
            <a:ahLst/>
            <a:cxnLst/>
            <a:rect l="l" t="t" r="r" b="b"/>
            <a:pathLst>
              <a:path w="1468881" h="100745">
                <a:moveTo>
                  <a:pt x="95674" y="100745"/>
                </a:moveTo>
                <a:lnTo>
                  <a:pt x="1373207" y="100745"/>
                </a:lnTo>
                <a:lnTo>
                  <a:pt x="1468881" y="0"/>
                </a:lnTo>
                <a:lnTo>
                  <a:pt x="0" y="9595"/>
                </a:lnTo>
                <a:lnTo>
                  <a:pt x="95674" y="100745"/>
                </a:lnTo>
                <a:close/>
              </a:path>
            </a:pathLst>
          </a:custGeom>
          <a:solidFill>
            <a:srgbClr val="6FD57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4" name="AutoShape 24"/>
          <p:cNvSpPr/>
          <p:nvPr/>
        </p:nvSpPr>
        <p:spPr>
          <a:xfrm>
            <a:off x="1652160" y="5034711"/>
            <a:ext cx="1283161" cy="89952"/>
          </a:xfrm>
          <a:prstGeom prst="roundRect">
            <a:avLst>
              <a:gd name="adj" fmla="val 16667"/>
            </a:avLst>
          </a:prstGeom>
          <a:solidFill>
            <a:srgbClr val="465A6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1652160" y="5189638"/>
            <a:ext cx="1283161" cy="89952"/>
          </a:xfrm>
          <a:prstGeom prst="roundRect">
            <a:avLst>
              <a:gd name="adj" fmla="val 16667"/>
            </a:avLst>
          </a:prstGeom>
          <a:solidFill>
            <a:srgbClr val="465A6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1652160" y="5344566"/>
            <a:ext cx="1283161" cy="89952"/>
          </a:xfrm>
          <a:prstGeom prst="roundRect">
            <a:avLst>
              <a:gd name="adj" fmla="val 16667"/>
            </a:avLst>
          </a:prstGeom>
          <a:solidFill>
            <a:srgbClr val="465A6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1652160" y="5499493"/>
            <a:ext cx="1283161" cy="89952"/>
          </a:xfrm>
          <a:prstGeom prst="roundRect">
            <a:avLst>
              <a:gd name="adj" fmla="val 16667"/>
            </a:avLst>
          </a:prstGeom>
          <a:solidFill>
            <a:srgbClr val="465A6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8" name="Freeform 28"/>
          <p:cNvSpPr/>
          <p:nvPr/>
        </p:nvSpPr>
        <p:spPr>
          <a:xfrm>
            <a:off x="1652160" y="5631955"/>
            <a:ext cx="1283161" cy="297504"/>
          </a:xfrm>
          <a:custGeom>
            <a:avLst/>
            <a:gdLst/>
            <a:ahLst/>
            <a:cxnLst/>
            <a:rect l="l" t="t" r="r" b="b"/>
            <a:pathLst>
              <a:path w="1283161" h="297504">
                <a:moveTo>
                  <a:pt x="240943" y="196093"/>
                </a:moveTo>
                <a:lnTo>
                  <a:pt x="1033774" y="196093"/>
                </a:lnTo>
                <a:lnTo>
                  <a:pt x="1033774" y="270402"/>
                </a:lnTo>
                <a:cubicBezTo>
                  <a:pt x="1033774" y="285370"/>
                  <a:pt x="1019538" y="297504"/>
                  <a:pt x="1001979" y="297504"/>
                </a:cubicBezTo>
                <a:lnTo>
                  <a:pt x="272736" y="297504"/>
                </a:lnTo>
                <a:cubicBezTo>
                  <a:pt x="255177" y="297504"/>
                  <a:pt x="240943" y="285370"/>
                  <a:pt x="240943" y="270402"/>
                </a:cubicBezTo>
                <a:close/>
                <a:moveTo>
                  <a:pt x="32620" y="61587"/>
                </a:moveTo>
                <a:lnTo>
                  <a:pt x="1250541" y="61587"/>
                </a:lnTo>
                <a:lnTo>
                  <a:pt x="1108053" y="196093"/>
                </a:lnTo>
                <a:lnTo>
                  <a:pt x="1033774" y="196093"/>
                </a:lnTo>
                <a:lnTo>
                  <a:pt x="1033774" y="161994"/>
                </a:lnTo>
                <a:cubicBezTo>
                  <a:pt x="1033774" y="147025"/>
                  <a:pt x="1019538" y="134892"/>
                  <a:pt x="1001979" y="134892"/>
                </a:cubicBezTo>
                <a:lnTo>
                  <a:pt x="272736" y="134892"/>
                </a:lnTo>
                <a:cubicBezTo>
                  <a:pt x="255177" y="134892"/>
                  <a:pt x="240943" y="147025"/>
                  <a:pt x="240943" y="161994"/>
                </a:cubicBezTo>
                <a:lnTo>
                  <a:pt x="240943" y="196093"/>
                </a:lnTo>
                <a:lnTo>
                  <a:pt x="175108" y="196093"/>
                </a:lnTo>
                <a:close/>
                <a:moveTo>
                  <a:pt x="1283161" y="30794"/>
                </a:moveTo>
                <a:lnTo>
                  <a:pt x="1283161" y="51322"/>
                </a:lnTo>
                <a:cubicBezTo>
                  <a:pt x="1283161" y="56991"/>
                  <a:pt x="1277770" y="61587"/>
                  <a:pt x="1271119" y="61587"/>
                </a:cubicBezTo>
                <a:lnTo>
                  <a:pt x="1250541" y="61587"/>
                </a:lnTo>
                <a:close/>
                <a:moveTo>
                  <a:pt x="0" y="30794"/>
                </a:moveTo>
                <a:lnTo>
                  <a:pt x="32620" y="61587"/>
                </a:lnTo>
                <a:lnTo>
                  <a:pt x="12042" y="61587"/>
                </a:lnTo>
                <a:cubicBezTo>
                  <a:pt x="5391" y="61587"/>
                  <a:pt x="0" y="56991"/>
                  <a:pt x="0" y="51322"/>
                </a:cubicBezTo>
                <a:close/>
                <a:moveTo>
                  <a:pt x="12042" y="0"/>
                </a:moveTo>
                <a:lnTo>
                  <a:pt x="1271119" y="0"/>
                </a:lnTo>
                <a:cubicBezTo>
                  <a:pt x="1277770" y="0"/>
                  <a:pt x="1283161" y="4596"/>
                  <a:pt x="1283161" y="10265"/>
                </a:cubicBezTo>
                <a:lnTo>
                  <a:pt x="1283161" y="30794"/>
                </a:lnTo>
                <a:lnTo>
                  <a:pt x="0" y="30794"/>
                </a:lnTo>
                <a:lnTo>
                  <a:pt x="0" y="10265"/>
                </a:lnTo>
                <a:cubicBezTo>
                  <a:pt x="0" y="4596"/>
                  <a:pt x="5391" y="0"/>
                  <a:pt x="12042" y="0"/>
                </a:cubicBezTo>
                <a:close/>
              </a:path>
            </a:pathLst>
          </a:custGeom>
          <a:solidFill>
            <a:srgbClr val="465A6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 rot="-2586808">
            <a:off x="255773" y="2029257"/>
            <a:ext cx="2350930" cy="587020"/>
          </a:xfrm>
          <a:prstGeom prst="trapezoid">
            <a:avLst>
              <a:gd name="adj" fmla="val 95892"/>
            </a:avLst>
          </a:prstGeom>
          <a:solidFill>
            <a:srgbClr val="0A37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0" name="Freeform 30"/>
          <p:cNvSpPr/>
          <p:nvPr/>
        </p:nvSpPr>
        <p:spPr>
          <a:xfrm>
            <a:off x="2463804" y="1715685"/>
            <a:ext cx="958149" cy="399383"/>
          </a:xfrm>
          <a:custGeom>
            <a:avLst/>
            <a:gdLst/>
            <a:ahLst/>
            <a:cxnLst/>
            <a:rect l="l" t="t" r="r" b="b"/>
            <a:pathLst>
              <a:path w="958149" h="399383">
                <a:moveTo>
                  <a:pt x="958149" y="356206"/>
                </a:moveTo>
                <a:lnTo>
                  <a:pt x="97081" y="0"/>
                </a:lnTo>
                <a:lnTo>
                  <a:pt x="0" y="82754"/>
                </a:lnTo>
                <a:lnTo>
                  <a:pt x="856847" y="384990"/>
                </a:lnTo>
                <a:lnTo>
                  <a:pt x="894836" y="399383"/>
                </a:lnTo>
                <a:lnTo>
                  <a:pt x="958149" y="356206"/>
                </a:lnTo>
                <a:close/>
              </a:path>
            </a:pathLst>
          </a:custGeom>
          <a:solidFill>
            <a:srgbClr val="6FD57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1" name="Freeform 31"/>
          <p:cNvSpPr/>
          <p:nvPr/>
        </p:nvSpPr>
        <p:spPr>
          <a:xfrm>
            <a:off x="775434" y="2831081"/>
            <a:ext cx="447418" cy="510924"/>
          </a:xfrm>
          <a:custGeom>
            <a:avLst/>
            <a:gdLst/>
            <a:ahLst/>
            <a:cxnLst/>
            <a:rect l="l" t="t" r="r" b="b"/>
            <a:pathLst>
              <a:path w="447418" h="510924">
                <a:moveTo>
                  <a:pt x="388325" y="0"/>
                </a:moveTo>
                <a:lnTo>
                  <a:pt x="0" y="449755"/>
                </a:lnTo>
                <a:lnTo>
                  <a:pt x="4220" y="510924"/>
                </a:lnTo>
                <a:lnTo>
                  <a:pt x="447418" y="97147"/>
                </a:lnTo>
                <a:lnTo>
                  <a:pt x="388325" y="0"/>
                </a:lnTo>
                <a:close/>
              </a:path>
            </a:pathLst>
          </a:custGeom>
          <a:solidFill>
            <a:srgbClr val="0A37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2" name="Freeform 32"/>
          <p:cNvSpPr/>
          <p:nvPr/>
        </p:nvSpPr>
        <p:spPr>
          <a:xfrm>
            <a:off x="27305" y="180975"/>
            <a:ext cx="3730625" cy="642620"/>
          </a:xfrm>
          <a:custGeom>
            <a:avLst/>
            <a:gdLst/>
            <a:ahLst/>
            <a:cxnLst/>
            <a:rect l="l" t="t" r="r" b="b"/>
            <a:pathLst>
              <a:path w="3730625" h="642620">
                <a:moveTo>
                  <a:pt x="401749" y="0"/>
                </a:moveTo>
                <a:lnTo>
                  <a:pt x="401756" y="0"/>
                </a:lnTo>
                <a:lnTo>
                  <a:pt x="3311834" y="0"/>
                </a:lnTo>
                <a:lnTo>
                  <a:pt x="3311834" y="1374"/>
                </a:lnTo>
                <a:lnTo>
                  <a:pt x="3328876" y="0"/>
                </a:lnTo>
                <a:cubicBezTo>
                  <a:pt x="3550756" y="0"/>
                  <a:pt x="3730625" y="143855"/>
                  <a:pt x="3730625" y="321310"/>
                </a:cubicBezTo>
                <a:cubicBezTo>
                  <a:pt x="3730625" y="498765"/>
                  <a:pt x="3550756" y="642620"/>
                  <a:pt x="3328876" y="642620"/>
                </a:cubicBezTo>
                <a:lnTo>
                  <a:pt x="3311834" y="641246"/>
                </a:lnTo>
                <a:lnTo>
                  <a:pt x="3311834" y="642620"/>
                </a:lnTo>
                <a:lnTo>
                  <a:pt x="401749" y="642620"/>
                </a:lnTo>
                <a:cubicBezTo>
                  <a:pt x="179869" y="642620"/>
                  <a:pt x="0" y="498765"/>
                  <a:pt x="0" y="321310"/>
                </a:cubicBezTo>
                <a:cubicBezTo>
                  <a:pt x="0" y="143855"/>
                  <a:pt x="179869" y="0"/>
                  <a:pt x="401749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189865" y="179705"/>
            <a:ext cx="699135" cy="617855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4" name="AutoShape 34"/>
          <p:cNvSpPr/>
          <p:nvPr/>
        </p:nvSpPr>
        <p:spPr>
          <a:xfrm>
            <a:off x="889000" y="265430"/>
            <a:ext cx="2787015" cy="460375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字魂105号-简雅黑"/>
                <a:ea typeface="字魂105号-简雅黑"/>
                <a:cs typeface="字魂105号-简雅黑"/>
                <a:sym typeface="字魂105号-简雅黑"/>
              </a:rPr>
              <a:t>4. 研究创新点</a:t>
            </a:r>
            <a:endParaRPr lang="en-US"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32080"/>
            <a:ext cx="4054475" cy="617220"/>
          </a:xfrm>
          <a:custGeom>
            <a:avLst/>
            <a:gdLst/>
            <a:ahLst/>
            <a:cxnLst/>
            <a:rect l="l" t="t" r="r" b="b"/>
            <a:pathLst>
              <a:path w="4054475" h="617220">
                <a:moveTo>
                  <a:pt x="436625" y="0"/>
                </a:moveTo>
                <a:lnTo>
                  <a:pt x="436631" y="0"/>
                </a:lnTo>
                <a:lnTo>
                  <a:pt x="3599329" y="0"/>
                </a:lnTo>
                <a:lnTo>
                  <a:pt x="3599329" y="1321"/>
                </a:lnTo>
                <a:lnTo>
                  <a:pt x="3617850" y="0"/>
                </a:lnTo>
                <a:cubicBezTo>
                  <a:pt x="3858992" y="0"/>
                  <a:pt x="4054475" y="138170"/>
                  <a:pt x="4054475" y="308610"/>
                </a:cubicBezTo>
                <a:cubicBezTo>
                  <a:pt x="4054475" y="479050"/>
                  <a:pt x="3858992" y="617220"/>
                  <a:pt x="3617850" y="617220"/>
                </a:cubicBezTo>
                <a:lnTo>
                  <a:pt x="3599329" y="615900"/>
                </a:lnTo>
                <a:lnTo>
                  <a:pt x="3599329" y="617220"/>
                </a:lnTo>
                <a:lnTo>
                  <a:pt x="436625" y="617220"/>
                </a:lnTo>
                <a:cubicBezTo>
                  <a:pt x="195483" y="617220"/>
                  <a:pt x="0" y="479050"/>
                  <a:pt x="0" y="308610"/>
                </a:cubicBezTo>
                <a:cubicBezTo>
                  <a:pt x="0" y="138170"/>
                  <a:pt x="195483" y="0"/>
                  <a:pt x="436625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just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3195" y="132080"/>
            <a:ext cx="617855" cy="617855"/>
          </a:xfrm>
          <a:prstGeom prst="rect">
            <a:avLst/>
          </a:prstGeom>
          <a:ln w="127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781050" y="245745"/>
            <a:ext cx="3858895" cy="829945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/>
          <a:p>
            <a:pPr marL="0" indent="0" algn="just" defTabSz="914400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4. 系统总体架构</a:t>
            </a:r>
            <a:endParaRPr lang="en-US" sz="1100"/>
          </a:p>
          <a:p>
            <a:pPr marL="0" indent="0" algn="just" defTabSz="914400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</a:p>
        </p:txBody>
      </p:sp>
      <p:sp>
        <p:nvSpPr>
          <p:cNvPr id="5" name="AutoShape 5"/>
          <p:cNvSpPr/>
          <p:nvPr/>
        </p:nvSpPr>
        <p:spPr>
          <a:xfrm>
            <a:off x="635000" y="3048000"/>
            <a:ext cx="2032000" cy="1016000"/>
          </a:xfrm>
          <a:prstGeom prst="roundRect">
            <a:avLst>
              <a:gd name="adj" fmla="val 25000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8333"/>
              </a:lnSpc>
              <a:defRPr/>
            </a:pPr>
            <a:r>
              <a:rPr lang="en-US" sz="1600" b="1" i="0" u="none" strike="noStrike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输入火烟图像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85923">
            <a:off x="2730579" y="3549650"/>
            <a:ext cx="50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rnd" cmpd="sng">
            <a:solidFill>
              <a:srgbClr val="0A3760">
                <a:alpha val="100000"/>
              </a:srgbClr>
            </a:solidFill>
            <a:prstDash val="solid"/>
            <a:round/>
            <a:headEnd type="none" w="lg" len="lg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3302000" y="3048000"/>
            <a:ext cx="2349500" cy="1016000"/>
          </a:xfrm>
          <a:prstGeom prst="roundRect">
            <a:avLst>
              <a:gd name="adj" fmla="val 2500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8333"/>
              </a:lnSpc>
              <a:defRPr/>
            </a:pPr>
            <a:r>
              <a:rPr lang="en-US" sz="15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Grounding DINO</a:t>
            </a:r>
            <a:endParaRPr lang="en-US" sz="1100" dirty="0"/>
          </a:p>
          <a:p>
            <a:pPr marL="0" indent="0" algn="ctr" defTabSz="914400">
              <a:lnSpc>
                <a:spcPct val="108333"/>
              </a:lnSpc>
            </a:pPr>
            <a:r>
              <a:rPr lang="en-US" sz="13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批量生成</a:t>
            </a:r>
            <a:r>
              <a:rPr lang="en-US" sz="1300" b="0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 V1 </a:t>
            </a:r>
            <a:r>
              <a:rPr lang="en-US" sz="1300" b="0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伪标签</a:t>
            </a:r>
            <a:endParaRPr lang="en-US" sz="1300" b="0" i="0" u="none" strike="noStrike" dirty="0">
              <a:solidFill>
                <a:srgbClr val="FFFFFF"/>
              </a:solidFill>
              <a:latin typeface="微软雅黑"/>
              <a:ea typeface="微软雅黑"/>
              <a:cs typeface="微软雅黑"/>
              <a:sym typeface="微软雅黑"/>
            </a:endParaRPr>
          </a:p>
        </p:txBody>
      </p:sp>
      <p:cxnSp>
        <p:nvCxnSpPr>
          <p:cNvPr id="8" name="Connector 8"/>
          <p:cNvCxnSpPr/>
          <p:nvPr/>
        </p:nvCxnSpPr>
        <p:spPr>
          <a:xfrm rot="-85923">
            <a:off x="5715079" y="3549650"/>
            <a:ext cx="50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rnd" cmpd="sng">
            <a:solidFill>
              <a:srgbClr val="0A3760">
                <a:alpha val="100000"/>
              </a:srgbClr>
            </a:solidFill>
            <a:prstDash val="solid"/>
            <a:round/>
            <a:headEnd type="none" w="lg" len="lg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6286500" y="2984500"/>
            <a:ext cx="2667000" cy="1143000"/>
          </a:xfrm>
          <a:prstGeom prst="roundRect">
            <a:avLst>
              <a:gd name="adj" fmla="val 22220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8333"/>
              </a:lnSpc>
              <a:defRPr/>
            </a:pPr>
            <a:r>
              <a:rPr lang="en-US" sz="1500" b="1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SAM3 </a:t>
            </a:r>
            <a:r>
              <a:rPr lang="en-US" sz="1500" b="1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后置处理</a:t>
            </a:r>
            <a:endParaRPr lang="en-US" sz="1100" dirty="0"/>
          </a:p>
          <a:p>
            <a:pPr marL="0" indent="0" algn="ctr" defTabSz="914400">
              <a:lnSpc>
                <a:spcPct val="108333"/>
              </a:lnSpc>
            </a:pPr>
            <a:r>
              <a:rPr lang="en-US" sz="12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Verifier 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审核</a:t>
            </a:r>
            <a:r>
              <a:rPr lang="en-US" sz="12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/ Append 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补漏</a:t>
            </a:r>
            <a:endParaRPr lang="en-US" sz="1200" b="0" i="0" u="none" strike="noStrike" dirty="0">
              <a:solidFill>
                <a:srgbClr val="000000"/>
              </a:solidFill>
              <a:latin typeface="微软雅黑"/>
              <a:ea typeface="微软雅黑"/>
              <a:cs typeface="微软雅黑"/>
              <a:sym typeface="微软雅黑"/>
            </a:endParaRPr>
          </a:p>
          <a:p>
            <a:pPr marL="0" indent="0" algn="ctr" defTabSz="914400">
              <a:lnSpc>
                <a:spcPct val="108333"/>
              </a:lnSpc>
            </a:pPr>
            <a:r>
              <a:rPr lang="en-US" sz="12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Refiner </a:t>
            </a:r>
            <a:r>
              <a:rPr lang="en-US" sz="1200" b="0" i="0" u="none" strike="noStrike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调框（权限</a:t>
            </a:r>
            <a:r>
              <a:rPr lang="zh-CN" altLang="en-US" sz="12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隔离</a:t>
            </a:r>
            <a:r>
              <a:rPr lang="en-US" sz="12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）</a:t>
            </a:r>
          </a:p>
        </p:txBody>
      </p:sp>
      <p:cxnSp>
        <p:nvCxnSpPr>
          <p:cNvPr id="10" name="Connector 10"/>
          <p:cNvCxnSpPr/>
          <p:nvPr/>
        </p:nvCxnSpPr>
        <p:spPr>
          <a:xfrm rot="-85923">
            <a:off x="9017079" y="3549650"/>
            <a:ext cx="50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rnd" cmpd="sng">
            <a:solidFill>
              <a:srgbClr val="0A3760">
                <a:alpha val="100000"/>
              </a:srgbClr>
            </a:solidFill>
            <a:prstDash val="solid"/>
            <a:round/>
            <a:headEnd type="none" w="lg" len="lg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9588500" y="3048000"/>
            <a:ext cx="2095500" cy="1016000"/>
          </a:xfrm>
          <a:prstGeom prst="roundRect">
            <a:avLst>
              <a:gd name="adj" fmla="val 2500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8333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YOLO 训练验证</a:t>
            </a:r>
            <a:endParaRPr lang="en-US" sz="1100"/>
          </a:p>
          <a:p>
            <a:pPr marL="0" indent="0" algn="ctr" defTabSz="914400">
              <a:lnSpc>
                <a:spcPct val="108333"/>
              </a:lnSpc>
            </a:pPr>
            <a:r>
              <a:rPr lang="en-US" sz="12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下游效用裁判</a:t>
            </a:r>
          </a:p>
        </p:txBody>
      </p:sp>
      <p:sp>
        <p:nvSpPr>
          <p:cNvPr id="12" name="AutoShape 12"/>
          <p:cNvSpPr/>
          <p:nvPr/>
        </p:nvSpPr>
        <p:spPr>
          <a:xfrm>
            <a:off x="781050" y="5463616"/>
            <a:ext cx="10414000" cy="635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8333"/>
              </a:lnSpc>
              <a:defRPr/>
            </a:pPr>
            <a:r>
              <a:rPr lang="en-US" sz="1400" b="0" i="0" u="none" strike="noStrike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权限隔离：后置节点不默认覆盖</a:t>
            </a:r>
            <a:r>
              <a:rPr lang="en-US" sz="14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V1；Stage-Gate 按 Go / Hold / Stop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决定各分支去留</a:t>
            </a:r>
            <a:r>
              <a:rPr lang="en-US" sz="1400" b="0" i="0" u="none" strike="noStrike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。</a:t>
            </a:r>
            <a:endParaRPr lang="en-US" sz="1100" dirty="0"/>
          </a:p>
        </p:txBody>
      </p:sp>
      <p:sp>
        <p:nvSpPr>
          <p:cNvPr id="13" name="AutoShape 7">
            <a:extLst>
              <a:ext uri="{FF2B5EF4-FFF2-40B4-BE49-F238E27FC236}">
                <a16:creationId xmlns:a16="http://schemas.microsoft.com/office/drawing/2014/main" id="{34C1F2EC-1C48-465C-AF79-C20568439708}"/>
              </a:ext>
            </a:extLst>
          </p:cNvPr>
          <p:cNvSpPr/>
          <p:nvPr/>
        </p:nvSpPr>
        <p:spPr>
          <a:xfrm>
            <a:off x="3365499" y="1710395"/>
            <a:ext cx="1484407" cy="692146"/>
          </a:xfrm>
          <a:prstGeom prst="roundRect">
            <a:avLst>
              <a:gd name="adj" fmla="val 25000"/>
            </a:avLst>
          </a:prstGeom>
          <a:ln>
            <a:solidFill>
              <a:srgbClr val="0A376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rtlCol="0" anchor="ctr">
            <a:noAutofit/>
          </a:bodyPr>
          <a:lstStyle/>
          <a:p>
            <a:pPr algn="ctr">
              <a:lnSpc>
                <a:spcPct val="108333"/>
              </a:lnSpc>
              <a:defRPr/>
            </a:pPr>
            <a:r>
              <a:rPr lang="zh-CN" altLang="en-US" sz="1100" b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低预算语义提示基准确立算法</a:t>
            </a:r>
            <a:endParaRPr lang="en-US" sz="1050" b="0" i="0" u="none" strike="noStrike" dirty="0">
              <a:solidFill>
                <a:srgbClr val="0A3760"/>
              </a:solidFill>
              <a:latin typeface="微软雅黑"/>
              <a:ea typeface="微软雅黑"/>
              <a:cs typeface="微软雅黑"/>
              <a:sym typeface="微软雅黑"/>
            </a:endParaRPr>
          </a:p>
        </p:txBody>
      </p:sp>
      <p:cxnSp>
        <p:nvCxnSpPr>
          <p:cNvPr id="15" name="コネクタ: 曲線 14">
            <a:extLst>
              <a:ext uri="{FF2B5EF4-FFF2-40B4-BE49-F238E27FC236}">
                <a16:creationId xmlns:a16="http://schemas.microsoft.com/office/drawing/2014/main" id="{EC1261BB-81E6-467A-B381-BF57ECB1DCDA}"/>
              </a:ext>
            </a:extLst>
          </p:cNvPr>
          <p:cNvCxnSpPr>
            <a:stCxn id="13" idx="2"/>
            <a:endCxn id="7" idx="0"/>
          </p:cNvCxnSpPr>
          <p:nvPr/>
        </p:nvCxnSpPr>
        <p:spPr>
          <a:xfrm rot="16200000" flipH="1">
            <a:off x="3969497" y="2540746"/>
            <a:ext cx="645459" cy="369047"/>
          </a:xfrm>
          <a:prstGeom prst="curvedConnector3">
            <a:avLst/>
          </a:prstGeom>
          <a:ln>
            <a:solidFill>
              <a:srgbClr val="0A37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utoShape 7">
            <a:extLst>
              <a:ext uri="{FF2B5EF4-FFF2-40B4-BE49-F238E27FC236}">
                <a16:creationId xmlns:a16="http://schemas.microsoft.com/office/drawing/2014/main" id="{050AE8C8-779D-4649-8EE8-288E189B3D8F}"/>
              </a:ext>
            </a:extLst>
          </p:cNvPr>
          <p:cNvSpPr/>
          <p:nvPr/>
        </p:nvSpPr>
        <p:spPr>
          <a:xfrm>
            <a:off x="9588500" y="1710395"/>
            <a:ext cx="1484407" cy="692146"/>
          </a:xfrm>
          <a:prstGeom prst="roundRect">
            <a:avLst>
              <a:gd name="adj" fmla="val 25000"/>
            </a:avLst>
          </a:prstGeom>
          <a:ln>
            <a:solidFill>
              <a:srgbClr val="0A376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rtlCol="0" anchor="ctr">
            <a:noAutofit/>
          </a:bodyPr>
          <a:lstStyle/>
          <a:p>
            <a:pPr algn="ctr">
              <a:lnSpc>
                <a:spcPct val="108333"/>
              </a:lnSpc>
              <a:defRPr/>
            </a:pPr>
            <a:r>
              <a:rPr lang="zh-CN" altLang="en-US" sz="1100" b="1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边界风格敏感性审计与冲突仲裁算法</a:t>
            </a:r>
            <a:endParaRPr lang="en-US" sz="1050" b="0" i="0" u="none" strike="noStrike" dirty="0">
              <a:solidFill>
                <a:srgbClr val="0A3760"/>
              </a:solidFill>
              <a:latin typeface="微软雅黑"/>
              <a:ea typeface="微软雅黑"/>
              <a:cs typeface="微软雅黑"/>
              <a:sym typeface="微软雅黑"/>
            </a:endParaRPr>
          </a:p>
        </p:txBody>
      </p:sp>
      <p:cxnSp>
        <p:nvCxnSpPr>
          <p:cNvPr id="17" name="コネクタ: 曲線 16">
            <a:extLst>
              <a:ext uri="{FF2B5EF4-FFF2-40B4-BE49-F238E27FC236}">
                <a16:creationId xmlns:a16="http://schemas.microsoft.com/office/drawing/2014/main" id="{BA448727-E1DF-4045-9629-A7CE2A5D71F0}"/>
              </a:ext>
            </a:extLst>
          </p:cNvPr>
          <p:cNvCxnSpPr>
            <a:cxnSpLocks/>
            <a:stCxn id="21" idx="0"/>
            <a:endCxn id="9" idx="2"/>
          </p:cNvCxnSpPr>
          <p:nvPr/>
        </p:nvCxnSpPr>
        <p:spPr>
          <a:xfrm rot="16200000" flipV="1">
            <a:off x="7505513" y="4241988"/>
            <a:ext cx="321985" cy="93010"/>
          </a:xfrm>
          <a:prstGeom prst="curvedConnector3">
            <a:avLst>
              <a:gd name="adj1" fmla="val 50000"/>
            </a:avLst>
          </a:prstGeom>
          <a:ln>
            <a:solidFill>
              <a:srgbClr val="0A37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AutoShape 7">
            <a:extLst>
              <a:ext uri="{FF2B5EF4-FFF2-40B4-BE49-F238E27FC236}">
                <a16:creationId xmlns:a16="http://schemas.microsoft.com/office/drawing/2014/main" id="{E68834AE-94D8-4A45-A1F4-058224F11B72}"/>
              </a:ext>
            </a:extLst>
          </p:cNvPr>
          <p:cNvSpPr/>
          <p:nvPr/>
        </p:nvSpPr>
        <p:spPr>
          <a:xfrm>
            <a:off x="6970806" y="4449485"/>
            <a:ext cx="1484407" cy="692146"/>
          </a:xfrm>
          <a:prstGeom prst="roundRect">
            <a:avLst>
              <a:gd name="adj" fmla="val 25000"/>
            </a:avLst>
          </a:prstGeom>
          <a:ln>
            <a:solidFill>
              <a:srgbClr val="0A376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rtlCol="0" anchor="ctr">
            <a:noAutofit/>
          </a:bodyPr>
          <a:lstStyle/>
          <a:p>
            <a:pPr algn="ctr">
              <a:lnSpc>
                <a:spcPct val="108333"/>
              </a:lnSpc>
              <a:defRPr/>
            </a:pPr>
            <a:r>
              <a:rPr lang="zh-CN" altLang="en-US" sz="1100" b="1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 针对火的</a:t>
            </a:r>
            <a:r>
              <a:rPr lang="en-US" altLang="zh-CN" sz="1100" b="1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IoF</a:t>
            </a:r>
            <a:r>
              <a:rPr lang="en-US" altLang="zh-CN" sz="1100" b="1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 </a:t>
            </a:r>
            <a:r>
              <a:rPr lang="zh-CN" altLang="en-US" sz="1100" b="1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包含率过滤与保守验证策略算法</a:t>
            </a:r>
            <a:endParaRPr lang="en-US" sz="1050" b="0" i="0" u="none" strike="noStrike" dirty="0">
              <a:solidFill>
                <a:srgbClr val="0A3760"/>
              </a:solidFill>
              <a:latin typeface="微软雅黑"/>
              <a:ea typeface="微软雅黑"/>
              <a:cs typeface="微软雅黑"/>
              <a:sym typeface="微软雅黑"/>
            </a:endParaRPr>
          </a:p>
        </p:txBody>
      </p:sp>
      <p:cxnSp>
        <p:nvCxnSpPr>
          <p:cNvPr id="22" name="コネクタ: 曲線 21">
            <a:extLst>
              <a:ext uri="{FF2B5EF4-FFF2-40B4-BE49-F238E27FC236}">
                <a16:creationId xmlns:a16="http://schemas.microsoft.com/office/drawing/2014/main" id="{980A9EBC-C9BF-435A-9451-9B3D454D955F}"/>
              </a:ext>
            </a:extLst>
          </p:cNvPr>
          <p:cNvCxnSpPr>
            <a:cxnSpLocks/>
            <a:stCxn id="16" idx="2"/>
            <a:endCxn id="11" idx="0"/>
          </p:cNvCxnSpPr>
          <p:nvPr/>
        </p:nvCxnSpPr>
        <p:spPr>
          <a:xfrm rot="16200000" flipH="1">
            <a:off x="10160748" y="2572497"/>
            <a:ext cx="645459" cy="305546"/>
          </a:xfrm>
          <a:prstGeom prst="curvedConnector3">
            <a:avLst/>
          </a:prstGeom>
          <a:ln>
            <a:solidFill>
              <a:srgbClr val="0A37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32080"/>
            <a:ext cx="4054475" cy="617220"/>
          </a:xfrm>
          <a:custGeom>
            <a:avLst/>
            <a:gdLst/>
            <a:ahLst/>
            <a:cxnLst/>
            <a:rect l="l" t="t" r="r" b="b"/>
            <a:pathLst>
              <a:path w="4054475" h="617220">
                <a:moveTo>
                  <a:pt x="436625" y="0"/>
                </a:moveTo>
                <a:lnTo>
                  <a:pt x="436631" y="0"/>
                </a:lnTo>
                <a:lnTo>
                  <a:pt x="3599329" y="0"/>
                </a:lnTo>
                <a:lnTo>
                  <a:pt x="3599329" y="1321"/>
                </a:lnTo>
                <a:lnTo>
                  <a:pt x="3617850" y="0"/>
                </a:lnTo>
                <a:cubicBezTo>
                  <a:pt x="3858992" y="0"/>
                  <a:pt x="4054475" y="138170"/>
                  <a:pt x="4054475" y="308610"/>
                </a:cubicBezTo>
                <a:cubicBezTo>
                  <a:pt x="4054475" y="479050"/>
                  <a:pt x="3858992" y="617220"/>
                  <a:pt x="3617850" y="617220"/>
                </a:cubicBezTo>
                <a:lnTo>
                  <a:pt x="3599329" y="615900"/>
                </a:lnTo>
                <a:lnTo>
                  <a:pt x="3599329" y="617220"/>
                </a:lnTo>
                <a:lnTo>
                  <a:pt x="436625" y="617220"/>
                </a:lnTo>
                <a:cubicBezTo>
                  <a:pt x="195483" y="617220"/>
                  <a:pt x="0" y="479050"/>
                  <a:pt x="0" y="308610"/>
                </a:cubicBezTo>
                <a:cubicBezTo>
                  <a:pt x="0" y="138170"/>
                  <a:pt x="195483" y="0"/>
                  <a:pt x="436625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just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3195" y="132080"/>
            <a:ext cx="617855" cy="617855"/>
          </a:xfrm>
          <a:prstGeom prst="rect">
            <a:avLst/>
          </a:prstGeom>
          <a:ln w="127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781050" y="245745"/>
            <a:ext cx="3858895" cy="829945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/>
          <a:p>
            <a:pPr marL="0" indent="0" algn="just" defTabSz="914400">
              <a:lnSpc>
                <a:spcPct val="100000"/>
              </a:lnSpc>
              <a:defRPr/>
            </a:pPr>
            <a:r>
              <a:rPr lang="en-US" sz="24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4. </a:t>
            </a:r>
            <a:r>
              <a:rPr lang="en-US" sz="240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系统总体架构</a:t>
            </a:r>
            <a:endParaRPr lang="en-US" sz="1100" dirty="0"/>
          </a:p>
          <a:p>
            <a:pPr marL="0" indent="0" algn="just" defTabSz="914400">
              <a:lnSpc>
                <a:spcPct val="100000"/>
              </a:lnSpc>
            </a:pPr>
            <a:r>
              <a:rPr lang="en-US" sz="1100" b="0" i="0" u="none" strike="noStrike" dirty="0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541E2B9A-D3DC-4260-A9BB-CB902E667F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228" y="1206575"/>
            <a:ext cx="5485354" cy="5651425"/>
          </a:xfrm>
          <a:prstGeom prst="rect">
            <a:avLst/>
          </a:prstGeom>
        </p:spPr>
      </p:pic>
      <p:sp>
        <p:nvSpPr>
          <p:cNvPr id="18" name="AutoShape 7">
            <a:extLst>
              <a:ext uri="{FF2B5EF4-FFF2-40B4-BE49-F238E27FC236}">
                <a16:creationId xmlns:a16="http://schemas.microsoft.com/office/drawing/2014/main" id="{6BC5392E-3024-4832-A7B2-ED140CD68A7E}"/>
              </a:ext>
            </a:extLst>
          </p:cNvPr>
          <p:cNvSpPr/>
          <p:nvPr/>
        </p:nvSpPr>
        <p:spPr>
          <a:xfrm>
            <a:off x="640228" y="862965"/>
            <a:ext cx="5455772" cy="343610"/>
          </a:xfrm>
          <a:prstGeom prst="roundRect">
            <a:avLst>
              <a:gd name="adj" fmla="val 25000"/>
            </a:avLst>
          </a:prstGeom>
          <a:ln>
            <a:solidFill>
              <a:srgbClr val="0A376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rtlCol="0" anchor="ctr">
            <a:noAutofit/>
          </a:bodyPr>
          <a:lstStyle/>
          <a:p>
            <a:pPr algn="ctr">
              <a:lnSpc>
                <a:spcPct val="108333"/>
              </a:lnSpc>
              <a:defRPr/>
            </a:pPr>
            <a:r>
              <a:rPr lang="zh-CN" altLang="en-US" sz="1100" b="1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低预算语义提示基准确立算法</a:t>
            </a:r>
            <a:endParaRPr lang="en-US" sz="1050" b="0" i="0" u="none" strike="noStrike" dirty="0">
              <a:solidFill>
                <a:srgbClr val="0A3760"/>
              </a:solidFill>
              <a:latin typeface="微软雅黑"/>
              <a:ea typeface="微软雅黑"/>
              <a:cs typeface="微软雅黑"/>
              <a:sym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106120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68605" y="120650"/>
            <a:ext cx="3484245" cy="617855"/>
          </a:xfrm>
          <a:custGeom>
            <a:avLst/>
            <a:gdLst/>
            <a:ahLst/>
            <a:cxnLst/>
            <a:rect l="l" t="t" r="r" b="b"/>
            <a:pathLst>
              <a:path w="3484245" h="617855">
                <a:moveTo>
                  <a:pt x="375216" y="0"/>
                </a:moveTo>
                <a:lnTo>
                  <a:pt x="375223" y="0"/>
                </a:lnTo>
                <a:lnTo>
                  <a:pt x="3093112" y="0"/>
                </a:lnTo>
                <a:lnTo>
                  <a:pt x="3093112" y="1322"/>
                </a:lnTo>
                <a:lnTo>
                  <a:pt x="3109029" y="0"/>
                </a:lnTo>
                <a:cubicBezTo>
                  <a:pt x="3316254" y="0"/>
                  <a:pt x="3484245" y="138312"/>
                  <a:pt x="3484245" y="308928"/>
                </a:cubicBezTo>
                <a:cubicBezTo>
                  <a:pt x="3484245" y="479543"/>
                  <a:pt x="3316254" y="617855"/>
                  <a:pt x="3109029" y="617855"/>
                </a:cubicBezTo>
                <a:lnTo>
                  <a:pt x="3093112" y="616534"/>
                </a:lnTo>
                <a:lnTo>
                  <a:pt x="3093112" y="617855"/>
                </a:lnTo>
                <a:lnTo>
                  <a:pt x="375216" y="617855"/>
                </a:lnTo>
                <a:cubicBezTo>
                  <a:pt x="167991" y="617855"/>
                  <a:pt x="0" y="479543"/>
                  <a:pt x="0" y="308928"/>
                </a:cubicBezTo>
                <a:cubicBezTo>
                  <a:pt x="0" y="138312"/>
                  <a:pt x="167991" y="0"/>
                  <a:pt x="375216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l">
              <a:defRPr/>
            </a:pPr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77941" y="120536"/>
            <a:ext cx="618131" cy="618131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1049755" y="199403"/>
            <a:ext cx="2386965" cy="460375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91440" tIns="45720" rIns="91440" bIns="45720" rtlCol="0" anchor="t">
            <a:no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4. 核心概念与边界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15408" y="1652303"/>
            <a:ext cx="2962390" cy="3683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 anchorCtr="0"/>
          <a:lstStyle/>
          <a:p>
            <a:pPr algn="l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019810" y="2117090"/>
            <a:ext cx="10913110" cy="422084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 anchorCtr="0"/>
          <a:lstStyle/>
          <a:p>
            <a:pPr marL="0" indent="0" algn="l" defTabSz="914400">
              <a:lnSpc>
                <a:spcPct val="100000"/>
              </a:lnSpc>
              <a:defRPr/>
            </a:pPr>
            <a:endParaRPr lang="en-US" sz="1100"/>
          </a:p>
          <a:p>
            <a:pPr marL="0" indent="0" algn="l" defTabSz="914400">
              <a:lnSpc>
                <a:spcPct val="100000"/>
              </a:lnSpc>
            </a:pPr>
            <a:endParaRPr lang="en-US" sz="1100"/>
          </a:p>
          <a:p>
            <a:pPr marL="0" indent="0" algn="l" defTabSz="914400">
              <a:lnSpc>
                <a:spcPct val="100000"/>
              </a:lnSpc>
            </a:pPr>
            <a:endParaRPr lang="en-US" sz="1100"/>
          </a:p>
          <a:p>
            <a:pPr marL="0" indent="0" algn="l" defTabSz="914400">
              <a:lnSpc>
                <a:spcPct val="100000"/>
              </a:lnSpc>
            </a:pPr>
            <a:endParaRPr lang="en-US" sz="1100"/>
          </a:p>
          <a:p>
            <a:pPr algn="l" defTabSz="914400">
              <a:lnSpc>
                <a:spcPct val="100000"/>
              </a:lnSpc>
            </a:pPr>
            <a:endParaRPr lang="en-US" sz="1100"/>
          </a:p>
        </p:txBody>
      </p:sp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695072"/>
              </p:ext>
            </p:extLst>
          </p:nvPr>
        </p:nvGraphicFramePr>
        <p:xfrm>
          <a:off x="1019810" y="873760"/>
          <a:ext cx="10988675" cy="5000217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630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154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9095"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概念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本文定义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边界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7551">
                <a:tc rowSpan="2"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主生成模型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Grounding 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DINO：语义匹配与初始框生成</a:t>
                      </a:r>
                      <a:endParaRPr lang="en-US" sz="1100" dirty="0"/>
                    </a:p>
                  </a:txBody>
                  <a:tcPr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只使用现有能力生成伪标签，不改进网络结构。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186"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/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V1 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之后提供审核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/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补漏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/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调框证据的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 SAM3</a:t>
                      </a:r>
                      <a:endParaRPr lang="en-US" sz="1100" dirty="0"/>
                    </a:p>
                  </a:txBody>
                  <a:tcPr marT="4233" marB="4233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不预设其必然有效，验证后才进入正式流程。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290"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V1 伪标签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提示词与阈值联合优化后批量产出的基准伪标签版本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 marT="10785" marB="1078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构成后续所有级联与对比实验的后置策略比较的统一基线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6580"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V2 候选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通过开发集门槛的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 V1 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后置处理版本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只有通过门槛的方案才进入正式验证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580"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数据质量指标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P / R / 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IoU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 / 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漏检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 / 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误检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 / 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框偏差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用于诊断标签问题，不直接替代下游效用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下游效用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统一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 YOLO 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训练协议下的检测性能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YOLO 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仅作效用验证器，不改其结构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9095"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Stage-Gate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Go / Hold / Stop 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阶段决策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只用于分支收敛，不扩展为自动进化机制。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Pareto 比较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等线"/>
                          <a:sym typeface="等线"/>
                        </a:rPr>
                        <a:t>在有限候选流程之间进行非支配比较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等线"/>
                          <a:sym typeface="等线"/>
                        </a:rPr>
                        <a:t>。</a:t>
                      </a:r>
                      <a:endParaRPr lang="en-US" sz="1400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1400" b="0" i="0" u="none" strike="noStrike" dirty="0">
                          <a:solidFill>
                            <a:srgbClr val="00000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等线"/>
                          <a:sym typeface="等线"/>
                        </a:rPr>
                        <a:t>目前</a:t>
                      </a: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等线"/>
                          <a:sym typeface="等线"/>
                        </a:rPr>
                        <a:t>只用于方案筛选，不构造进化优化算法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等线"/>
                          <a:sym typeface="等线"/>
                        </a:rPr>
                        <a:t>。</a:t>
                      </a:r>
                      <a:endParaRPr lang="en-US" sz="1400" dirty="0"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研究对象</a:t>
                      </a:r>
                      <a:endParaRPr lang="en-US" sz="110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火焰与烟雾（非刚性目标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）。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 dirty="0" err="1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边界弥散、形态多变，人工标注主观偏差大</a:t>
                      </a: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latin typeface="微软雅黑"/>
                          <a:ea typeface="微软雅黑"/>
                          <a:cs typeface="微软雅黑"/>
                          <a:sym typeface="微软雅黑"/>
                        </a:rPr>
                        <a:t>。</a:t>
                      </a:r>
                      <a:endParaRPr lang="en-US" sz="1100" dirty="0"/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8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32080"/>
            <a:ext cx="4009390" cy="574040"/>
          </a:xfrm>
          <a:custGeom>
            <a:avLst/>
            <a:gdLst/>
            <a:ahLst/>
            <a:cxnLst/>
            <a:rect l="l" t="t" r="r" b="b"/>
            <a:pathLst>
              <a:path w="4009390" h="574040">
                <a:moveTo>
                  <a:pt x="431770" y="0"/>
                </a:moveTo>
                <a:lnTo>
                  <a:pt x="431776" y="0"/>
                </a:lnTo>
                <a:lnTo>
                  <a:pt x="3559305" y="0"/>
                </a:lnTo>
                <a:lnTo>
                  <a:pt x="3559305" y="1228"/>
                </a:lnTo>
                <a:lnTo>
                  <a:pt x="3577620" y="0"/>
                </a:lnTo>
                <a:cubicBezTo>
                  <a:pt x="3816081" y="0"/>
                  <a:pt x="4009390" y="128504"/>
                  <a:pt x="4009390" y="287020"/>
                </a:cubicBezTo>
                <a:cubicBezTo>
                  <a:pt x="4009390" y="445536"/>
                  <a:pt x="3816081" y="574040"/>
                  <a:pt x="3577620" y="574040"/>
                </a:cubicBezTo>
                <a:lnTo>
                  <a:pt x="3559305" y="572813"/>
                </a:lnTo>
                <a:lnTo>
                  <a:pt x="3559305" y="574040"/>
                </a:lnTo>
                <a:lnTo>
                  <a:pt x="431770" y="574040"/>
                </a:lnTo>
                <a:cubicBezTo>
                  <a:pt x="193309" y="574040"/>
                  <a:pt x="0" y="445536"/>
                  <a:pt x="0" y="287020"/>
                </a:cubicBezTo>
                <a:cubicBezTo>
                  <a:pt x="0" y="128504"/>
                  <a:pt x="193309" y="0"/>
                  <a:pt x="431770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just">
              <a:defRPr/>
            </a:pPr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3195" y="132080"/>
            <a:ext cx="617855" cy="617855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901700" y="245745"/>
            <a:ext cx="3858895" cy="460375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/>
          <a:p>
            <a:pPr marL="0" indent="0" algn="just" defTabSz="914400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6. 阶段性实验结果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79500" y="1397000"/>
            <a:ext cx="10033000" cy="3810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25400" rIns="0" bIns="2540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5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前期实验结果与候选分支状态（V1 </a:t>
            </a:r>
            <a:r>
              <a:rPr lang="en-US" sz="150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基线与</a:t>
            </a:r>
            <a:r>
              <a:rPr lang="en-US" sz="15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 SAM3 </a:t>
            </a:r>
            <a:r>
              <a:rPr lang="en-US" sz="150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候选消融，数据来源：附录</a:t>
            </a:r>
            <a:r>
              <a:rPr lang="en-US" sz="15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 C）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1397000" y="1968500"/>
            <a:ext cx="1651000" cy="4318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记录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556000" y="1968500"/>
            <a:ext cx="1524000" cy="4318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P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334000" y="1968500"/>
            <a:ext cx="1524000" cy="4318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R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112000" y="1968500"/>
            <a:ext cx="1778000" cy="4318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mAP50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9271000" y="1968500"/>
            <a:ext cx="1905000" cy="4318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mAP50:95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397000" y="2400300"/>
            <a:ext cx="1651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Exp0 (人工GT基线)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556000" y="24003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0.8205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5334000" y="24003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0.6717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7112000" y="2400300"/>
            <a:ext cx="1778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0.7430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9271000" y="2400300"/>
            <a:ext cx="1905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0.5377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397000" y="2832100"/>
            <a:ext cx="1651000" cy="431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Exp1 (V1 单级)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3556000" y="28321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0.7635</a:t>
            </a:r>
            <a:endParaRPr lang="en-US" sz="1100" dirty="0"/>
          </a:p>
        </p:txBody>
      </p:sp>
      <p:sp>
        <p:nvSpPr>
          <p:cNvPr id="18" name="AutoShape 18"/>
          <p:cNvSpPr/>
          <p:nvPr/>
        </p:nvSpPr>
        <p:spPr>
          <a:xfrm>
            <a:off x="5334000" y="28321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0.6216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112000" y="2832100"/>
            <a:ext cx="1778000" cy="431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0.6647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271000" y="2832100"/>
            <a:ext cx="1905000" cy="431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1" i="0" u="none" strike="noStrike" dirty="0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0.4623</a:t>
            </a:r>
            <a:endParaRPr lang="en-US" sz="1100" b="1" dirty="0">
              <a:solidFill>
                <a:srgbClr val="FF0000"/>
              </a:solidFill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1397000" y="3263900"/>
            <a:ext cx="1651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E2A (Verifier)</a:t>
            </a:r>
            <a:endParaRPr lang="en-US" sz="1100" dirty="0"/>
          </a:p>
        </p:txBody>
      </p:sp>
      <p:sp>
        <p:nvSpPr>
          <p:cNvPr id="22" name="AutoShape 22"/>
          <p:cNvSpPr/>
          <p:nvPr/>
        </p:nvSpPr>
        <p:spPr>
          <a:xfrm>
            <a:off x="3556000" y="32639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0.7410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5334000" y="32639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0.6609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112000" y="3263900"/>
            <a:ext cx="1778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1" i="0" u="none" strike="noStrike" dirty="0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0.6689</a:t>
            </a:r>
            <a:endParaRPr lang="en-US" sz="1100" b="1" dirty="0">
              <a:solidFill>
                <a:srgbClr val="FF0000"/>
              </a:solidFill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9271000" y="3263900"/>
            <a:ext cx="1905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0.4577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1397000" y="3695700"/>
            <a:ext cx="1651000" cy="431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algn="ctr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E2B</a:t>
            </a:r>
            <a:r>
              <a:rPr lang="en-US" altLang="ja-JP" sz="1100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 (A</a:t>
            </a:r>
            <a:r>
              <a:rPr lang="en-US" altLang="zh-CN" sz="1100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ppend</a:t>
            </a:r>
            <a:r>
              <a:rPr lang="en-US" altLang="ja-JP" sz="1100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)</a:t>
            </a:r>
            <a:endParaRPr lang="en-US" sz="1100" dirty="0"/>
          </a:p>
        </p:txBody>
      </p:sp>
      <p:sp>
        <p:nvSpPr>
          <p:cNvPr id="27" name="AutoShape 27"/>
          <p:cNvSpPr/>
          <p:nvPr/>
        </p:nvSpPr>
        <p:spPr>
          <a:xfrm>
            <a:off x="3556000" y="36957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0.7531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5334000" y="36957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0.6169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112000" y="3695700"/>
            <a:ext cx="1778000" cy="431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0.6641</a:t>
            </a:r>
            <a:endParaRPr lang="en-US" sz="1100" dirty="0"/>
          </a:p>
        </p:txBody>
      </p:sp>
      <p:sp>
        <p:nvSpPr>
          <p:cNvPr id="30" name="AutoShape 30"/>
          <p:cNvSpPr/>
          <p:nvPr/>
        </p:nvSpPr>
        <p:spPr>
          <a:xfrm>
            <a:off x="9271000" y="3695700"/>
            <a:ext cx="1905000" cy="431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0.4529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1397000" y="4127500"/>
            <a:ext cx="1651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25000"/>
              </a:lnSpc>
              <a:defRPr/>
            </a:pPr>
            <a:r>
              <a:rPr lang="en-US" sz="1250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E2B-400</a:t>
            </a:r>
            <a:endParaRPr lang="en-US" sz="1100" dirty="0"/>
          </a:p>
        </p:txBody>
      </p:sp>
      <p:sp>
        <p:nvSpPr>
          <p:cNvPr id="32" name="AutoShape 32"/>
          <p:cNvSpPr/>
          <p:nvPr/>
        </p:nvSpPr>
        <p:spPr>
          <a:xfrm>
            <a:off x="3556000" y="41275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0.7462</a:t>
            </a:r>
            <a:endParaRPr lang="en-US" sz="1100" dirty="0"/>
          </a:p>
        </p:txBody>
      </p:sp>
      <p:sp>
        <p:nvSpPr>
          <p:cNvPr id="33" name="AutoShape 33"/>
          <p:cNvSpPr/>
          <p:nvPr/>
        </p:nvSpPr>
        <p:spPr>
          <a:xfrm>
            <a:off x="5334000" y="41275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0.6178</a:t>
            </a:r>
            <a:endParaRPr lang="en-US" sz="1100" dirty="0"/>
          </a:p>
        </p:txBody>
      </p:sp>
      <p:sp>
        <p:nvSpPr>
          <p:cNvPr id="34" name="AutoShape 34"/>
          <p:cNvSpPr/>
          <p:nvPr/>
        </p:nvSpPr>
        <p:spPr>
          <a:xfrm>
            <a:off x="7112000" y="4127500"/>
            <a:ext cx="1778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1" i="0" u="none" strike="noStrike" dirty="0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0.6724</a:t>
            </a:r>
            <a:endParaRPr lang="en-US" sz="1100" b="1" dirty="0">
              <a:solidFill>
                <a:srgbClr val="FF0000"/>
              </a:solidFill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9271000" y="4127500"/>
            <a:ext cx="1905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0.4530</a:t>
            </a:r>
          </a:p>
        </p:txBody>
      </p:sp>
      <p:sp>
        <p:nvSpPr>
          <p:cNvPr id="37" name="AutoShape 31">
            <a:extLst>
              <a:ext uri="{FF2B5EF4-FFF2-40B4-BE49-F238E27FC236}">
                <a16:creationId xmlns:a16="http://schemas.microsoft.com/office/drawing/2014/main" id="{CDA42C2F-6DE5-4A2B-92A2-743A586769D6}"/>
              </a:ext>
            </a:extLst>
          </p:cNvPr>
          <p:cNvSpPr/>
          <p:nvPr/>
        </p:nvSpPr>
        <p:spPr>
          <a:xfrm>
            <a:off x="1397000" y="4545853"/>
            <a:ext cx="1651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25000"/>
              </a:lnSpc>
              <a:defRPr/>
            </a:pPr>
            <a:r>
              <a:rPr lang="en-US" sz="1250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E2B-400+IoF0.7</a:t>
            </a:r>
            <a:endParaRPr lang="en-US" sz="1100" dirty="0"/>
          </a:p>
        </p:txBody>
      </p:sp>
      <p:sp>
        <p:nvSpPr>
          <p:cNvPr id="38" name="AutoShape 31">
            <a:extLst>
              <a:ext uri="{FF2B5EF4-FFF2-40B4-BE49-F238E27FC236}">
                <a16:creationId xmlns:a16="http://schemas.microsoft.com/office/drawing/2014/main" id="{EE1A45C4-57D9-490C-AEB3-FEE21888036A}"/>
              </a:ext>
            </a:extLst>
          </p:cNvPr>
          <p:cNvSpPr/>
          <p:nvPr/>
        </p:nvSpPr>
        <p:spPr>
          <a:xfrm>
            <a:off x="1397000" y="4955988"/>
            <a:ext cx="1651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25000"/>
              </a:lnSpc>
              <a:defRPr/>
            </a:pPr>
            <a:r>
              <a:rPr lang="en-US" sz="1250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E2B-400+IoF0.3</a:t>
            </a:r>
            <a:endParaRPr lang="en-US" sz="1100" dirty="0"/>
          </a:p>
        </p:txBody>
      </p:sp>
      <p:sp>
        <p:nvSpPr>
          <p:cNvPr id="39" name="AutoShape 32">
            <a:extLst>
              <a:ext uri="{FF2B5EF4-FFF2-40B4-BE49-F238E27FC236}">
                <a16:creationId xmlns:a16="http://schemas.microsoft.com/office/drawing/2014/main" id="{0621CAF4-0A45-4DCB-B535-D525D9ECDAC3}"/>
              </a:ext>
            </a:extLst>
          </p:cNvPr>
          <p:cNvSpPr/>
          <p:nvPr/>
        </p:nvSpPr>
        <p:spPr>
          <a:xfrm>
            <a:off x="3556000" y="4539876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0.7729</a:t>
            </a:r>
            <a:endParaRPr lang="en-US" sz="1100" dirty="0"/>
          </a:p>
        </p:txBody>
      </p:sp>
      <p:sp>
        <p:nvSpPr>
          <p:cNvPr id="40" name="AutoShape 32">
            <a:extLst>
              <a:ext uri="{FF2B5EF4-FFF2-40B4-BE49-F238E27FC236}">
                <a16:creationId xmlns:a16="http://schemas.microsoft.com/office/drawing/2014/main" id="{71DCA17D-C7FB-48EA-B5B7-792E5CECDD46}"/>
              </a:ext>
            </a:extLst>
          </p:cNvPr>
          <p:cNvSpPr/>
          <p:nvPr/>
        </p:nvSpPr>
        <p:spPr>
          <a:xfrm>
            <a:off x="3556000" y="4952252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0.7148</a:t>
            </a:r>
            <a:endParaRPr lang="en-US" sz="1100" dirty="0"/>
          </a:p>
        </p:txBody>
      </p:sp>
      <p:sp>
        <p:nvSpPr>
          <p:cNvPr id="41" name="AutoShape 33">
            <a:extLst>
              <a:ext uri="{FF2B5EF4-FFF2-40B4-BE49-F238E27FC236}">
                <a16:creationId xmlns:a16="http://schemas.microsoft.com/office/drawing/2014/main" id="{AD6A98A3-20AF-451E-AF77-66701D06A146}"/>
              </a:ext>
            </a:extLst>
          </p:cNvPr>
          <p:cNvSpPr/>
          <p:nvPr/>
        </p:nvSpPr>
        <p:spPr>
          <a:xfrm>
            <a:off x="5334000" y="4563035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0.5878</a:t>
            </a:r>
            <a:endParaRPr lang="en-US" sz="1100" dirty="0"/>
          </a:p>
        </p:txBody>
      </p:sp>
      <p:sp>
        <p:nvSpPr>
          <p:cNvPr id="42" name="AutoShape 33">
            <a:extLst>
              <a:ext uri="{FF2B5EF4-FFF2-40B4-BE49-F238E27FC236}">
                <a16:creationId xmlns:a16="http://schemas.microsoft.com/office/drawing/2014/main" id="{413C6BD1-85D4-4AFE-9424-489658BB5A34}"/>
              </a:ext>
            </a:extLst>
          </p:cNvPr>
          <p:cNvSpPr/>
          <p:nvPr/>
        </p:nvSpPr>
        <p:spPr>
          <a:xfrm>
            <a:off x="5328023" y="4943286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0.6432</a:t>
            </a:r>
            <a:endParaRPr lang="en-US" sz="1100" dirty="0"/>
          </a:p>
        </p:txBody>
      </p:sp>
      <p:sp>
        <p:nvSpPr>
          <p:cNvPr id="43" name="AutoShape 34">
            <a:extLst>
              <a:ext uri="{FF2B5EF4-FFF2-40B4-BE49-F238E27FC236}">
                <a16:creationId xmlns:a16="http://schemas.microsoft.com/office/drawing/2014/main" id="{703068D3-2ED3-413E-AE0A-BBA6D81F784E}"/>
              </a:ext>
            </a:extLst>
          </p:cNvPr>
          <p:cNvSpPr/>
          <p:nvPr/>
        </p:nvSpPr>
        <p:spPr>
          <a:xfrm>
            <a:off x="7112000" y="4566770"/>
            <a:ext cx="1778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0.6638</a:t>
            </a:r>
            <a:endParaRPr lang="en-US" sz="1100" dirty="0"/>
          </a:p>
        </p:txBody>
      </p:sp>
      <p:sp>
        <p:nvSpPr>
          <p:cNvPr id="44" name="AutoShape 34">
            <a:extLst>
              <a:ext uri="{FF2B5EF4-FFF2-40B4-BE49-F238E27FC236}">
                <a16:creationId xmlns:a16="http://schemas.microsoft.com/office/drawing/2014/main" id="{1A70601F-2509-4E41-AD81-75293EF01D21}"/>
              </a:ext>
            </a:extLst>
          </p:cNvPr>
          <p:cNvSpPr/>
          <p:nvPr/>
        </p:nvSpPr>
        <p:spPr>
          <a:xfrm>
            <a:off x="7112000" y="5006040"/>
            <a:ext cx="1778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1" i="0" u="none" strike="noStrike" dirty="0">
                <a:solidFill>
                  <a:srgbClr val="FF0000"/>
                </a:solidFill>
                <a:latin typeface="微软雅黑"/>
                <a:ea typeface="微软雅黑"/>
                <a:cs typeface="微软雅黑"/>
                <a:sym typeface="微软雅黑"/>
              </a:rPr>
              <a:t>0.6722</a:t>
            </a:r>
            <a:endParaRPr lang="en-US" sz="1100" b="1" dirty="0">
              <a:solidFill>
                <a:srgbClr val="FF0000"/>
              </a:solidFill>
            </a:endParaRPr>
          </a:p>
        </p:txBody>
      </p:sp>
      <p:sp>
        <p:nvSpPr>
          <p:cNvPr id="45" name="AutoShape 35">
            <a:extLst>
              <a:ext uri="{FF2B5EF4-FFF2-40B4-BE49-F238E27FC236}">
                <a16:creationId xmlns:a16="http://schemas.microsoft.com/office/drawing/2014/main" id="{59E02340-4350-4174-AD6D-BDD9AC9156DB}"/>
              </a:ext>
            </a:extLst>
          </p:cNvPr>
          <p:cNvSpPr/>
          <p:nvPr/>
        </p:nvSpPr>
        <p:spPr>
          <a:xfrm>
            <a:off x="9271000" y="4559300"/>
            <a:ext cx="1905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0.4525</a:t>
            </a:r>
          </a:p>
        </p:txBody>
      </p:sp>
      <p:sp>
        <p:nvSpPr>
          <p:cNvPr id="46" name="AutoShape 35">
            <a:extLst>
              <a:ext uri="{FF2B5EF4-FFF2-40B4-BE49-F238E27FC236}">
                <a16:creationId xmlns:a16="http://schemas.microsoft.com/office/drawing/2014/main" id="{B3762E45-B9C0-40EB-89A6-6B9A51C3529B}"/>
              </a:ext>
            </a:extLst>
          </p:cNvPr>
          <p:cNvSpPr/>
          <p:nvPr/>
        </p:nvSpPr>
        <p:spPr>
          <a:xfrm>
            <a:off x="9271000" y="4967940"/>
            <a:ext cx="1905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i="0" u="none" strike="noStrike" dirty="0">
                <a:solidFill>
                  <a:schemeClr val="tx1"/>
                </a:solidFill>
                <a:latin typeface="微软雅黑"/>
                <a:ea typeface="微软雅黑"/>
                <a:cs typeface="微软雅黑"/>
                <a:sym typeface="微软雅黑"/>
              </a:rPr>
              <a:t>0.4606</a:t>
            </a:r>
          </a:p>
        </p:txBody>
      </p:sp>
      <p:sp>
        <p:nvSpPr>
          <p:cNvPr id="47" name="AutoShape 31">
            <a:extLst>
              <a:ext uri="{FF2B5EF4-FFF2-40B4-BE49-F238E27FC236}">
                <a16:creationId xmlns:a16="http://schemas.microsoft.com/office/drawing/2014/main" id="{7E627449-57FA-4893-975D-68FE21A905E0}"/>
              </a:ext>
            </a:extLst>
          </p:cNvPr>
          <p:cNvSpPr/>
          <p:nvPr/>
        </p:nvSpPr>
        <p:spPr>
          <a:xfrm>
            <a:off x="1397000" y="5357905"/>
            <a:ext cx="1651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25000"/>
              </a:lnSpc>
              <a:defRPr/>
            </a:pPr>
            <a:r>
              <a:rPr lang="en-US" sz="1250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E2C(Refiner) </a:t>
            </a:r>
            <a:endParaRPr lang="en-US" sz="1100" dirty="0"/>
          </a:p>
        </p:txBody>
      </p:sp>
      <p:sp>
        <p:nvSpPr>
          <p:cNvPr id="48" name="AutoShape 32">
            <a:extLst>
              <a:ext uri="{FF2B5EF4-FFF2-40B4-BE49-F238E27FC236}">
                <a16:creationId xmlns:a16="http://schemas.microsoft.com/office/drawing/2014/main" id="{C378DEA7-6B36-46A1-8B90-4A62184B61AB}"/>
              </a:ext>
            </a:extLst>
          </p:cNvPr>
          <p:cNvSpPr/>
          <p:nvPr/>
        </p:nvSpPr>
        <p:spPr>
          <a:xfrm>
            <a:off x="3544047" y="5369111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0.6124</a:t>
            </a:r>
            <a:endParaRPr lang="en-US" sz="1100" dirty="0"/>
          </a:p>
        </p:txBody>
      </p:sp>
      <p:sp>
        <p:nvSpPr>
          <p:cNvPr id="49" name="AutoShape 33">
            <a:extLst>
              <a:ext uri="{FF2B5EF4-FFF2-40B4-BE49-F238E27FC236}">
                <a16:creationId xmlns:a16="http://schemas.microsoft.com/office/drawing/2014/main" id="{734BD996-163A-4257-9E55-01B4BAE75929}"/>
              </a:ext>
            </a:extLst>
          </p:cNvPr>
          <p:cNvSpPr/>
          <p:nvPr/>
        </p:nvSpPr>
        <p:spPr>
          <a:xfrm>
            <a:off x="5334000" y="5379569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0.6128</a:t>
            </a:r>
            <a:endParaRPr lang="en-US" sz="1100" dirty="0"/>
          </a:p>
        </p:txBody>
      </p:sp>
      <p:sp>
        <p:nvSpPr>
          <p:cNvPr id="50" name="AutoShape 34">
            <a:extLst>
              <a:ext uri="{FF2B5EF4-FFF2-40B4-BE49-F238E27FC236}">
                <a16:creationId xmlns:a16="http://schemas.microsoft.com/office/drawing/2014/main" id="{D5F44744-828D-48E4-B59B-131613121F36}"/>
              </a:ext>
            </a:extLst>
          </p:cNvPr>
          <p:cNvSpPr/>
          <p:nvPr/>
        </p:nvSpPr>
        <p:spPr>
          <a:xfrm>
            <a:off x="7112000" y="5407955"/>
            <a:ext cx="1778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i="0" u="none" strike="noStrike" dirty="0">
                <a:solidFill>
                  <a:schemeClr val="tx1"/>
                </a:solidFill>
                <a:latin typeface="微软雅黑"/>
                <a:ea typeface="微软雅黑"/>
                <a:cs typeface="微软雅黑"/>
                <a:sym typeface="微软雅黑"/>
              </a:rPr>
              <a:t>0.5769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51" name="AutoShape 35">
            <a:extLst>
              <a:ext uri="{FF2B5EF4-FFF2-40B4-BE49-F238E27FC236}">
                <a16:creationId xmlns:a16="http://schemas.microsoft.com/office/drawing/2014/main" id="{4A2D3CD6-BA2F-49C1-B298-3BEE6F47AE3C}"/>
              </a:ext>
            </a:extLst>
          </p:cNvPr>
          <p:cNvSpPr/>
          <p:nvPr/>
        </p:nvSpPr>
        <p:spPr>
          <a:xfrm>
            <a:off x="9261288" y="5379569"/>
            <a:ext cx="1905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 anchorCtr="0"/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i="0" u="none" strike="noStrike" dirty="0">
                <a:solidFill>
                  <a:schemeClr val="tx1"/>
                </a:solidFill>
                <a:latin typeface="微软雅黑"/>
                <a:ea typeface="微软雅黑"/>
                <a:cs typeface="微软雅黑"/>
                <a:sym typeface="微软雅黑"/>
              </a:rPr>
              <a:t>0.3701</a:t>
            </a:r>
          </a:p>
        </p:txBody>
      </p:sp>
      <p:sp>
        <p:nvSpPr>
          <p:cNvPr id="52" name="AutoShape 39">
            <a:extLst>
              <a:ext uri="{FF2B5EF4-FFF2-40B4-BE49-F238E27FC236}">
                <a16:creationId xmlns:a16="http://schemas.microsoft.com/office/drawing/2014/main" id="{720AB482-849C-4467-AF2B-7E4B4FF2CD64}"/>
              </a:ext>
            </a:extLst>
          </p:cNvPr>
          <p:cNvSpPr/>
          <p:nvPr/>
        </p:nvSpPr>
        <p:spPr>
          <a:xfrm>
            <a:off x="1025712" y="5963920"/>
            <a:ext cx="10033000" cy="762000"/>
          </a:xfrm>
          <a:prstGeom prst="roundRect">
            <a:avLst>
              <a:gd name="adj" fmla="val 0"/>
            </a:avLst>
          </a:prstGeom>
          <a:solidFill>
            <a:srgbClr val="FAF5EB">
              <a:alpha val="100000"/>
            </a:srgbClr>
          </a:solidFill>
          <a:ln w="12700" cap="flat" cmpd="sng">
            <a:solidFill>
              <a:srgbClr val="C8783C">
                <a:alpha val="100000"/>
              </a:srgbClr>
            </a:solidFill>
            <a:prstDash val="solid"/>
            <a:miter lim="1000000"/>
          </a:ln>
        </p:spPr>
        <p:txBody>
          <a:bodyPr vert="horz" wrap="square" lIns="203200" tIns="101600" rIns="203200" bIns="101600" rtlCol="0" anchor="ctr">
            <a:noAutofit/>
          </a:bodyPr>
          <a:lstStyle/>
          <a:p>
            <a:pPr>
              <a:lnSpc>
                <a:spcPct val="108333"/>
              </a:lnSpc>
              <a:defRPr/>
            </a:pPr>
            <a:r>
              <a:rPr lang="en-US" sz="1250" b="1" i="0" u="none" strike="noStrike" dirty="0" err="1">
                <a:solidFill>
                  <a:srgbClr val="B4321E"/>
                </a:solidFill>
                <a:latin typeface="微软雅黑"/>
                <a:ea typeface="微软雅黑"/>
                <a:cs typeface="微软雅黑"/>
                <a:sym typeface="微软雅黑"/>
              </a:rPr>
              <a:t>结论</a:t>
            </a:r>
            <a:r>
              <a:rPr lang="en-US" sz="1250" b="1" i="0" u="none" strike="noStrike" dirty="0">
                <a:solidFill>
                  <a:srgbClr val="B4321E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  <a:r>
              <a:rPr lang="en-US" altLang="ja-JP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 </a:t>
            </a:r>
            <a:r>
              <a:rPr lang="en-US" altLang="zh-CN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Verifier </a:t>
            </a:r>
            <a:r>
              <a:rPr lang="zh-CN" altLang="en-US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有继续稳定性复验的候选价值（关注误删与 </a:t>
            </a:r>
            <a:r>
              <a:rPr lang="en-US" altLang="zh-CN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Recall</a:t>
            </a:r>
            <a:r>
              <a:rPr lang="zh-CN" altLang="en-US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）；</a:t>
            </a:r>
            <a:r>
              <a:rPr lang="en-US" altLang="zh-CN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Append </a:t>
            </a:r>
            <a:r>
              <a:rPr lang="zh-CN" altLang="en-US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具备补漏可能；</a:t>
            </a:r>
            <a:r>
              <a:rPr lang="en-US" altLang="zh-CN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Refiner </a:t>
            </a:r>
            <a:r>
              <a:rPr lang="zh-CN" altLang="en-US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直接重定位出现明显下游退化，当前保持 </a:t>
            </a:r>
            <a:r>
              <a:rPr lang="en-US" altLang="zh-CN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Stop</a:t>
            </a:r>
            <a:r>
              <a:rPr lang="zh-CN" altLang="en-US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。正文结论区分“已证实 </a:t>
            </a:r>
            <a:r>
              <a:rPr lang="en-US" altLang="zh-CN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/ </a:t>
            </a:r>
            <a:r>
              <a:rPr lang="zh-CN" altLang="en-US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待验证 </a:t>
            </a:r>
            <a:r>
              <a:rPr lang="en-US" altLang="zh-CN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/ </a:t>
            </a:r>
            <a:r>
              <a:rPr lang="zh-CN" altLang="en-US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已停止”，不以单次最优替代稳定性证据。</a:t>
            </a:r>
          </a:p>
          <a:p>
            <a:pPr>
              <a:lnSpc>
                <a:spcPct val="108333"/>
              </a:lnSpc>
              <a:defRPr/>
            </a:pPr>
            <a:endParaRPr lang="en-US" sz="1250" dirty="0">
              <a:solidFill>
                <a:srgbClr val="783214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3616927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32080"/>
            <a:ext cx="4009390" cy="574040"/>
          </a:xfrm>
          <a:custGeom>
            <a:avLst/>
            <a:gdLst/>
            <a:ahLst/>
            <a:cxnLst/>
            <a:rect l="l" t="t" r="r" b="b"/>
            <a:pathLst>
              <a:path w="4009390" h="574040">
                <a:moveTo>
                  <a:pt x="431770" y="0"/>
                </a:moveTo>
                <a:lnTo>
                  <a:pt x="431776" y="0"/>
                </a:lnTo>
                <a:lnTo>
                  <a:pt x="3559305" y="0"/>
                </a:lnTo>
                <a:lnTo>
                  <a:pt x="3559305" y="1228"/>
                </a:lnTo>
                <a:lnTo>
                  <a:pt x="3577620" y="0"/>
                </a:lnTo>
                <a:cubicBezTo>
                  <a:pt x="3816081" y="0"/>
                  <a:pt x="4009390" y="128504"/>
                  <a:pt x="4009390" y="287020"/>
                </a:cubicBezTo>
                <a:cubicBezTo>
                  <a:pt x="4009390" y="445536"/>
                  <a:pt x="3816081" y="574040"/>
                  <a:pt x="3577620" y="574040"/>
                </a:cubicBezTo>
                <a:lnTo>
                  <a:pt x="3559305" y="572813"/>
                </a:lnTo>
                <a:lnTo>
                  <a:pt x="3559305" y="574040"/>
                </a:lnTo>
                <a:lnTo>
                  <a:pt x="431770" y="574040"/>
                </a:lnTo>
                <a:cubicBezTo>
                  <a:pt x="193309" y="574040"/>
                  <a:pt x="0" y="445536"/>
                  <a:pt x="0" y="287020"/>
                </a:cubicBezTo>
                <a:cubicBezTo>
                  <a:pt x="0" y="128504"/>
                  <a:pt x="193309" y="0"/>
                  <a:pt x="431770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6. 多随机种子稳定性复验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397000" y="1968500"/>
            <a:ext cx="1651000" cy="4318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记录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556000" y="1968500"/>
            <a:ext cx="1524000" cy="4318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P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334000" y="1968500"/>
            <a:ext cx="1524000" cy="4318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R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112000" y="1968500"/>
            <a:ext cx="1778000" cy="4318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mAP50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271000" y="1968500"/>
            <a:ext cx="1905000" cy="4318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mAP50:95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397000" y="2400300"/>
            <a:ext cx="1651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E1 seed0 (V1)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3556000" y="24003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0.694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334000" y="24003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0.611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112000" y="2400300"/>
            <a:ext cx="1778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0.630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9271000" y="2400300"/>
            <a:ext cx="1905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0.426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397000" y="2832100"/>
            <a:ext cx="1651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E2A seed0 (Verifier)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3556000" y="28321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0.729</a:t>
            </a:r>
            <a:endParaRPr lang="en-US" sz="1100" dirty="0"/>
          </a:p>
        </p:txBody>
      </p:sp>
      <p:sp>
        <p:nvSpPr>
          <p:cNvPr id="15" name="AutoShape 15"/>
          <p:cNvSpPr/>
          <p:nvPr/>
        </p:nvSpPr>
        <p:spPr>
          <a:xfrm>
            <a:off x="5334000" y="28321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0.609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112000" y="2832100"/>
            <a:ext cx="1778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0.656</a:t>
            </a:r>
            <a:endParaRPr lang="en-US" sz="1100" dirty="0"/>
          </a:p>
        </p:txBody>
      </p:sp>
      <p:sp>
        <p:nvSpPr>
          <p:cNvPr id="17" name="AutoShape 17"/>
          <p:cNvSpPr/>
          <p:nvPr/>
        </p:nvSpPr>
        <p:spPr>
          <a:xfrm>
            <a:off x="9271000" y="2832100"/>
            <a:ext cx="1905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0.456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1397000" y="3263900"/>
            <a:ext cx="1651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E1 seed1 (V1)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3556000" y="32639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0.748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5334000" y="32639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0.586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112000" y="3263900"/>
            <a:ext cx="1778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0.649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271000" y="3263900"/>
            <a:ext cx="1905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0.442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1397000" y="3695700"/>
            <a:ext cx="1651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E2A seed1 (Verifier)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3556000" y="36957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0.692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5334000" y="36957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0.654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112000" y="3695700"/>
            <a:ext cx="1778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0.660</a:t>
            </a:r>
            <a:endParaRPr lang="en-US" sz="1100" dirty="0"/>
          </a:p>
        </p:txBody>
      </p:sp>
      <p:sp>
        <p:nvSpPr>
          <p:cNvPr id="27" name="AutoShape 27"/>
          <p:cNvSpPr/>
          <p:nvPr/>
        </p:nvSpPr>
        <p:spPr>
          <a:xfrm>
            <a:off x="9271000" y="3695700"/>
            <a:ext cx="1905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0.451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1397000" y="4127500"/>
            <a:ext cx="1651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E1 seed2 (V1)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3556000" y="41275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0.680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5334000" y="41275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0.612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7112000" y="4127500"/>
            <a:ext cx="1778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0.643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271000" y="4127500"/>
            <a:ext cx="1905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0.443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1397000" y="4559300"/>
            <a:ext cx="1651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E2A seed2 (Verifier)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3556000" y="45593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0.718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5334000" y="4559300"/>
            <a:ext cx="1524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0.635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7112000" y="4559300"/>
            <a:ext cx="1778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0.675</a:t>
            </a:r>
            <a:endParaRPr lang="en-US" sz="1100" dirty="0"/>
          </a:p>
        </p:txBody>
      </p:sp>
      <p:sp>
        <p:nvSpPr>
          <p:cNvPr id="37" name="AutoShape 37"/>
          <p:cNvSpPr/>
          <p:nvPr/>
        </p:nvSpPr>
        <p:spPr>
          <a:xfrm>
            <a:off x="9271000" y="4559300"/>
            <a:ext cx="1905000" cy="4318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D2DCE6">
                <a:alpha val="100000"/>
              </a:srgbClr>
            </a:solidFill>
            <a:prstDash val="solid"/>
            <a:miter lim="1000000"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0.464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1397000" y="1397000"/>
            <a:ext cx="9715500" cy="368300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152400" tIns="0" rIns="152400" bIns="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300" b="1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E1（V1）与 E2A（Verifier）各 3 </a:t>
            </a:r>
            <a:r>
              <a:rPr lang="en-US" sz="1300" b="1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个随机种子训练，验证结论稳定性（附录</a:t>
            </a:r>
            <a:r>
              <a:rPr lang="en-US" sz="1300" b="1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 C）</a:t>
            </a:r>
            <a:endParaRPr lang="en-US" sz="1100" dirty="0"/>
          </a:p>
        </p:txBody>
      </p:sp>
      <p:sp>
        <p:nvSpPr>
          <p:cNvPr id="39" name="AutoShape 39"/>
          <p:cNvSpPr/>
          <p:nvPr/>
        </p:nvSpPr>
        <p:spPr>
          <a:xfrm>
            <a:off x="1143000" y="5092701"/>
            <a:ext cx="10033000" cy="762000"/>
          </a:xfrm>
          <a:prstGeom prst="roundRect">
            <a:avLst>
              <a:gd name="adj" fmla="val 0"/>
            </a:avLst>
          </a:prstGeom>
          <a:solidFill>
            <a:srgbClr val="FAF5EB">
              <a:alpha val="100000"/>
            </a:srgbClr>
          </a:solidFill>
          <a:ln w="12700" cap="flat" cmpd="sng">
            <a:solidFill>
              <a:srgbClr val="C8783C">
                <a:alpha val="100000"/>
              </a:srgbClr>
            </a:solidFill>
            <a:prstDash val="solid"/>
            <a:miter lim="1000000"/>
          </a:ln>
        </p:spPr>
        <p:txBody>
          <a:bodyPr vert="horz" wrap="square" lIns="203200" tIns="101600" rIns="203200" bIns="101600" rtlCol="0" anchor="ctr">
            <a:noAutofit/>
          </a:bodyPr>
          <a:lstStyle/>
          <a:p>
            <a:pPr>
              <a:lnSpc>
                <a:spcPct val="108333"/>
              </a:lnSpc>
              <a:defRPr/>
            </a:pPr>
            <a:r>
              <a:rPr lang="en-US" sz="1250" b="1" i="0" u="none" strike="noStrike" dirty="0" err="1">
                <a:solidFill>
                  <a:srgbClr val="B4321E"/>
                </a:solidFill>
                <a:latin typeface="微软雅黑"/>
                <a:ea typeface="微软雅黑"/>
                <a:cs typeface="微软雅黑"/>
                <a:sym typeface="微软雅黑"/>
              </a:rPr>
              <a:t>结论</a:t>
            </a:r>
            <a:r>
              <a:rPr lang="en-US" sz="1250" b="1" i="0" u="none" strike="noStrike" dirty="0">
                <a:solidFill>
                  <a:srgbClr val="B4321E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  <a:r>
              <a:rPr lang="en-US" altLang="ja-JP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 在 3 </a:t>
            </a:r>
            <a:r>
              <a:rPr lang="en-US" altLang="ja-JP" sz="1250" dirty="0" err="1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个随机种子下</a:t>
            </a:r>
            <a:r>
              <a:rPr lang="en-US" altLang="ja-JP" sz="1250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  </a:t>
            </a:r>
            <a:r>
              <a:rPr lang="en-US" sz="1250" b="0" i="0" u="none" strike="noStrike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E2A（Verifier）</a:t>
            </a:r>
            <a:r>
              <a:rPr lang="zh-CN" altLang="en-US" sz="1250" b="0" i="0" u="none" strike="noStrike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相较于</a:t>
            </a:r>
            <a:r>
              <a:rPr lang="en-US" altLang="zh-CN" sz="1250" b="0" i="0" u="none" strike="noStrike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V1</a:t>
            </a:r>
            <a:r>
              <a:rPr lang="zh-CN" altLang="en-US" sz="1250" b="0" i="0" u="none" strike="noStrike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是稳定有增益的</a:t>
            </a:r>
            <a:r>
              <a:rPr lang="en-US" altLang="zh-CN" sz="1250" b="0" i="0" u="none" strike="noStrike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,</a:t>
            </a:r>
            <a:r>
              <a:rPr lang="zh-CN" altLang="en-US" sz="1250" b="0" i="0" u="none" strike="noStrike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后续会补充</a:t>
            </a:r>
            <a:r>
              <a:rPr lang="en-US" altLang="zh-CN" sz="1250" b="0" i="0" u="none" strike="noStrike" dirty="0">
                <a:solidFill>
                  <a:srgbClr val="783214"/>
                </a:solidFill>
                <a:latin typeface="微软雅黑"/>
                <a:ea typeface="微软雅黑"/>
                <a:cs typeface="微软雅黑"/>
                <a:sym typeface="微软雅黑"/>
              </a:rPr>
              <a:t>append</a:t>
            </a:r>
            <a:r>
              <a:rPr lang="zh-CN" altLang="en-US" sz="1250" dirty="0">
                <a:solidFill>
                  <a:srgbClr val="783214"/>
                </a:solidFill>
                <a:latin typeface="微软雅黑"/>
                <a:ea typeface="微软雅黑"/>
                <a:sym typeface="微软雅黑"/>
              </a:rPr>
              <a:t>部分（</a:t>
            </a:r>
            <a:r>
              <a:rPr lang="en-US" altLang="ja-JP" sz="1250" dirty="0">
                <a:solidFill>
                  <a:srgbClr val="783214"/>
                </a:solidFill>
                <a:latin typeface="微软雅黑"/>
                <a:ea typeface="微软雅黑"/>
                <a:sym typeface="微软雅黑"/>
              </a:rPr>
              <a:t>E2B-400+IoF0.3</a:t>
            </a:r>
            <a:r>
              <a:rPr lang="zh-CN" altLang="en-US" sz="1250" dirty="0">
                <a:solidFill>
                  <a:srgbClr val="783214"/>
                </a:solidFill>
                <a:latin typeface="微软雅黑"/>
                <a:ea typeface="微软雅黑"/>
                <a:sym typeface="微软雅黑"/>
              </a:rPr>
              <a:t>）多随机种子稳定性复验</a:t>
            </a:r>
            <a:endParaRPr lang="en-US" sz="1250" dirty="0">
              <a:solidFill>
                <a:srgbClr val="783214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32080"/>
            <a:ext cx="4435475" cy="617220"/>
          </a:xfrm>
          <a:custGeom>
            <a:avLst/>
            <a:gdLst/>
            <a:ahLst/>
            <a:cxnLst/>
            <a:rect l="l" t="t" r="r" b="b"/>
            <a:pathLst>
              <a:path w="4435475" h="617220">
                <a:moveTo>
                  <a:pt x="477655" y="0"/>
                </a:moveTo>
                <a:lnTo>
                  <a:pt x="477661" y="0"/>
                </a:lnTo>
                <a:lnTo>
                  <a:pt x="3937559" y="0"/>
                </a:lnTo>
                <a:lnTo>
                  <a:pt x="3937559" y="1321"/>
                </a:lnTo>
                <a:lnTo>
                  <a:pt x="3957820" y="0"/>
                </a:lnTo>
                <a:cubicBezTo>
                  <a:pt x="4221622" y="0"/>
                  <a:pt x="4435475" y="138170"/>
                  <a:pt x="4435475" y="308610"/>
                </a:cubicBezTo>
                <a:cubicBezTo>
                  <a:pt x="4435475" y="479050"/>
                  <a:pt x="4221622" y="617220"/>
                  <a:pt x="3957820" y="617220"/>
                </a:cubicBezTo>
                <a:lnTo>
                  <a:pt x="3937559" y="615900"/>
                </a:lnTo>
                <a:lnTo>
                  <a:pt x="3937559" y="617220"/>
                </a:lnTo>
                <a:lnTo>
                  <a:pt x="477655" y="617220"/>
                </a:lnTo>
                <a:cubicBezTo>
                  <a:pt x="213853" y="617220"/>
                  <a:pt x="0" y="479050"/>
                  <a:pt x="0" y="308610"/>
                </a:cubicBezTo>
                <a:cubicBezTo>
                  <a:pt x="0" y="138170"/>
                  <a:pt x="213853" y="0"/>
                  <a:pt x="477655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just">
              <a:defRPr/>
            </a:pPr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3195" y="132080"/>
            <a:ext cx="617855" cy="617855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781050" y="245745"/>
            <a:ext cx="3858895" cy="460375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/>
          <a:p>
            <a:pPr marL="0" indent="0" algn="just" defTabSz="914400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7. 标签制备成本核算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89000" y="1270000"/>
            <a:ext cx="10414000" cy="889000"/>
          </a:xfrm>
          <a:prstGeom prst="roundRect">
            <a:avLst>
              <a:gd name="adj" fmla="val 0"/>
            </a:avLst>
          </a:prstGeom>
          <a:solidFill>
            <a:srgbClr val="0A3760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 defTabSz="914400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C_total = p_GPU · t_infer + p_labor · t_labor + C_mgmt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89000" y="2476500"/>
            <a:ext cx="10414000" cy="838200"/>
          </a:xfrm>
          <a:prstGeom prst="roundRect">
            <a:avLst>
              <a:gd name="adj" fmla="val 0"/>
            </a:avLst>
          </a:prstGeom>
          <a:solidFill>
            <a:srgbClr val="F5F8FB">
              <a:alpha val="100000"/>
            </a:srgbClr>
          </a:solidFill>
          <a:ln w="127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177800" tIns="0" rIns="177800" bIns="0" rtlCol="0" anchor="ctr">
            <a:noAutofit/>
          </a:bodyPr>
          <a:lstStyle/>
          <a:p>
            <a:pPr marL="0" indent="0" algn="l" defTabSz="914400">
              <a:lnSpc>
                <a:spcPct val="116666"/>
              </a:lnSpc>
              <a:defRPr/>
            </a:pPr>
            <a:r>
              <a:rPr lang="en-US" sz="1400" b="1" i="0" u="none" strike="noStrike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● 纯人工基准：</a:t>
            </a:r>
            <a:r>
              <a:rPr lang="en-US" sz="130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单框综合成本（含标注与质检返工）0.5 元/框；火/烟约 3 目标/张 → 单张全量人工约 1.5 元。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3467100"/>
            <a:ext cx="10414000" cy="838200"/>
          </a:xfrm>
          <a:prstGeom prst="roundRect">
            <a:avLst>
              <a:gd name="adj" fmla="val 0"/>
            </a:avLst>
          </a:prstGeom>
          <a:solidFill>
            <a:srgbClr val="F5F8FB">
              <a:alpha val="100000"/>
            </a:srgbClr>
          </a:solidFill>
          <a:ln w="127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177800" tIns="0" rIns="177800" bIns="0" rtlCol="0" anchor="ctr">
            <a:noAutofit/>
          </a:bodyPr>
          <a:lstStyle/>
          <a:p>
            <a:pPr marL="0" indent="0" algn="l" defTabSz="914400">
              <a:lnSpc>
                <a:spcPct val="116666"/>
              </a:lnSpc>
              <a:defRPr/>
            </a:pPr>
            <a:r>
              <a:rPr lang="en-US" sz="1400" b="1" i="0" u="none" strike="noStrike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● 自动化算力：</a:t>
            </a:r>
            <a:r>
              <a:rPr lang="en-US" sz="1300" b="0" i="0" u="none" strike="noStrike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AutoDL RTX 4090(24G) 按需约 2.0 元/小时；实测吞吐约 9000 张/小时。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889000" y="4457700"/>
            <a:ext cx="10414000" cy="838200"/>
          </a:xfrm>
          <a:prstGeom prst="roundRect">
            <a:avLst>
              <a:gd name="adj" fmla="val 0"/>
            </a:avLst>
          </a:prstGeom>
          <a:solidFill>
            <a:srgbClr val="F5F8FB">
              <a:alpha val="100000"/>
            </a:srgbClr>
          </a:solidFill>
          <a:ln w="127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177800" tIns="0" rIns="177800" bIns="0" rtlCol="0" anchor="ctr" anchorCtr="0"/>
          <a:lstStyle/>
          <a:p>
            <a:pPr marL="0" indent="0" algn="l" defTabSz="914400">
              <a:lnSpc>
                <a:spcPct val="116666"/>
              </a:lnSpc>
              <a:defRPr/>
            </a:pPr>
            <a:r>
              <a:rPr lang="en-US" sz="1400" b="1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● </a:t>
            </a:r>
            <a:r>
              <a:rPr lang="en-US" sz="1400" b="1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人工抽检：</a:t>
            </a:r>
            <a:r>
              <a:rPr lang="en-US" sz="1300" b="0" i="0" u="none" strike="noStrike" dirty="0" err="1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熟练标注</a:t>
            </a:r>
            <a:r>
              <a:rPr lang="en-US" sz="130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 40 元/</a:t>
            </a:r>
            <a:r>
              <a:rPr lang="en-US" sz="1300" b="0" i="0" u="none" strike="noStrike" dirty="0" err="1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小时，审核约</a:t>
            </a:r>
            <a:r>
              <a:rPr lang="en-US" sz="130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 200 张/</a:t>
            </a:r>
            <a:r>
              <a:rPr lang="en-US" sz="1300" b="0" i="0" u="none" strike="noStrike" dirty="0" err="1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小时</a:t>
            </a:r>
            <a:r>
              <a:rPr lang="en-US" sz="130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 → </a:t>
            </a:r>
            <a:r>
              <a:rPr lang="en-US" sz="1300" b="0" i="0" u="none" strike="noStrike" dirty="0" err="1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单图审核人工约</a:t>
            </a:r>
            <a:r>
              <a:rPr lang="en-US" sz="130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 0.2 </a:t>
            </a:r>
            <a:r>
              <a:rPr lang="en-US" sz="1300" b="0" i="0" u="none" strike="noStrike" dirty="0" err="1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元（按被审核图像口径，不等于计入启动、推理与返工后的自动化总成本</a:t>
            </a:r>
            <a:r>
              <a:rPr lang="en-US" sz="130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）。</a:t>
            </a:r>
            <a:endParaRPr lang="en-US" sz="1100" dirty="0"/>
          </a:p>
        </p:txBody>
      </p:sp>
      <p:sp>
        <p:nvSpPr>
          <p:cNvPr id="9" name="AutoShape 9"/>
          <p:cNvSpPr/>
          <p:nvPr/>
        </p:nvSpPr>
        <p:spPr>
          <a:xfrm>
            <a:off x="889000" y="5448300"/>
            <a:ext cx="10414000" cy="838200"/>
          </a:xfrm>
          <a:prstGeom prst="roundRect">
            <a:avLst>
              <a:gd name="adj" fmla="val 0"/>
            </a:avLst>
          </a:prstGeom>
          <a:solidFill>
            <a:srgbClr val="F5F8FB">
              <a:alpha val="100000"/>
            </a:srgbClr>
          </a:solidFill>
          <a:ln w="127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177800" tIns="0" rIns="177800" bIns="0" rtlCol="0" anchor="ctr">
            <a:noAutofit/>
          </a:bodyPr>
          <a:lstStyle/>
          <a:p>
            <a:pPr marL="0" indent="0" algn="l" defTabSz="914400">
              <a:lnSpc>
                <a:spcPct val="116666"/>
              </a:lnSpc>
              <a:defRPr/>
            </a:pPr>
            <a:r>
              <a:rPr lang="en-US" sz="1400" b="1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● </a:t>
            </a:r>
            <a:r>
              <a:rPr lang="en-US" sz="1400" b="1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规模与敏感性：</a:t>
            </a:r>
            <a:r>
              <a:rPr lang="en-US" sz="1300" b="0" i="0" u="none" strike="noStrike" dirty="0" err="1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按</a:t>
            </a:r>
            <a:r>
              <a:rPr lang="en-US" sz="130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 1k / 10k / 100k </a:t>
            </a:r>
            <a:r>
              <a:rPr lang="en-US" sz="1300" b="0" i="0" u="none" strike="noStrike" dirty="0" err="1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测算</a:t>
            </a:r>
            <a:r>
              <a:rPr lang="en-US" sz="130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 GPU </a:t>
            </a:r>
            <a:r>
              <a:rPr lang="en-US" sz="1300" b="0" i="0" u="none" strike="noStrike" dirty="0" err="1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机时、人工工时与交付周期；变动算力单价（闲时折扣）与人工成本，检验</a:t>
            </a:r>
            <a:r>
              <a:rPr lang="en-US" sz="130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 Pareto </a:t>
            </a:r>
            <a:r>
              <a:rPr lang="en-US" sz="1300" b="0" i="0" u="none" strike="noStrike" dirty="0" err="1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选型是否稳定</a:t>
            </a:r>
            <a:r>
              <a:rPr lang="en-US" sz="1300" b="0" i="0" u="none" strike="noStrike" dirty="0">
                <a:solidFill>
                  <a:srgbClr val="141E28"/>
                </a:solidFill>
                <a:latin typeface="微软雅黑"/>
                <a:ea typeface="微软雅黑"/>
                <a:cs typeface="微软雅黑"/>
                <a:sym typeface="微软雅黑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32080"/>
            <a:ext cx="4435475" cy="617220"/>
          </a:xfrm>
          <a:custGeom>
            <a:avLst/>
            <a:gdLst/>
            <a:ahLst/>
            <a:cxnLst/>
            <a:rect l="l" t="t" r="r" b="b"/>
            <a:pathLst>
              <a:path w="4435475" h="617220">
                <a:moveTo>
                  <a:pt x="477655" y="0"/>
                </a:moveTo>
                <a:lnTo>
                  <a:pt x="477661" y="0"/>
                </a:lnTo>
                <a:lnTo>
                  <a:pt x="3937559" y="0"/>
                </a:lnTo>
                <a:lnTo>
                  <a:pt x="3937559" y="1321"/>
                </a:lnTo>
                <a:lnTo>
                  <a:pt x="3957820" y="0"/>
                </a:lnTo>
                <a:cubicBezTo>
                  <a:pt x="4221622" y="0"/>
                  <a:pt x="4435475" y="138170"/>
                  <a:pt x="4435475" y="308610"/>
                </a:cubicBezTo>
                <a:cubicBezTo>
                  <a:pt x="4435475" y="479050"/>
                  <a:pt x="4221622" y="617220"/>
                  <a:pt x="3957820" y="617220"/>
                </a:cubicBezTo>
                <a:lnTo>
                  <a:pt x="3937559" y="615900"/>
                </a:lnTo>
                <a:lnTo>
                  <a:pt x="3937559" y="617220"/>
                </a:lnTo>
                <a:lnTo>
                  <a:pt x="477655" y="617220"/>
                </a:lnTo>
                <a:cubicBezTo>
                  <a:pt x="213853" y="617220"/>
                  <a:pt x="0" y="479050"/>
                  <a:pt x="0" y="308610"/>
                </a:cubicBezTo>
                <a:cubicBezTo>
                  <a:pt x="0" y="138170"/>
                  <a:pt x="213853" y="0"/>
                  <a:pt x="477655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just">
              <a:defRPr/>
            </a:pPr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3195" y="132080"/>
            <a:ext cx="617855" cy="617855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575945" y="245745"/>
            <a:ext cx="3858895" cy="460375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 anchorCtr="0"/>
          <a:lstStyle/>
          <a:p>
            <a:pPr marL="0" indent="0" algn="just" defTabSz="914400">
              <a:lnSpc>
                <a:spcPct val="100000"/>
              </a:lnSpc>
              <a:defRPr/>
            </a:pPr>
            <a:r>
              <a:rPr lang="en-US" sz="24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7. </a:t>
            </a:r>
            <a:r>
              <a:rPr lang="en-US" sz="160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跨规模成本测算与</a:t>
            </a:r>
            <a:r>
              <a:rPr lang="en-US" sz="16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 Pareto </a:t>
            </a:r>
            <a:r>
              <a:rPr lang="en-US" sz="160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选型方案</a:t>
            </a:r>
            <a:endParaRPr lang="en-US" sz="11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697588"/>
              </p:ext>
            </p:extLst>
          </p:nvPr>
        </p:nvGraphicFramePr>
        <p:xfrm>
          <a:off x="1362635" y="1602335"/>
          <a:ext cx="9233647" cy="5079918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1278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7852">
                  <a:extLst>
                    <a:ext uri="{9D8B030D-6E8A-4147-A177-3AD203B41FA5}">
                      <a16:colId xmlns:a16="http://schemas.microsoft.com/office/drawing/2014/main" val="2855965455"/>
                    </a:ext>
                  </a:extLst>
                </a:gridCol>
                <a:gridCol w="11658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6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6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63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881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47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134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数据规模</a:t>
                      </a:r>
                      <a:endParaRPr lang="ja-JP" sz="1800" dirty="0">
                        <a:solidFill>
                          <a:schemeClr val="bg1"/>
                        </a:solidFill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流程方案</a:t>
                      </a:r>
                      <a:endParaRPr lang="ja-JP" sz="1800" dirty="0">
                        <a:solidFill>
                          <a:schemeClr val="bg1"/>
                        </a:solidFill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GPU</a:t>
                      </a: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推理机时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(</a:t>
                      </a: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小时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)</a:t>
                      </a:r>
                      <a:endParaRPr lang="ja-JP" sz="1800" dirty="0">
                        <a:solidFill>
                          <a:schemeClr val="bg1"/>
                        </a:solidFill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算力成本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(</a:t>
                      </a: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元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)</a:t>
                      </a:r>
                      <a:endParaRPr lang="ja-JP" sz="1800" dirty="0">
                        <a:solidFill>
                          <a:schemeClr val="bg1"/>
                        </a:solidFill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人工审核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/</a:t>
                      </a: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标注成本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(</a:t>
                      </a: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元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)</a:t>
                      </a:r>
                      <a:endParaRPr lang="ja-JP" sz="1800" dirty="0">
                        <a:solidFill>
                          <a:schemeClr val="bg1"/>
                        </a:solidFill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纯标注环节总成本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(</a:t>
                      </a: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元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)</a:t>
                      </a:r>
                      <a:endParaRPr lang="ja-JP" sz="1800" dirty="0">
                        <a:solidFill>
                          <a:schemeClr val="bg1"/>
                        </a:solidFill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单图边际成本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(</a:t>
                      </a: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元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/</a:t>
                      </a: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张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)</a:t>
                      </a:r>
                      <a:endParaRPr lang="ja-JP" sz="1800" dirty="0">
                        <a:solidFill>
                          <a:schemeClr val="bg1"/>
                        </a:solidFill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chemeClr val="bg1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交付周期预估</a:t>
                      </a:r>
                      <a:endParaRPr lang="ja-JP" sz="1800" dirty="0">
                        <a:solidFill>
                          <a:schemeClr val="bg1"/>
                        </a:solidFill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760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00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N = 1k</a:t>
                      </a:r>
                      <a:b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</a:b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(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轻量迭代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)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b="1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纯人工标注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b="1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b="1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b="1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1,500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b="1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1,500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b="1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1.50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b="1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约</a:t>
                      </a:r>
                      <a:r>
                        <a:rPr lang="en-US" sz="1400" b="1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2 </a:t>
                      </a:r>
                      <a:r>
                        <a:rPr lang="zh-CN" sz="1400" b="1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天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552">
                <a:tc>
                  <a:txBody>
                    <a:bodyPr/>
                    <a:lstStyle/>
                    <a:p>
                      <a:endParaRPr lang="ja-JP" sz="12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V1 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单级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(GD)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0.11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0.22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200 (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抽检修正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)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200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0.20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约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0.5 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天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2039444"/>
                  </a:ext>
                </a:extLst>
              </a:tr>
              <a:tr h="224118">
                <a:tc>
                  <a:txBody>
                    <a:bodyPr/>
                    <a:lstStyle/>
                    <a:p>
                      <a:endParaRPr lang="ja-JP" sz="12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GD+SAM3 </a:t>
                      </a:r>
                      <a:r>
                        <a:rPr lang="zh-CN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级联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0.22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0.44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300 (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审核补漏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)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300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0.30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约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0.5 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天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701679"/>
                  </a:ext>
                </a:extLst>
              </a:tr>
              <a:tr h="43030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N = 10k</a:t>
                      </a:r>
                      <a:b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</a:b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(</a:t>
                      </a:r>
                      <a:r>
                        <a:rPr lang="zh-CN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常规生产</a:t>
                      </a: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)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纯人工标注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15,000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15,000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1.50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约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15 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天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163008"/>
                  </a:ext>
                </a:extLst>
              </a:tr>
              <a:tr h="251012">
                <a:tc>
                  <a:txBody>
                    <a:bodyPr/>
                    <a:lstStyle/>
                    <a:p>
                      <a:endParaRPr lang="ja-JP" sz="12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V1 </a:t>
                      </a:r>
                      <a:r>
                        <a:rPr lang="zh-CN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单级</a:t>
                      </a: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(GD)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1.11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2.22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2,000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2,002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0.20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约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3 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天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220878"/>
                  </a:ext>
                </a:extLst>
              </a:tr>
              <a:tr h="322729">
                <a:tc>
                  <a:txBody>
                    <a:bodyPr/>
                    <a:lstStyle/>
                    <a:p>
                      <a:endParaRPr lang="ja-JP" sz="12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GD+SAM3 </a:t>
                      </a:r>
                      <a:r>
                        <a:rPr lang="zh-CN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级联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2.22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4.44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3,000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3,004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0.30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约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4 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天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2984461"/>
                  </a:ext>
                </a:extLst>
              </a:tr>
              <a:tr h="42134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N = 100k</a:t>
                      </a:r>
                      <a:b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</a:b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(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海量生产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)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纯人工标注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150,000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150,000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1.50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约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4 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个月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21324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endParaRPr lang="ja-JP" sz="12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V1 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单级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(GD)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11.11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22.22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20,000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20,022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0.20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约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20 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天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059">
                <a:tc>
                  <a:txBody>
                    <a:bodyPr/>
                    <a:lstStyle/>
                    <a:p>
                      <a:endParaRPr lang="ja-JP" sz="12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GD+SAM3 </a:t>
                      </a:r>
                      <a:r>
                        <a:rPr lang="zh-CN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级联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22.22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44.44</a:t>
                      </a:r>
                      <a:endParaRPr lang="ja-JP" sz="180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30,000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30,044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0.30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约</a:t>
                      </a:r>
                      <a:r>
                        <a:rPr lang="en-US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 25 </a:t>
                      </a:r>
                      <a:r>
                        <a:rPr lang="zh-CN" sz="1400" dirty="0">
                          <a:solidFill>
                            <a:srgbClr val="3C3C58"/>
                          </a:solidFill>
                          <a:effectLst/>
                          <a:latin typeface="Microsoft YaHei" panose="020B0503020204020204" pitchFamily="34" charset="-122"/>
                          <a:ea typeface="Microsoft YaHei" panose="020B0503020204020204" pitchFamily="34" charset="-122"/>
                          <a:cs typeface="Segoe UI" panose="020B0502040204020203" pitchFamily="34" charset="0"/>
                        </a:rPr>
                        <a:t>天</a:t>
                      </a:r>
                      <a:endParaRPr lang="ja-JP" sz="1800" dirty="0">
                        <a:effectLst/>
                        <a:latin typeface="Microsoft YaHei" panose="020B0503020204020204" pitchFamily="34" charset="-122"/>
                        <a:ea typeface="Microsoft YaHei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ED2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AutoShape 38">
            <a:extLst>
              <a:ext uri="{FF2B5EF4-FFF2-40B4-BE49-F238E27FC236}">
                <a16:creationId xmlns:a16="http://schemas.microsoft.com/office/drawing/2014/main" id="{9AF4BA2F-D139-4475-A227-99B0AD034687}"/>
              </a:ext>
            </a:extLst>
          </p:cNvPr>
          <p:cNvSpPr/>
          <p:nvPr/>
        </p:nvSpPr>
        <p:spPr>
          <a:xfrm>
            <a:off x="1362635" y="1040035"/>
            <a:ext cx="9233647" cy="449263"/>
          </a:xfrm>
          <a:prstGeom prst="roundRect">
            <a:avLst>
              <a:gd name="adj" fmla="val 0"/>
            </a:avLst>
          </a:prstGeom>
          <a:solidFill>
            <a:srgbClr val="F0F5FA">
              <a:alpha val="100000"/>
            </a:srgbClr>
          </a:solidFill>
          <a:ln w="127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152400" tIns="0" rIns="152400" bIns="0" rtlCol="0" anchor="ctr">
            <a:noAutofit/>
          </a:bodyPr>
          <a:lstStyle/>
          <a:p>
            <a:pPr algn="ctr">
              <a:defRPr/>
            </a:pPr>
            <a:r>
              <a:rPr lang="zh-CN" altLang="en-US" sz="1300" b="1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不同数据规模下标签生产流程成本与周期推演表（基于实测吞吐率与行业基准）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0000"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32080"/>
            <a:ext cx="4545106" cy="629920"/>
          </a:xfrm>
          <a:custGeom>
            <a:avLst/>
            <a:gdLst/>
            <a:ahLst/>
            <a:cxnLst/>
            <a:rect l="l" t="t" r="r" b="b"/>
            <a:pathLst>
              <a:path w="4435475" h="617220">
                <a:moveTo>
                  <a:pt x="477655" y="0"/>
                </a:moveTo>
                <a:lnTo>
                  <a:pt x="477661" y="0"/>
                </a:lnTo>
                <a:lnTo>
                  <a:pt x="3937559" y="0"/>
                </a:lnTo>
                <a:lnTo>
                  <a:pt x="3937559" y="1321"/>
                </a:lnTo>
                <a:lnTo>
                  <a:pt x="3957820" y="0"/>
                </a:lnTo>
                <a:cubicBezTo>
                  <a:pt x="4221622" y="0"/>
                  <a:pt x="4435475" y="138170"/>
                  <a:pt x="4435475" y="308610"/>
                </a:cubicBezTo>
                <a:cubicBezTo>
                  <a:pt x="4435475" y="479050"/>
                  <a:pt x="4221622" y="617220"/>
                  <a:pt x="3957820" y="617220"/>
                </a:cubicBezTo>
                <a:lnTo>
                  <a:pt x="3937559" y="615900"/>
                </a:lnTo>
                <a:lnTo>
                  <a:pt x="3937559" y="617220"/>
                </a:lnTo>
                <a:lnTo>
                  <a:pt x="477655" y="617220"/>
                </a:lnTo>
                <a:cubicBezTo>
                  <a:pt x="213853" y="617220"/>
                  <a:pt x="0" y="479050"/>
                  <a:pt x="0" y="308610"/>
                </a:cubicBezTo>
                <a:cubicBezTo>
                  <a:pt x="0" y="138170"/>
                  <a:pt x="213853" y="0"/>
                  <a:pt x="477655" y="0"/>
                </a:cubicBezTo>
                <a:close/>
              </a:path>
            </a:pathLst>
          </a:custGeom>
          <a:solidFill>
            <a:srgbClr val="0A3760">
              <a:alpha val="100000"/>
            </a:srgbClr>
          </a:solidFill>
          <a:ln w="381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91440" tIns="45720" rIns="91440" bIns="45720" rtlCol="0" anchor="ctr" anchorCtr="0"/>
          <a:lstStyle/>
          <a:p>
            <a:pPr algn="just">
              <a:defRPr/>
            </a:pPr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3195" y="132080"/>
            <a:ext cx="617855" cy="617855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781050" y="245745"/>
            <a:ext cx="7112000" cy="460375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t">
            <a:noAutofit/>
          </a:bodyPr>
          <a:lstStyle/>
          <a:p>
            <a:pPr marL="0" indent="0" algn="just" defTabSz="914400">
              <a:lnSpc>
                <a:spcPct val="100000"/>
              </a:lnSpc>
              <a:defRPr/>
            </a:pPr>
            <a:r>
              <a:rPr lang="en-US" sz="24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9.2 </a:t>
            </a:r>
            <a:r>
              <a:rPr lang="en-US" sz="2400" b="1" i="0" u="none" strike="noStrike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预期成果与可量化指标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889000" y="1397000"/>
            <a:ext cx="5080000" cy="2159000"/>
          </a:xfrm>
          <a:prstGeom prst="roundRect">
            <a:avLst>
              <a:gd name="adj" fmla="val 7058"/>
            </a:avLst>
          </a:prstGeom>
          <a:solidFill>
            <a:srgbClr val="F5F8FB">
              <a:alpha val="100000"/>
            </a:srgbClr>
          </a:solidFill>
          <a:ln w="254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228600" tIns="203200" rIns="228600" bIns="152400" rtlCol="0" anchor="t" anchorCtr="0"/>
          <a:lstStyle/>
          <a:p>
            <a:pPr marL="0" indent="0" algn="l" defTabSz="914400">
              <a:lnSpc>
                <a:spcPct val="108333"/>
              </a:lnSpc>
              <a:defRPr/>
            </a:pPr>
            <a:r>
              <a:rPr lang="en-US" sz="1700" b="1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标签制备成本测算</a:t>
            </a:r>
            <a:endParaRPr lang="en-US" sz="1100" dirty="0"/>
          </a:p>
          <a:p>
            <a:pPr marL="0" indent="0" algn="l" defTabSz="914400">
              <a:lnSpc>
                <a:spcPct val="125000"/>
              </a:lnSpc>
            </a:pPr>
            <a:r>
              <a:rPr lang="en-US" sz="1400" b="0" i="0" u="none" strike="noStrike" dirty="0" err="1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纯人工约</a:t>
            </a:r>
            <a:r>
              <a:rPr 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 1.5 元/</a:t>
            </a:r>
            <a:r>
              <a:rPr lang="en-US" sz="1400" b="0" i="0" u="none" strike="noStrike" dirty="0" err="1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张；自动化审核约</a:t>
            </a:r>
            <a:r>
              <a:rPr 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 0.2 元/</a:t>
            </a:r>
            <a:r>
              <a:rPr lang="en-US" sz="1400" b="0" i="0" u="none" strike="noStrike" dirty="0" err="1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张（审核口径，非自动化总成本</a:t>
            </a:r>
            <a:r>
              <a:rPr 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），</a:t>
            </a:r>
            <a:r>
              <a:rPr lang="en-US" sz="1400" b="0" i="0" u="none" strike="noStrike" dirty="0" err="1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实际降幅待实测</a:t>
            </a:r>
            <a:r>
              <a:rPr 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。</a:t>
            </a:r>
          </a:p>
        </p:txBody>
      </p:sp>
      <p:sp>
        <p:nvSpPr>
          <p:cNvPr id="6" name="AutoShape 6"/>
          <p:cNvSpPr/>
          <p:nvPr/>
        </p:nvSpPr>
        <p:spPr>
          <a:xfrm>
            <a:off x="6223000" y="1397000"/>
            <a:ext cx="5080000" cy="2159000"/>
          </a:xfrm>
          <a:prstGeom prst="roundRect">
            <a:avLst>
              <a:gd name="adj" fmla="val 7058"/>
            </a:avLst>
          </a:prstGeom>
          <a:solidFill>
            <a:srgbClr val="F5F8FB">
              <a:alpha val="100000"/>
            </a:srgbClr>
          </a:solidFill>
          <a:ln w="254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228600" tIns="203200" rIns="228600" bIns="152400" rtlCol="0" anchor="t" anchorCtr="0"/>
          <a:lstStyle/>
          <a:p>
            <a:pPr marL="0" indent="0" algn="l" defTabSz="914400">
              <a:lnSpc>
                <a:spcPct val="108333"/>
              </a:lnSpc>
              <a:defRPr/>
            </a:pPr>
            <a:r>
              <a:rPr lang="en-US" sz="1700" b="1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交付周期评估</a:t>
            </a:r>
            <a:endParaRPr lang="en-US" sz="1100" dirty="0"/>
          </a:p>
          <a:p>
            <a:pPr marL="0" indent="0" algn="l" defTabSz="914400">
              <a:lnSpc>
                <a:spcPct val="125000"/>
              </a:lnSpc>
            </a:pPr>
            <a:r>
              <a:rPr lang="en-US" sz="1400" b="0" i="0" u="none" strike="noStrike" dirty="0" err="1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综合</a:t>
            </a:r>
            <a:r>
              <a:rPr 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 GPU </a:t>
            </a:r>
            <a:r>
              <a:rPr lang="en-US" sz="1400" b="0" i="0" u="none" strike="noStrike" dirty="0" err="1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推理、人工复核与返工，评估实际交付周期</a:t>
            </a:r>
            <a:r>
              <a:rPr 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。</a:t>
            </a:r>
          </a:p>
        </p:txBody>
      </p:sp>
      <p:sp>
        <p:nvSpPr>
          <p:cNvPr id="7" name="AutoShape 7"/>
          <p:cNvSpPr/>
          <p:nvPr/>
        </p:nvSpPr>
        <p:spPr>
          <a:xfrm>
            <a:off x="889000" y="3937000"/>
            <a:ext cx="5080000" cy="2159000"/>
          </a:xfrm>
          <a:prstGeom prst="roundRect">
            <a:avLst>
              <a:gd name="adj" fmla="val 7058"/>
            </a:avLst>
          </a:prstGeom>
          <a:solidFill>
            <a:srgbClr val="F5F8FB">
              <a:alpha val="100000"/>
            </a:srgbClr>
          </a:solidFill>
          <a:ln w="254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228600" tIns="203200" rIns="228600" bIns="152400" rtlCol="0" anchor="t" anchorCtr="0"/>
          <a:lstStyle/>
          <a:p>
            <a:pPr marL="0" indent="0" algn="l" defTabSz="914400">
              <a:lnSpc>
                <a:spcPct val="108333"/>
              </a:lnSpc>
              <a:defRPr/>
            </a:pPr>
            <a:r>
              <a:rPr lang="en-US" sz="1700" b="1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下游检测性能保留</a:t>
            </a:r>
            <a:endParaRPr lang="en-US" sz="1100" dirty="0"/>
          </a:p>
          <a:p>
            <a:pPr marL="0" indent="0" algn="l" defTabSz="914400">
              <a:lnSpc>
                <a:spcPct val="125000"/>
              </a:lnSpc>
            </a:pPr>
            <a:r>
              <a:rPr 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V1 mAP50 约 0.6647 vs </a:t>
            </a:r>
            <a:r>
              <a:rPr lang="en-US" sz="1400" b="0" i="0" u="none" strike="noStrike" dirty="0" err="1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人工</a:t>
            </a:r>
            <a:r>
              <a:rPr 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 GT 约 0.743，保留率约 </a:t>
            </a:r>
            <a:r>
              <a:rPr lang="en-US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89.5</a:t>
            </a:r>
            <a:r>
              <a:rPr 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%。SAM3 </a:t>
            </a:r>
            <a:r>
              <a:rPr lang="en-US" altLang="zh-CN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append </a:t>
            </a:r>
            <a:r>
              <a:rPr lang="zh-CN" alt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当前最优为</a:t>
            </a:r>
            <a:r>
              <a:rPr lang="en-US" altLang="zh-CN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0.6722,</a:t>
            </a:r>
            <a:r>
              <a:rPr lang="zh-CN" alt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相较人工</a:t>
            </a:r>
            <a:r>
              <a:rPr lang="en-US" altLang="zh-CN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GT</a:t>
            </a:r>
            <a:r>
              <a:rPr lang="zh-CN" alt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，保留率为</a:t>
            </a:r>
            <a:r>
              <a:rPr lang="en-US" altLang="zh-CN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90.5%</a:t>
            </a:r>
            <a:endParaRPr lang="en-US" sz="1400" b="0" i="0" u="none" strike="noStrike" dirty="0">
              <a:solidFill>
                <a:srgbClr val="1E2832"/>
              </a:solidFill>
              <a:latin typeface="微软雅黑"/>
              <a:ea typeface="微软雅黑"/>
              <a:cs typeface="微软雅黑"/>
              <a:sym typeface="微软雅黑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223000" y="3937000"/>
            <a:ext cx="5080000" cy="2159000"/>
          </a:xfrm>
          <a:prstGeom prst="roundRect">
            <a:avLst>
              <a:gd name="adj" fmla="val 7058"/>
            </a:avLst>
          </a:prstGeom>
          <a:solidFill>
            <a:srgbClr val="F5F8FB">
              <a:alpha val="100000"/>
            </a:srgbClr>
          </a:solidFill>
          <a:ln w="25400" cap="flat" cmpd="sng">
            <a:solidFill>
              <a:srgbClr val="0A3760">
                <a:alpha val="100000"/>
              </a:srgbClr>
            </a:solidFill>
            <a:prstDash val="solid"/>
            <a:miter lim="1000000"/>
          </a:ln>
        </p:spPr>
        <p:txBody>
          <a:bodyPr vert="horz" wrap="square" lIns="228600" tIns="203200" rIns="228600" bIns="152400" rtlCol="0" anchor="t">
            <a:noAutofit/>
          </a:bodyPr>
          <a:lstStyle/>
          <a:p>
            <a:pPr marL="0" indent="0" algn="l" defTabSz="914400">
              <a:lnSpc>
                <a:spcPct val="108333"/>
              </a:lnSpc>
              <a:defRPr/>
            </a:pPr>
            <a:r>
              <a:rPr lang="en-US" sz="1700" b="1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可复现工程基线</a:t>
            </a:r>
            <a:endParaRPr lang="en-US" sz="1100" dirty="0"/>
          </a:p>
          <a:p>
            <a:pPr marL="0" indent="0" algn="l" defTabSz="914400">
              <a:lnSpc>
                <a:spcPct val="125000"/>
              </a:lnSpc>
            </a:pPr>
            <a:r>
              <a:rPr lang="en-US" sz="1400" b="0" i="0" u="none" strike="noStrike" dirty="0" err="1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提示词与阈值冻结为</a:t>
            </a:r>
            <a:r>
              <a:rPr 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 YAML </a:t>
            </a:r>
            <a:r>
              <a:rPr lang="en-US" sz="1400" b="0" i="0" u="none" strike="noStrike" dirty="0" err="1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配置，版本化固化，实验记录可反查</a:t>
            </a:r>
            <a:r>
              <a:rPr lang="en-US" sz="1400" b="0" i="0" u="none" strike="noStrike" dirty="0">
                <a:solidFill>
                  <a:srgbClr val="1E2832"/>
                </a:solidFill>
                <a:latin typeface="微软雅黑"/>
                <a:ea typeface="微软雅黑"/>
                <a:cs typeface="微软雅黑"/>
                <a:sym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2934" y="0"/>
            <a:ext cx="12214934" cy="3616960"/>
          </a:xfrm>
          <a:prstGeom prst="rect">
            <a:avLst/>
          </a:prstGeom>
          <a:solidFill>
            <a:srgbClr val="0A3760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179656" y="602203"/>
            <a:ext cx="3832687" cy="1112297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4" name="Freeform 4"/>
          <p:cNvSpPr/>
          <p:nvPr/>
        </p:nvSpPr>
        <p:spPr>
          <a:xfrm>
            <a:off x="2965450" y="2922270"/>
            <a:ext cx="5532755" cy="1111885"/>
          </a:xfrm>
          <a:custGeom>
            <a:avLst/>
            <a:gdLst/>
            <a:ahLst/>
            <a:cxnLst/>
            <a:rect l="l" t="t" r="r" b="b"/>
            <a:pathLst>
              <a:path w="5532755" h="1111885">
                <a:moveTo>
                  <a:pt x="595821" y="0"/>
                </a:moveTo>
                <a:lnTo>
                  <a:pt x="595829" y="1"/>
                </a:lnTo>
                <a:lnTo>
                  <a:pt x="4911660" y="1"/>
                </a:lnTo>
                <a:lnTo>
                  <a:pt x="4911660" y="2379"/>
                </a:lnTo>
                <a:lnTo>
                  <a:pt x="4936934" y="1"/>
                </a:lnTo>
                <a:cubicBezTo>
                  <a:pt x="5265998" y="1"/>
                  <a:pt x="5532755" y="248905"/>
                  <a:pt x="5532755" y="555942"/>
                </a:cubicBezTo>
                <a:cubicBezTo>
                  <a:pt x="5532755" y="862982"/>
                  <a:pt x="5265998" y="1111885"/>
                  <a:pt x="4936934" y="1111885"/>
                </a:cubicBezTo>
                <a:lnTo>
                  <a:pt x="4911660" y="1109508"/>
                </a:lnTo>
                <a:lnTo>
                  <a:pt x="4911660" y="1111884"/>
                </a:lnTo>
                <a:lnTo>
                  <a:pt x="595821" y="1111884"/>
                </a:lnTo>
                <a:cubicBezTo>
                  <a:pt x="266757" y="1111884"/>
                  <a:pt x="0" y="862980"/>
                  <a:pt x="0" y="555942"/>
                </a:cubicBezTo>
                <a:cubicBezTo>
                  <a:pt x="0" y="248903"/>
                  <a:pt x="266757" y="0"/>
                  <a:pt x="595821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w="38100" cap="flat">
            <a:solidFill>
              <a:srgbClr val="0A3760">
                <a:alpha val="100000"/>
              </a:srgbClr>
            </a:solidFill>
            <a:prstDash val="solid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343400" y="3155950"/>
            <a:ext cx="5065395" cy="64516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36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5. 工作计划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463627" y="3572453"/>
            <a:ext cx="1632373" cy="330315"/>
          </a:xfrm>
          <a:prstGeom prst="chevron">
            <a:avLst>
              <a:gd name="adj" fmla="val 50000"/>
            </a:avLst>
          </a:prstGeom>
          <a:solidFill>
            <a:srgbClr val="A5A5A5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608965">
              <a:lnSpc>
                <a:spcPct val="100000"/>
              </a:lnSpc>
              <a:defRPr/>
            </a:pPr>
            <a:r>
              <a:rPr lang="en-US" sz="1464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2026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0" y="3572453"/>
            <a:ext cx="1632373" cy="330315"/>
          </a:xfrm>
          <a:prstGeom prst="chevron">
            <a:avLst>
              <a:gd name="adj" fmla="val 50000"/>
            </a:avLst>
          </a:prstGeom>
          <a:solidFill>
            <a:srgbClr val="44546A">
              <a:alpha val="100000"/>
            </a:srgbClr>
          </a:solidFill>
          <a:ln w="12700" cap="flat">
            <a:solidFill>
              <a:srgbClr val="44546A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608965">
              <a:lnSpc>
                <a:spcPct val="100000"/>
              </a:lnSpc>
              <a:defRPr/>
            </a:pPr>
            <a:r>
              <a:rPr lang="en-US" sz="1464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2027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4540" y="4950460"/>
            <a:ext cx="2181860" cy="4616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 defTabSz="608965">
              <a:lnSpc>
                <a:spcPct val="100000"/>
              </a:lnSpc>
              <a:defRPr/>
            </a:pPr>
            <a:r>
              <a:rPr lang="en-US" sz="1200" b="0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文献综述与</a:t>
            </a:r>
            <a:r>
              <a:rPr lang="zh-CN" altLang="en-US" sz="1200" b="0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预实验</a:t>
            </a:r>
            <a:endParaRPr lang="en-US" altLang="zh-CN" sz="1200" b="0" i="0" u="none" strike="noStrike" dirty="0">
              <a:solidFill>
                <a:srgbClr val="0A3760"/>
              </a:solidFill>
              <a:latin typeface="微软雅黑"/>
              <a:ea typeface="微软雅黑"/>
              <a:cs typeface="微软雅黑"/>
              <a:sym typeface="微软雅黑"/>
            </a:endParaRPr>
          </a:p>
          <a:p>
            <a:pPr marL="0" indent="0" algn="ctr" defTabSz="608965">
              <a:lnSpc>
                <a:spcPct val="100000"/>
              </a:lnSpc>
              <a:defRPr/>
            </a:pPr>
            <a:r>
              <a:rPr lang="en-US" sz="1200" b="0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开题报告撰写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2635749" y="1904580"/>
            <a:ext cx="1632373" cy="92202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 defTabSz="608965">
              <a:lnSpc>
                <a:spcPct val="150000"/>
              </a:lnSpc>
              <a:defRPr/>
            </a:pPr>
            <a:r>
              <a:rPr lang="en-US" sz="1200" b="0" i="0" u="none" strike="noStrike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实践中发现问题；</a:t>
            </a:r>
            <a:endParaRPr lang="en-US" sz="1100"/>
          </a:p>
          <a:p>
            <a:pPr marL="0" indent="0" algn="l" defTabSz="608965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相关资料的学习；</a:t>
            </a:r>
          </a:p>
          <a:p>
            <a:pPr marL="0" indent="0" algn="l" defTabSz="608965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数据的收集；</a:t>
            </a:r>
          </a:p>
        </p:txBody>
      </p:sp>
      <p:sp>
        <p:nvSpPr>
          <p:cNvPr id="6" name="AutoShape 6"/>
          <p:cNvSpPr/>
          <p:nvPr/>
        </p:nvSpPr>
        <p:spPr>
          <a:xfrm>
            <a:off x="4911725" y="4858385"/>
            <a:ext cx="1394460" cy="116737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defTabSz="608965">
              <a:lnSpc>
                <a:spcPct val="150000"/>
              </a:lnSpc>
              <a:defRPr/>
            </a:pPr>
            <a:r>
              <a:rPr lang="en-US" sz="1200" b="0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伪标签生成与方案矩阵选定</a:t>
            </a:r>
            <a:r>
              <a:rPr lang="zh-CN" altLang="en-US" sz="1100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 ；多目标优化算法探索落地</a:t>
            </a:r>
            <a:endParaRPr 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5873115" y="2095500"/>
            <a:ext cx="1878965" cy="61337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 defTabSz="608965">
              <a:lnSpc>
                <a:spcPct val="150000"/>
              </a:lnSpc>
              <a:defRPr/>
            </a:pPr>
            <a:r>
              <a:rPr lang="en-US" sz="1200" b="0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伪标签验证体系搭建与</a:t>
            </a:r>
            <a:r>
              <a:rPr lang="zh-CN" altLang="en-US" sz="1200" b="0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稳定性</a:t>
            </a:r>
            <a:r>
              <a:rPr lang="en-US" sz="1200" b="0" i="0" u="none" strike="noStrike" dirty="0" err="1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测试</a:t>
            </a:r>
            <a:r>
              <a:rPr lang="en-US" sz="1200" b="0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(</a:t>
            </a:r>
            <a:r>
              <a:rPr lang="zh-CN" altLang="en-US" sz="1200" b="0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多</a:t>
            </a:r>
            <a:r>
              <a:rPr lang="en-US" altLang="zh-CN" sz="1200" b="0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seed</a:t>
            </a:r>
            <a:r>
              <a:rPr lang="zh-CN" altLang="en-US" sz="1200" b="0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验证</a:t>
            </a:r>
            <a:r>
              <a:rPr lang="en-US" sz="1200" b="0" i="0" u="none" strike="noStrike" dirty="0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)</a:t>
            </a:r>
            <a:endParaRPr lang="en-US" sz="1100" dirty="0"/>
          </a:p>
        </p:txBody>
      </p:sp>
      <p:sp>
        <p:nvSpPr>
          <p:cNvPr id="8" name="AutoShape 8"/>
          <p:cNvSpPr/>
          <p:nvPr/>
        </p:nvSpPr>
        <p:spPr>
          <a:xfrm>
            <a:off x="1472782" y="1840136"/>
            <a:ext cx="1088571" cy="1088571"/>
          </a:xfrm>
          <a:prstGeom prst="ellipse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C8C8C8">
                  <a:alpha val="100000"/>
                </a:srgbClr>
              </a:gs>
            </a:gsLst>
            <a:lin ang="19800000"/>
          </a:gradFill>
          <a:ln w="25400" cap="flat">
            <a:gradFill rotWithShape="1">
              <a:gsLst>
                <a:gs pos="52999">
                  <a:srgbClr val="FFFFFF">
                    <a:alpha val="90000"/>
                  </a:srgbClr>
                </a:gs>
                <a:gs pos="100000">
                  <a:srgbClr val="808080">
                    <a:alpha val="100000"/>
                  </a:srgbClr>
                </a:gs>
              </a:gsLst>
              <a:lin ang="7200000"/>
            </a:gradFill>
            <a:prstDash val="solid"/>
          </a:ln>
          <a:effectLst>
            <a:outerShdw blurRad="482600" dist="279400" dir="8100000" algn="tr" rotWithShape="0">
              <a:srgbClr val="000000">
                <a:alpha val="40000"/>
              </a:srgbClr>
            </a:outerShdw>
          </a:effectLst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234983"/>
                </a:solidFill>
                <a:latin typeface="微软雅黑"/>
                <a:ea typeface="微软雅黑"/>
                <a:cs typeface="微软雅黑"/>
                <a:sym typeface="微软雅黑"/>
              </a:rPr>
              <a:t>3-6月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614545" y="1784985"/>
            <a:ext cx="1117600" cy="1088390"/>
          </a:xfrm>
          <a:prstGeom prst="ellipse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C8C8C8">
                  <a:alpha val="100000"/>
                </a:srgbClr>
              </a:gs>
            </a:gsLst>
            <a:lin ang="19800000"/>
          </a:gradFill>
          <a:ln w="25400" cap="flat">
            <a:gradFill rotWithShape="1">
              <a:gsLst>
                <a:gs pos="52999">
                  <a:srgbClr val="FFFFFF">
                    <a:alpha val="90000"/>
                  </a:srgbClr>
                </a:gs>
                <a:gs pos="100000">
                  <a:srgbClr val="808080">
                    <a:alpha val="100000"/>
                  </a:srgbClr>
                </a:gs>
              </a:gsLst>
              <a:lin ang="7200000"/>
            </a:gradFill>
            <a:prstDash val="solid"/>
          </a:ln>
          <a:effectLst>
            <a:outerShdw blurRad="482600" dist="279400" dir="8100000" algn="tr" rotWithShape="0">
              <a:srgbClr val="000000">
                <a:alpha val="40000"/>
              </a:srgbClr>
            </a:outerShdw>
          </a:effectLst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234983"/>
                </a:solidFill>
                <a:latin typeface="微软雅黑"/>
                <a:ea typeface="微软雅黑"/>
                <a:cs typeface="微软雅黑"/>
                <a:sym typeface="微软雅黑"/>
              </a:rPr>
              <a:t>9-12月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941527" y="1781081"/>
            <a:ext cx="1088571" cy="1088571"/>
          </a:xfrm>
          <a:prstGeom prst="ellipse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C8C8C8">
                  <a:alpha val="100000"/>
                </a:srgbClr>
              </a:gs>
            </a:gsLst>
            <a:lin ang="19800000"/>
          </a:gradFill>
          <a:ln w="25400" cap="flat">
            <a:gradFill rotWithShape="1">
              <a:gsLst>
                <a:gs pos="52999">
                  <a:srgbClr val="FFFFFF">
                    <a:alpha val="90000"/>
                  </a:srgbClr>
                </a:gs>
                <a:gs pos="100000">
                  <a:srgbClr val="808080">
                    <a:alpha val="100000"/>
                  </a:srgbClr>
                </a:gs>
              </a:gsLst>
              <a:lin ang="7200000"/>
            </a:gradFill>
            <a:prstDash val="solid"/>
          </a:ln>
          <a:effectLst>
            <a:outerShdw blurRad="482600" dist="279400" dir="8100000" algn="tr" rotWithShape="0">
              <a:srgbClr val="000000">
                <a:alpha val="40000"/>
              </a:srgbClr>
            </a:outerShdw>
          </a:effectLst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234983"/>
                </a:solidFill>
                <a:latin typeface="微软雅黑"/>
                <a:ea typeface="微软雅黑"/>
                <a:cs typeface="微软雅黑"/>
                <a:sym typeface="微软雅黑"/>
              </a:rPr>
              <a:t>3月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104097" y="4543966"/>
            <a:ext cx="1088571" cy="1088571"/>
          </a:xfrm>
          <a:prstGeom prst="ellipse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C8C8C8">
                  <a:alpha val="100000"/>
                </a:srgbClr>
              </a:gs>
            </a:gsLst>
            <a:lin ang="19800000"/>
          </a:gradFill>
          <a:ln w="25400" cap="flat">
            <a:gradFill rotWithShape="1">
              <a:gsLst>
                <a:gs pos="52999">
                  <a:srgbClr val="FFFFFF">
                    <a:alpha val="90000"/>
                  </a:srgbClr>
                </a:gs>
                <a:gs pos="100000">
                  <a:srgbClr val="808080">
                    <a:alpha val="100000"/>
                  </a:srgbClr>
                </a:gs>
              </a:gsLst>
              <a:lin ang="7200000"/>
            </a:gradFill>
            <a:prstDash val="solid"/>
          </a:ln>
          <a:effectLst>
            <a:outerShdw blurRad="482600" dist="279400" dir="8100000" algn="tr" rotWithShape="0">
              <a:srgbClr val="000000">
                <a:alpha val="40000"/>
              </a:srgbClr>
            </a:outerShdw>
          </a:effectLst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234983"/>
                </a:solidFill>
                <a:latin typeface="微软雅黑"/>
                <a:ea typeface="微软雅黑"/>
                <a:cs typeface="微软雅黑"/>
                <a:sym typeface="微软雅黑"/>
              </a:rPr>
              <a:t>7-8月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321642" y="4543966"/>
            <a:ext cx="1088571" cy="1088571"/>
          </a:xfrm>
          <a:prstGeom prst="ellipse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C8C8C8">
                  <a:alpha val="100000"/>
                </a:srgbClr>
              </a:gs>
            </a:gsLst>
            <a:lin ang="19800000"/>
          </a:gradFill>
          <a:ln w="25400" cap="flat">
            <a:gradFill rotWithShape="1">
              <a:gsLst>
                <a:gs pos="52999">
                  <a:srgbClr val="FFFFFF">
                    <a:alpha val="90000"/>
                  </a:srgbClr>
                </a:gs>
                <a:gs pos="100000">
                  <a:srgbClr val="808080">
                    <a:alpha val="100000"/>
                  </a:srgbClr>
                </a:gs>
              </a:gsLst>
              <a:lin ang="7200000"/>
            </a:gradFill>
            <a:prstDash val="solid"/>
          </a:ln>
          <a:effectLst>
            <a:outerShdw blurRad="482600" dist="279400" dir="8100000" algn="tr" rotWithShape="0">
              <a:srgbClr val="000000">
                <a:alpha val="40000"/>
              </a:srgbClr>
            </a:outerShdw>
          </a:effectLst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234983"/>
                </a:solidFill>
                <a:latin typeface="微软雅黑"/>
                <a:ea typeface="微软雅黑"/>
                <a:cs typeface="微软雅黑"/>
                <a:sym typeface="微软雅黑"/>
              </a:rPr>
              <a:t>1-2月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632532" y="4558571"/>
            <a:ext cx="1088571" cy="1088571"/>
          </a:xfrm>
          <a:prstGeom prst="ellipse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C8C8C8">
                  <a:alpha val="100000"/>
                </a:srgbClr>
              </a:gs>
            </a:gsLst>
            <a:lin ang="19800000"/>
          </a:gradFill>
          <a:ln w="25400" cap="flat">
            <a:gradFill rotWithShape="1">
              <a:gsLst>
                <a:gs pos="52999">
                  <a:srgbClr val="FFFFFF">
                    <a:alpha val="90000"/>
                  </a:srgbClr>
                </a:gs>
                <a:gs pos="100000">
                  <a:srgbClr val="808080">
                    <a:alpha val="100000"/>
                  </a:srgbClr>
                </a:gs>
              </a:gsLst>
              <a:lin ang="7200000"/>
            </a:gradFill>
            <a:prstDash val="solid"/>
          </a:ln>
          <a:effectLst>
            <a:outerShdw blurRad="482600" dist="279400" dir="8100000" algn="tr" rotWithShape="0">
              <a:srgbClr val="000000">
                <a:alpha val="40000"/>
              </a:srgbClr>
            </a:outerShdw>
          </a:effectLst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234983"/>
                </a:solidFill>
                <a:latin typeface="微软雅黑"/>
                <a:ea typeface="微软雅黑"/>
                <a:cs typeface="微软雅黑"/>
                <a:sym typeface="微软雅黑"/>
              </a:rPr>
              <a:t>4月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2871047" y="3572453"/>
            <a:ext cx="1632373" cy="330315"/>
          </a:xfrm>
          <a:prstGeom prst="chevron">
            <a:avLst>
              <a:gd name="adj" fmla="val 50000"/>
            </a:avLst>
          </a:prstGeom>
          <a:solidFill>
            <a:srgbClr val="A5A5A5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608965">
              <a:lnSpc>
                <a:spcPct val="100000"/>
              </a:lnSpc>
              <a:defRPr/>
            </a:pPr>
            <a:r>
              <a:rPr lang="en-US" sz="1464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2026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1238462" y="3572453"/>
            <a:ext cx="1632373" cy="330315"/>
          </a:xfrm>
          <a:prstGeom prst="chevron">
            <a:avLst>
              <a:gd name="adj" fmla="val 50000"/>
            </a:avLst>
          </a:prstGeom>
          <a:solidFill>
            <a:srgbClr val="A5A5A5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608965">
              <a:lnSpc>
                <a:spcPct val="100000"/>
              </a:lnSpc>
              <a:defRPr/>
            </a:pPr>
            <a:r>
              <a:rPr lang="en-US" sz="1464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2026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727950" y="3572453"/>
            <a:ext cx="1632373" cy="330315"/>
          </a:xfrm>
          <a:prstGeom prst="chevron">
            <a:avLst>
              <a:gd name="adj" fmla="val 50000"/>
            </a:avLst>
          </a:prstGeom>
          <a:solidFill>
            <a:srgbClr val="44546A">
              <a:alpha val="100000"/>
            </a:srgbClr>
          </a:solidFill>
          <a:ln w="12700" cap="flat">
            <a:solidFill>
              <a:srgbClr val="44546A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608965">
              <a:lnSpc>
                <a:spcPct val="100000"/>
              </a:lnSpc>
              <a:defRPr/>
            </a:pPr>
            <a:r>
              <a:rPr lang="en-US" sz="1464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2027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9360535" y="3572453"/>
            <a:ext cx="1632373" cy="330315"/>
          </a:xfrm>
          <a:prstGeom prst="chevron">
            <a:avLst>
              <a:gd name="adj" fmla="val 50000"/>
            </a:avLst>
          </a:prstGeom>
          <a:solidFill>
            <a:srgbClr val="44546A">
              <a:alpha val="100000"/>
            </a:srgbClr>
          </a:solidFill>
          <a:ln w="12700" cap="flat">
            <a:solidFill>
              <a:srgbClr val="44546A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608965">
              <a:lnSpc>
                <a:spcPct val="100000"/>
              </a:lnSpc>
              <a:defRPr/>
            </a:pPr>
            <a:r>
              <a:rPr lang="en-US" sz="1464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2027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359900" y="2145030"/>
            <a:ext cx="2182495" cy="33669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 defTabSz="608965">
              <a:lnSpc>
                <a:spcPct val="150000"/>
              </a:lnSpc>
              <a:defRPr/>
            </a:pPr>
            <a:r>
              <a:rPr lang="en-US" sz="1200" b="0" i="0" u="none" strike="noStrike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论文初稿撰写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321040" y="4858385"/>
            <a:ext cx="1393825" cy="64516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 defTabSz="608965">
              <a:lnSpc>
                <a:spcPct val="150000"/>
              </a:lnSpc>
              <a:defRPr/>
            </a:pPr>
            <a:r>
              <a:rPr lang="en-US" sz="1200" b="0" i="0" u="none" strike="noStrike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完善论文；</a:t>
            </a:r>
            <a:endParaRPr lang="en-US" sz="1100"/>
          </a:p>
          <a:p>
            <a:pPr marL="0" indent="0" algn="l" defTabSz="608965">
              <a:lnSpc>
                <a:spcPct val="150000"/>
              </a:lnSpc>
            </a:pPr>
            <a:r>
              <a:rPr lang="en-US" sz="1200" b="0" i="0" u="none" strike="noStrike">
                <a:solidFill>
                  <a:srgbClr val="0A3760"/>
                </a:solidFill>
                <a:latin typeface="微软雅黑"/>
                <a:ea typeface="微软雅黑"/>
                <a:cs typeface="微软雅黑"/>
                <a:sym typeface="微软雅黑"/>
              </a:rPr>
              <a:t>准备论文预答辩</a:t>
            </a:r>
          </a:p>
        </p:txBody>
      </p:sp>
      <p:cxnSp>
        <p:nvCxnSpPr>
          <p:cNvPr id="20" name="Connector 20"/>
          <p:cNvCxnSpPr/>
          <p:nvPr/>
        </p:nvCxnSpPr>
        <p:spPr>
          <a:xfrm>
            <a:off x="2013585" y="2979420"/>
            <a:ext cx="5715" cy="542290"/>
          </a:xfrm>
          <a:prstGeom prst="line">
            <a:avLst/>
          </a:prstGeom>
          <a:noFill/>
          <a:ln w="12700" cap="flat">
            <a:solidFill>
              <a:srgbClr val="0A376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21" name="Connector 21"/>
          <p:cNvCxnSpPr/>
          <p:nvPr/>
        </p:nvCxnSpPr>
        <p:spPr>
          <a:xfrm>
            <a:off x="3645535" y="3952240"/>
            <a:ext cx="5715" cy="542290"/>
          </a:xfrm>
          <a:prstGeom prst="line">
            <a:avLst/>
          </a:prstGeom>
          <a:noFill/>
          <a:ln w="12700" cap="flat">
            <a:solidFill>
              <a:srgbClr val="0A376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22" name="Connector 22"/>
          <p:cNvCxnSpPr/>
          <p:nvPr/>
        </p:nvCxnSpPr>
        <p:spPr>
          <a:xfrm>
            <a:off x="5156200" y="2979420"/>
            <a:ext cx="5715" cy="542290"/>
          </a:xfrm>
          <a:prstGeom prst="line">
            <a:avLst/>
          </a:prstGeom>
          <a:noFill/>
          <a:ln w="12700" cap="flat">
            <a:solidFill>
              <a:srgbClr val="0A376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23" name="Connector 23"/>
          <p:cNvCxnSpPr/>
          <p:nvPr/>
        </p:nvCxnSpPr>
        <p:spPr>
          <a:xfrm>
            <a:off x="6862445" y="3952240"/>
            <a:ext cx="5715" cy="542290"/>
          </a:xfrm>
          <a:prstGeom prst="line">
            <a:avLst/>
          </a:prstGeom>
          <a:noFill/>
          <a:ln w="12700" cap="flat">
            <a:solidFill>
              <a:srgbClr val="0A376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24" name="Connector 24"/>
          <p:cNvCxnSpPr/>
          <p:nvPr/>
        </p:nvCxnSpPr>
        <p:spPr>
          <a:xfrm>
            <a:off x="8482965" y="2979420"/>
            <a:ext cx="5715" cy="542290"/>
          </a:xfrm>
          <a:prstGeom prst="line">
            <a:avLst/>
          </a:prstGeom>
          <a:noFill/>
          <a:ln w="12700" cap="flat">
            <a:solidFill>
              <a:srgbClr val="0A376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25" name="Connector 25"/>
          <p:cNvCxnSpPr/>
          <p:nvPr/>
        </p:nvCxnSpPr>
        <p:spPr>
          <a:xfrm>
            <a:off x="10173335" y="4001770"/>
            <a:ext cx="5715" cy="542290"/>
          </a:xfrm>
          <a:prstGeom prst="line">
            <a:avLst/>
          </a:prstGeom>
          <a:noFill/>
          <a:ln w="12700" cap="flat">
            <a:solidFill>
              <a:srgbClr val="0A376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pic>
        <p:nvPicPr>
          <p:cNvPr id="26" name="Picture 2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23001" y="325641"/>
            <a:ext cx="618131" cy="618131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27" name="AutoShape 27"/>
          <p:cNvSpPr/>
          <p:nvPr/>
        </p:nvSpPr>
        <p:spPr>
          <a:xfrm>
            <a:off x="1041500" y="414033"/>
            <a:ext cx="2329180" cy="4603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none" lIns="91440" tIns="45720" rIns="91440" bIns="45720" rtlCol="0" anchor="t">
            <a:sp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字魂105号-简雅黑"/>
                <a:ea typeface="字魂105号-简雅黑"/>
                <a:cs typeface="字魂105号-简雅黑"/>
                <a:sym typeface="字魂105号-简雅黑"/>
              </a:rPr>
              <a:t> 5.2  写作计划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0" y="0"/>
            <a:ext cx="12192000" cy="905256"/>
          </a:xfrm>
          <a:prstGeom prst="rect">
            <a:avLst/>
          </a:prstGeom>
          <a:solidFill>
            <a:srgbClr val="0A3760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57155" y="152400"/>
            <a:ext cx="11277689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3500" tIns="25400" rIns="63500" bIns="25400" rtlCol="0" anchor="ctr">
            <a:normAutofit/>
          </a:bodyPr>
          <a:lstStyle/>
          <a:p>
            <a:pPr marL="0" indent="0" algn="l" defTabSz="914400">
              <a:lnSpc>
                <a:spcPct val="100000"/>
              </a:lnSpc>
              <a:defRPr/>
            </a:pPr>
            <a:r>
              <a:rPr lang="en-US" sz="3400" b="1" i="0" u="none" strike="noStrike" spc="18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5. 写作计划</a:t>
            </a:r>
            <a:endParaRPr lang="en-US" sz="11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25000"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24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888230" y="362753"/>
            <a:ext cx="2552700" cy="2552700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4" name="AutoShape 4"/>
          <p:cNvSpPr/>
          <p:nvPr/>
        </p:nvSpPr>
        <p:spPr>
          <a:xfrm>
            <a:off x="0" y="3042650"/>
            <a:ext cx="12192000" cy="2857500"/>
          </a:xfrm>
          <a:prstGeom prst="rect">
            <a:avLst/>
          </a:prstGeom>
          <a:solidFill>
            <a:srgbClr val="0A3760">
              <a:alpha val="81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 defTabSz="914400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等线"/>
                <a:ea typeface="等线"/>
                <a:cs typeface="等线"/>
                <a:sym typeface="等线"/>
              </a:rPr>
              <a:t> 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2967583" y="3429000"/>
            <a:ext cx="6256834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dist" defTabSz="914400">
              <a:lnSpc>
                <a:spcPct val="100000"/>
              </a:lnSpc>
              <a:defRPr/>
            </a:pPr>
            <a:r>
              <a:rPr lang="en-US" sz="5400" b="1" i="0" u="none" strike="noStrike" dirty="0" err="1">
                <a:solidFill>
                  <a:srgbClr val="FFFFFF"/>
                </a:solidFill>
                <a:latin typeface="字魂105号-简雅黑"/>
                <a:ea typeface="字魂105号-简雅黑"/>
                <a:cs typeface="字魂105号-简雅黑"/>
                <a:sym typeface="字魂105号-简雅黑"/>
              </a:rPr>
              <a:t>请老师批评指正</a:t>
            </a:r>
            <a:r>
              <a:rPr lang="en-US" sz="5400" b="1" i="0" u="none" strike="noStrike" dirty="0">
                <a:solidFill>
                  <a:srgbClr val="FFFFFF"/>
                </a:solidFill>
                <a:latin typeface="字魂105号-简雅黑"/>
                <a:ea typeface="字魂105号-简雅黑"/>
                <a:cs typeface="字魂105号-简雅黑"/>
                <a:sym typeface="字魂105号-简雅黑"/>
              </a:rPr>
              <a:t>！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自定义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1_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2413</Words>
  <Application>Microsoft Office PowerPoint</Application>
  <PresentationFormat>ワイド画面</PresentationFormat>
  <Paragraphs>718</Paragraphs>
  <Slides>30</Slides>
  <Notes>30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5</vt:i4>
      </vt:variant>
      <vt:variant>
        <vt:lpstr>スライド タイトル</vt:lpstr>
      </vt:variant>
      <vt:variant>
        <vt:i4>30</vt:i4>
      </vt:variant>
    </vt:vector>
  </HeadingPairs>
  <TitlesOfParts>
    <vt:vector size="46" baseType="lpstr">
      <vt:lpstr>等线</vt:lpstr>
      <vt:lpstr>等线 Light</vt:lpstr>
      <vt:lpstr>Microsoft YaHei</vt:lpstr>
      <vt:lpstr>Microsoft YaHei</vt:lpstr>
      <vt:lpstr>MiSans</vt:lpstr>
      <vt:lpstr>Noto Sans SC</vt:lpstr>
      <vt:lpstr>Songti SC</vt:lpstr>
      <vt:lpstr>字魂105号-简雅黑</vt:lpstr>
      <vt:lpstr>Arial</vt:lpstr>
      <vt:lpstr>Segoe UI</vt:lpstr>
      <vt:lpstr>Times New Roman</vt:lpstr>
      <vt:lpstr>Office 主题​​</vt:lpstr>
      <vt:lpstr>自定义主题</vt:lpstr>
      <vt:lpstr>Office 主题​​</vt:lpstr>
      <vt:lpstr>Office 主题​​</vt:lpstr>
      <vt:lpstr>1_Office 主题​​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Xiuli Dong</cp:lastModifiedBy>
  <cp:revision>88</cp:revision>
  <dcterms:modified xsi:type="dcterms:W3CDTF">2026-09-20T09:28:53Z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{"Label":"1","ContentProducer":"001191110102MACQD9K64010000","ProduceID":"7687259234391935974","ReservedCode1":"","ContentPropagator":"","PropagateID":"","ReservedCode2":""}</vt:lpwstr>
  </property>
</Properties>
</file>